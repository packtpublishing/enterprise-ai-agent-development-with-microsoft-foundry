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8"/>
  </p:notesMasterIdLst>
  <p:sldIdLst>
    <p:sldId id="262" r:id="rId3"/>
    <p:sldId id="263" r:id="rId4"/>
    <p:sldId id="264" r:id="rId5"/>
    <p:sldId id="265" r:id="rId6"/>
    <p:sldId id="895" r:id="rId7"/>
    <p:sldId id="266" r:id="rId8"/>
    <p:sldId id="267" r:id="rId9"/>
    <p:sldId id="896" r:id="rId10"/>
    <p:sldId id="897" r:id="rId11"/>
    <p:sldId id="898" r:id="rId12"/>
    <p:sldId id="268" r:id="rId13"/>
    <p:sldId id="400"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A12531-E5C4-4BA4-9E77-26A403BCB429}">
          <p14:sldIdLst/>
        </p14:section>
        <p14:section name="Microsoft Foundry Platform Foundations" id="{1D79F04F-F677-4642-A68D-09D7F6C1DCF1}">
          <p14:sldIdLst>
            <p14:sldId id="262"/>
            <p14:sldId id="263"/>
            <p14:sldId id="264"/>
            <p14:sldId id="265"/>
            <p14:sldId id="895"/>
            <p14:sldId id="266"/>
            <p14:sldId id="267"/>
            <p14:sldId id="896"/>
            <p14:sldId id="897"/>
            <p14:sldId id="898"/>
            <p14:sldId id="268"/>
            <p14:sldId id="400"/>
            <p14:sldId id="269"/>
            <p14:sldId id="270"/>
            <p14:sldId id="271"/>
          </p14:sldIdLst>
        </p14:section>
        <p14:section name="Project Setup and Baseline Review" id="{05C5A702-D40E-4D6D-8985-6F84D4C25F49}">
          <p14:sldIdLst/>
        </p14:section>
        <p14:section name="Configuring AI for Review Work" id="{61141E8B-EBD1-4C8A-9430-41C0A7B4A557}">
          <p14:sldIdLst/>
        </p14:section>
        <p14:section name="Understanding and Documenting the Codebase" id="{15138BB4-39C6-4500-91DC-203614B0D0CC}">
          <p14:sldIdLst/>
        </p14:section>
        <p14:section name="AI-Assisted Legacy Risk Triage" id="{C6877E2D-803B-40FD-A99F-52CC5EF6818C}">
          <p14:sldIdLst/>
        </p14:section>
        <p14:section name="Technical Debt and Code Smell Review" id="{81292DAD-E725-41FE-9A41-A34A4956C95A}">
          <p14:sldIdLst/>
        </p14:section>
        <p14:section name="Security, Privacy, and Access Control Review" id="{A025C7FB-2F89-4A26-B100-222B93715911}">
          <p14:sldIdLst/>
        </p14:section>
        <p14:section name="Dependency and Modernization Readiness Review" id="{3FE99DFD-D3EB-45FA-8DA8-26AF0C4B0BBB}">
          <p14:sldIdLst/>
        </p14:section>
        <p14:section name="Generating and Improving Tests with AI" id="{31AC8768-90D7-4A94-8C44-1A7073E7F91A}">
          <p14:sldIdLst/>
        </p14:section>
        <p14:section name="Safe Refactoring with AI Assistance" id="{4C715FDF-59EE-4CFB-908F-82E6263DA9DA}">
          <p14:sldIdLst/>
        </p14:section>
        <p14:section name="AI-Assisted Modernization Review" id="{486B84CE-6826-45CF-BF12-7D8D837862B7}">
          <p14:sldIdLst/>
        </p14:section>
        <p14:section name="Cloud Readiness and Agentic Modernization PR Review" id="{084F8B64-79F0-406A-A342-C833EEAA77CD}">
          <p14:sldIdLst/>
        </p14:section>
        <p14:section name="Pull Requests, Review Packages, and Final Workflow" id="{819A2856-4765-4E6E-B2A7-63EAF40445F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F0893-0577-492E-87D8-1A6043B19177}" v="253" dt="2026-07-13T17:23:43.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732" autoAdjust="0"/>
  </p:normalViewPr>
  <p:slideViewPr>
    <p:cSldViewPr snapToGrid="0" snapToObjects="1">
      <p:cViewPr varScale="1">
        <p:scale>
          <a:sx n="121" d="100"/>
          <a:sy n="121" d="100"/>
        </p:scale>
        <p:origin x="408" y="8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53D5EA3C-0847-4EC1-9FDC-43DBDAEAF41A}"/>
    <pc:docChg chg="custSel modSld">
      <pc:chgData name="Trevoir Williams" userId="6a45007046124a3d" providerId="LiveId" clId="{53D5EA3C-0847-4EC1-9FDC-43DBDAEAF41A}" dt="2026-06-16T02:55:50.958" v="0" actId="26606"/>
      <pc:docMkLst>
        <pc:docMk/>
      </pc:docMkLst>
      <pc:sldChg chg="modNotes">
        <pc:chgData name="Trevoir Williams" userId="6a45007046124a3d" providerId="LiveId" clId="{53D5EA3C-0847-4EC1-9FDC-43DBDAEAF41A}" dt="2026-06-16T02:55:50.958" v="0" actId="26606"/>
        <pc:sldMkLst>
          <pc:docMk/>
          <pc:sldMk cId="0" sldId="262"/>
        </pc:sldMkLst>
      </pc:sldChg>
      <pc:sldChg chg="modNotes">
        <pc:chgData name="Trevoir Williams" userId="6a45007046124a3d" providerId="LiveId" clId="{53D5EA3C-0847-4EC1-9FDC-43DBDAEAF41A}" dt="2026-06-16T02:55:50.958" v="0" actId="26606"/>
        <pc:sldMkLst>
          <pc:docMk/>
          <pc:sldMk cId="0" sldId="263"/>
        </pc:sldMkLst>
      </pc:sldChg>
      <pc:sldChg chg="modNotes">
        <pc:chgData name="Trevoir Williams" userId="6a45007046124a3d" providerId="LiveId" clId="{53D5EA3C-0847-4EC1-9FDC-43DBDAEAF41A}" dt="2026-06-16T02:55:50.958" v="0" actId="26606"/>
        <pc:sldMkLst>
          <pc:docMk/>
          <pc:sldMk cId="0" sldId="264"/>
        </pc:sldMkLst>
      </pc:sldChg>
      <pc:sldChg chg="modNotes">
        <pc:chgData name="Trevoir Williams" userId="6a45007046124a3d" providerId="LiveId" clId="{53D5EA3C-0847-4EC1-9FDC-43DBDAEAF41A}" dt="2026-06-16T02:55:50.958" v="0" actId="26606"/>
        <pc:sldMkLst>
          <pc:docMk/>
          <pc:sldMk cId="0" sldId="265"/>
        </pc:sldMkLst>
      </pc:sldChg>
      <pc:sldChg chg="modNotes">
        <pc:chgData name="Trevoir Williams" userId="6a45007046124a3d" providerId="LiveId" clId="{53D5EA3C-0847-4EC1-9FDC-43DBDAEAF41A}" dt="2026-06-16T02:55:50.958" v="0" actId="26606"/>
        <pc:sldMkLst>
          <pc:docMk/>
          <pc:sldMk cId="0" sldId="266"/>
        </pc:sldMkLst>
      </pc:sldChg>
      <pc:sldChg chg="modNotes">
        <pc:chgData name="Trevoir Williams" userId="6a45007046124a3d" providerId="LiveId" clId="{53D5EA3C-0847-4EC1-9FDC-43DBDAEAF41A}" dt="2026-06-16T02:55:50.958" v="0" actId="26606"/>
        <pc:sldMkLst>
          <pc:docMk/>
          <pc:sldMk cId="0" sldId="267"/>
        </pc:sldMkLst>
      </pc:sldChg>
      <pc:sldChg chg="modNotes">
        <pc:chgData name="Trevoir Williams" userId="6a45007046124a3d" providerId="LiveId" clId="{53D5EA3C-0847-4EC1-9FDC-43DBDAEAF41A}" dt="2026-06-16T02:55:50.958" v="0" actId="26606"/>
        <pc:sldMkLst>
          <pc:docMk/>
          <pc:sldMk cId="0" sldId="268"/>
        </pc:sldMkLst>
      </pc:sldChg>
      <pc:sldChg chg="modNotes">
        <pc:chgData name="Trevoir Williams" userId="6a45007046124a3d" providerId="LiveId" clId="{53D5EA3C-0847-4EC1-9FDC-43DBDAEAF41A}" dt="2026-06-16T02:55:50.958" v="0" actId="26606"/>
        <pc:sldMkLst>
          <pc:docMk/>
          <pc:sldMk cId="0" sldId="269"/>
        </pc:sldMkLst>
      </pc:sldChg>
      <pc:sldChg chg="modNotes">
        <pc:chgData name="Trevoir Williams" userId="6a45007046124a3d" providerId="LiveId" clId="{53D5EA3C-0847-4EC1-9FDC-43DBDAEAF41A}" dt="2026-06-16T02:55:50.958" v="0" actId="26606"/>
        <pc:sldMkLst>
          <pc:docMk/>
          <pc:sldMk cId="0" sldId="270"/>
        </pc:sldMkLst>
      </pc:sldChg>
      <pc:sldChg chg="modNotes">
        <pc:chgData name="Trevoir Williams" userId="6a45007046124a3d" providerId="LiveId" clId="{53D5EA3C-0847-4EC1-9FDC-43DBDAEAF41A}" dt="2026-06-16T02:55:50.958" v="0" actId="26606"/>
        <pc:sldMkLst>
          <pc:docMk/>
          <pc:sldMk cId="0" sldId="271"/>
        </pc:sldMkLst>
      </pc:sldChg>
    </pc:docChg>
  </pc:docChgLst>
  <pc:docChgLst>
    <pc:chgData name="Trevoir Williams" userId="6a45007046124a3d" providerId="LiveId" clId="{31B64E46-1C5C-4743-A303-318E4CF79BB5}"/>
    <pc:docChg chg="undo custSel addSld delSld modSld sldOrd addSection modSection">
      <pc:chgData name="Trevoir Williams" userId="6a45007046124a3d" providerId="LiveId" clId="{31B64E46-1C5C-4743-A303-318E4CF79BB5}" dt="2026-07-13T17:24:06.611" v="3160" actId="14100"/>
      <pc:docMkLst>
        <pc:docMk/>
      </pc:docMkLst>
      <pc:sldChg chg="modSp mod">
        <pc:chgData name="Trevoir Williams" userId="6a45007046124a3d" providerId="LiveId" clId="{31B64E46-1C5C-4743-A303-318E4CF79BB5}" dt="2026-07-13T16:30:12.474" v="2849" actId="27636"/>
        <pc:sldMkLst>
          <pc:docMk/>
          <pc:sldMk cId="0" sldId="262"/>
        </pc:sldMkLst>
        <pc:spChg chg="mod">
          <ac:chgData name="Trevoir Williams" userId="6a45007046124a3d" providerId="LiveId" clId="{31B64E46-1C5C-4743-A303-318E4CF79BB5}" dt="2026-07-13T16:30:12.474" v="2849" actId="27636"/>
          <ac:spMkLst>
            <pc:docMk/>
            <pc:sldMk cId="0" sldId="262"/>
            <ac:spMk id="7" creationId="{00000000-0000-0000-0000-000000000000}"/>
          </ac:spMkLst>
        </pc:spChg>
        <pc:spChg chg="mod">
          <ac:chgData name="Trevoir Williams" userId="6a45007046124a3d" providerId="LiveId" clId="{31B64E46-1C5C-4743-A303-318E4CF79BB5}" dt="2026-06-17T16:50:48.997" v="485" actId="20577"/>
          <ac:spMkLst>
            <pc:docMk/>
            <pc:sldMk cId="0" sldId="262"/>
            <ac:spMk id="8" creationId="{00000000-0000-0000-0000-000000000000}"/>
          </ac:spMkLst>
        </pc:spChg>
      </pc:sldChg>
      <pc:sldChg chg="modSp add del mod modAnim">
        <pc:chgData name="Trevoir Williams" userId="6a45007046124a3d" providerId="LiveId" clId="{31B64E46-1C5C-4743-A303-318E4CF79BB5}" dt="2026-07-13T17:15:20.068" v="2964"/>
        <pc:sldMkLst>
          <pc:docMk/>
          <pc:sldMk cId="0" sldId="263"/>
        </pc:sldMkLst>
        <pc:spChg chg="mod">
          <ac:chgData name="Trevoir Williams" userId="6a45007046124a3d" providerId="LiveId" clId="{31B64E46-1C5C-4743-A303-318E4CF79BB5}" dt="2026-06-17T17:00:12.969" v="538" actId="20577"/>
          <ac:spMkLst>
            <pc:docMk/>
            <pc:sldMk cId="0" sldId="263"/>
            <ac:spMk id="5" creationId="{00000000-0000-0000-0000-000000000000}"/>
          </ac:spMkLst>
        </pc:spChg>
        <pc:spChg chg="mod">
          <ac:chgData name="Trevoir Williams" userId="6a45007046124a3d" providerId="LiveId" clId="{31B64E46-1C5C-4743-A303-318E4CF79BB5}" dt="2026-07-13T17:15:20.068" v="2964"/>
          <ac:spMkLst>
            <pc:docMk/>
            <pc:sldMk cId="0" sldId="263"/>
            <ac:spMk id="7" creationId="{00000000-0000-0000-0000-000000000000}"/>
          </ac:spMkLst>
        </pc:spChg>
      </pc:sldChg>
      <pc:sldChg chg="modSp add del mod modAnim">
        <pc:chgData name="Trevoir Williams" userId="6a45007046124a3d" providerId="LiveId" clId="{31B64E46-1C5C-4743-A303-318E4CF79BB5}" dt="2026-07-13T17:24:06.611" v="3160" actId="14100"/>
        <pc:sldMkLst>
          <pc:docMk/>
          <pc:sldMk cId="0" sldId="264"/>
        </pc:sldMkLst>
        <pc:spChg chg="mod">
          <ac:chgData name="Trevoir Williams" userId="6a45007046124a3d" providerId="LiveId" clId="{31B64E46-1C5C-4743-A303-318E4CF79BB5}" dt="2026-07-13T17:22:24.498" v="2997" actId="20577"/>
          <ac:spMkLst>
            <pc:docMk/>
            <pc:sldMk cId="0" sldId="264"/>
            <ac:spMk id="5" creationId="{00000000-0000-0000-0000-000000000000}"/>
          </ac:spMkLst>
        </pc:spChg>
        <pc:spChg chg="mod">
          <ac:chgData name="Trevoir Williams" userId="6a45007046124a3d" providerId="LiveId" clId="{31B64E46-1C5C-4743-A303-318E4CF79BB5}" dt="2026-07-13T17:22:57.945" v="3041" actId="20577"/>
          <ac:spMkLst>
            <pc:docMk/>
            <pc:sldMk cId="0" sldId="264"/>
            <ac:spMk id="6" creationId="{00000000-0000-0000-0000-000000000000}"/>
          </ac:spMkLst>
        </pc:spChg>
        <pc:spChg chg="mod">
          <ac:chgData name="Trevoir Williams" userId="6a45007046124a3d" providerId="LiveId" clId="{31B64E46-1C5C-4743-A303-318E4CF79BB5}" dt="2026-07-13T17:24:06.611" v="3160" actId="14100"/>
          <ac:spMkLst>
            <pc:docMk/>
            <pc:sldMk cId="0" sldId="264"/>
            <ac:spMk id="7" creationId="{00000000-0000-0000-0000-000000000000}"/>
          </ac:spMkLst>
        </pc:spChg>
      </pc:sldChg>
      <pc:sldChg chg="modSp add del mod addAnim delAnim modAnim">
        <pc:chgData name="Trevoir Williams" userId="6a45007046124a3d" providerId="LiveId" clId="{31B64E46-1C5C-4743-A303-318E4CF79BB5}" dt="2026-07-13T17:15:57.304" v="2974" actId="207"/>
        <pc:sldMkLst>
          <pc:docMk/>
          <pc:sldMk cId="0" sldId="265"/>
        </pc:sldMkLst>
        <pc:spChg chg="mod">
          <ac:chgData name="Trevoir Williams" userId="6a45007046124a3d" providerId="LiveId" clId="{31B64E46-1C5C-4743-A303-318E4CF79BB5}" dt="2026-06-17T17:23:25.589" v="563" actId="20577"/>
          <ac:spMkLst>
            <pc:docMk/>
            <pc:sldMk cId="0" sldId="265"/>
            <ac:spMk id="6" creationId="{00000000-0000-0000-0000-000000000000}"/>
          </ac:spMkLst>
        </pc:spChg>
        <pc:spChg chg="mod">
          <ac:chgData name="Trevoir Williams" userId="6a45007046124a3d" providerId="LiveId" clId="{31B64E46-1C5C-4743-A303-318E4CF79BB5}" dt="2026-07-13T17:15:57.304" v="2974" actId="207"/>
          <ac:spMkLst>
            <pc:docMk/>
            <pc:sldMk cId="0" sldId="265"/>
            <ac:spMk id="21" creationId="{00000000-0000-0000-0000-000000000000}"/>
          </ac:spMkLst>
        </pc:spChg>
        <pc:spChg chg="mod">
          <ac:chgData name="Trevoir Williams" userId="6a45007046124a3d" providerId="LiveId" clId="{31B64E46-1C5C-4743-A303-318E4CF79BB5}" dt="2026-07-13T16:32:15.888" v="2894" actId="20577"/>
          <ac:spMkLst>
            <pc:docMk/>
            <pc:sldMk cId="0" sldId="265"/>
            <ac:spMk id="23" creationId="{00000000-0000-0000-0000-000000000000}"/>
          </ac:spMkLst>
        </pc:spChg>
        <pc:spChg chg="mod">
          <ac:chgData name="Trevoir Williams" userId="6a45007046124a3d" providerId="LiveId" clId="{31B64E46-1C5C-4743-A303-318E4CF79BB5}" dt="2026-07-13T16:32:28.355" v="2907" actId="20577"/>
          <ac:spMkLst>
            <pc:docMk/>
            <pc:sldMk cId="0" sldId="265"/>
            <ac:spMk id="43" creationId="{00000000-0000-0000-0000-000000000000}"/>
          </ac:spMkLst>
        </pc:spChg>
      </pc:sldChg>
      <pc:sldChg chg="modSp add del mod">
        <pc:chgData name="Trevoir Williams" userId="6a45007046124a3d" providerId="LiveId" clId="{31B64E46-1C5C-4743-A303-318E4CF79BB5}" dt="2026-07-13T17:16:08.067" v="2975"/>
        <pc:sldMkLst>
          <pc:docMk/>
          <pc:sldMk cId="0" sldId="266"/>
        </pc:sldMkLst>
        <pc:spChg chg="mod">
          <ac:chgData name="Trevoir Williams" userId="6a45007046124a3d" providerId="LiveId" clId="{31B64E46-1C5C-4743-A303-318E4CF79BB5}" dt="2026-07-13T16:30:12.488" v="2851" actId="27636"/>
          <ac:spMkLst>
            <pc:docMk/>
            <pc:sldMk cId="0" sldId="266"/>
            <ac:spMk id="5" creationId="{00000000-0000-0000-0000-000000000000}"/>
          </ac:spMkLst>
        </pc:spChg>
        <pc:spChg chg="mod">
          <ac:chgData name="Trevoir Williams" userId="6a45007046124a3d" providerId="LiveId" clId="{31B64E46-1C5C-4743-A303-318E4CF79BB5}" dt="2026-06-17T17:32:31.614" v="570" actId="20577"/>
          <ac:spMkLst>
            <pc:docMk/>
            <pc:sldMk cId="0" sldId="266"/>
            <ac:spMk id="6" creationId="{00000000-0000-0000-0000-000000000000}"/>
          </ac:spMkLst>
        </pc:spChg>
        <pc:spChg chg="mod">
          <ac:chgData name="Trevoir Williams" userId="6a45007046124a3d" providerId="LiveId" clId="{31B64E46-1C5C-4743-A303-318E4CF79BB5}" dt="2026-07-13T17:16:08.067" v="2975"/>
          <ac:spMkLst>
            <pc:docMk/>
            <pc:sldMk cId="0" sldId="266"/>
            <ac:spMk id="7" creationId="{00000000-0000-0000-0000-000000000000}"/>
          </ac:spMkLst>
        </pc:spChg>
      </pc:sldChg>
      <pc:sldChg chg="modSp add del mod">
        <pc:chgData name="Trevoir Williams" userId="6a45007046124a3d" providerId="LiveId" clId="{31B64E46-1C5C-4743-A303-318E4CF79BB5}" dt="2026-07-13T17:16:16.226" v="2979"/>
        <pc:sldMkLst>
          <pc:docMk/>
          <pc:sldMk cId="0" sldId="267"/>
        </pc:sldMkLst>
        <pc:spChg chg="mod">
          <ac:chgData name="Trevoir Williams" userId="6a45007046124a3d" providerId="LiveId" clId="{31B64E46-1C5C-4743-A303-318E4CF79BB5}" dt="2026-07-13T17:16:16.226" v="2979"/>
          <ac:spMkLst>
            <pc:docMk/>
            <pc:sldMk cId="0" sldId="267"/>
            <ac:spMk id="7" creationId="{00000000-0000-0000-0000-000000000000}"/>
          </ac:spMkLst>
        </pc:spChg>
      </pc:sldChg>
      <pc:sldChg chg="modSp add del mod">
        <pc:chgData name="Trevoir Williams" userId="6a45007046124a3d" providerId="LiveId" clId="{31B64E46-1C5C-4743-A303-318E4CF79BB5}" dt="2026-07-13T17:16:33.738" v="2983"/>
        <pc:sldMkLst>
          <pc:docMk/>
          <pc:sldMk cId="0" sldId="268"/>
        </pc:sldMkLst>
        <pc:spChg chg="mod">
          <ac:chgData name="Trevoir Williams" userId="6a45007046124a3d" providerId="LiveId" clId="{31B64E46-1C5C-4743-A303-318E4CF79BB5}" dt="2026-07-13T17:16:33.738" v="2983"/>
          <ac:spMkLst>
            <pc:docMk/>
            <pc:sldMk cId="0" sldId="268"/>
            <ac:spMk id="7" creationId="{00000000-0000-0000-0000-000000000000}"/>
          </ac:spMkLst>
        </pc:spChg>
      </pc:sldChg>
      <pc:sldChg chg="modSp add del mod">
        <pc:chgData name="Trevoir Williams" userId="6a45007046124a3d" providerId="LiveId" clId="{31B64E46-1C5C-4743-A303-318E4CF79BB5}" dt="2026-07-13T17:16:40.909" v="2985"/>
        <pc:sldMkLst>
          <pc:docMk/>
          <pc:sldMk cId="0" sldId="269"/>
        </pc:sldMkLst>
        <pc:spChg chg="mod">
          <ac:chgData name="Trevoir Williams" userId="6a45007046124a3d" providerId="LiveId" clId="{31B64E46-1C5C-4743-A303-318E4CF79BB5}" dt="2026-07-13T17:16:40.909" v="2985"/>
          <ac:spMkLst>
            <pc:docMk/>
            <pc:sldMk cId="0" sldId="269"/>
            <ac:spMk id="7" creationId="{00000000-0000-0000-0000-000000000000}"/>
          </ac:spMkLst>
        </pc:spChg>
      </pc:sldChg>
      <pc:sldChg chg="modSp add del mod">
        <pc:chgData name="Trevoir Williams" userId="6a45007046124a3d" providerId="LiveId" clId="{31B64E46-1C5C-4743-A303-318E4CF79BB5}" dt="2026-07-13T17:16:44.061" v="2986"/>
        <pc:sldMkLst>
          <pc:docMk/>
          <pc:sldMk cId="0" sldId="270"/>
        </pc:sldMkLst>
        <pc:spChg chg="mod">
          <ac:chgData name="Trevoir Williams" userId="6a45007046124a3d" providerId="LiveId" clId="{31B64E46-1C5C-4743-A303-318E4CF79BB5}" dt="2026-07-13T17:16:44.061" v="2986"/>
          <ac:spMkLst>
            <pc:docMk/>
            <pc:sldMk cId="0" sldId="270"/>
            <ac:spMk id="7" creationId="{00000000-0000-0000-0000-000000000000}"/>
          </ac:spMkLst>
        </pc:spChg>
        <pc:spChg chg="mod">
          <ac:chgData name="Trevoir Williams" userId="6a45007046124a3d" providerId="LiveId" clId="{31B64E46-1C5C-4743-A303-318E4CF79BB5}" dt="2026-06-18T06:29:47.539" v="857" actId="20577"/>
          <ac:spMkLst>
            <pc:docMk/>
            <pc:sldMk cId="0" sldId="270"/>
            <ac:spMk id="12" creationId="{00000000-0000-0000-0000-000000000000}"/>
          </ac:spMkLst>
        </pc:spChg>
      </pc:sldChg>
      <pc:sldChg chg="modSp add del mod addAnim delAnim modAnim">
        <pc:chgData name="Trevoir Williams" userId="6a45007046124a3d" providerId="LiveId" clId="{31B64E46-1C5C-4743-A303-318E4CF79BB5}" dt="2026-07-13T16:30:53.141" v="2870" actId="6549"/>
        <pc:sldMkLst>
          <pc:docMk/>
          <pc:sldMk cId="0" sldId="271"/>
        </pc:sldMkLst>
        <pc:spChg chg="mod">
          <ac:chgData name="Trevoir Williams" userId="6a45007046124a3d" providerId="LiveId" clId="{31B64E46-1C5C-4743-A303-318E4CF79BB5}" dt="2026-07-13T16:30:12.456" v="2848" actId="27636"/>
          <ac:spMkLst>
            <pc:docMk/>
            <pc:sldMk cId="0" sldId="271"/>
            <ac:spMk id="6" creationId="{00000000-0000-0000-0000-000000000000}"/>
          </ac:spMkLst>
        </pc:spChg>
        <pc:spChg chg="mod">
          <ac:chgData name="Trevoir Williams" userId="6a45007046124a3d" providerId="LiveId" clId="{31B64E46-1C5C-4743-A303-318E4CF79BB5}" dt="2026-07-13T16:30:24.774" v="2860" actId="404"/>
          <ac:spMkLst>
            <pc:docMk/>
            <pc:sldMk cId="0" sldId="271"/>
            <ac:spMk id="9" creationId="{00000000-0000-0000-0000-000000000000}"/>
          </ac:spMkLst>
        </pc:spChg>
        <pc:spChg chg="mod">
          <ac:chgData name="Trevoir Williams" userId="6a45007046124a3d" providerId="LiveId" clId="{31B64E46-1C5C-4743-A303-318E4CF79BB5}" dt="2026-07-13T16:30:31.765" v="2865" actId="20577"/>
          <ac:spMkLst>
            <pc:docMk/>
            <pc:sldMk cId="0" sldId="271"/>
            <ac:spMk id="12" creationId="{00000000-0000-0000-0000-000000000000}"/>
          </ac:spMkLst>
        </pc:spChg>
        <pc:spChg chg="mod">
          <ac:chgData name="Trevoir Williams" userId="6a45007046124a3d" providerId="LiveId" clId="{31B64E46-1C5C-4743-A303-318E4CF79BB5}" dt="2026-07-13T16:30:53.141" v="2870" actId="6549"/>
          <ac:spMkLst>
            <pc:docMk/>
            <pc:sldMk cId="0" sldId="271"/>
            <ac:spMk id="15" creationId="{00000000-0000-0000-0000-000000000000}"/>
          </ac:spMkLst>
        </pc:spChg>
        <pc:spChg chg="mod">
          <ac:chgData name="Trevoir Williams" userId="6a45007046124a3d" providerId="LiveId" clId="{31B64E46-1C5C-4743-A303-318E4CF79BB5}" dt="2026-07-13T16:30:48.722" v="2868" actId="20577"/>
          <ac:spMkLst>
            <pc:docMk/>
            <pc:sldMk cId="0" sldId="271"/>
            <ac:spMk id="18" creationId="{00000000-0000-0000-0000-000000000000}"/>
          </ac:spMkLst>
        </pc:spChg>
        <pc:spChg chg="mod">
          <ac:chgData name="Trevoir Williams" userId="6a45007046124a3d" providerId="LiveId" clId="{31B64E46-1C5C-4743-A303-318E4CF79BB5}" dt="2026-06-15T22:05:32.005" v="158" actId="14100"/>
          <ac:spMkLst>
            <pc:docMk/>
            <pc:sldMk cId="0" sldId="271"/>
            <ac:spMk id="19" creationId="{00000000-0000-0000-0000-000000000000}"/>
          </ac:spMkLst>
        </pc:spChg>
        <pc:spChg chg="mod">
          <ac:chgData name="Trevoir Williams" userId="6a45007046124a3d" providerId="LiveId" clId="{31B64E46-1C5C-4743-A303-318E4CF79BB5}" dt="2026-07-13T16:30:18.015" v="2857" actId="403"/>
          <ac:spMkLst>
            <pc:docMk/>
            <pc:sldMk cId="0" sldId="271"/>
            <ac:spMk id="20" creationId="{00000000-0000-0000-0000-000000000000}"/>
          </ac:spMkLst>
        </pc:spChg>
      </pc:sldChg>
      <pc:sldChg chg="modSp add mod">
        <pc:chgData name="Trevoir Williams" userId="6a45007046124a3d" providerId="LiveId" clId="{31B64E46-1C5C-4743-A303-318E4CF79BB5}" dt="2026-07-13T17:16:36.529" v="2984"/>
        <pc:sldMkLst>
          <pc:docMk/>
          <pc:sldMk cId="0" sldId="400"/>
        </pc:sldMkLst>
        <pc:spChg chg="mod">
          <ac:chgData name="Trevoir Williams" userId="6a45007046124a3d" providerId="LiveId" clId="{31B64E46-1C5C-4743-A303-318E4CF79BB5}" dt="2026-07-13T16:30:12.506" v="2854" actId="27636"/>
          <ac:spMkLst>
            <pc:docMk/>
            <pc:sldMk cId="0" sldId="400"/>
            <ac:spMk id="5" creationId="{00000000-0000-0000-0000-000000000000}"/>
          </ac:spMkLst>
        </pc:spChg>
        <pc:spChg chg="mod">
          <ac:chgData name="Trevoir Williams" userId="6a45007046124a3d" providerId="LiveId" clId="{31B64E46-1C5C-4743-A303-318E4CF79BB5}" dt="2026-07-13T17:16:36.529" v="2984"/>
          <ac:spMkLst>
            <pc:docMk/>
            <pc:sldMk cId="0" sldId="400"/>
            <ac:spMk id="7" creationId="{00000000-0000-0000-0000-000000000000}"/>
          </ac:spMkLst>
        </pc:spChg>
      </pc:sldChg>
      <pc:sldChg chg="delSp modSp add mod ord setBg addAnim delAnim modAnim">
        <pc:chgData name="Trevoir Williams" userId="6a45007046124a3d" providerId="LiveId" clId="{31B64E46-1C5C-4743-A303-318E4CF79BB5}" dt="2026-07-13T16:33:39.259" v="2934" actId="20577"/>
        <pc:sldMkLst>
          <pc:docMk/>
          <pc:sldMk cId="2754288496" sldId="895"/>
        </pc:sldMkLst>
        <pc:spChg chg="mod">
          <ac:chgData name="Trevoir Williams" userId="6a45007046124a3d" providerId="LiveId" clId="{31B64E46-1C5C-4743-A303-318E4CF79BB5}" dt="2026-06-17T17:41:09.069" v="580" actId="20577"/>
          <ac:spMkLst>
            <pc:docMk/>
            <pc:sldMk cId="2754288496" sldId="895"/>
            <ac:spMk id="5" creationId="{27A8D024-8998-17BC-3F40-3014CBC718C0}"/>
          </ac:spMkLst>
        </pc:spChg>
        <pc:spChg chg="mod">
          <ac:chgData name="Trevoir Williams" userId="6a45007046124a3d" providerId="LiveId" clId="{31B64E46-1C5C-4743-A303-318E4CF79BB5}" dt="2026-06-17T17:40:53.071" v="578" actId="20577"/>
          <ac:spMkLst>
            <pc:docMk/>
            <pc:sldMk cId="2754288496" sldId="895"/>
            <ac:spMk id="6" creationId="{75ABE2C3-A94F-4747-E714-95C4E58F9CF3}"/>
          </ac:spMkLst>
        </pc:spChg>
        <pc:spChg chg="mod">
          <ac:chgData name="Trevoir Williams" userId="6a45007046124a3d" providerId="LiveId" clId="{31B64E46-1C5C-4743-A303-318E4CF79BB5}" dt="2026-07-13T16:32:57.980" v="2921" actId="20577"/>
          <ac:spMkLst>
            <pc:docMk/>
            <pc:sldMk cId="2754288496" sldId="895"/>
            <ac:spMk id="24" creationId="{71301F7C-5E99-3507-667E-A94B059777B2}"/>
          </ac:spMkLst>
        </pc:spChg>
        <pc:spChg chg="mod">
          <ac:chgData name="Trevoir Williams" userId="6a45007046124a3d" providerId="LiveId" clId="{31B64E46-1C5C-4743-A303-318E4CF79BB5}" dt="2026-07-13T16:33:39.259" v="2934" actId="20577"/>
          <ac:spMkLst>
            <pc:docMk/>
            <pc:sldMk cId="2754288496" sldId="895"/>
            <ac:spMk id="34" creationId="{E042B20B-6C42-48AC-5C9D-CAB302E91DD3}"/>
          </ac:spMkLst>
        </pc:spChg>
      </pc:sldChg>
      <pc:sldChg chg="modSp add">
        <pc:chgData name="Trevoir Williams" userId="6a45007046124a3d" providerId="LiveId" clId="{31B64E46-1C5C-4743-A303-318E4CF79BB5}" dt="2026-07-13T17:16:21.356" v="2980"/>
        <pc:sldMkLst>
          <pc:docMk/>
          <pc:sldMk cId="0" sldId="896"/>
        </pc:sldMkLst>
        <pc:spChg chg="mod">
          <ac:chgData name="Trevoir Williams" userId="6a45007046124a3d" providerId="LiveId" clId="{31B64E46-1C5C-4743-A303-318E4CF79BB5}" dt="2026-07-13T17:16:21.356" v="2980"/>
          <ac:spMkLst>
            <pc:docMk/>
            <pc:sldMk cId="0" sldId="896"/>
            <ac:spMk id="7" creationId="{00000000-0000-0000-0000-000000000000}"/>
          </ac:spMkLst>
        </pc:spChg>
      </pc:sldChg>
      <pc:sldChg chg="modSp add mod ord">
        <pc:chgData name="Trevoir Williams" userId="6a45007046124a3d" providerId="LiveId" clId="{31B64E46-1C5C-4743-A303-318E4CF79BB5}" dt="2026-07-13T17:16:25.019" v="2981"/>
        <pc:sldMkLst>
          <pc:docMk/>
          <pc:sldMk cId="0" sldId="897"/>
        </pc:sldMkLst>
        <pc:spChg chg="mod">
          <ac:chgData name="Trevoir Williams" userId="6a45007046124a3d" providerId="LiveId" clId="{31B64E46-1C5C-4743-A303-318E4CF79BB5}" dt="2026-07-13T16:30:12.493" v="2852" actId="27636"/>
          <ac:spMkLst>
            <pc:docMk/>
            <pc:sldMk cId="0" sldId="897"/>
            <ac:spMk id="5" creationId="{00000000-0000-0000-0000-000000000000}"/>
          </ac:spMkLst>
        </pc:spChg>
        <pc:spChg chg="mod">
          <ac:chgData name="Trevoir Williams" userId="6a45007046124a3d" providerId="LiveId" clId="{31B64E46-1C5C-4743-A303-318E4CF79BB5}" dt="2026-07-13T17:16:25.019" v="2981"/>
          <ac:spMkLst>
            <pc:docMk/>
            <pc:sldMk cId="0" sldId="897"/>
            <ac:spMk id="7" creationId="{00000000-0000-0000-0000-000000000000}"/>
          </ac:spMkLst>
        </pc:spChg>
      </pc:sldChg>
      <pc:sldChg chg="modSp add mod ord">
        <pc:chgData name="Trevoir Williams" userId="6a45007046124a3d" providerId="LiveId" clId="{31B64E46-1C5C-4743-A303-318E4CF79BB5}" dt="2026-07-13T17:16:30.063" v="2982"/>
        <pc:sldMkLst>
          <pc:docMk/>
          <pc:sldMk cId="0" sldId="898"/>
        </pc:sldMkLst>
        <pc:spChg chg="mod">
          <ac:chgData name="Trevoir Williams" userId="6a45007046124a3d" providerId="LiveId" clId="{31B64E46-1C5C-4743-A303-318E4CF79BB5}" dt="2026-07-13T16:30:12.498" v="2853" actId="27636"/>
          <ac:spMkLst>
            <pc:docMk/>
            <pc:sldMk cId="0" sldId="898"/>
            <ac:spMk id="5" creationId="{00000000-0000-0000-0000-000000000000}"/>
          </ac:spMkLst>
        </pc:spChg>
        <pc:spChg chg="mod">
          <ac:chgData name="Trevoir Williams" userId="6a45007046124a3d" providerId="LiveId" clId="{31B64E46-1C5C-4743-A303-318E4CF79BB5}" dt="2026-06-17T22:49:40.088" v="720" actId="27636"/>
          <ac:spMkLst>
            <pc:docMk/>
            <pc:sldMk cId="0" sldId="898"/>
            <ac:spMk id="6" creationId="{00000000-0000-0000-0000-000000000000}"/>
          </ac:spMkLst>
        </pc:spChg>
        <pc:spChg chg="mod">
          <ac:chgData name="Trevoir Williams" userId="6a45007046124a3d" providerId="LiveId" clId="{31B64E46-1C5C-4743-A303-318E4CF79BB5}" dt="2026-07-13T17:16:30.063" v="2982"/>
          <ac:spMkLst>
            <pc:docMk/>
            <pc:sldMk cId="0" sldId="898"/>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21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enforce consistent language. The course should say Microsoft Foundry as the current platform identity. It should use the current Foundry portal and Foundry projects as the default teaching surface. Classic remains relevant only for hub-based investments, migration context, and documentation that explicitly labels itself Classic. When discussing Agent Service, use prompt agents and hosted agents rather than older Classic agent terms. For managed enterprise knowledge, use Foundry IQ when the course is discussing the current knowledge layer, and explain classic RAG only as a conceptual foundation.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Lecture 6 by telling learners that this is the architecture anchor for the course. Every later section maps back to this model. Section 3 focuses on the Foundry resource, project, model, quota, identity, and cost decisions. Section 4 focuses on Agent Service. Section 5 focuses on Foundry IQ and knowledge grounding. Section 6 focuses on tools, catalog capabilities, MCP, OpenAPI, and A2A. Section 7 focuses on multi-agent architecture and A2A. Section 8 focuses on evaluation and monitoring. Section 9 focuses on Control Plane and governance.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the central architecture picture for Section 2. Microsoft Foundry is not one feature; it is a platform surface that brings together related assets. Foundry Models provide model discovery and deployments. Foundry Agent Service provides the managed agent layer. Foundry IQ provides reusable knowledge for grounding. Foundry Tools connect agents to controlled capabilities through built-ins, catalog tools, OpenAPI, MCP, A2A, and functions where appropriate. Foundry Control Plane gives enterprise teams the operating model for inventory, health, compliance, cost, and governance.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hierarchy as an enterprise organizing model. At the Azure layer, subscriptions and resource groups remain administrative and billing boundaries. The Foundry resource is the platform boundary used to group Foundry project work and manage common concerns. Projects then organize the assets a team actually uses: model deployments, agents, knowledge bases, tools, evaluations, and connections. The important skill is not memorizing one naming scheme. The important skill is knowing when separation is required because ownership, data sensitivity, permissions, release cadence, or cost visibility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85714-ACFE-540D-8CF8-594867FA9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6E7CB-F155-6F79-4DE5-0E7950DB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E3C1D-15FF-4F15-B1CE-ADBB647F9C5C}"/>
              </a:ext>
            </a:extLst>
          </p:cNvPr>
          <p:cNvSpPr>
            <a:spLocks noGrp="1"/>
          </p:cNvSpPr>
          <p:nvPr>
            <p:ph type="body" idx="1"/>
          </p:nvPr>
        </p:nvSpPr>
        <p:spPr/>
        <p:txBody>
          <a:bodyPr/>
          <a:lstStyle/>
          <a:p>
            <a:r>
              <a:rPr lang="en-US"/>
              <a:t>Use this lifecycle to frame the rest of the course. Learners often think of agents as something they create and test in a playground. Enterprise teams need a fuller lifecycle. Discovery includes models, tools, and knowledge sources. Build includes instructions, connections, and capability configuration. Test includes expected behavior, prohibited behavior, and edge cases. Publish exposes a stable version or endpoint to intended consumers. Observe means tracking quality, latency, token usage, cost, failures, and tool activity. Govern means assigning roles, enforcing policies, reviewing lifecycle state, and maintaining compliance.</a:t>
            </a:r>
          </a:p>
        </p:txBody>
      </p:sp>
      <p:sp>
        <p:nvSpPr>
          <p:cNvPr id="4" name="Slide Number Placeholder 3">
            <a:extLst>
              <a:ext uri="{FF2B5EF4-FFF2-40B4-BE49-F238E27FC236}">
                <a16:creationId xmlns:a16="http://schemas.microsoft.com/office/drawing/2014/main" id="{EF8A4CC2-140F-1262-546F-AEFEC872768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9039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model layer without turning the lesson into the model deployment lab. Foundry Models gives teams access to catalog choices and deployment options, but the operational detail matters. A model that appears in documentation may not be available in the learner’s region or quota context. A model that performs well in a quick test may be too slow or expensive for a business workflow. A model that supports one tool pattern may not support another. The student-friendly point is simple: model selection is not about choosing the trendiest model; it is about selecting a model that can serve the business task under security, quota, latency, cost, and lifecycle constraints.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preview Section 4. Microsoft Foundry Agent Service supports prompt agents and hosted agents. Prompt agents are appropriate for many portal-configured use cases, especially when the agent can be defined through instructions, model selection, knowledge, and approved tools. Hosted agents make sense when custom code, external frameworks, or specialized orchestration are required. This course is not a development course, so hands-on agent work uses prompt agents. Hosted agents are still important conceptually because students need to know when a portal-configured prompt agent is not enough.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bring together the platform layers that sit beyond basic model and agent configuration. Foundry IQ is the managed knowledge layer that helps agents answer from approved sources with citations and permission awareness. Foundry Tools is the capability layer that connects agents to built-in tools, catalog tools, OpenAPI definitions, MCP endpoints, and A2A patterns where appropriate. Foundry Control Plane is the enterprise visibility and governance layer for asset inventory, health, compliance, lifecycle, cost, and broader oversight. This slide also carries the Section 2 demonstration signal: the walkthrough only locates these areas in the current portal; it does not configure them yet. Source hook: Microsoft Learn, What is Foundry IQ; Foundry tool catalog; Foundry Control Plane overview.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Preview Section 6. Tools are one of the most important agent risk areas. The moment an agent can call a tool, it can do more than generate text. That may be valuable, but it changes the governance problem. The course will teach tool categories, not custom tool programming. Students need to distinguish built-in tools, catalog tools, OpenAPI tools, MCP endpoints, functions or application-executed tools, and A2A delegation. Stress the difference between MCP and A2A: MCP exposes tools and data through a server; A2A exposes another agent’s capabilities through an agent endpoint.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focus on Responsible AI Usage for Legacy Modernization. Set professional guardrails for AI-supported modernization work. First, AI can miss business context, database behavior, or security intent that is not obvious in the code. Next, AI can over-migrate by changing design and behavior at the same time. Then, AI-generated plans must be checked against official documentation and the actual repository state. Also, AI-generated code must be validated through build, workflow checks, tests, and diff review. Finally, Assumptions, unknowns, and deferred decisions should be written down, not hidden in chat history. The outcome for this step is Do not accept an AI modernization result until the evidence is visible in code, configuration, build output, tests, or documentation.</a:t>
            </a:r>
          </a:p>
          <a:p>
            <a:endParaRPr lang="en-US"/>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focus on The End-to-End Modernization Workflow. Introduce the workflow used for the rest of the program. First, Understand the current code, business workflows, and legacy platform dependencies. Next, Document behavior, assumptions, unknowns, and risks before proposing changes. Then, Assess the migration with Copilot modernization and review generated artifacts. Also, Plan small checkpoints with validation evidence and rollback points. Finally, Modernize, validate, review the diff, and prepare a professional PR package. The outcome for this step is Participants understand how the modernization program progresses.</a:t>
            </a:r>
          </a:p>
          <a:p>
            <a:endParaRPr lang="en-US"/>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lock in the key takeaways from this section. Takeaway 1: AI accelerates modernization assessment, but engineers still own the decision. Takeaway 2: Inherited ASP.NET Framework applications require structured review because platform and business risks are intertwined. Takeaway 3: Professional modernization covers behavior, data, security, dependencies, and validation evidence. Takeaway 4: The workflow keeps Copilot output evidence-based and reviewable. Next, we move into Project setup and legacy baseline review.</a:t>
            </a:r>
          </a:p>
          <a:p>
            <a:endParaRPr lang="en-US"/>
          </a:p>
          <a:p>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05535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2288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4"/>
          <p:cNvSpPr/>
          <p:nvPr/>
        </p:nvSpPr>
        <p:spPr>
          <a:xfrm rot="5400000">
            <a:off x="-404500" y="1236540"/>
            <a:ext cx="1888400" cy="10796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385400" y="1371100"/>
            <a:ext cx="6323600" cy="4773200"/>
          </a:xfrm>
          <a:prstGeom prst="rect">
            <a:avLst/>
          </a:prstGeom>
        </p:spPr>
        <p:txBody>
          <a:bodyPr spcFirstLastPara="1" wrap="square" lIns="0" tIns="0" rIns="0" bIns="0" anchor="t" anchorCtr="0">
            <a:noAutofit/>
          </a:bodyPr>
          <a:lstStyle>
            <a:lvl1pPr marL="609585" lvl="0" indent="-575719" rtl="0">
              <a:spcBef>
                <a:spcPts val="800"/>
              </a:spcBef>
              <a:spcAft>
                <a:spcPts val="0"/>
              </a:spcAft>
              <a:buClr>
                <a:schemeClr val="lt1"/>
              </a:buClr>
              <a:buSzPts val="3200"/>
              <a:buChar char="▸"/>
              <a:defRPr sz="4267">
                <a:solidFill>
                  <a:schemeClr val="lt1"/>
                </a:solidFill>
              </a:defRPr>
            </a:lvl1pPr>
            <a:lvl2pPr marL="1219170" lvl="1" indent="-575719" rtl="0">
              <a:spcBef>
                <a:spcPts val="800"/>
              </a:spcBef>
              <a:spcAft>
                <a:spcPts val="0"/>
              </a:spcAft>
              <a:buClr>
                <a:schemeClr val="lt1"/>
              </a:buClr>
              <a:buSzPts val="3200"/>
              <a:buChar char="▹"/>
              <a:defRPr sz="4267">
                <a:solidFill>
                  <a:schemeClr val="lt1"/>
                </a:solidFill>
              </a:defRPr>
            </a:lvl2pPr>
            <a:lvl3pPr marL="1828754" lvl="2" indent="-575719" rtl="0">
              <a:spcBef>
                <a:spcPts val="800"/>
              </a:spcBef>
              <a:spcAft>
                <a:spcPts val="0"/>
              </a:spcAft>
              <a:buClr>
                <a:schemeClr val="lt1"/>
              </a:buClr>
              <a:buSzPts val="3200"/>
              <a:buChar char="▹"/>
              <a:defRPr sz="4267">
                <a:solidFill>
                  <a:schemeClr val="lt1"/>
                </a:solidFill>
              </a:defRPr>
            </a:lvl3pPr>
            <a:lvl4pPr marL="2438339" lvl="3" indent="-575719" rtl="0">
              <a:spcBef>
                <a:spcPts val="800"/>
              </a:spcBef>
              <a:spcAft>
                <a:spcPts val="0"/>
              </a:spcAft>
              <a:buClr>
                <a:schemeClr val="lt1"/>
              </a:buClr>
              <a:buSzPts val="3200"/>
              <a:buChar char="▹"/>
              <a:defRPr sz="4267">
                <a:solidFill>
                  <a:schemeClr val="lt1"/>
                </a:solidFill>
              </a:defRPr>
            </a:lvl4pPr>
            <a:lvl5pPr marL="3047924" lvl="4" indent="-575719" rtl="0">
              <a:spcBef>
                <a:spcPts val="800"/>
              </a:spcBef>
              <a:spcAft>
                <a:spcPts val="0"/>
              </a:spcAft>
              <a:buClr>
                <a:schemeClr val="lt1"/>
              </a:buClr>
              <a:buSzPts val="3200"/>
              <a:buChar char="▹"/>
              <a:defRPr sz="4267">
                <a:solidFill>
                  <a:schemeClr val="lt1"/>
                </a:solidFill>
              </a:defRPr>
            </a:lvl5pPr>
            <a:lvl6pPr marL="3657509" lvl="5" indent="-575719" rtl="0">
              <a:spcBef>
                <a:spcPts val="800"/>
              </a:spcBef>
              <a:spcAft>
                <a:spcPts val="0"/>
              </a:spcAft>
              <a:buClr>
                <a:schemeClr val="lt1"/>
              </a:buClr>
              <a:buSzPts val="3200"/>
              <a:buChar char="▹"/>
              <a:defRPr sz="4267">
                <a:solidFill>
                  <a:schemeClr val="lt1"/>
                </a:solidFill>
              </a:defRPr>
            </a:lvl6pPr>
            <a:lvl7pPr marL="4267093" lvl="6" indent="-575719" rtl="0">
              <a:spcBef>
                <a:spcPts val="800"/>
              </a:spcBef>
              <a:spcAft>
                <a:spcPts val="0"/>
              </a:spcAft>
              <a:buClr>
                <a:schemeClr val="lt1"/>
              </a:buClr>
              <a:buSzPts val="3200"/>
              <a:buChar char="▹"/>
              <a:defRPr sz="4267">
                <a:solidFill>
                  <a:schemeClr val="lt1"/>
                </a:solidFill>
              </a:defRPr>
            </a:lvl7pPr>
            <a:lvl8pPr marL="4876678" lvl="7" indent="-575719" rtl="0">
              <a:spcBef>
                <a:spcPts val="800"/>
              </a:spcBef>
              <a:spcAft>
                <a:spcPts val="0"/>
              </a:spcAft>
              <a:buClr>
                <a:schemeClr val="lt1"/>
              </a:buClr>
              <a:buSzPts val="3200"/>
              <a:buChar char="▹"/>
              <a:defRPr sz="4267">
                <a:solidFill>
                  <a:schemeClr val="lt1"/>
                </a:solidFill>
              </a:defRPr>
            </a:lvl8pPr>
            <a:lvl9pPr marL="5486263" lvl="8" indent="-575719">
              <a:spcBef>
                <a:spcPts val="800"/>
              </a:spcBef>
              <a:spcAft>
                <a:spcPts val="0"/>
              </a:spcAft>
              <a:buClr>
                <a:schemeClr val="lt1"/>
              </a:buClr>
              <a:buSzPts val="3200"/>
              <a:buChar char="▹"/>
              <a:defRPr sz="4267">
                <a:solidFill>
                  <a:schemeClr val="lt1"/>
                </a:solidFill>
              </a:defRPr>
            </a:lvl9pPr>
          </a:lstStyle>
          <a:p>
            <a:endParaRPr/>
          </a:p>
        </p:txBody>
      </p:sp>
      <p:sp>
        <p:nvSpPr>
          <p:cNvPr id="20" name="Google Shape;20;p4"/>
          <p:cNvSpPr txBox="1"/>
          <p:nvPr/>
        </p:nvSpPr>
        <p:spPr>
          <a:xfrm>
            <a:off x="25400" y="1245033"/>
            <a:ext cx="708000" cy="87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466" b="1">
                <a:solidFill>
                  <a:schemeClr val="accent2"/>
                </a:solidFill>
                <a:latin typeface="Raleway"/>
                <a:ea typeface="Raleway"/>
                <a:cs typeface="Raleway"/>
                <a:sym typeface="Raleway"/>
              </a:rPr>
              <a:t>“</a:t>
            </a:r>
            <a:endParaRPr sz="11466"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45772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3404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9005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7"/>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6096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0" name="Google Shape;40;p7"/>
          <p:cNvSpPr txBox="1">
            <a:spLocks noGrp="1"/>
          </p:cNvSpPr>
          <p:nvPr>
            <p:ph type="body" idx="2"/>
          </p:nvPr>
        </p:nvSpPr>
        <p:spPr>
          <a:xfrm>
            <a:off x="43870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1" name="Google Shape;41;p7"/>
          <p:cNvSpPr txBox="1">
            <a:spLocks noGrp="1"/>
          </p:cNvSpPr>
          <p:nvPr>
            <p:ph type="body" idx="3"/>
          </p:nvPr>
        </p:nvSpPr>
        <p:spPr>
          <a:xfrm>
            <a:off x="81644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2" name="Google Shape;42;p7"/>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187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2234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1198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3834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64776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6014534"/>
      </p:ext>
    </p:extLst>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7">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2000" b="0">
                <a:solidFill>
                  <a:srgbClr val="08A9C9"/>
                </a:solidFill>
                <a:latin typeface="Aptos Display"/>
              </a:rPr>
              <a:t>Section 2</a:t>
            </a:r>
          </a:p>
        </p:txBody>
      </p:sp>
      <p:sp>
        <p:nvSpPr>
          <p:cNvPr id="6" name="Text 4"/>
          <p:cNvSpPr/>
          <p:nvPr/>
        </p:nvSpPr>
        <p:spPr>
          <a:xfrm>
            <a:off x="640080" y="1531620"/>
            <a:ext cx="2011680" cy="320040"/>
          </a:xfrm>
          <a:prstGeom prst="rect">
            <a:avLst/>
          </a:prstGeom>
          <a:noFill/>
          <a:ln/>
        </p:spPr>
        <p:txBody>
          <a:bodyPr wrap="square" lIns="0" tIns="0" rIns="0" bIns="0" rtlCol="0" anchor="ctr"/>
          <a:lstStyle/>
          <a:p>
            <a:r>
              <a:rPr sz="1300" b="0">
                <a:solidFill>
                  <a:srgbClr val="374151"/>
                </a:solidFill>
                <a:latin typeface="Aptos"/>
              </a:rPr>
              <a:t>Section 2</a:t>
            </a:r>
          </a:p>
        </p:txBody>
      </p:sp>
      <p:sp>
        <p:nvSpPr>
          <p:cNvPr id="7" name="Text 5"/>
          <p:cNvSpPr/>
          <p:nvPr/>
        </p:nvSpPr>
        <p:spPr>
          <a:xfrm>
            <a:off x="640080" y="2080260"/>
            <a:ext cx="6675120" cy="640080"/>
          </a:xfrm>
          <a:prstGeom prst="rect">
            <a:avLst/>
          </a:prstGeom>
          <a:noFill/>
          <a:ln/>
        </p:spPr>
        <p:txBody>
          <a:bodyPr wrap="square" lIns="0" tIns="0" rIns="0" bIns="0" rtlCol="0" anchor="ctr">
            <a:normAutofit fontScale="77500" lnSpcReduction="20000"/>
          </a:bodyPr>
          <a:lstStyle/>
          <a:p>
            <a:r>
              <a:rPr sz="3000" b="0" dirty="0">
                <a:solidFill>
                  <a:srgbClr val="1F2A37"/>
                </a:solidFill>
                <a:latin typeface="Aptos Display"/>
              </a:rPr>
              <a:t>Microsoft Foundry</a:t>
            </a:r>
          </a:p>
          <a:p>
            <a:r>
              <a:rPr sz="3000" b="0" dirty="0">
                <a:solidFill>
                  <a:srgbClr val="1F2A37"/>
                </a:solidFill>
                <a:latin typeface="Aptos Display"/>
              </a:rPr>
              <a:t>Platform Foundations</a:t>
            </a:r>
          </a:p>
        </p:txBody>
      </p:sp>
      <p:sp>
        <p:nvSpPr>
          <p:cNvPr id="8" name="Text 6"/>
          <p:cNvSpPr/>
          <p:nvPr/>
        </p:nvSpPr>
        <p:spPr>
          <a:xfrm>
            <a:off x="640080" y="3040380"/>
            <a:ext cx="7315200" cy="594360"/>
          </a:xfrm>
          <a:prstGeom prst="rect">
            <a:avLst/>
          </a:prstGeom>
          <a:noFill/>
          <a:ln/>
        </p:spPr>
        <p:txBody>
          <a:bodyPr wrap="square" lIns="0" tIns="0" rIns="0" bIns="0" rtlCol="0" anchor="ctr">
            <a:normAutofit/>
          </a:bodyPr>
          <a:lstStyle/>
          <a:p>
            <a:r>
              <a:rPr sz="1400" b="0" dirty="0">
                <a:solidFill>
                  <a:srgbClr val="374151"/>
                </a:solidFill>
                <a:latin typeface="Aptos"/>
              </a:rPr>
              <a:t>Establish the current Foundry platform model, the New and Classic split, and the enterprise architecture that explains every later lab.</a:t>
            </a:r>
          </a:p>
        </p:txBody>
      </p:sp>
      <p:pic>
        <p:nvPicPr>
          <p:cNvPr id="9" name="Image 0" descr="/mnt/data/template_unzip/ppt/media/image6.png"/>
          <p:cNvPicPr>
            <a:picLocks noChangeAspect="1"/>
          </p:cNvPicPr>
          <p:nvPr/>
        </p:nvPicPr>
        <p:blipFill>
          <a:blip r:embed="rId3">
            <a:alphaModFix amt="90000"/>
          </a:blip>
          <a:stretch>
            <a:fillRect/>
          </a:stretch>
        </p:blipFill>
        <p:spPr>
          <a:xfrm>
            <a:off x="8183880" y="1325880"/>
            <a:ext cx="2880360" cy="2880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a:t>
            </a:r>
          </a:p>
        </p:txBody>
      </p:sp>
      <p:sp>
        <p:nvSpPr>
          <p:cNvPr id="5" name="Text 3"/>
          <p:cNvSpPr/>
          <p:nvPr/>
        </p:nvSpPr>
        <p:spPr>
          <a:xfrm>
            <a:off x="502920" y="621792"/>
            <a:ext cx="9601200" cy="502920"/>
          </a:xfrm>
          <a:prstGeom prst="rect">
            <a:avLst/>
          </a:prstGeom>
          <a:noFill/>
          <a:ln/>
        </p:spPr>
        <p:txBody>
          <a:bodyPr wrap="square" lIns="0" tIns="0" rIns="0" bIns="0" rtlCol="0" anchor="ctr">
            <a:normAutofit/>
          </a:bodyPr>
          <a:lstStyle/>
          <a:p>
            <a:r>
              <a:rPr sz="2800" b="0">
                <a:solidFill>
                  <a:srgbClr val="08A9C9"/>
                </a:solidFill>
                <a:latin typeface="Aptos Display"/>
              </a:rPr>
              <a:t>Section Overview</a:t>
            </a:r>
          </a:p>
        </p:txBody>
      </p:sp>
      <p:sp>
        <p:nvSpPr>
          <p:cNvPr id="6" name="Text 4"/>
          <p:cNvSpPr/>
          <p:nvPr/>
        </p:nvSpPr>
        <p:spPr>
          <a:xfrm>
            <a:off x="502920" y="1298448"/>
            <a:ext cx="7772400" cy="320040"/>
          </a:xfrm>
          <a:prstGeom prst="rect">
            <a:avLst/>
          </a:prstGeom>
          <a:noFill/>
          <a:ln/>
        </p:spPr>
        <p:txBody>
          <a:bodyPr wrap="square" lIns="0" tIns="0" rIns="0" bIns="0" rtlCol="0" anchor="ctr">
            <a:normAutofit/>
          </a:bodyPr>
          <a:lstStyle/>
          <a:p>
            <a:r>
              <a:rPr sz="1350" b="0">
                <a:solidFill>
                  <a:srgbClr val="374151"/>
                </a:solidFill>
                <a:latin typeface="Aptos"/>
              </a:rPr>
              <a:t>This section establishes the language and architecture used throughout the course.</a:t>
            </a:r>
          </a:p>
        </p:txBody>
      </p:sp>
      <p:sp>
        <p:nvSpPr>
          <p:cNvPr id="7" name="Text 5"/>
          <p:cNvSpPr/>
          <p:nvPr/>
        </p:nvSpPr>
        <p:spPr>
          <a:xfrm>
            <a:off x="685800" y="1737360"/>
            <a:ext cx="6675120" cy="425196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Microsoft Foundry is the current platform identity for the course.</a:t>
            </a:r>
          </a:p>
          <a:p>
            <a:pPr>
              <a:spcAft>
                <a:spcPts val="200"/>
              </a:spcAft>
            </a:pPr>
            <a:r>
              <a:rPr sz="2000" dirty="0">
                <a:solidFill>
                  <a:srgbClr val="374151"/>
                </a:solidFill>
                <a:latin typeface="Aptos"/>
              </a:rPr>
              <a:t>▸ The current Foundry experience is the default teaching surface.</a:t>
            </a:r>
          </a:p>
          <a:p>
            <a:pPr>
              <a:spcAft>
                <a:spcPts val="200"/>
              </a:spcAft>
            </a:pPr>
            <a:r>
              <a:rPr sz="2000" dirty="0">
                <a:solidFill>
                  <a:srgbClr val="374151"/>
                </a:solidFill>
                <a:latin typeface="Aptos"/>
              </a:rPr>
              <a:t>▸ Foundry Classic appears only where existing hub-based assets or migration context matters.</a:t>
            </a:r>
          </a:p>
          <a:p>
            <a:pPr>
              <a:spcAft>
                <a:spcPts val="200"/>
              </a:spcAft>
            </a:pPr>
            <a:r>
              <a:rPr sz="2000" dirty="0">
                <a:solidFill>
                  <a:srgbClr val="374151"/>
                </a:solidFill>
                <a:latin typeface="Aptos"/>
              </a:rPr>
              <a:t>▸ Foundry unifies models, agents, knowledge, tools, and operations.</a:t>
            </a:r>
          </a:p>
          <a:p>
            <a:pPr>
              <a:spcAft>
                <a:spcPts val="200"/>
              </a:spcAft>
            </a:pPr>
            <a:r>
              <a:rPr sz="2000" dirty="0">
                <a:solidFill>
                  <a:srgbClr val="374151"/>
                </a:solidFill>
                <a:latin typeface="Aptos"/>
              </a:rPr>
              <a:t>▸ The platform architecture explains later labs and governance decisions.</a:t>
            </a:r>
          </a:p>
        </p:txBody>
      </p:sp>
      <p:sp>
        <p:nvSpPr>
          <p:cNvPr id="8" name="Shape 6"/>
          <p:cNvSpPr/>
          <p:nvPr/>
        </p:nvSpPr>
        <p:spPr>
          <a:xfrm>
            <a:off x="7909560" y="1783080"/>
            <a:ext cx="2971800" cy="2377440"/>
          </a:xfrm>
          <a:prstGeom prst="roundRect">
            <a:avLst>
              <a:gd name="adj" fmla="val 307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206654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13969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2084832"/>
            <a:ext cx="2148840" cy="320040"/>
          </a:xfrm>
          <a:prstGeom prst="rect">
            <a:avLst/>
          </a:prstGeom>
          <a:noFill/>
          <a:ln/>
        </p:spPr>
        <p:txBody>
          <a:bodyPr wrap="square" lIns="0" tIns="0" rIns="0" bIns="0" rtlCol="0" anchor="ctr">
            <a:normAutofit/>
          </a:bodyPr>
          <a:lstStyle/>
          <a:p>
            <a:r>
              <a:rPr sz="1300" b="1">
                <a:solidFill>
                  <a:srgbClr val="1F2A37"/>
                </a:solidFill>
                <a:latin typeface="Aptos"/>
              </a:rPr>
              <a:t>Section outcome</a:t>
            </a:r>
          </a:p>
        </p:txBody>
      </p:sp>
      <p:sp>
        <p:nvSpPr>
          <p:cNvPr id="12" name="Text 10"/>
          <p:cNvSpPr/>
          <p:nvPr/>
        </p:nvSpPr>
        <p:spPr>
          <a:xfrm>
            <a:off x="8138160" y="2880360"/>
            <a:ext cx="2514600" cy="1097280"/>
          </a:xfrm>
          <a:prstGeom prst="rect">
            <a:avLst/>
          </a:prstGeom>
          <a:noFill/>
          <a:ln/>
        </p:spPr>
        <p:txBody>
          <a:bodyPr wrap="square" lIns="73152" rIns="73152" rtlCol="0" anchor="ctr">
            <a:normAutofit/>
          </a:bodyPr>
          <a:lstStyle/>
          <a:p>
            <a:pPr>
              <a:lnSpc>
                <a:spcPct val="90000"/>
              </a:lnSpc>
            </a:pPr>
            <a:r>
              <a:rPr sz="1280" b="0" dirty="0">
                <a:solidFill>
                  <a:srgbClr val="253040"/>
                </a:solidFill>
                <a:latin typeface="Aptos"/>
              </a:rPr>
              <a:t>Describe how Foundry organizes enterprise AI assets.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charRg st="370" end="370"/>
                                            </p:txEl>
                                          </p:spTgt>
                                        </p:tgtEl>
                                        <p:attrNameLst>
                                          <p:attrName>style.visibility</p:attrName>
                                        </p:attrNameLst>
                                      </p:cBhvr>
                                      <p:to>
                                        <p:strVal val="visible"/>
                                      </p:to>
                                    </p:set>
                                    <p:animEffect transition="in" filter="fade">
                                      <p:cBhvr>
                                        <p:cTn id="32" dur="500"/>
                                        <p:tgtEl>
                                          <p:spTgt spid="7">
                                            <p:txEl>
                                              <p:charRg st="370" end="37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5</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lang="en-US" sz="2800" b="0" dirty="0">
                <a:solidFill>
                  <a:srgbClr val="08A9C9"/>
                </a:solidFill>
                <a:latin typeface="Aptos Display"/>
              </a:rPr>
              <a:t>Lab: Create a Microsoft Foundry project</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lang="en-US" sz="1350" b="0" dirty="0">
                <a:solidFill>
                  <a:srgbClr val="374151"/>
                </a:solidFill>
                <a:latin typeface="Aptos"/>
              </a:rPr>
              <a:t>Pre-requisites to complete this exercise</a:t>
            </a:r>
            <a:endParaRPr sz="1350" b="0" dirty="0">
              <a:solidFill>
                <a:srgbClr val="374151"/>
              </a:solidFill>
              <a:latin typeface="Aptos"/>
            </a:endParaRPr>
          </a:p>
        </p:txBody>
      </p:sp>
      <p:sp>
        <p:nvSpPr>
          <p:cNvPr id="7" name="Text 5"/>
          <p:cNvSpPr/>
          <p:nvPr/>
        </p:nvSpPr>
        <p:spPr>
          <a:xfrm>
            <a:off x="640080" y="1783080"/>
            <a:ext cx="7168896"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a:t>
            </a:r>
            <a:r>
              <a:rPr lang="en-US" sz="2000" dirty="0">
                <a:solidFill>
                  <a:srgbClr val="374151"/>
                </a:solidFill>
                <a:latin typeface="Aptos"/>
              </a:rPr>
              <a:t>A Microsoft Azure Account and active subscription.</a:t>
            </a:r>
            <a:endParaRPr sz="2000" dirty="0">
              <a:solidFill>
                <a:srgbClr val="374151"/>
              </a:solidFill>
              <a:latin typeface="Aptos"/>
            </a:endParaRPr>
          </a:p>
          <a:p>
            <a:pPr>
              <a:lnSpc>
                <a:spcPct val="150000"/>
              </a:lnSpc>
              <a:spcAft>
                <a:spcPts val="200"/>
              </a:spcAft>
            </a:pPr>
            <a:r>
              <a:rPr sz="2000" dirty="0">
                <a:solidFill>
                  <a:srgbClr val="374151"/>
                </a:solidFill>
                <a:latin typeface="Aptos"/>
              </a:rPr>
              <a:t>▸ </a:t>
            </a:r>
            <a:r>
              <a:rPr lang="en-US" sz="2000" dirty="0">
                <a:solidFill>
                  <a:srgbClr val="374151"/>
                </a:solidFill>
                <a:latin typeface="Aptos"/>
              </a:rPr>
              <a:t>Relevant account permissions and roles for creating resources.</a:t>
            </a:r>
            <a:endParaRPr sz="2000" dirty="0">
              <a:solidFill>
                <a:srgbClr val="374151"/>
              </a:solidFill>
              <a:latin typeface="Aptos"/>
            </a:endParaRP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Outcome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a:solidFill>
                  <a:srgbClr val="253040"/>
                </a:solidFill>
                <a:latin typeface="Aptos"/>
              </a:rPr>
              <a:t>Explain the current Foundry direction without teaching obsolete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5</a:t>
            </a:r>
          </a:p>
        </p:txBody>
      </p:sp>
      <p:sp>
        <p:nvSpPr>
          <p:cNvPr id="5" name="Text 3"/>
          <p:cNvSpPr/>
          <p:nvPr/>
        </p:nvSpPr>
        <p:spPr>
          <a:xfrm>
            <a:off x="502920" y="621792"/>
            <a:ext cx="11185855" cy="502920"/>
          </a:xfrm>
          <a:prstGeom prst="rect">
            <a:avLst/>
          </a:prstGeom>
          <a:noFill/>
          <a:ln/>
        </p:spPr>
        <p:txBody>
          <a:bodyPr wrap="square" lIns="0" tIns="0" rIns="0" bIns="0" rtlCol="0" anchor="ctr">
            <a:normAutofit/>
          </a:bodyPr>
          <a:lstStyle/>
          <a:p>
            <a:r>
              <a:rPr sz="2700" b="0">
                <a:solidFill>
                  <a:srgbClr val="08A9C9"/>
                </a:solidFill>
                <a:latin typeface="Aptos Display"/>
              </a:rPr>
              <a:t>From Scattered AI Services to a Platform</a:t>
            </a:r>
          </a:p>
        </p:txBody>
      </p:sp>
      <p:sp>
        <p:nvSpPr>
          <p:cNvPr id="6" name="Text 4"/>
          <p:cNvSpPr/>
          <p:nvPr/>
        </p:nvSpPr>
        <p:spPr>
          <a:xfrm>
            <a:off x="502920" y="1216152"/>
            <a:ext cx="11185855" cy="455168"/>
          </a:xfrm>
          <a:prstGeom prst="rect">
            <a:avLst/>
          </a:prstGeom>
          <a:noFill/>
          <a:ln/>
        </p:spPr>
        <p:txBody>
          <a:bodyPr wrap="square" lIns="0" tIns="0" rIns="0" bIns="0" rtlCol="0" anchor="t">
            <a:normAutofit/>
          </a:bodyPr>
          <a:lstStyle/>
          <a:p>
            <a:r>
              <a:rPr sz="1350" b="0">
                <a:solidFill>
                  <a:srgbClr val="374151"/>
                </a:solidFill>
                <a:latin typeface="Aptos"/>
              </a:rPr>
              <a:t>The shift matters because enterprise teams need shared ownership, controls, and lifecycle visibility.</a:t>
            </a:r>
          </a:p>
        </p:txBody>
      </p:sp>
      <p:sp>
        <p:nvSpPr>
          <p:cNvPr id="20" name="Legacy Card"/>
          <p:cNvSpPr/>
          <p:nvPr/>
        </p:nvSpPr>
        <p:spPr>
          <a:xfrm>
            <a:off x="502920" y="1860000"/>
            <a:ext cx="4350000" cy="3640000"/>
          </a:xfrm>
          <a:prstGeom prst="roundRect">
            <a:avLst>
              <a:gd name="adj" fmla="val 3137"/>
            </a:avLst>
          </a:prstGeom>
          <a:solidFill>
            <a:srgbClr val="FFFFFF"/>
          </a:solidFill>
          <a:ln w="12700">
            <a:solidFill>
              <a:srgbClr val="E4B07A"/>
            </a:solidFill>
            <a:prstDash val="solid"/>
          </a:ln>
        </p:spPr>
        <p:txBody>
          <a:bodyPr/>
          <a:lstStyle/>
          <a:p>
            <a:endParaRPr lang="en-US"/>
          </a:p>
        </p:txBody>
      </p:sp>
      <p:sp>
        <p:nvSpPr>
          <p:cNvPr id="21" name="Legacy Icon"/>
          <p:cNvSpPr/>
          <p:nvPr/>
        </p:nvSpPr>
        <p:spPr>
          <a:xfrm>
            <a:off x="731520" y="2040000"/>
            <a:ext cx="300000" cy="300000"/>
          </a:xfrm>
          <a:prstGeom prst="ellipse">
            <a:avLst/>
          </a:prstGeom>
          <a:solidFill>
            <a:srgbClr val="C26A1E"/>
          </a:solidFill>
          <a:ln w="12700">
            <a:solidFill>
              <a:srgbClr val="C26A1E"/>
            </a:solidFill>
            <a:prstDash val="solid"/>
          </a:ln>
        </p:spPr>
        <p:txBody>
          <a:bodyPr wrap="square" lIns="0" tIns="0" rIns="0" bIns="0" rtlCol="0" anchor="ctr"/>
          <a:lstStyle/>
          <a:p>
            <a:pPr marL="0" indent="0" algn="ctr">
              <a:buNone/>
            </a:pPr>
            <a:r>
              <a:rPr lang="en-US" sz="1600" b="0" dirty="0">
                <a:solidFill>
                  <a:schemeClr val="bg1"/>
                </a:solidFill>
                <a:latin typeface="Aptos"/>
              </a:rPr>
              <a:t>1</a:t>
            </a:r>
            <a:endParaRPr sz="1600" b="0" dirty="0">
              <a:solidFill>
                <a:schemeClr val="bg1"/>
              </a:solidFill>
              <a:latin typeface="Aptos"/>
            </a:endParaRPr>
          </a:p>
        </p:txBody>
      </p:sp>
      <p:sp>
        <p:nvSpPr>
          <p:cNvPr id="22" name="Legacy Header"/>
          <p:cNvSpPr/>
          <p:nvPr/>
        </p:nvSpPr>
        <p:spPr>
          <a:xfrm>
            <a:off x="1111520" y="2010000"/>
            <a:ext cx="3470000" cy="360000"/>
          </a:xfrm>
          <a:prstGeom prst="rect">
            <a:avLst/>
          </a:prstGeom>
          <a:noFill/>
          <a:ln/>
        </p:spPr>
        <p:txBody>
          <a:bodyPr wrap="square" lIns="0" tIns="0" rIns="0" bIns="0" rtlCol="0" anchor="ctr"/>
          <a:lstStyle/>
          <a:p>
            <a:r>
              <a:rPr sz="1300" b="1" dirty="0">
                <a:solidFill>
                  <a:srgbClr val="1F2A37"/>
                </a:solidFill>
                <a:latin typeface="Aptos"/>
              </a:rPr>
              <a:t>Before: Separate AI assets</a:t>
            </a:r>
          </a:p>
          <a:p>
            <a:r>
              <a:rPr sz="1300" b="1" dirty="0">
                <a:solidFill>
                  <a:srgbClr val="1F2A37"/>
                </a:solidFill>
                <a:latin typeface="Aptos"/>
              </a:rPr>
              <a:t>Harder to operate as a system</a:t>
            </a:r>
          </a:p>
        </p:txBody>
      </p:sp>
      <p:sp>
        <p:nvSpPr>
          <p:cNvPr id="23" name="Legacy Bullets"/>
          <p:cNvSpPr/>
          <p:nvPr/>
        </p:nvSpPr>
        <p:spPr>
          <a:xfrm>
            <a:off x="731520" y="2560000"/>
            <a:ext cx="3892800" cy="2840000"/>
          </a:xfrm>
          <a:prstGeom prst="rect">
            <a:avLst/>
          </a:prstGeom>
          <a:noFill/>
          <a:ln/>
        </p:spPr>
        <p:txBody>
          <a:bodyPr wrap="square" lIns="0" tIns="0" rIns="0" bIns="0" rtlCol="0" anchor="t">
            <a:normAutofit/>
          </a:bodyPr>
          <a:lstStyle/>
          <a:p>
            <a:pPr marL="228600" indent="-228600">
              <a:spcBef>
                <a:spcPts val="600"/>
              </a:spcBef>
              <a:spcAft>
                <a:spcPts val="200"/>
              </a:spcAft>
              <a:buFont typeface="Aptos"/>
              <a:buChar char="▸"/>
            </a:pPr>
            <a:r>
              <a:rPr sz="1150" dirty="0">
                <a:solidFill>
                  <a:srgbClr val="374151"/>
                </a:solidFill>
                <a:latin typeface="Aptos"/>
              </a:rPr>
              <a:t>Model choices, prompts, data, and tools often lived in separate places.</a:t>
            </a:r>
            <a:endParaRPr lang="en-US" sz="1150" dirty="0">
              <a:solidFill>
                <a:srgbClr val="374151"/>
              </a:solidFill>
              <a:latin typeface="Aptos"/>
            </a:endParaRPr>
          </a:p>
          <a:p>
            <a:pPr marL="228600" indent="-228600">
              <a:spcBef>
                <a:spcPts val="600"/>
              </a:spcBef>
              <a:spcAft>
                <a:spcPts val="200"/>
              </a:spcAft>
              <a:buFont typeface="Aptos"/>
              <a:buChar char="▸"/>
            </a:pPr>
            <a:r>
              <a:rPr lang="en-US" sz="1150" dirty="0">
                <a:solidFill>
                  <a:srgbClr val="374151"/>
                </a:solidFill>
              </a:rPr>
              <a:t>Teams had different access, naming, and approval practices.</a:t>
            </a:r>
          </a:p>
          <a:p>
            <a:pPr marL="228600" indent="-228600">
              <a:spcBef>
                <a:spcPts val="600"/>
              </a:spcBef>
              <a:spcAft>
                <a:spcPts val="200"/>
              </a:spcAft>
              <a:buFont typeface="Aptos"/>
              <a:buChar char="▸"/>
            </a:pPr>
            <a:r>
              <a:rPr lang="en-US" sz="1150" dirty="0">
                <a:solidFill>
                  <a:srgbClr val="374151"/>
                </a:solidFill>
              </a:rPr>
              <a:t>Evaluation, monitoring, and cost visibility were fragmented.</a:t>
            </a:r>
          </a:p>
          <a:p>
            <a:pPr marL="228600" indent="-228600">
              <a:spcBef>
                <a:spcPts val="600"/>
              </a:spcBef>
              <a:spcAft>
                <a:spcPts val="200"/>
              </a:spcAft>
              <a:buFont typeface="Aptos"/>
              <a:buChar char="▸"/>
            </a:pPr>
            <a:r>
              <a:rPr lang="en-US" sz="1150" dirty="0">
                <a:solidFill>
                  <a:srgbClr val="374151"/>
                </a:solidFill>
              </a:rPr>
              <a:t>It was harder to explain who owned the full agent workflow.</a:t>
            </a:r>
          </a:p>
          <a:p>
            <a:pPr marL="228600" indent="-228600">
              <a:spcBef>
                <a:spcPts val="600"/>
              </a:spcBef>
              <a:spcAft>
                <a:spcPts val="200"/>
              </a:spcAft>
              <a:buFont typeface="Aptos"/>
              <a:buChar char="▸"/>
            </a:pPr>
            <a:endParaRPr sz="1150" dirty="0">
              <a:solidFill>
                <a:srgbClr val="374151"/>
              </a:solidFill>
              <a:latin typeface="Aptos"/>
            </a:endParaRPr>
          </a:p>
        </p:txBody>
      </p:sp>
      <p:sp>
        <p:nvSpPr>
          <p:cNvPr id="30" name="Bridge Arrow"/>
          <p:cNvSpPr/>
          <p:nvPr/>
        </p:nvSpPr>
        <p:spPr>
          <a:xfrm>
            <a:off x="4980000" y="3190000"/>
            <a:ext cx="2230000" cy="900000"/>
          </a:xfrm>
          <a:prstGeom prst="rightArrow">
            <a:avLst>
              <a:gd name="adj1" fmla="val 55000"/>
              <a:gd name="adj2" fmla="val 52000"/>
            </a:avLst>
          </a:prstGeom>
          <a:solidFill>
            <a:srgbClr val="08A9C9"/>
          </a:solidFill>
          <a:ln w="12700">
            <a:solidFill>
              <a:srgbClr val="087F9B"/>
            </a:solidFill>
            <a:prstDash val="solid"/>
          </a:ln>
        </p:spPr>
        <p:txBody>
          <a:bodyPr wrap="square" lIns="73152" rIns="73152" rtlCol="0" anchor="ctr"/>
          <a:lstStyle/>
          <a:p>
            <a:pPr algn="ctr">
              <a:lnSpc>
                <a:spcPct val="88000"/>
              </a:lnSpc>
            </a:pPr>
            <a:r>
              <a:rPr sz="1800" b="1">
                <a:solidFill>
                  <a:srgbClr val="FFFFFF"/>
                </a:solidFill>
                <a:latin typeface="Aptos"/>
              </a:rPr>
              <a:t>UNIFIED</a:t>
            </a:r>
          </a:p>
          <a:p>
            <a:pPr algn="ctr">
              <a:lnSpc>
                <a:spcPct val="88000"/>
              </a:lnSpc>
            </a:pPr>
            <a:r>
              <a:rPr sz="1800" b="1">
                <a:solidFill>
                  <a:srgbClr val="FFFFFF"/>
                </a:solidFill>
                <a:latin typeface="Aptos"/>
              </a:rPr>
              <a:t>PLATFORM</a:t>
            </a:r>
          </a:p>
        </p:txBody>
      </p:sp>
      <p:sp>
        <p:nvSpPr>
          <p:cNvPr id="31" name="Bridge Label"/>
          <p:cNvSpPr/>
          <p:nvPr/>
        </p:nvSpPr>
        <p:spPr>
          <a:xfrm>
            <a:off x="4852920" y="2820000"/>
            <a:ext cx="2485855" cy="300000"/>
          </a:xfrm>
          <a:prstGeom prst="rect">
            <a:avLst/>
          </a:prstGeom>
          <a:noFill/>
          <a:ln/>
        </p:spPr>
        <p:txBody>
          <a:bodyPr wrap="square" lIns="73152" rIns="73152" rtlCol="0" anchor="ctr"/>
          <a:lstStyle/>
          <a:p>
            <a:pPr algn="ctr">
              <a:lnSpc>
                <a:spcPct val="88000"/>
              </a:lnSpc>
            </a:pPr>
            <a:r>
              <a:rPr sz="950" b="1">
                <a:solidFill>
                  <a:srgbClr val="00AAC8"/>
                </a:solidFill>
                <a:latin typeface="Aptos"/>
              </a:rPr>
              <a:t>THE BRIDGE</a:t>
            </a:r>
          </a:p>
        </p:txBody>
      </p:sp>
      <p:sp>
        <p:nvSpPr>
          <p:cNvPr id="32" name="Bridge Sub"/>
          <p:cNvSpPr/>
          <p:nvPr/>
        </p:nvSpPr>
        <p:spPr>
          <a:xfrm>
            <a:off x="4852920" y="4160000"/>
            <a:ext cx="2485855" cy="540000"/>
          </a:xfrm>
          <a:prstGeom prst="rect">
            <a:avLst/>
          </a:prstGeom>
          <a:noFill/>
          <a:ln/>
        </p:spPr>
        <p:txBody>
          <a:bodyPr wrap="square" lIns="73152" rIns="73152" rtlCol="0" anchor="ctr"/>
          <a:lstStyle/>
          <a:p>
            <a:pPr algn="ctr">
              <a:lnSpc>
                <a:spcPct val="90000"/>
              </a:lnSpc>
            </a:pPr>
            <a:r>
              <a:rPr sz="919" b="0">
                <a:solidFill>
                  <a:srgbClr val="253040"/>
                </a:solidFill>
                <a:latin typeface="Aptos"/>
              </a:rPr>
              <a:t>Shared resource model, identity, monitoring, and governance</a:t>
            </a:r>
          </a:p>
        </p:txBody>
      </p:sp>
      <p:sp>
        <p:nvSpPr>
          <p:cNvPr id="40" name="Ambition Card"/>
          <p:cNvSpPr/>
          <p:nvPr/>
        </p:nvSpPr>
        <p:spPr>
          <a:xfrm>
            <a:off x="7338775" y="1860000"/>
            <a:ext cx="4350000" cy="3640000"/>
          </a:xfrm>
          <a:prstGeom prst="roundRect">
            <a:avLst>
              <a:gd name="adj" fmla="val 3137"/>
            </a:avLst>
          </a:prstGeom>
          <a:solidFill>
            <a:srgbClr val="FFFFFF"/>
          </a:solidFill>
          <a:ln w="12700">
            <a:solidFill>
              <a:srgbClr val="08A9C9"/>
            </a:solidFill>
            <a:prstDash val="solid"/>
          </a:ln>
        </p:spPr>
        <p:txBody>
          <a:bodyPr/>
          <a:lstStyle/>
          <a:p>
            <a:endParaRPr lang="en-US"/>
          </a:p>
        </p:txBody>
      </p:sp>
      <p:sp>
        <p:nvSpPr>
          <p:cNvPr id="41" name="Ambition Icon"/>
          <p:cNvSpPr/>
          <p:nvPr/>
        </p:nvSpPr>
        <p:spPr>
          <a:xfrm>
            <a:off x="7567375" y="2040000"/>
            <a:ext cx="300000" cy="300000"/>
          </a:xfrm>
          <a:prstGeom prst="ellipse">
            <a:avLst/>
          </a:prstGeom>
          <a:solidFill>
            <a:srgbClr val="08A9C9"/>
          </a:solidFill>
          <a:ln w="12700">
            <a:solidFill>
              <a:srgbClr val="08A9C9"/>
            </a:solidFill>
            <a:prstDash val="solid"/>
          </a:ln>
        </p:spPr>
        <p:txBody>
          <a:bodyPr wrap="square" lIns="0" tIns="0" rIns="0" bIns="0" rtlCol="0" anchor="ctr"/>
          <a:lstStyle/>
          <a:p>
            <a:pPr marL="0" indent="0" algn="ctr">
              <a:buNone/>
            </a:pPr>
            <a:r>
              <a:rPr sz="1600" b="1" dirty="0">
                <a:solidFill>
                  <a:srgbClr val="FFFFFF"/>
                </a:solidFill>
                <a:latin typeface="Aptos"/>
              </a:rPr>
              <a:t>2</a:t>
            </a:r>
          </a:p>
        </p:txBody>
      </p:sp>
      <p:sp>
        <p:nvSpPr>
          <p:cNvPr id="42" name="Ambition Header"/>
          <p:cNvSpPr/>
          <p:nvPr/>
        </p:nvSpPr>
        <p:spPr>
          <a:xfrm>
            <a:off x="7947375" y="2010000"/>
            <a:ext cx="3470000" cy="360000"/>
          </a:xfrm>
          <a:prstGeom prst="rect">
            <a:avLst/>
          </a:prstGeom>
          <a:noFill/>
          <a:ln/>
        </p:spPr>
        <p:txBody>
          <a:bodyPr wrap="square" lIns="0" tIns="0" rIns="0" bIns="0" rtlCol="0" anchor="ctr"/>
          <a:lstStyle/>
          <a:p>
            <a:r>
              <a:rPr sz="1300" b="1">
                <a:solidFill>
                  <a:srgbClr val="1F2A37"/>
                </a:solidFill>
                <a:latin typeface="Aptos"/>
              </a:rPr>
              <a:t>Now: Microsoft Foundry</a:t>
            </a:r>
          </a:p>
          <a:p>
            <a:r>
              <a:rPr sz="1300" b="1">
                <a:solidFill>
                  <a:srgbClr val="1F2A37"/>
                </a:solidFill>
                <a:latin typeface="Aptos"/>
              </a:rPr>
              <a:t>Unified agent operations</a:t>
            </a:r>
          </a:p>
        </p:txBody>
      </p:sp>
      <p:sp>
        <p:nvSpPr>
          <p:cNvPr id="43" name="Ambition Bullets"/>
          <p:cNvSpPr/>
          <p:nvPr/>
        </p:nvSpPr>
        <p:spPr>
          <a:xfrm>
            <a:off x="7567375" y="2560000"/>
            <a:ext cx="3892800" cy="2840000"/>
          </a:xfrm>
          <a:prstGeom prst="rect">
            <a:avLst/>
          </a:prstGeom>
          <a:noFill/>
          <a:ln/>
        </p:spPr>
        <p:txBody>
          <a:bodyPr wrap="square" lIns="0" tIns="0" rIns="0" bIns="0" rtlCol="0" anchor="t">
            <a:normAutofit/>
          </a:bodyPr>
          <a:lstStyle/>
          <a:p>
            <a:pPr marL="228600" indent="-228600">
              <a:spcBef>
                <a:spcPts val="600"/>
              </a:spcBef>
              <a:spcAft>
                <a:spcPts val="200"/>
              </a:spcAft>
              <a:buFont typeface="Aptos"/>
              <a:buChar char="▸"/>
            </a:pPr>
            <a:r>
              <a:rPr sz="1150" dirty="0">
                <a:solidFill>
                  <a:srgbClr val="374151"/>
                </a:solidFill>
                <a:latin typeface="Aptos"/>
              </a:rPr>
              <a:t>Projects organize related models, agents, knowledge, tools, and evaluations.</a:t>
            </a:r>
            <a:endParaRPr lang="en-US" sz="1150" dirty="0">
              <a:solidFill>
                <a:srgbClr val="374151"/>
              </a:solidFill>
              <a:latin typeface="Aptos"/>
            </a:endParaRPr>
          </a:p>
          <a:p>
            <a:pPr marL="228600" indent="-228600">
              <a:spcBef>
                <a:spcPts val="600"/>
              </a:spcBef>
              <a:spcAft>
                <a:spcPts val="200"/>
              </a:spcAft>
              <a:buFont typeface="Aptos"/>
              <a:buChar char="▸"/>
            </a:pPr>
            <a:r>
              <a:rPr lang="en-US" sz="1150" dirty="0">
                <a:solidFill>
                  <a:srgbClr val="374151"/>
                </a:solidFill>
              </a:rPr>
              <a:t>RBAC, networking, monitoring, and policy become part of the platform story.</a:t>
            </a:r>
          </a:p>
          <a:p>
            <a:pPr marL="228600" indent="-228600">
              <a:spcBef>
                <a:spcPts val="600"/>
              </a:spcBef>
              <a:spcAft>
                <a:spcPts val="200"/>
              </a:spcAft>
              <a:buFont typeface="Aptos"/>
              <a:buChar char="▸"/>
            </a:pPr>
            <a:r>
              <a:rPr lang="en-US" sz="1150" dirty="0">
                <a:solidFill>
                  <a:srgbClr val="374151"/>
                </a:solidFill>
              </a:rPr>
              <a:t>Teams can move from prototype behavior to governed operation.</a:t>
            </a:r>
          </a:p>
          <a:p>
            <a:pPr marL="228600" indent="-228600">
              <a:spcBef>
                <a:spcPts val="600"/>
              </a:spcBef>
              <a:spcAft>
                <a:spcPts val="200"/>
              </a:spcAft>
              <a:buFont typeface="Aptos"/>
              <a:buChar char="▸"/>
            </a:pPr>
            <a:r>
              <a:rPr lang="en-US" sz="1150" dirty="0">
                <a:solidFill>
                  <a:srgbClr val="374151"/>
                </a:solidFill>
              </a:rPr>
              <a:t>The portal becomes a shared place to discover, build, and operate.</a:t>
            </a:r>
          </a:p>
          <a:p>
            <a:pPr marL="228600" indent="-228600">
              <a:spcBef>
                <a:spcPts val="600"/>
              </a:spcBef>
              <a:spcAft>
                <a:spcPts val="200"/>
              </a:spcAft>
              <a:buFont typeface="Aptos"/>
              <a:buChar char="▸"/>
            </a:pPr>
            <a:endParaRPr sz="1150" dirty="0">
              <a:solidFill>
                <a:srgbClr val="374151"/>
              </a:solidFill>
              <a:latin typeface="Aptos"/>
            </a:endParaRPr>
          </a:p>
        </p:txBody>
      </p:sp>
      <p:sp>
        <p:nvSpPr>
          <p:cNvPr id="50" name="Takeaway Band"/>
          <p:cNvSpPr/>
          <p:nvPr/>
        </p:nvSpPr>
        <p:spPr>
          <a:xfrm>
            <a:off x="502920" y="5660000"/>
            <a:ext cx="11185855" cy="560000"/>
          </a:xfrm>
          <a:prstGeom prst="roundRect">
            <a:avLst>
              <a:gd name="adj" fmla="val 12000"/>
            </a:avLst>
          </a:prstGeom>
          <a:solidFill>
            <a:srgbClr val="E6F4F8"/>
          </a:solidFill>
          <a:ln w="12700">
            <a:solidFill>
              <a:srgbClr val="B8DCE6"/>
            </a:solidFill>
            <a:prstDash val="solid"/>
          </a:ln>
        </p:spPr>
        <p:txBody>
          <a:bodyPr wrap="square" lIns="91440" tIns="0" rIns="91440" bIns="0" rtlCol="0" anchor="ctr"/>
          <a:lstStyle/>
          <a:p>
            <a:pPr algn="ctr">
              <a:buNone/>
            </a:pPr>
            <a:r>
              <a:rPr sz="1250" b="1">
                <a:solidFill>
                  <a:srgbClr val="1F2A37"/>
                </a:solidFill>
                <a:latin typeface="Aptos"/>
              </a:rPr>
              <a:t>The course teaches the bridge: how Microsoft Foundry helps teams move from AI experiments to governed agent 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0" end="0"/>
                                            </p:txEl>
                                          </p:spTgt>
                                        </p:tgtEl>
                                        <p:attrNameLst>
                                          <p:attrName>style.visibility</p:attrName>
                                        </p:attrNameLst>
                                      </p:cBhvr>
                                      <p:to>
                                        <p:strVal val="visible"/>
                                      </p:to>
                                    </p:set>
                                    <p:animEffect transition="in" filter="fade">
                                      <p:cBhvr>
                                        <p:cTn id="21" dur="500"/>
                                        <p:tgtEl>
                                          <p:spTgt spid="23">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1" end="1"/>
                                            </p:txEl>
                                          </p:spTgt>
                                        </p:tgtEl>
                                        <p:attrNameLst>
                                          <p:attrName>style.visibility</p:attrName>
                                        </p:attrNameLst>
                                      </p:cBhvr>
                                      <p:to>
                                        <p:strVal val="visible"/>
                                      </p:to>
                                    </p:set>
                                    <p:animEffect transition="in" filter="fade">
                                      <p:cBhvr>
                                        <p:cTn id="24" dur="500"/>
                                        <p:tgtEl>
                                          <p:spTgt spid="23">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3">
                                            <p:txEl>
                                              <p:pRg st="2" end="2"/>
                                            </p:txEl>
                                          </p:spTgt>
                                        </p:tgtEl>
                                        <p:attrNameLst>
                                          <p:attrName>style.visibility</p:attrName>
                                        </p:attrNameLst>
                                      </p:cBhvr>
                                      <p:to>
                                        <p:strVal val="visible"/>
                                      </p:to>
                                    </p:set>
                                    <p:animEffect transition="in" filter="fade">
                                      <p:cBhvr>
                                        <p:cTn id="27" dur="500"/>
                                        <p:tgtEl>
                                          <p:spTgt spid="23">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xEl>
                                              <p:pRg st="3" end="3"/>
                                            </p:txEl>
                                          </p:spTgt>
                                        </p:tgtEl>
                                        <p:attrNameLst>
                                          <p:attrName>style.visibility</p:attrName>
                                        </p:attrNameLst>
                                      </p:cBhvr>
                                      <p:to>
                                        <p:strVal val="visible"/>
                                      </p:to>
                                    </p:set>
                                    <p:animEffect transition="in" filter="fade">
                                      <p:cBhvr>
                                        <p:cTn id="30" dur="500"/>
                                        <p:tgtEl>
                                          <p:spTgt spid="2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00"/>
                                        <p:tgtEl>
                                          <p:spTgt spid="3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par>
                                <p:cTn id="58" presetID="10" presetClass="entr" presetSubtype="0" fill="hold" nodeType="withEffect">
                                  <p:stCondLst>
                                    <p:cond delay="0"/>
                                  </p:stCondLst>
                                  <p:childTnLst>
                                    <p:set>
                                      <p:cBhvr>
                                        <p:cTn id="59" dur="1" fill="hold">
                                          <p:stCondLst>
                                            <p:cond delay="0"/>
                                          </p:stCondLst>
                                        </p:cTn>
                                        <p:tgtEl>
                                          <p:spTgt spid="43">
                                            <p:txEl>
                                              <p:pRg st="0" end="0"/>
                                            </p:txEl>
                                          </p:spTgt>
                                        </p:tgtEl>
                                        <p:attrNameLst>
                                          <p:attrName>style.visibility</p:attrName>
                                        </p:attrNameLst>
                                      </p:cBhvr>
                                      <p:to>
                                        <p:strVal val="visible"/>
                                      </p:to>
                                    </p:set>
                                    <p:animEffect transition="in" filter="fade">
                                      <p:cBhvr>
                                        <p:cTn id="60" dur="500"/>
                                        <p:tgtEl>
                                          <p:spTgt spid="43">
                                            <p:txEl>
                                              <p:pRg st="0" end="0"/>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43">
                                            <p:txEl>
                                              <p:pRg st="1" end="1"/>
                                            </p:txEl>
                                          </p:spTgt>
                                        </p:tgtEl>
                                        <p:attrNameLst>
                                          <p:attrName>style.visibility</p:attrName>
                                        </p:attrNameLst>
                                      </p:cBhvr>
                                      <p:to>
                                        <p:strVal val="visible"/>
                                      </p:to>
                                    </p:set>
                                    <p:animEffect transition="in" filter="fade">
                                      <p:cBhvr>
                                        <p:cTn id="63" dur="500"/>
                                        <p:tgtEl>
                                          <p:spTgt spid="43">
                                            <p:txEl>
                                              <p:pRg st="1" end="1"/>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43">
                                            <p:txEl>
                                              <p:pRg st="2" end="2"/>
                                            </p:txEl>
                                          </p:spTgt>
                                        </p:tgtEl>
                                        <p:attrNameLst>
                                          <p:attrName>style.visibility</p:attrName>
                                        </p:attrNameLst>
                                      </p:cBhvr>
                                      <p:to>
                                        <p:strVal val="visible"/>
                                      </p:to>
                                    </p:set>
                                    <p:animEffect transition="in" filter="fade">
                                      <p:cBhvr>
                                        <p:cTn id="66" dur="500"/>
                                        <p:tgtEl>
                                          <p:spTgt spid="43">
                                            <p:txEl>
                                              <p:pRg st="2" end="2"/>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43">
                                            <p:txEl>
                                              <p:pRg st="3" end="3"/>
                                            </p:txEl>
                                          </p:spTgt>
                                        </p:tgtEl>
                                        <p:attrNameLst>
                                          <p:attrName>style.visibility</p:attrName>
                                        </p:attrNameLst>
                                      </p:cBhvr>
                                      <p:to>
                                        <p:strVal val="visible"/>
                                      </p:to>
                                    </p:set>
                                    <p:animEffect transition="in" filter="fade">
                                      <p:cBhvr>
                                        <p:cTn id="69" dur="500"/>
                                        <p:tgtEl>
                                          <p:spTgt spid="43">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30" grpId="0" animBg="1"/>
      <p:bldP spid="31" grpId="0" animBg="1"/>
      <p:bldP spid="32" grpId="0" animBg="1"/>
      <p:bldP spid="40" grpId="0" animBg="1"/>
      <p:bldP spid="41" grpId="0" animBg="1"/>
      <p:bldP spid="42" grpId="0" animBg="1"/>
      <p:bldP spid="43" grpId="0" animBg="1"/>
      <p:bldP spid="5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0857-E4C3-DFD6-553C-92AFFEC20D0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1BC8AD-4BF4-9B3A-5144-D4F5D1C0CC50}"/>
              </a:ext>
            </a:extLst>
          </p:cNvPr>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a:extLst>
              <a:ext uri="{FF2B5EF4-FFF2-40B4-BE49-F238E27FC236}">
                <a16:creationId xmlns:a16="http://schemas.microsoft.com/office/drawing/2014/main" id="{77F03372-D20F-36B1-847D-698ECB056CB5}"/>
              </a:ext>
            </a:extLst>
          </p:cNvPr>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a:extLst>
              <a:ext uri="{FF2B5EF4-FFF2-40B4-BE49-F238E27FC236}">
                <a16:creationId xmlns:a16="http://schemas.microsoft.com/office/drawing/2014/main" id="{47C2ED1A-65E2-CBC7-7458-02C7580D5B3F}"/>
              </a:ext>
            </a:extLst>
          </p:cNvPr>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5</a:t>
            </a:r>
          </a:p>
        </p:txBody>
      </p:sp>
      <p:sp>
        <p:nvSpPr>
          <p:cNvPr id="5" name="Text 3">
            <a:extLst>
              <a:ext uri="{FF2B5EF4-FFF2-40B4-BE49-F238E27FC236}">
                <a16:creationId xmlns:a16="http://schemas.microsoft.com/office/drawing/2014/main" id="{27A8D024-8998-17BC-3F40-3014CBC718C0}"/>
              </a:ext>
            </a:extLst>
          </p:cNvPr>
          <p:cNvSpPr/>
          <p:nvPr/>
        </p:nvSpPr>
        <p:spPr>
          <a:xfrm>
            <a:off x="502920" y="621792"/>
            <a:ext cx="11185855" cy="502920"/>
          </a:xfrm>
          <a:prstGeom prst="rect">
            <a:avLst/>
          </a:prstGeom>
          <a:noFill/>
          <a:ln/>
        </p:spPr>
        <p:txBody>
          <a:bodyPr wrap="square" lIns="0" tIns="0" rIns="0" bIns="0" rtlCol="0" anchor="ctr">
            <a:normAutofit/>
          </a:bodyPr>
          <a:lstStyle/>
          <a:p>
            <a:r>
              <a:rPr sz="2800" b="0">
                <a:solidFill>
                  <a:srgbClr val="08A9C9"/>
                </a:solidFill>
                <a:latin typeface="Aptos Display"/>
              </a:rPr>
              <a:t>Foundry New and Foundry Classic</a:t>
            </a:r>
          </a:p>
        </p:txBody>
      </p:sp>
      <p:sp>
        <p:nvSpPr>
          <p:cNvPr id="6" name="Text 4">
            <a:extLst>
              <a:ext uri="{FF2B5EF4-FFF2-40B4-BE49-F238E27FC236}">
                <a16:creationId xmlns:a16="http://schemas.microsoft.com/office/drawing/2014/main" id="{75ABE2C3-A94F-4747-E714-95C4E58F9CF3}"/>
              </a:ext>
            </a:extLst>
          </p:cNvPr>
          <p:cNvSpPr/>
          <p:nvPr/>
        </p:nvSpPr>
        <p:spPr>
          <a:xfrm>
            <a:off x="502920" y="1216152"/>
            <a:ext cx="11185855" cy="455168"/>
          </a:xfrm>
          <a:prstGeom prst="rect">
            <a:avLst/>
          </a:prstGeom>
          <a:noFill/>
          <a:ln/>
        </p:spPr>
        <p:txBody>
          <a:bodyPr wrap="square" lIns="0" tIns="0" rIns="0" bIns="0" rtlCol="0" anchor="t">
            <a:normAutofit/>
          </a:bodyPr>
          <a:lstStyle/>
          <a:p>
            <a:r>
              <a:rPr sz="1350" b="0">
                <a:solidFill>
                  <a:srgbClr val="374151"/>
                </a:solidFill>
                <a:latin typeface="Aptos"/>
              </a:rPr>
              <a:t>Learners need to recognize both experiences without mixing their project models.</a:t>
            </a:r>
          </a:p>
        </p:txBody>
      </p:sp>
      <p:sp>
        <p:nvSpPr>
          <p:cNvPr id="20" name="Inaction Card">
            <a:extLst>
              <a:ext uri="{FF2B5EF4-FFF2-40B4-BE49-F238E27FC236}">
                <a16:creationId xmlns:a16="http://schemas.microsoft.com/office/drawing/2014/main" id="{83CCE769-516B-5B7B-1255-68B557543932}"/>
              </a:ext>
            </a:extLst>
          </p:cNvPr>
          <p:cNvSpPr/>
          <p:nvPr/>
        </p:nvSpPr>
        <p:spPr>
          <a:xfrm>
            <a:off x="502920" y="1820000"/>
            <a:ext cx="5450000" cy="3560000"/>
          </a:xfrm>
          <a:prstGeom prst="roundRect">
            <a:avLst>
              <a:gd name="adj" fmla="val 2400"/>
            </a:avLst>
          </a:prstGeom>
          <a:solidFill>
            <a:srgbClr val="FFFFFF"/>
          </a:solidFill>
          <a:ln w="12700">
            <a:solidFill>
              <a:srgbClr val="E4B07A"/>
            </a:solidFill>
            <a:prstDash val="solid"/>
          </a:ln>
        </p:spPr>
        <p:txBody>
          <a:bodyPr/>
          <a:lstStyle/>
          <a:p>
            <a:endParaRPr lang="en-US"/>
          </a:p>
        </p:txBody>
      </p:sp>
      <p:sp>
        <p:nvSpPr>
          <p:cNvPr id="21" name="Inaction Accent">
            <a:extLst>
              <a:ext uri="{FF2B5EF4-FFF2-40B4-BE49-F238E27FC236}">
                <a16:creationId xmlns:a16="http://schemas.microsoft.com/office/drawing/2014/main" id="{14C9A6A7-9C83-D42B-EE6E-71962B4B9107}"/>
              </a:ext>
            </a:extLst>
          </p:cNvPr>
          <p:cNvSpPr/>
          <p:nvPr/>
        </p:nvSpPr>
        <p:spPr>
          <a:xfrm>
            <a:off x="502920" y="1820000"/>
            <a:ext cx="5450000" cy="120000"/>
          </a:xfrm>
          <a:prstGeom prst="round2SameRect">
            <a:avLst>
              <a:gd name="adj1" fmla="val 50000"/>
              <a:gd name="adj2" fmla="val 0"/>
            </a:avLst>
          </a:prstGeom>
          <a:solidFill>
            <a:srgbClr val="C26A1E"/>
          </a:solidFill>
          <a:ln>
            <a:noFill/>
          </a:ln>
        </p:spPr>
        <p:txBody>
          <a:bodyPr/>
          <a:lstStyle/>
          <a:p>
            <a:endParaRPr lang="en-US"/>
          </a:p>
        </p:txBody>
      </p:sp>
      <p:sp>
        <p:nvSpPr>
          <p:cNvPr id="22" name="Inaction Icon">
            <a:extLst>
              <a:ext uri="{FF2B5EF4-FFF2-40B4-BE49-F238E27FC236}">
                <a16:creationId xmlns:a16="http://schemas.microsoft.com/office/drawing/2014/main" id="{2477C9D2-128B-0E4B-581A-6B2B19ECAE1D}"/>
              </a:ext>
            </a:extLst>
          </p:cNvPr>
          <p:cNvSpPr/>
          <p:nvPr/>
        </p:nvSpPr>
        <p:spPr>
          <a:xfrm>
            <a:off x="731520" y="2080000"/>
            <a:ext cx="320040" cy="320040"/>
          </a:xfrm>
          <a:prstGeom prst="ellipse">
            <a:avLst/>
          </a:prstGeom>
          <a:solidFill>
            <a:srgbClr val="C26A1E"/>
          </a:solidFill>
          <a:ln w="12700">
            <a:solidFill>
              <a:srgbClr val="C26A1E"/>
            </a:solidFill>
            <a:prstDash val="solid"/>
          </a:ln>
        </p:spPr>
        <p:txBody>
          <a:bodyPr wrap="square" lIns="0" tIns="0" rIns="0" bIns="0" rtlCol="0" anchor="ctr"/>
          <a:lstStyle/>
          <a:p>
            <a:pPr marL="0" indent="0" algn="ctr">
              <a:buNone/>
            </a:pPr>
            <a:r>
              <a:rPr sz="900" b="0">
                <a:solidFill>
                  <a:srgbClr val="1F2A37"/>
                </a:solidFill>
                <a:latin typeface="Aptos"/>
              </a:rPr>
              <a:t>5</a:t>
            </a:r>
          </a:p>
        </p:txBody>
      </p:sp>
      <p:sp>
        <p:nvSpPr>
          <p:cNvPr id="23" name="Inaction Header">
            <a:extLst>
              <a:ext uri="{FF2B5EF4-FFF2-40B4-BE49-F238E27FC236}">
                <a16:creationId xmlns:a16="http://schemas.microsoft.com/office/drawing/2014/main" id="{497931DC-1DE9-1B1B-9E5F-280FD516B9FB}"/>
              </a:ext>
            </a:extLst>
          </p:cNvPr>
          <p:cNvSpPr/>
          <p:nvPr/>
        </p:nvSpPr>
        <p:spPr>
          <a:xfrm>
            <a:off x="1131520" y="2045000"/>
            <a:ext cx="4600000" cy="420000"/>
          </a:xfrm>
          <a:prstGeom prst="rect">
            <a:avLst/>
          </a:prstGeom>
          <a:noFill/>
          <a:ln/>
        </p:spPr>
        <p:txBody>
          <a:bodyPr wrap="square" lIns="0" tIns="0" rIns="0" bIns="0" rtlCol="0" anchor="ctr"/>
          <a:lstStyle/>
          <a:p>
            <a:r>
              <a:rPr sz="1300" b="1">
                <a:solidFill>
                  <a:srgbClr val="1F2A37"/>
                </a:solidFill>
                <a:latin typeface="Aptos"/>
              </a:rPr>
              <a:t>Current Microsoft Foundry</a:t>
            </a:r>
          </a:p>
          <a:p>
            <a:r>
              <a:rPr sz="1300" b="1">
                <a:solidFill>
                  <a:srgbClr val="1F2A37"/>
                </a:solidFill>
                <a:latin typeface="Aptos"/>
              </a:rPr>
              <a:t>Default for this course</a:t>
            </a:r>
          </a:p>
        </p:txBody>
      </p:sp>
      <p:sp>
        <p:nvSpPr>
          <p:cNvPr id="24" name="Inaction Bullets">
            <a:extLst>
              <a:ext uri="{FF2B5EF4-FFF2-40B4-BE49-F238E27FC236}">
                <a16:creationId xmlns:a16="http://schemas.microsoft.com/office/drawing/2014/main" id="{71301F7C-5E99-3507-667E-A94B059777B2}"/>
              </a:ext>
            </a:extLst>
          </p:cNvPr>
          <p:cNvSpPr/>
          <p:nvPr/>
        </p:nvSpPr>
        <p:spPr>
          <a:xfrm>
            <a:off x="731520" y="2560000"/>
            <a:ext cx="4992800" cy="2740000"/>
          </a:xfrm>
          <a:prstGeom prst="rect">
            <a:avLst/>
          </a:prstGeom>
          <a:noFill/>
          <a:ln/>
        </p:spPr>
        <p:txBody>
          <a:bodyPr wrap="square" lIns="0" tIns="0" rIns="0" bIns="0" rtlCol="0" anchor="t">
            <a:normAutofit/>
          </a:bodyPr>
          <a:lstStyle/>
          <a:p>
            <a:pPr marL="228600" indent="-228600">
              <a:spcBef>
                <a:spcPts val="500"/>
              </a:spcBef>
              <a:spcAft>
                <a:spcPts val="200"/>
              </a:spcAft>
              <a:buFont typeface="Aptos"/>
              <a:buChar char="▸"/>
            </a:pPr>
            <a:r>
              <a:rPr sz="1150" dirty="0">
                <a:solidFill>
                  <a:srgbClr val="374151"/>
                </a:solidFill>
                <a:latin typeface="Aptos"/>
              </a:rPr>
              <a:t>Used for new Foundry projects and current end-to-end scenarios.</a:t>
            </a:r>
            <a:endParaRPr lang="en-US" sz="1150" dirty="0">
              <a:solidFill>
                <a:srgbClr val="374151"/>
              </a:solidFill>
              <a:latin typeface="Aptos"/>
            </a:endParaRPr>
          </a:p>
          <a:p>
            <a:pPr marL="228600" indent="-228600">
              <a:spcBef>
                <a:spcPts val="500"/>
              </a:spcBef>
              <a:spcAft>
                <a:spcPts val="200"/>
              </a:spcAft>
              <a:buFont typeface="Aptos"/>
              <a:buChar char="▸"/>
            </a:pPr>
            <a:r>
              <a:rPr lang="en-US" sz="1150" dirty="0">
                <a:solidFill>
                  <a:srgbClr val="374151"/>
                </a:solidFill>
              </a:rPr>
              <a:t>Manage projects, deploy models, build agents, and monitor AI assets.</a:t>
            </a:r>
          </a:p>
          <a:p>
            <a:pPr marL="228600" indent="-228600">
              <a:spcBef>
                <a:spcPts val="500"/>
              </a:spcBef>
              <a:spcAft>
                <a:spcPts val="200"/>
              </a:spcAft>
              <a:buFont typeface="Aptos"/>
              <a:buChar char="▸"/>
            </a:pPr>
            <a:r>
              <a:rPr lang="en-US" sz="1150" dirty="0">
                <a:solidFill>
                  <a:srgbClr val="374151"/>
                </a:solidFill>
              </a:rPr>
              <a:t>Best starting point for new learning and new enterprise work.</a:t>
            </a:r>
          </a:p>
          <a:p>
            <a:pPr marL="228600" indent="-228600">
              <a:spcBef>
                <a:spcPts val="500"/>
              </a:spcBef>
              <a:spcAft>
                <a:spcPts val="200"/>
              </a:spcAft>
              <a:buFont typeface="Aptos"/>
              <a:buChar char="▸"/>
            </a:pPr>
            <a:r>
              <a:rPr lang="en-US" sz="1150" dirty="0">
                <a:solidFill>
                  <a:srgbClr val="374151"/>
                </a:solidFill>
              </a:rPr>
              <a:t>Feature availability still depends on region, quota, and preview status.</a:t>
            </a:r>
          </a:p>
          <a:p>
            <a:pPr marL="228600" indent="-228600">
              <a:spcBef>
                <a:spcPts val="500"/>
              </a:spcBef>
              <a:spcAft>
                <a:spcPts val="200"/>
              </a:spcAft>
              <a:buFont typeface="Aptos"/>
              <a:buChar char="▸"/>
            </a:pPr>
            <a:endParaRPr sz="1150" dirty="0">
              <a:solidFill>
                <a:srgbClr val="374151"/>
              </a:solidFill>
              <a:latin typeface="Aptos"/>
            </a:endParaRPr>
          </a:p>
        </p:txBody>
      </p:sp>
      <p:sp>
        <p:nvSpPr>
          <p:cNvPr id="30" name="Migration Card">
            <a:extLst>
              <a:ext uri="{FF2B5EF4-FFF2-40B4-BE49-F238E27FC236}">
                <a16:creationId xmlns:a16="http://schemas.microsoft.com/office/drawing/2014/main" id="{B1E38E01-47B4-A42F-882D-5EFC46387797}"/>
              </a:ext>
            </a:extLst>
          </p:cNvPr>
          <p:cNvSpPr/>
          <p:nvPr/>
        </p:nvSpPr>
        <p:spPr>
          <a:xfrm>
            <a:off x="6238775" y="1820000"/>
            <a:ext cx="5450000" cy="3560000"/>
          </a:xfrm>
          <a:prstGeom prst="roundRect">
            <a:avLst>
              <a:gd name="adj" fmla="val 2400"/>
            </a:avLst>
          </a:prstGeom>
          <a:solidFill>
            <a:srgbClr val="FFFFFF"/>
          </a:solidFill>
          <a:ln w="12700">
            <a:solidFill>
              <a:srgbClr val="DBA0A0"/>
            </a:solidFill>
            <a:prstDash val="solid"/>
          </a:ln>
        </p:spPr>
        <p:txBody>
          <a:bodyPr/>
          <a:lstStyle/>
          <a:p>
            <a:endParaRPr lang="en-US"/>
          </a:p>
        </p:txBody>
      </p:sp>
      <p:sp>
        <p:nvSpPr>
          <p:cNvPr id="31" name="Migration Accent">
            <a:extLst>
              <a:ext uri="{FF2B5EF4-FFF2-40B4-BE49-F238E27FC236}">
                <a16:creationId xmlns:a16="http://schemas.microsoft.com/office/drawing/2014/main" id="{535FECC7-CCC5-E59C-E8D4-AD235E2E2704}"/>
              </a:ext>
            </a:extLst>
          </p:cNvPr>
          <p:cNvSpPr/>
          <p:nvPr/>
        </p:nvSpPr>
        <p:spPr>
          <a:xfrm>
            <a:off x="6238775" y="1820000"/>
            <a:ext cx="5450000" cy="120000"/>
          </a:xfrm>
          <a:prstGeom prst="round2SameRect">
            <a:avLst>
              <a:gd name="adj1" fmla="val 50000"/>
              <a:gd name="adj2" fmla="val 0"/>
            </a:avLst>
          </a:prstGeom>
          <a:solidFill>
            <a:srgbClr val="C0392B"/>
          </a:solidFill>
          <a:ln>
            <a:noFill/>
          </a:ln>
        </p:spPr>
        <p:txBody>
          <a:bodyPr/>
          <a:lstStyle/>
          <a:p>
            <a:endParaRPr lang="en-US"/>
          </a:p>
        </p:txBody>
      </p:sp>
      <p:sp>
        <p:nvSpPr>
          <p:cNvPr id="32" name="Migration Icon">
            <a:extLst>
              <a:ext uri="{FF2B5EF4-FFF2-40B4-BE49-F238E27FC236}">
                <a16:creationId xmlns:a16="http://schemas.microsoft.com/office/drawing/2014/main" id="{9F916CB9-DE1D-6402-4169-513EECF8616F}"/>
              </a:ext>
            </a:extLst>
          </p:cNvPr>
          <p:cNvSpPr/>
          <p:nvPr/>
        </p:nvSpPr>
        <p:spPr>
          <a:xfrm>
            <a:off x="6467375" y="2080000"/>
            <a:ext cx="320040" cy="320040"/>
          </a:xfrm>
          <a:prstGeom prst="ellipse">
            <a:avLst/>
          </a:prstGeom>
          <a:solidFill>
            <a:srgbClr val="C0392B"/>
          </a:solidFill>
          <a:ln w="12700">
            <a:solidFill>
              <a:srgbClr val="C0392B"/>
            </a:solidFill>
            <a:prstDash val="solid"/>
          </a:ln>
        </p:spPr>
        <p:txBody>
          <a:bodyPr wrap="square" lIns="0" tIns="0" rIns="0" bIns="0" rtlCol="0" anchor="ctr"/>
          <a:lstStyle/>
          <a:p>
            <a:pPr marL="0" indent="0" algn="ctr">
              <a:buNone/>
            </a:pPr>
            <a:r>
              <a:rPr sz="1600" b="1">
                <a:solidFill>
                  <a:srgbClr val="FFFFFF"/>
                </a:solidFill>
                <a:latin typeface="Aptos"/>
              </a:rPr>
              <a:t>2</a:t>
            </a:r>
          </a:p>
        </p:txBody>
      </p:sp>
      <p:sp>
        <p:nvSpPr>
          <p:cNvPr id="33" name="Migration Header">
            <a:extLst>
              <a:ext uri="{FF2B5EF4-FFF2-40B4-BE49-F238E27FC236}">
                <a16:creationId xmlns:a16="http://schemas.microsoft.com/office/drawing/2014/main" id="{CB6C9478-2D84-AE77-6160-B8EAEBBE920C}"/>
              </a:ext>
            </a:extLst>
          </p:cNvPr>
          <p:cNvSpPr/>
          <p:nvPr/>
        </p:nvSpPr>
        <p:spPr>
          <a:xfrm>
            <a:off x="6867375" y="2045000"/>
            <a:ext cx="4600000" cy="420000"/>
          </a:xfrm>
          <a:prstGeom prst="rect">
            <a:avLst/>
          </a:prstGeom>
          <a:noFill/>
          <a:ln/>
        </p:spPr>
        <p:txBody>
          <a:bodyPr wrap="square" lIns="0" tIns="0" rIns="0" bIns="0" rtlCol="0" anchor="ctr"/>
          <a:lstStyle/>
          <a:p>
            <a:r>
              <a:rPr sz="1300" b="1">
                <a:solidFill>
                  <a:srgbClr val="1F2A37"/>
                </a:solidFill>
                <a:latin typeface="Aptos"/>
              </a:rPr>
              <a:t>Foundry Classic</a:t>
            </a:r>
          </a:p>
          <a:p>
            <a:r>
              <a:rPr sz="1300" b="1">
                <a:solidFill>
                  <a:srgbClr val="1F2A37"/>
                </a:solidFill>
                <a:latin typeface="Aptos"/>
              </a:rPr>
              <a:t>Migration and legacy context</a:t>
            </a:r>
          </a:p>
        </p:txBody>
      </p:sp>
      <p:sp>
        <p:nvSpPr>
          <p:cNvPr id="34" name="Migration Bullets">
            <a:extLst>
              <a:ext uri="{FF2B5EF4-FFF2-40B4-BE49-F238E27FC236}">
                <a16:creationId xmlns:a16="http://schemas.microsoft.com/office/drawing/2014/main" id="{E042B20B-6C42-48AC-5C9D-CAB302E91DD3}"/>
              </a:ext>
            </a:extLst>
          </p:cNvPr>
          <p:cNvSpPr/>
          <p:nvPr/>
        </p:nvSpPr>
        <p:spPr>
          <a:xfrm>
            <a:off x="6467375" y="2560000"/>
            <a:ext cx="4992800" cy="2740000"/>
          </a:xfrm>
          <a:prstGeom prst="rect">
            <a:avLst/>
          </a:prstGeom>
          <a:noFill/>
          <a:ln/>
        </p:spPr>
        <p:txBody>
          <a:bodyPr wrap="square" lIns="0" tIns="0" rIns="0" bIns="0" rtlCol="0" anchor="t">
            <a:normAutofit/>
          </a:bodyPr>
          <a:lstStyle/>
          <a:p>
            <a:pPr marL="228600" indent="-228600">
              <a:spcBef>
                <a:spcPts val="500"/>
              </a:spcBef>
              <a:spcAft>
                <a:spcPts val="200"/>
              </a:spcAft>
              <a:buFont typeface="Aptos"/>
              <a:buChar char="▸"/>
            </a:pPr>
            <a:r>
              <a:rPr sz="1150" dirty="0">
                <a:solidFill>
                  <a:srgbClr val="374151"/>
                </a:solidFill>
                <a:latin typeface="Aptos"/>
              </a:rPr>
              <a:t>Used for hub-based projects and older resource types.</a:t>
            </a:r>
            <a:endParaRPr lang="en-US" sz="1150" dirty="0">
              <a:solidFill>
                <a:srgbClr val="374151"/>
              </a:solidFill>
              <a:latin typeface="Aptos"/>
            </a:endParaRPr>
          </a:p>
          <a:p>
            <a:pPr marL="228600" indent="-228600">
              <a:spcBef>
                <a:spcPts val="500"/>
              </a:spcBef>
              <a:spcAft>
                <a:spcPts val="200"/>
              </a:spcAft>
              <a:buFont typeface="Aptos"/>
              <a:buChar char="▸"/>
            </a:pPr>
            <a:r>
              <a:rPr lang="en-US" sz="1150" dirty="0">
                <a:solidFill>
                  <a:srgbClr val="374151"/>
                </a:solidFill>
              </a:rPr>
              <a:t>Still relevant when reviewing existing enterprise investments.</a:t>
            </a:r>
          </a:p>
          <a:p>
            <a:pPr marL="228600" indent="-228600">
              <a:spcBef>
                <a:spcPts val="500"/>
              </a:spcBef>
              <a:spcAft>
                <a:spcPts val="200"/>
              </a:spcAft>
              <a:buFont typeface="Aptos"/>
              <a:buChar char="▸"/>
            </a:pPr>
            <a:r>
              <a:rPr lang="en-US" sz="1150" dirty="0">
                <a:solidFill>
                  <a:srgbClr val="374151"/>
                </a:solidFill>
              </a:rPr>
              <a:t>May appear in older documentation, screenshots, and migration guidance.</a:t>
            </a:r>
          </a:p>
          <a:p>
            <a:pPr marL="228600" indent="-228600">
              <a:spcBef>
                <a:spcPts val="500"/>
              </a:spcBef>
              <a:spcAft>
                <a:spcPts val="200"/>
              </a:spcAft>
              <a:buFont typeface="Aptos"/>
              <a:buChar char="▸"/>
            </a:pPr>
            <a:r>
              <a:rPr lang="en-US" sz="1150" dirty="0">
                <a:solidFill>
                  <a:srgbClr val="374151"/>
                </a:solidFill>
              </a:rPr>
              <a:t>Not the default surface for the new course labs.</a:t>
            </a:r>
          </a:p>
          <a:p>
            <a:pPr marL="228600" indent="-228600">
              <a:spcBef>
                <a:spcPts val="500"/>
              </a:spcBef>
              <a:spcAft>
                <a:spcPts val="200"/>
              </a:spcAft>
              <a:buFont typeface="Aptos"/>
              <a:buChar char="▸"/>
            </a:pPr>
            <a:endParaRPr sz="1150" dirty="0">
              <a:solidFill>
                <a:srgbClr val="374151"/>
              </a:solidFill>
              <a:latin typeface="Aptos"/>
            </a:endParaRPr>
          </a:p>
        </p:txBody>
      </p:sp>
    </p:spTree>
    <p:extLst>
      <p:ext uri="{BB962C8B-B14F-4D97-AF65-F5344CB8AC3E}">
        <p14:creationId xmlns:p14="http://schemas.microsoft.com/office/powerpoint/2010/main" val="275428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animEffect transition="in" filter="fade">
                                      <p:cBhvr>
                                        <p:cTn id="21" dur="500"/>
                                        <p:tgtEl>
                                          <p:spTgt spid="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1" end="1"/>
                                            </p:txEl>
                                          </p:spTgt>
                                        </p:tgtEl>
                                        <p:attrNameLst>
                                          <p:attrName>style.visibility</p:attrName>
                                        </p:attrNameLst>
                                      </p:cBhvr>
                                      <p:to>
                                        <p:strVal val="visible"/>
                                      </p:to>
                                    </p:set>
                                    <p:animEffect transition="in" filter="fade">
                                      <p:cBhvr>
                                        <p:cTn id="26" dur="500"/>
                                        <p:tgtEl>
                                          <p:spTgt spid="2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xEl>
                                              <p:pRg st="2" end="2"/>
                                            </p:txEl>
                                          </p:spTgt>
                                        </p:tgtEl>
                                        <p:attrNameLst>
                                          <p:attrName>style.visibility</p:attrName>
                                        </p:attrNameLst>
                                      </p:cBhvr>
                                      <p:to>
                                        <p:strVal val="visible"/>
                                      </p:to>
                                    </p:set>
                                    <p:animEffect transition="in" filter="fade">
                                      <p:cBhvr>
                                        <p:cTn id="31" dur="500"/>
                                        <p:tgtEl>
                                          <p:spTgt spid="24">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4">
                                            <p:txEl>
                                              <p:pRg st="3" end="3"/>
                                            </p:txEl>
                                          </p:spTgt>
                                        </p:tgtEl>
                                        <p:attrNameLst>
                                          <p:attrName>style.visibility</p:attrName>
                                        </p:attrNameLst>
                                      </p:cBhvr>
                                      <p:to>
                                        <p:strVal val="visible"/>
                                      </p:to>
                                    </p:set>
                                    <p:animEffect transition="in" filter="fade">
                                      <p:cBhvr>
                                        <p:cTn id="36" dur="500"/>
                                        <p:tgtEl>
                                          <p:spTgt spid="24">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4">
                                            <p:txEl>
                                              <p:pRg st="0" end="0"/>
                                            </p:txEl>
                                          </p:spTgt>
                                        </p:tgtEl>
                                        <p:attrNameLst>
                                          <p:attrName>style.visibility</p:attrName>
                                        </p:attrNameLst>
                                      </p:cBhvr>
                                      <p:to>
                                        <p:strVal val="visible"/>
                                      </p:to>
                                    </p:set>
                                    <p:animEffect transition="in" filter="fade">
                                      <p:cBhvr>
                                        <p:cTn id="55" dur="500"/>
                                        <p:tgtEl>
                                          <p:spTgt spid="34">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4">
                                            <p:txEl>
                                              <p:pRg st="1" end="1"/>
                                            </p:txEl>
                                          </p:spTgt>
                                        </p:tgtEl>
                                        <p:attrNameLst>
                                          <p:attrName>style.visibility</p:attrName>
                                        </p:attrNameLst>
                                      </p:cBhvr>
                                      <p:to>
                                        <p:strVal val="visible"/>
                                      </p:to>
                                    </p:set>
                                    <p:animEffect transition="in" filter="fade">
                                      <p:cBhvr>
                                        <p:cTn id="60" dur="500"/>
                                        <p:tgtEl>
                                          <p:spTgt spid="34">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4">
                                            <p:txEl>
                                              <p:pRg st="2" end="2"/>
                                            </p:txEl>
                                          </p:spTgt>
                                        </p:tgtEl>
                                        <p:attrNameLst>
                                          <p:attrName>style.visibility</p:attrName>
                                        </p:attrNameLst>
                                      </p:cBhvr>
                                      <p:to>
                                        <p:strVal val="visible"/>
                                      </p:to>
                                    </p:set>
                                    <p:animEffect transition="in" filter="fade">
                                      <p:cBhvr>
                                        <p:cTn id="65" dur="500"/>
                                        <p:tgtEl>
                                          <p:spTgt spid="34">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4">
                                            <p:txEl>
                                              <p:pRg st="3" end="3"/>
                                            </p:txEl>
                                          </p:spTgt>
                                        </p:tgtEl>
                                        <p:attrNameLst>
                                          <p:attrName>style.visibility</p:attrName>
                                        </p:attrNameLst>
                                      </p:cBhvr>
                                      <p:to>
                                        <p:strVal val="visible"/>
                                      </p:to>
                                    </p:set>
                                    <p:animEffect transition="in" filter="fade">
                                      <p:cBhvr>
                                        <p:cTn id="70" dur="500"/>
                                        <p:tgtEl>
                                          <p:spTgt spid="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30"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5</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When Classic Still Matters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Classic is not the default path, but it can still be relevant in real enterprises.</a:t>
            </a:r>
            <a:endParaRPr sz="1550" dirty="0">
              <a:solidFill>
                <a:srgbClr val="536071"/>
              </a:solidFill>
              <a:latin typeface="Aptos"/>
            </a:endParaRP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Existing hub-based projects may still need to be reviewed or migrated.</a:t>
            </a:r>
          </a:p>
          <a:p>
            <a:pPr>
              <a:spcAft>
                <a:spcPts val="200"/>
              </a:spcAft>
            </a:pPr>
            <a:r>
              <a:rPr sz="2000" dirty="0">
                <a:solidFill>
                  <a:srgbClr val="374151"/>
                </a:solidFill>
                <a:latin typeface="Aptos"/>
              </a:rPr>
              <a:t>▸ Some older documentation and screenshots may refer to Classic experiences.</a:t>
            </a:r>
          </a:p>
          <a:p>
            <a:pPr>
              <a:spcAft>
                <a:spcPts val="200"/>
              </a:spcAft>
            </a:pPr>
            <a:r>
              <a:rPr sz="2000" dirty="0">
                <a:solidFill>
                  <a:srgbClr val="374151"/>
                </a:solidFill>
                <a:latin typeface="Aptos"/>
              </a:rPr>
              <a:t>▸ Classic context helps explain why a learner may see different project types in an organization.</a:t>
            </a:r>
          </a:p>
          <a:p>
            <a:pPr>
              <a:spcAft>
                <a:spcPts val="200"/>
              </a:spcAft>
            </a:pPr>
            <a:r>
              <a:rPr sz="2000" dirty="0">
                <a:solidFill>
                  <a:srgbClr val="374151"/>
                </a:solidFill>
                <a:latin typeface="Aptos"/>
              </a:rPr>
              <a:t>▸ New course configuration should avoid depending on Classic unless the lesson explicitly says so.</a:t>
            </a:r>
          </a:p>
          <a:p>
            <a:pPr>
              <a:spcAft>
                <a:spcPts val="200"/>
              </a:spcAft>
            </a:pPr>
            <a:r>
              <a:rPr sz="2000" dirty="0">
                <a:solidFill>
                  <a:srgbClr val="374151"/>
                </a:solidFill>
                <a:latin typeface="Aptos"/>
              </a:rPr>
              <a:t>▸ Use migration language instead of treating Classic as the strategic default.</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Migration posture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a:solidFill>
                  <a:srgbClr val="253040"/>
                </a:solidFill>
                <a:latin typeface="Aptos"/>
              </a:rPr>
              <a:t>Respect existing assets; teach the current platform path.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5</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Current Terminology to Use Consistently</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Terminology consistency prevents stale content from leaking into the course.</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Use Microsoft Foundry as the current platform name.</a:t>
            </a:r>
          </a:p>
          <a:p>
            <a:pPr>
              <a:spcAft>
                <a:spcPts val="200"/>
              </a:spcAft>
            </a:pPr>
            <a:r>
              <a:rPr sz="2000" dirty="0">
                <a:solidFill>
                  <a:srgbClr val="374151"/>
                </a:solidFill>
                <a:latin typeface="Aptos"/>
              </a:rPr>
              <a:t>▸ Use the current Foundry portal for new course work and labs.</a:t>
            </a:r>
          </a:p>
          <a:p>
            <a:pPr>
              <a:spcAft>
                <a:spcPts val="200"/>
              </a:spcAft>
            </a:pPr>
            <a:r>
              <a:rPr sz="2000" dirty="0">
                <a:solidFill>
                  <a:srgbClr val="374151"/>
                </a:solidFill>
                <a:latin typeface="Aptos"/>
              </a:rPr>
              <a:t>▸ Use Foundry Classic only for hub-based legacy context.</a:t>
            </a:r>
          </a:p>
          <a:p>
            <a:pPr>
              <a:spcAft>
                <a:spcPts val="200"/>
              </a:spcAft>
            </a:pPr>
            <a:r>
              <a:rPr sz="2000" dirty="0">
                <a:solidFill>
                  <a:srgbClr val="374151"/>
                </a:solidFill>
                <a:latin typeface="Aptos"/>
              </a:rPr>
              <a:t>▸ Use prompt agents and hosted agents when discussing Agent Service.</a:t>
            </a:r>
          </a:p>
          <a:p>
            <a:pPr>
              <a:spcAft>
                <a:spcPts val="200"/>
              </a:spcAft>
            </a:pPr>
            <a:r>
              <a:rPr sz="2000" dirty="0">
                <a:solidFill>
                  <a:srgbClr val="374151"/>
                </a:solidFill>
                <a:latin typeface="Aptos"/>
              </a:rPr>
              <a:t>▸ Use Microsoft Learn as the source of truth for fast-moving product details.</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Terminology anchor</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a:solidFill>
                  <a:srgbClr val="253040"/>
                </a:solidFill>
                <a:latin typeface="Aptos"/>
              </a:rPr>
              <a:t>Use current names to avoid mixing resource models.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Lecture Goal: Read the Foundry Architecture</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This lecture turns platform terms into one coherent operating model.</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Identify the major Foundry pillars and their responsibilities.</a:t>
            </a:r>
          </a:p>
          <a:p>
            <a:pPr>
              <a:spcAft>
                <a:spcPts val="200"/>
              </a:spcAft>
            </a:pPr>
            <a:r>
              <a:rPr sz="2000" dirty="0">
                <a:solidFill>
                  <a:srgbClr val="374151"/>
                </a:solidFill>
                <a:latin typeface="Aptos"/>
              </a:rPr>
              <a:t>▸ Explain how a project organizes models, agents, knowledge, tools, and evaluations.</a:t>
            </a:r>
          </a:p>
          <a:p>
            <a:pPr>
              <a:spcAft>
                <a:spcPts val="200"/>
              </a:spcAft>
            </a:pPr>
            <a:r>
              <a:rPr sz="2000" dirty="0">
                <a:solidFill>
                  <a:srgbClr val="374151"/>
                </a:solidFill>
                <a:latin typeface="Aptos"/>
              </a:rPr>
              <a:t>▸ Connect the architecture to the lifecycle: discover, build, test, publish, observe, govern.</a:t>
            </a:r>
          </a:p>
          <a:p>
            <a:pPr>
              <a:spcAft>
                <a:spcPts val="200"/>
              </a:spcAft>
            </a:pPr>
            <a:r>
              <a:rPr sz="2000" dirty="0">
                <a:solidFill>
                  <a:srgbClr val="374151"/>
                </a:solidFill>
                <a:latin typeface="Aptos"/>
              </a:rPr>
              <a:t>▸ Recognize which capabilities need preview or Classic labeling.</a:t>
            </a:r>
          </a:p>
          <a:p>
            <a:pPr>
              <a:spcAft>
                <a:spcPts val="200"/>
              </a:spcAft>
            </a:pPr>
            <a:r>
              <a:rPr sz="2000" dirty="0">
                <a:solidFill>
                  <a:srgbClr val="374151"/>
                </a:solidFill>
                <a:latin typeface="Aptos"/>
              </a:rPr>
              <a:t>▸ Use the architecture to prepare for resource and model decisions in Section 3.</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Outcome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a:solidFill>
                  <a:srgbClr val="253040"/>
                </a:solidFill>
                <a:latin typeface="Aptos"/>
              </a:rPr>
              <a:t>Explain how later course sections connect.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Microsoft Foundry Architecture: The Five Pillars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The platform brings together the assets needed to build, ground, connect, monitor, and govern agents.</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Foundry Models provide model catalog access, deployments, and endpoints.</a:t>
            </a:r>
          </a:p>
          <a:p>
            <a:pPr>
              <a:spcAft>
                <a:spcPts val="200"/>
              </a:spcAft>
            </a:pPr>
            <a:r>
              <a:rPr sz="2000" dirty="0">
                <a:solidFill>
                  <a:srgbClr val="374151"/>
                </a:solidFill>
                <a:latin typeface="Aptos"/>
              </a:rPr>
              <a:t>▸ Foundry Agent Service manages prompt agents, hosted agents, versions, and tools.</a:t>
            </a:r>
          </a:p>
          <a:p>
            <a:pPr>
              <a:spcAft>
                <a:spcPts val="200"/>
              </a:spcAft>
            </a:pPr>
            <a:r>
              <a:rPr sz="2000" dirty="0">
                <a:solidFill>
                  <a:srgbClr val="374151"/>
                </a:solidFill>
                <a:latin typeface="Aptos"/>
              </a:rPr>
              <a:t>▸ Foundry IQ provides reusable knowledge bases for grounded responses.</a:t>
            </a:r>
          </a:p>
          <a:p>
            <a:pPr>
              <a:spcAft>
                <a:spcPts val="200"/>
              </a:spcAft>
            </a:pPr>
            <a:r>
              <a:rPr sz="2000" dirty="0">
                <a:solidFill>
                  <a:srgbClr val="374151"/>
                </a:solidFill>
                <a:latin typeface="Aptos"/>
              </a:rPr>
              <a:t>▸ Foundry Tools connect agents to approved external capabilities.</a:t>
            </a:r>
          </a:p>
          <a:p>
            <a:pPr>
              <a:spcAft>
                <a:spcPts val="200"/>
              </a:spcAft>
            </a:pPr>
            <a:r>
              <a:rPr sz="2000" dirty="0">
                <a:solidFill>
                  <a:srgbClr val="374151"/>
                </a:solidFill>
                <a:latin typeface="Aptos"/>
              </a:rPr>
              <a:t>▸ Foundry Control Plane supports visibility, health, compliance, and governance.</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Architecture anchor</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20" b="0">
                <a:solidFill>
                  <a:srgbClr val="374151"/>
                </a:solidFill>
                <a:latin typeface="Aptos"/>
              </a:rPr>
              <a:t>Every later section maps back to these pillars.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Resource and Project Hierarchy</a:t>
            </a:r>
          </a:p>
        </p:txBody>
      </p:sp>
      <p:sp>
        <p:nvSpPr>
          <p:cNvPr id="6" name="Text 4"/>
          <p:cNvSpPr/>
          <p:nvPr/>
        </p:nvSpPr>
        <p:spPr>
          <a:xfrm>
            <a:off x="502920" y="1298448"/>
            <a:ext cx="7772400" cy="347472"/>
          </a:xfrm>
          <a:prstGeom prst="rect">
            <a:avLst/>
          </a:prstGeom>
          <a:noFill/>
          <a:ln/>
        </p:spPr>
        <p:txBody>
          <a:bodyPr wrap="square" lIns="0" tIns="0" rIns="0" bIns="0" rtlCol="0" anchor="ctr">
            <a:normAutofit fontScale="92500"/>
          </a:bodyPr>
          <a:lstStyle/>
          <a:p>
            <a:r>
              <a:rPr sz="1350" b="0">
                <a:solidFill>
                  <a:srgbClr val="374151"/>
                </a:solidFill>
                <a:latin typeface="Aptos"/>
              </a:rPr>
              <a:t>The resource gives the management boundary; projects organize work for teams, environments, or scenarios.</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Azure subscriptions and resource groups remain administrative and billing boundaries.</a:t>
            </a:r>
          </a:p>
          <a:p>
            <a:pPr>
              <a:spcAft>
                <a:spcPts val="200"/>
              </a:spcAft>
            </a:pPr>
            <a:r>
              <a:rPr sz="2000" dirty="0">
                <a:solidFill>
                  <a:srgbClr val="374151"/>
                </a:solidFill>
                <a:latin typeface="Aptos"/>
              </a:rPr>
              <a:t>▸ A Foundry resource anchors shared AI platform management.</a:t>
            </a:r>
          </a:p>
          <a:p>
            <a:pPr>
              <a:spcAft>
                <a:spcPts val="200"/>
              </a:spcAft>
            </a:pPr>
            <a:r>
              <a:rPr sz="2000" dirty="0">
                <a:solidFill>
                  <a:srgbClr val="374151"/>
                </a:solidFill>
                <a:latin typeface="Aptos"/>
              </a:rPr>
              <a:t>▸ Projects organize related models, agents, knowledge, tools, evaluations, and connections.</a:t>
            </a:r>
          </a:p>
          <a:p>
            <a:pPr>
              <a:spcAft>
                <a:spcPts val="200"/>
              </a:spcAft>
            </a:pPr>
            <a:r>
              <a:rPr sz="2000" dirty="0">
                <a:solidFill>
                  <a:srgbClr val="374151"/>
                </a:solidFill>
                <a:latin typeface="Aptos"/>
              </a:rPr>
              <a:t>▸ Projects can map to teams, business domains, or environments.</a:t>
            </a:r>
          </a:p>
          <a:p>
            <a:pPr>
              <a:spcAft>
                <a:spcPts val="200"/>
              </a:spcAft>
            </a:pPr>
            <a:r>
              <a:rPr sz="2000" dirty="0">
                <a:solidFill>
                  <a:srgbClr val="374151"/>
                </a:solidFill>
                <a:latin typeface="Aptos"/>
              </a:rPr>
              <a:t>▸ Boundary decisions should follow ownership, data sensitivity, and release cadence.</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Boundary habit</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a:solidFill>
                  <a:srgbClr val="253040"/>
                </a:solidFill>
                <a:latin typeface="Aptos"/>
              </a:rPr>
              <a:t>If ownership, data, or release cadence differs, consider a separate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The Agent Lifecycle in Foundry</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The same platform supports discovery, building, testing, publishing, observing, and governing.</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Discover available models, tools, and knowledge sources.</a:t>
            </a:r>
          </a:p>
          <a:p>
            <a:pPr>
              <a:spcAft>
                <a:spcPts val="200"/>
              </a:spcAft>
            </a:pPr>
            <a:r>
              <a:rPr sz="2000" dirty="0">
                <a:solidFill>
                  <a:srgbClr val="374151"/>
                </a:solidFill>
                <a:latin typeface="Aptos"/>
              </a:rPr>
              <a:t>▸ Build agents with instructions, deployments, knowledge, and approved tools.</a:t>
            </a:r>
          </a:p>
          <a:p>
            <a:pPr>
              <a:spcAft>
                <a:spcPts val="200"/>
              </a:spcAft>
            </a:pPr>
            <a:r>
              <a:rPr sz="2000" dirty="0">
                <a:solidFill>
                  <a:srgbClr val="374151"/>
                </a:solidFill>
                <a:latin typeface="Aptos"/>
              </a:rPr>
              <a:t>▸ Test expected behavior and prohibited behavior before publishing.</a:t>
            </a:r>
          </a:p>
          <a:p>
            <a:pPr>
              <a:spcAft>
                <a:spcPts val="200"/>
              </a:spcAft>
            </a:pPr>
            <a:r>
              <a:rPr sz="2000" dirty="0">
                <a:solidFill>
                  <a:srgbClr val="374151"/>
                </a:solidFill>
                <a:latin typeface="Aptos"/>
              </a:rPr>
              <a:t>▸ Observe quality, latency, cost, failures, and tool activity.</a:t>
            </a:r>
          </a:p>
          <a:p>
            <a:pPr>
              <a:spcAft>
                <a:spcPts val="200"/>
              </a:spcAft>
            </a:pPr>
            <a:r>
              <a:rPr sz="2000" dirty="0">
                <a:solidFill>
                  <a:srgbClr val="374151"/>
                </a:solidFill>
                <a:latin typeface="Aptos"/>
              </a:rPr>
              <a:t>▸ Govern roles, policies, compliance, lifecycle, and ownership.</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Lifecycle rule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20" b="0">
                <a:solidFill>
                  <a:srgbClr val="374151"/>
                </a:solidFill>
                <a:latin typeface="Aptos"/>
              </a:rPr>
              <a:t>Every agent must eventually be operated, not merely created.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900">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Foundry Models: Model Access Becomes Managed</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Model decisions become operational decisions once an agent relies on them.</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The model catalog is where teams discover available model options.</a:t>
            </a:r>
          </a:p>
          <a:p>
            <a:pPr>
              <a:spcAft>
                <a:spcPts val="200"/>
              </a:spcAft>
            </a:pPr>
            <a:r>
              <a:rPr sz="2000" dirty="0">
                <a:solidFill>
                  <a:srgbClr val="374151"/>
                </a:solidFill>
                <a:latin typeface="Aptos"/>
              </a:rPr>
              <a:t>▸ Deployments make selected models usable by applications or agents.</a:t>
            </a:r>
          </a:p>
          <a:p>
            <a:pPr>
              <a:spcAft>
                <a:spcPts val="200"/>
              </a:spcAft>
            </a:pPr>
            <a:r>
              <a:rPr sz="2000" dirty="0">
                <a:solidFill>
                  <a:srgbClr val="374151"/>
                </a:solidFill>
                <a:latin typeface="Aptos"/>
              </a:rPr>
              <a:t>▸ Region, quota, deployment type, and availability affect what can </a:t>
            </a:r>
            <a:r>
              <a:rPr lang="en-US" sz="2000" dirty="0">
                <a:solidFill>
                  <a:srgbClr val="374151"/>
                </a:solidFill>
                <a:latin typeface="Aptos"/>
              </a:rPr>
              <a:t>run</a:t>
            </a:r>
            <a:r>
              <a:rPr sz="2000" dirty="0">
                <a:solidFill>
                  <a:srgbClr val="374151"/>
                </a:solidFill>
                <a:latin typeface="Aptos"/>
              </a:rPr>
              <a:t>.</a:t>
            </a:r>
          </a:p>
          <a:p>
            <a:pPr>
              <a:spcAft>
                <a:spcPts val="200"/>
              </a:spcAft>
            </a:pPr>
            <a:r>
              <a:rPr sz="2000" dirty="0">
                <a:solidFill>
                  <a:srgbClr val="374151"/>
                </a:solidFill>
                <a:latin typeface="Aptos"/>
              </a:rPr>
              <a:t>▸ Model choice should be documented for quality, cost, security, and lifecycle review.</a:t>
            </a:r>
          </a:p>
          <a:p>
            <a:pPr>
              <a:spcAft>
                <a:spcPts val="200"/>
              </a:spcAft>
            </a:pPr>
            <a:r>
              <a:rPr sz="2000" dirty="0">
                <a:solidFill>
                  <a:srgbClr val="374151"/>
                </a:solidFill>
                <a:latin typeface="Aptos"/>
              </a:rPr>
              <a:t>▸</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Teaching note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dirty="0">
                <a:solidFill>
                  <a:srgbClr val="253040"/>
                </a:solidFill>
                <a:latin typeface="Aptos"/>
              </a:rPr>
              <a:t>Do not depend on one fixed model; availability varies.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Foundry Agent Service: Managed Agent Operations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Agent Service turns model access into configurable, publishable agent behavior.</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Prompt agents support portal-configured agent behavior for common scenarios.</a:t>
            </a:r>
          </a:p>
          <a:p>
            <a:pPr>
              <a:spcAft>
                <a:spcPts val="200"/>
              </a:spcAft>
            </a:pPr>
            <a:r>
              <a:rPr sz="2000" dirty="0">
                <a:solidFill>
                  <a:srgbClr val="374151"/>
                </a:solidFill>
                <a:latin typeface="Aptos"/>
              </a:rPr>
              <a:t>▸ Hosted agents support custom agent code or frameworks when the use case requires it.</a:t>
            </a:r>
          </a:p>
          <a:p>
            <a:pPr>
              <a:spcAft>
                <a:spcPts val="200"/>
              </a:spcAft>
            </a:pPr>
            <a:r>
              <a:rPr sz="2000" dirty="0">
                <a:solidFill>
                  <a:srgbClr val="374151"/>
                </a:solidFill>
                <a:latin typeface="Aptos"/>
              </a:rPr>
              <a:t>▸ Agents combine model deployments, instructions, knowledge, tools, testing, and publishing.</a:t>
            </a:r>
          </a:p>
          <a:p>
            <a:pPr>
              <a:spcAft>
                <a:spcPts val="200"/>
              </a:spcAft>
            </a:pPr>
            <a:r>
              <a:rPr sz="2000" dirty="0">
                <a:solidFill>
                  <a:srgbClr val="374151"/>
                </a:solidFill>
                <a:latin typeface="Aptos"/>
              </a:rPr>
              <a:t>▸ Versions and endpoints help separate experiments from controlled use.</a:t>
            </a:r>
          </a:p>
          <a:p>
            <a:pPr>
              <a:spcAft>
                <a:spcPts val="200"/>
              </a:spcAft>
            </a:pPr>
            <a:r>
              <a:rPr sz="2000" dirty="0">
                <a:solidFill>
                  <a:srgbClr val="374151"/>
                </a:solidFill>
                <a:latin typeface="Aptos"/>
              </a:rPr>
              <a:t>▸ This course uses prompt agents for hands-on configuration and hosted agents as architecture context.</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0" tIns="0" rIns="0" bIns="0" rtlCol="0" anchor="ctr">
            <a:normAutofit/>
          </a:bodyPr>
          <a:lstStyle/>
          <a:p>
            <a:r>
              <a:rPr sz="1300" b="1">
                <a:solidFill>
                  <a:srgbClr val="1F2A37"/>
                </a:solidFill>
                <a:latin typeface="Aptos"/>
              </a:rPr>
              <a:t>Scope rule</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20" b="0">
                <a:solidFill>
                  <a:srgbClr val="374151"/>
                </a:solidFill>
                <a:latin typeface="Aptos"/>
              </a:rPr>
              <a:t>The course teaches how to configure and govern agents, not how to build a custom agent runtime.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 Lecture 6</a:t>
            </a:r>
          </a:p>
        </p:txBody>
      </p:sp>
      <p:sp>
        <p:nvSpPr>
          <p:cNvPr id="5" name="Text 3"/>
          <p:cNvSpPr/>
          <p:nvPr/>
        </p:nvSpPr>
        <p:spPr>
          <a:xfrm>
            <a:off x="502920" y="621792"/>
            <a:ext cx="8686800" cy="502920"/>
          </a:xfrm>
          <a:prstGeom prst="rect">
            <a:avLst/>
          </a:prstGeom>
          <a:noFill/>
          <a:ln/>
        </p:spPr>
        <p:txBody>
          <a:bodyPr wrap="square" lIns="0" tIns="0" rIns="0" bIns="0" rtlCol="0" anchor="ctr">
            <a:normAutofit/>
          </a:bodyPr>
          <a:lstStyle/>
          <a:p>
            <a:r>
              <a:rPr sz="2800" b="0">
                <a:solidFill>
                  <a:srgbClr val="08A9C9"/>
                </a:solidFill>
                <a:latin typeface="Aptos Display"/>
              </a:rPr>
              <a:t>Knowledge, Tools, and Governance Layers</a:t>
            </a:r>
          </a:p>
        </p:txBody>
      </p:sp>
      <p:sp>
        <p:nvSpPr>
          <p:cNvPr id="6" name="Text 4"/>
          <p:cNvSpPr/>
          <p:nvPr/>
        </p:nvSpPr>
        <p:spPr>
          <a:xfrm>
            <a:off x="502920" y="1298448"/>
            <a:ext cx="7772400" cy="347472"/>
          </a:xfrm>
          <a:prstGeom prst="rect">
            <a:avLst/>
          </a:prstGeom>
          <a:noFill/>
          <a:ln/>
        </p:spPr>
        <p:txBody>
          <a:bodyPr wrap="square" lIns="0" tIns="0" rIns="0" bIns="0" rtlCol="0" anchor="ctr">
            <a:normAutofit/>
          </a:bodyPr>
          <a:lstStyle/>
          <a:p>
            <a:r>
              <a:rPr sz="1350" b="0">
                <a:solidFill>
                  <a:srgbClr val="374151"/>
                </a:solidFill>
                <a:latin typeface="Aptos"/>
              </a:rPr>
              <a:t>The final platform layers explain how agents stay grounded, useful, and controllable.</a:t>
            </a:r>
          </a:p>
        </p:txBody>
      </p:sp>
      <p:sp>
        <p:nvSpPr>
          <p:cNvPr id="7" name="Text 5"/>
          <p:cNvSpPr/>
          <p:nvPr/>
        </p:nvSpPr>
        <p:spPr>
          <a:xfrm>
            <a:off x="640080" y="1783080"/>
            <a:ext cx="6995160" cy="4160520"/>
          </a:xfrm>
          <a:prstGeom prst="rect">
            <a:avLst/>
          </a:prstGeom>
          <a:noFill/>
          <a:ln/>
        </p:spPr>
        <p:txBody>
          <a:bodyPr wrap="square" lIns="508" tIns="508" rIns="508" bIns="508" rtlCol="0" anchor="t">
            <a:normAutofit/>
          </a:bodyPr>
          <a:lstStyle/>
          <a:p>
            <a:pPr>
              <a:spcAft>
                <a:spcPts val="200"/>
              </a:spcAft>
            </a:pPr>
            <a:r>
              <a:rPr sz="2000" dirty="0">
                <a:solidFill>
                  <a:srgbClr val="374151"/>
                </a:solidFill>
                <a:latin typeface="Aptos"/>
              </a:rPr>
              <a:t>▸ Foundry IQ connects agents to reusable knowledge bases and cited enterprise evidence.</a:t>
            </a:r>
          </a:p>
          <a:p>
            <a:pPr>
              <a:spcAft>
                <a:spcPts val="200"/>
              </a:spcAft>
            </a:pPr>
            <a:r>
              <a:rPr sz="2000" dirty="0">
                <a:solidFill>
                  <a:srgbClr val="374151"/>
                </a:solidFill>
                <a:latin typeface="Aptos"/>
              </a:rPr>
              <a:t>▸ Foundry Tools connect agents to built-in tools, catalog tools, </a:t>
            </a:r>
            <a:r>
              <a:rPr sz="2000" dirty="0" err="1">
                <a:solidFill>
                  <a:srgbClr val="374151"/>
                </a:solidFill>
                <a:latin typeface="Aptos"/>
              </a:rPr>
              <a:t>OpenAPI</a:t>
            </a:r>
            <a:r>
              <a:rPr sz="2000" dirty="0">
                <a:solidFill>
                  <a:srgbClr val="374151"/>
                </a:solidFill>
                <a:latin typeface="Aptos"/>
              </a:rPr>
              <a:t>, MCP, and A2A patterns.</a:t>
            </a:r>
          </a:p>
          <a:p>
            <a:pPr>
              <a:spcAft>
                <a:spcPts val="200"/>
              </a:spcAft>
            </a:pPr>
            <a:r>
              <a:rPr sz="2000" dirty="0">
                <a:solidFill>
                  <a:srgbClr val="374151"/>
                </a:solidFill>
                <a:latin typeface="Aptos"/>
              </a:rPr>
              <a:t>▸ Control Plane gives enterprise teams visibility across agents, models, tools, health, cost, and lifecycle.</a:t>
            </a:r>
          </a:p>
          <a:p>
            <a:pPr>
              <a:spcAft>
                <a:spcPts val="200"/>
              </a:spcAft>
            </a:pPr>
            <a:r>
              <a:rPr sz="2000" dirty="0">
                <a:solidFill>
                  <a:srgbClr val="374151"/>
                </a:solidFill>
                <a:latin typeface="Aptos"/>
              </a:rPr>
              <a:t>▸ Preview capabilities should be labeled clearly before teaching or production planning.</a:t>
            </a:r>
          </a:p>
          <a:p>
            <a:pPr>
              <a:spcAft>
                <a:spcPts val="200"/>
              </a:spcAft>
            </a:pPr>
            <a:r>
              <a:rPr sz="2000" dirty="0">
                <a:solidFill>
                  <a:srgbClr val="374151"/>
                </a:solidFill>
                <a:latin typeface="Aptos"/>
              </a:rPr>
              <a:t>▸ The short portal demonstration locates these layers without performing configuration yet.</a:t>
            </a:r>
          </a:p>
        </p:txBody>
      </p:sp>
      <p:sp>
        <p:nvSpPr>
          <p:cNvPr id="8" name="Shape 6"/>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lang="en-US"/>
          </a:p>
        </p:txBody>
      </p:sp>
      <p:sp>
        <p:nvSpPr>
          <p:cNvPr id="9" name="Shape 7"/>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lang="en-US"/>
          </a:p>
        </p:txBody>
      </p:sp>
      <p:sp>
        <p:nvSpPr>
          <p:cNvPr id="10" name="Text 8"/>
          <p:cNvSpPr/>
          <p:nvPr/>
        </p:nvSpPr>
        <p:spPr>
          <a:xfrm>
            <a:off x="8138160" y="2002536"/>
            <a:ext cx="329184" cy="109728"/>
          </a:xfrm>
          <a:prstGeom prst="rect">
            <a:avLst/>
          </a:prstGeom>
          <a:noFill/>
          <a:ln/>
        </p:spPr>
        <p:txBody>
          <a:bodyPr wrap="square" lIns="0" tIns="0" rIns="0" bIns="0" rtlCol="0" anchor="ctr"/>
          <a:lstStyle/>
          <a:p>
            <a:pPr marL="0" indent="0" algn="ctr">
              <a:buNone/>
            </a:pPr>
            <a:r>
              <a:rPr sz="1300" b="1">
                <a:solidFill>
                  <a:srgbClr val="FFFFFF"/>
                </a:solidFill>
                <a:latin typeface="Aptos"/>
              </a:rPr>
              <a:t>i</a:t>
            </a:r>
            <a:endParaRPr lang="en-US" sz="1000"/>
          </a:p>
        </p:txBody>
      </p:sp>
      <p:sp>
        <p:nvSpPr>
          <p:cNvPr id="11" name="Text 9"/>
          <p:cNvSpPr/>
          <p:nvPr/>
        </p:nvSpPr>
        <p:spPr>
          <a:xfrm>
            <a:off x="8567928" y="1947672"/>
            <a:ext cx="2148840" cy="320040"/>
          </a:xfrm>
          <a:prstGeom prst="rect">
            <a:avLst/>
          </a:prstGeom>
          <a:noFill/>
          <a:ln/>
        </p:spPr>
        <p:txBody>
          <a:bodyPr wrap="square" lIns="73152" rIns="73152" rtlCol="0" anchor="ctr">
            <a:normAutofit/>
          </a:bodyPr>
          <a:lstStyle/>
          <a:p>
            <a:pPr>
              <a:lnSpc>
                <a:spcPct val="90000"/>
              </a:lnSpc>
            </a:pPr>
            <a:r>
              <a:rPr sz="1300" b="1">
                <a:solidFill>
                  <a:srgbClr val="1F2A37"/>
                </a:solidFill>
                <a:latin typeface="Aptos"/>
              </a:rPr>
              <a:t>Demonstration attached</a:t>
            </a:r>
          </a:p>
        </p:txBody>
      </p:sp>
      <p:sp>
        <p:nvSpPr>
          <p:cNvPr id="12" name="Text 10"/>
          <p:cNvSpPr/>
          <p:nvPr/>
        </p:nvSpPr>
        <p:spPr>
          <a:xfrm>
            <a:off x="8138160" y="2743200"/>
            <a:ext cx="2514600" cy="1051560"/>
          </a:xfrm>
          <a:prstGeom prst="rect">
            <a:avLst/>
          </a:prstGeom>
          <a:noFill/>
          <a:ln/>
        </p:spPr>
        <p:txBody>
          <a:bodyPr wrap="square" lIns="73152" rIns="73152" rtlCol="0" anchor="ctr">
            <a:normAutofit/>
          </a:bodyPr>
          <a:lstStyle/>
          <a:p>
            <a:pPr>
              <a:lnSpc>
                <a:spcPct val="90000"/>
              </a:lnSpc>
            </a:pPr>
            <a:r>
              <a:rPr sz="1280" b="0" dirty="0">
                <a:solidFill>
                  <a:srgbClr val="253040"/>
                </a:solidFill>
                <a:latin typeface="Aptos"/>
              </a:rPr>
              <a:t>Briefly locate each platform area before Section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3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64808"/>
            <a:ext cx="5943600" cy="201168"/>
          </a:xfrm>
          <a:prstGeom prst="rect">
            <a:avLst/>
          </a:prstGeom>
          <a:noFill/>
          <a:ln/>
        </p:spPr>
        <p:txBody>
          <a:bodyPr wrap="square" lIns="0" tIns="0" rIns="0" bIns="0" rtlCol="0" anchor="ctr"/>
          <a:lstStyle/>
          <a:p>
            <a:r>
              <a:rPr sz="1300" b="0">
                <a:solidFill>
                  <a:srgbClr val="374151"/>
                </a:solidFill>
                <a:latin typeface="Aptos"/>
              </a:rPr>
              <a:t>Section 2 Review</a:t>
            </a:r>
          </a:p>
        </p:txBody>
      </p:sp>
      <p:sp>
        <p:nvSpPr>
          <p:cNvPr id="5" name="Text 3"/>
          <p:cNvSpPr/>
          <p:nvPr/>
        </p:nvSpPr>
        <p:spPr>
          <a:xfrm>
            <a:off x="502920" y="621792"/>
            <a:ext cx="8229600" cy="502920"/>
          </a:xfrm>
          <a:prstGeom prst="rect">
            <a:avLst/>
          </a:prstGeom>
          <a:noFill/>
          <a:ln/>
        </p:spPr>
        <p:txBody>
          <a:bodyPr wrap="square" lIns="0" tIns="0" rIns="0" bIns="0" rtlCol="0" anchor="ctr">
            <a:normAutofit/>
          </a:bodyPr>
          <a:lstStyle/>
          <a:p>
            <a:r>
              <a:rPr sz="2800" b="0">
                <a:solidFill>
                  <a:srgbClr val="08A9C9"/>
                </a:solidFill>
                <a:latin typeface="Aptos Display"/>
              </a:rPr>
              <a:t>Section 2 — Key Takeaways</a:t>
            </a:r>
          </a:p>
        </p:txBody>
      </p:sp>
      <p:sp>
        <p:nvSpPr>
          <p:cNvPr id="6" name="Text 4"/>
          <p:cNvSpPr/>
          <p:nvPr/>
        </p:nvSpPr>
        <p:spPr>
          <a:xfrm>
            <a:off x="502920" y="1298448"/>
            <a:ext cx="7772400" cy="320040"/>
          </a:xfrm>
          <a:prstGeom prst="rect">
            <a:avLst/>
          </a:prstGeom>
          <a:noFill/>
          <a:ln/>
        </p:spPr>
        <p:txBody>
          <a:bodyPr wrap="square" lIns="0" tIns="0" rIns="0" bIns="0" rtlCol="0" anchor="ctr">
            <a:normAutofit fontScale="92500"/>
          </a:bodyPr>
          <a:lstStyle/>
          <a:p>
            <a:r>
              <a:rPr sz="1350" b="0">
                <a:solidFill>
                  <a:srgbClr val="374151"/>
                </a:solidFill>
                <a:latin typeface="Aptos"/>
              </a:rPr>
              <a:t>Use these points to transition from platform foundations into resource, model, identity, and cost decisions.</a:t>
            </a:r>
          </a:p>
        </p:txBody>
      </p:sp>
      <p:sp>
        <p:nvSpPr>
          <p:cNvPr id="7" name="Shape 5"/>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pPr>
            <a:endParaRPr lang="en-US"/>
          </a:p>
        </p:txBody>
      </p:sp>
      <p:sp>
        <p:nvSpPr>
          <p:cNvPr id="8" name="Text 6"/>
          <p:cNvSpPr/>
          <p:nvPr/>
        </p:nvSpPr>
        <p:spPr>
          <a:xfrm>
            <a:off x="850392" y="1965960"/>
            <a:ext cx="2194560" cy="228600"/>
          </a:xfrm>
          <a:prstGeom prst="rect">
            <a:avLst/>
          </a:prstGeom>
          <a:noFill/>
          <a:ln/>
        </p:spPr>
        <p:txBody>
          <a:bodyPr wrap="square" lIns="64008" tIns="27432" rIns="64008" bIns="27432" rtlCol="0" anchor="ctr"/>
          <a:lstStyle/>
          <a:p>
            <a:pPr>
              <a:lnSpc>
                <a:spcPct val="100000"/>
              </a:lnSpc>
            </a:pPr>
            <a:r>
              <a:rPr sz="1340" b="1">
                <a:solidFill>
                  <a:srgbClr val="253040"/>
                </a:solidFill>
                <a:latin typeface="Aptos"/>
              </a:rPr>
              <a:t>Takeaway 1</a:t>
            </a:r>
          </a:p>
        </p:txBody>
      </p:sp>
      <p:sp>
        <p:nvSpPr>
          <p:cNvPr id="9" name="Text 7"/>
          <p:cNvSpPr/>
          <p:nvPr/>
        </p:nvSpPr>
        <p:spPr>
          <a:xfrm>
            <a:off x="850392" y="2286000"/>
            <a:ext cx="2240280" cy="640080"/>
          </a:xfrm>
          <a:prstGeom prst="rect">
            <a:avLst/>
          </a:prstGeom>
          <a:noFill/>
          <a:ln/>
        </p:spPr>
        <p:txBody>
          <a:bodyPr wrap="square" lIns="64008" tIns="27432" rIns="64008" bIns="27432" rtlCol="0" anchor="ctr">
            <a:normAutofit/>
          </a:bodyPr>
          <a:lstStyle/>
          <a:p>
            <a:pPr>
              <a:lnSpc>
                <a:spcPct val="92000"/>
              </a:lnSpc>
            </a:pPr>
            <a:r>
              <a:rPr sz="1200" b="0" dirty="0">
                <a:solidFill>
                  <a:srgbClr val="253040"/>
                </a:solidFill>
                <a:latin typeface="Aptos"/>
              </a:rPr>
              <a:t>Microsoft Foundry is the current</a:t>
            </a:r>
          </a:p>
          <a:p>
            <a:pPr>
              <a:lnSpc>
                <a:spcPct val="92000"/>
              </a:lnSpc>
            </a:pPr>
            <a:r>
              <a:rPr sz="1200" b="0" dirty="0">
                <a:solidFill>
                  <a:srgbClr val="253040"/>
                </a:solidFill>
                <a:latin typeface="Aptos"/>
              </a:rPr>
              <a:t>platform identity.</a:t>
            </a:r>
          </a:p>
        </p:txBody>
      </p:sp>
      <p:sp>
        <p:nvSpPr>
          <p:cNvPr id="10" name="Shape 8"/>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rPr>
              <a:t>i</a:t>
            </a:r>
            <a:endParaRPr lang="en-US"/>
          </a:p>
        </p:txBody>
      </p:sp>
      <p:sp>
        <p:nvSpPr>
          <p:cNvPr id="11" name="Text 9"/>
          <p:cNvSpPr/>
          <p:nvPr/>
        </p:nvSpPr>
        <p:spPr>
          <a:xfrm>
            <a:off x="3867912" y="1965960"/>
            <a:ext cx="2194560" cy="228600"/>
          </a:xfrm>
          <a:prstGeom prst="rect">
            <a:avLst/>
          </a:prstGeom>
          <a:noFill/>
          <a:ln/>
        </p:spPr>
        <p:txBody>
          <a:bodyPr wrap="square" lIns="64008" tIns="27432" rIns="64008" bIns="27432" rtlCol="0" anchor="ctr"/>
          <a:lstStyle/>
          <a:p>
            <a:pPr>
              <a:lnSpc>
                <a:spcPct val="100000"/>
              </a:lnSpc>
            </a:pPr>
            <a:r>
              <a:rPr sz="1340" b="1">
                <a:solidFill>
                  <a:srgbClr val="253040"/>
                </a:solidFill>
                <a:latin typeface="Aptos"/>
              </a:rPr>
              <a:t>Takeaway 2</a:t>
            </a:r>
          </a:p>
        </p:txBody>
      </p:sp>
      <p:sp>
        <p:nvSpPr>
          <p:cNvPr id="12" name="Text 10"/>
          <p:cNvSpPr/>
          <p:nvPr/>
        </p:nvSpPr>
        <p:spPr>
          <a:xfrm>
            <a:off x="3867912" y="2286000"/>
            <a:ext cx="2362620" cy="640080"/>
          </a:xfrm>
          <a:prstGeom prst="rect">
            <a:avLst/>
          </a:prstGeom>
          <a:noFill/>
          <a:ln/>
        </p:spPr>
        <p:txBody>
          <a:bodyPr wrap="square" lIns="64008" tIns="27432" rIns="64008" bIns="27432" rtlCol="0" anchor="ctr">
            <a:noAutofit/>
          </a:bodyPr>
          <a:lstStyle/>
          <a:p>
            <a:pPr>
              <a:lnSpc>
                <a:spcPct val="92000"/>
              </a:lnSpc>
            </a:pPr>
            <a:r>
              <a:rPr sz="1100" b="0" dirty="0">
                <a:solidFill>
                  <a:srgbClr val="253040"/>
                </a:solidFill>
                <a:latin typeface="Aptos"/>
              </a:rPr>
              <a:t>Use the current Foundry portal by default;</a:t>
            </a:r>
          </a:p>
          <a:p>
            <a:pPr>
              <a:lnSpc>
                <a:spcPct val="92000"/>
              </a:lnSpc>
            </a:pPr>
            <a:r>
              <a:rPr lang="en-US" sz="1100" b="0" dirty="0">
                <a:solidFill>
                  <a:srgbClr val="253040"/>
                </a:solidFill>
                <a:latin typeface="Aptos"/>
              </a:rPr>
              <a:t>Use</a:t>
            </a:r>
            <a:r>
              <a:rPr sz="1100" b="0" dirty="0">
                <a:solidFill>
                  <a:srgbClr val="253040"/>
                </a:solidFill>
                <a:latin typeface="Aptos"/>
              </a:rPr>
              <a:t> Classic only for legacy context.</a:t>
            </a:r>
          </a:p>
        </p:txBody>
      </p:sp>
      <p:sp>
        <p:nvSpPr>
          <p:cNvPr id="13" name="Shape 1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lang="en-US"/>
          </a:p>
        </p:txBody>
      </p:sp>
      <p:sp>
        <p:nvSpPr>
          <p:cNvPr id="14" name="Text 12"/>
          <p:cNvSpPr/>
          <p:nvPr/>
        </p:nvSpPr>
        <p:spPr>
          <a:xfrm>
            <a:off x="850392" y="3474720"/>
            <a:ext cx="2194560" cy="228600"/>
          </a:xfrm>
          <a:prstGeom prst="rect">
            <a:avLst/>
          </a:prstGeom>
          <a:noFill/>
          <a:ln/>
        </p:spPr>
        <p:txBody>
          <a:bodyPr wrap="square" lIns="64008" tIns="27432" rIns="64008" bIns="27432" rtlCol="0" anchor="ctr"/>
          <a:lstStyle/>
          <a:p>
            <a:pPr>
              <a:lnSpc>
                <a:spcPct val="100000"/>
              </a:lnSpc>
            </a:pPr>
            <a:r>
              <a:rPr sz="1340" b="1">
                <a:solidFill>
                  <a:srgbClr val="253040"/>
                </a:solidFill>
                <a:latin typeface="Aptos"/>
              </a:rPr>
              <a:t>Takeaway 3</a:t>
            </a:r>
          </a:p>
        </p:txBody>
      </p:sp>
      <p:sp>
        <p:nvSpPr>
          <p:cNvPr id="15" name="Text 13"/>
          <p:cNvSpPr/>
          <p:nvPr/>
        </p:nvSpPr>
        <p:spPr>
          <a:xfrm>
            <a:off x="850392" y="3794760"/>
            <a:ext cx="2240280" cy="640080"/>
          </a:xfrm>
          <a:prstGeom prst="rect">
            <a:avLst/>
          </a:prstGeom>
          <a:noFill/>
          <a:ln/>
        </p:spPr>
        <p:txBody>
          <a:bodyPr wrap="square" lIns="64008" tIns="27432" rIns="64008" bIns="27432" rtlCol="0" anchor="ctr">
            <a:normAutofit/>
          </a:bodyPr>
          <a:lstStyle/>
          <a:p>
            <a:pPr>
              <a:lnSpc>
                <a:spcPct val="92000"/>
              </a:lnSpc>
            </a:pPr>
            <a:r>
              <a:rPr sz="1100" b="0" dirty="0">
                <a:solidFill>
                  <a:srgbClr val="253040"/>
                </a:solidFill>
                <a:latin typeface="Aptos"/>
              </a:rPr>
              <a:t>Projects organize deployments, agents,</a:t>
            </a:r>
            <a:r>
              <a:rPr lang="en-US" sz="1100" b="0" dirty="0">
                <a:solidFill>
                  <a:srgbClr val="253040"/>
                </a:solidFill>
                <a:latin typeface="Aptos"/>
              </a:rPr>
              <a:t> </a:t>
            </a:r>
            <a:r>
              <a:rPr sz="1100" b="0" dirty="0">
                <a:solidFill>
                  <a:srgbClr val="253040"/>
                </a:solidFill>
                <a:latin typeface="Aptos"/>
              </a:rPr>
              <a:t>knowledge, tools, and evaluations.</a:t>
            </a:r>
          </a:p>
        </p:txBody>
      </p:sp>
      <p:sp>
        <p:nvSpPr>
          <p:cNvPr id="16" name="Shape 14"/>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lang="en-US"/>
          </a:p>
        </p:txBody>
      </p:sp>
      <p:sp>
        <p:nvSpPr>
          <p:cNvPr id="17" name="Text 15"/>
          <p:cNvSpPr/>
          <p:nvPr/>
        </p:nvSpPr>
        <p:spPr>
          <a:xfrm>
            <a:off x="3867912" y="3474720"/>
            <a:ext cx="2194560" cy="228600"/>
          </a:xfrm>
          <a:prstGeom prst="rect">
            <a:avLst/>
          </a:prstGeom>
          <a:noFill/>
          <a:ln/>
        </p:spPr>
        <p:txBody>
          <a:bodyPr wrap="square" lIns="64008" tIns="27432" rIns="64008" bIns="27432" rtlCol="0" anchor="ctr"/>
          <a:lstStyle/>
          <a:p>
            <a:pPr>
              <a:lnSpc>
                <a:spcPct val="100000"/>
              </a:lnSpc>
            </a:pPr>
            <a:r>
              <a:rPr sz="1340" b="1">
                <a:solidFill>
                  <a:srgbClr val="253040"/>
                </a:solidFill>
                <a:latin typeface="Aptos"/>
              </a:rPr>
              <a:t>Takeaway 4</a:t>
            </a:r>
          </a:p>
        </p:txBody>
      </p:sp>
      <p:sp>
        <p:nvSpPr>
          <p:cNvPr id="18" name="Text 16"/>
          <p:cNvSpPr/>
          <p:nvPr/>
        </p:nvSpPr>
        <p:spPr>
          <a:xfrm>
            <a:off x="3867912" y="3794760"/>
            <a:ext cx="2240280" cy="640080"/>
          </a:xfrm>
          <a:prstGeom prst="rect">
            <a:avLst/>
          </a:prstGeom>
          <a:noFill/>
          <a:ln/>
        </p:spPr>
        <p:txBody>
          <a:bodyPr wrap="square" lIns="64008" tIns="27432" rIns="64008" bIns="27432" rtlCol="0" anchor="ctr">
            <a:normAutofit/>
          </a:bodyPr>
          <a:lstStyle/>
          <a:p>
            <a:pPr>
              <a:lnSpc>
                <a:spcPct val="92000"/>
              </a:lnSpc>
            </a:pPr>
            <a:r>
              <a:rPr sz="1200" b="0" dirty="0">
                <a:solidFill>
                  <a:srgbClr val="253040"/>
                </a:solidFill>
                <a:latin typeface="Aptos"/>
              </a:rPr>
              <a:t>Agents follow a lifecycle:</a:t>
            </a:r>
          </a:p>
          <a:p>
            <a:pPr>
              <a:lnSpc>
                <a:spcPct val="92000"/>
              </a:lnSpc>
            </a:pPr>
            <a:r>
              <a:rPr sz="1200" b="0" dirty="0">
                <a:solidFill>
                  <a:srgbClr val="253040"/>
                </a:solidFill>
                <a:latin typeface="Aptos"/>
              </a:rPr>
              <a:t>discover, build, test, publish,</a:t>
            </a:r>
            <a:r>
              <a:rPr lang="en-US" sz="1200" b="0" dirty="0">
                <a:solidFill>
                  <a:srgbClr val="253040"/>
                </a:solidFill>
                <a:latin typeface="Aptos"/>
              </a:rPr>
              <a:t> </a:t>
            </a:r>
            <a:r>
              <a:rPr sz="1200" b="0" dirty="0">
                <a:solidFill>
                  <a:srgbClr val="253040"/>
                </a:solidFill>
                <a:latin typeface="Aptos"/>
              </a:rPr>
              <a:t>observe, and govern.</a:t>
            </a:r>
          </a:p>
        </p:txBody>
      </p:sp>
      <p:sp>
        <p:nvSpPr>
          <p:cNvPr id="19" name="Shape 17"/>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lang="en-US"/>
          </a:p>
        </p:txBody>
      </p:sp>
      <p:sp>
        <p:nvSpPr>
          <p:cNvPr id="20" name="Text 18"/>
          <p:cNvSpPr/>
          <p:nvPr/>
        </p:nvSpPr>
        <p:spPr>
          <a:xfrm>
            <a:off x="7383780" y="2985358"/>
            <a:ext cx="2697480" cy="384048"/>
          </a:xfrm>
          <a:prstGeom prst="rect">
            <a:avLst/>
          </a:prstGeom>
          <a:noFill/>
          <a:ln/>
        </p:spPr>
        <p:txBody>
          <a:bodyPr wrap="square" lIns="64008" tIns="27432" rIns="64008" bIns="27432" rtlCol="0" anchor="ctr">
            <a:noAutofit/>
          </a:bodyPr>
          <a:lstStyle/>
          <a:p>
            <a:pPr algn="ctr">
              <a:lnSpc>
                <a:spcPct val="90000"/>
              </a:lnSpc>
            </a:pPr>
            <a:r>
              <a:rPr sz="1600" b="1" dirty="0">
                <a:solidFill>
                  <a:schemeClr val="bg1"/>
                </a:solidFill>
                <a:latin typeface="Aptos"/>
              </a:rPr>
              <a:t>Next: Resources, models,</a:t>
            </a:r>
          </a:p>
          <a:p>
            <a:pPr algn="ctr">
              <a:lnSpc>
                <a:spcPct val="90000"/>
              </a:lnSpc>
            </a:pPr>
            <a:r>
              <a:rPr sz="1600" b="1" dirty="0">
                <a:solidFill>
                  <a:schemeClr val="bg1"/>
                </a:solidFill>
                <a:latin typeface="Aptos"/>
              </a:rPr>
              <a:t>identity, quota, and cost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7779</TotalTime>
  <Words>2871</Words>
  <Application>Microsoft Office PowerPoint</Application>
  <PresentationFormat>Widescreen</PresentationFormat>
  <Paragraphs>211</Paragraphs>
  <Slides>15</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Aptos Display</vt:lpstr>
      <vt:lpstr>Arial</vt:lpstr>
      <vt:lpstr>Barlow Light</vt:lpstr>
      <vt:lpstr>Raleway</vt:lpstr>
      <vt:lpstr>Raleway Thin</vt:lpstr>
      <vt:lpstr>Office Theme</vt:lpstr>
      <vt:lpstr>Gaoler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Trevoir Williams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Code Review: Find Bugs, Debt, and Security Risks</dc:title>
  <dc:subject>AI-Powered Code Review: Find Bugs, Debt, and Security Risks</dc:subject>
  <dc:creator>Trevoir Williams</dc:creator>
  <cp:lastModifiedBy>Trevoir Williams</cp:lastModifiedBy>
  <cp:revision>2</cp:revision>
  <dcterms:created xsi:type="dcterms:W3CDTF">2026-06-13T03:00:22Z</dcterms:created>
  <dcterms:modified xsi:type="dcterms:W3CDTF">2026-07-13T17:24:15Z</dcterms:modified>
</cp:coreProperties>
</file>