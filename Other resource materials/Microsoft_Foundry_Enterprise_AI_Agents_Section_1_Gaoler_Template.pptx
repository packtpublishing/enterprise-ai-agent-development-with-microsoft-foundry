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course by framing Microsoft Foundry as an enterprise platform, not a model playground. The key message is that useful prototypes are easy to create, but enterprise agents need identity, grounding, tools, evaluation, observability, and governance. Do not spend time on implementation details here. The goal is to anchor the learner in the operational reality that every later section will build toward. Reference Microsoft Learn: What is Microsoft Foundry, which describes Foundry as a unified platform for agents, models, and tools with enterprise-readiness capabilities including tracing, monitoring, evaluations, RBAC, networking,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briefly and make the course posture clear. The learner should know that this is not a framework coding course. The perspective is enterprise architecture and operations: what should exist before a platform team, security team, or business owner can trust an agent? Mention that demos are used to clarify the architecture, not to memorize every temporary UI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as a capability the learner will be able to use in a review or implementation planning conversation. Keep the wording learner-friendly. Emphasize that the course has hands-on labs, but those labs focus on configuration, validation, and governance rather than application coding. Reference Microsoft Learn: Microsoft Foundry unifies agents, models, and tools under a management grouping with tracing, monitoring, evaluations, RBAC, networking,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course scenario concrete. The enterprise is not trying to build one impressive chatbot. It is trying to create a repeatable operating model for agents that can be grounded, connected to tools, evaluated, monitored, and governed. Tie each stakeholder group to a platform requirement: business teams need grounded answers, security needs identity and controls, cloud teams need repeatable boundaries, operations needs telemetry, and leaders need readiness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learning style before learners encounter the first demonstration. Short lessons may be theory-led, hybrid, or lab-oriented. The important message is that demos are purposeful: they prove an architecture or governance point. Mention that if Microsoft changes labels or moves a page, the learner should still understand the underlying model. This supports the course's long-term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clean transition into Section 1. Do not double the section label. This slide should feel like the Gaoler template transition slide: simple, spacious, and focused on the section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core teaching slide. Use Microsoft Learn's current description: Microsoft Foundry unifies agents, models, and tools under a single management grouping, and supports enterprise readiness through tracing, monitoring, evaluations, RBAC, networking, and policies. Explain this in student-friendly language: Foundry is where the enterprise organizes the AI system, not just where it tries a model. Keep this high level; detailed resource and role mechanics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learners up the stack from the bottom. The point is not that every organization uses the exact same implementation for every layer; the point is that every production agent needs decisions in these categories. This also prepares learners for the later sections of the course: resources and identity, Agent Service, Foundry IQ, tools, A2A, LLMOps, and governance. Reference Microsoft Learn architecture content: Foundry resources contain model deployments, security settings, connections, and projects; connected Azure services remain governed resources in their own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concise roadmap without turning it into a separate roadmapped lesson. The sequence is practical: provision the platform boundary, build the agent, ground it, connect tools, operate it, and govern the fleet. For short lectures, explain that some will be slide-led and some will include a targeted portal demonstration. The student should always know what the demonstration is 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an important learner expectation: a six-to-eight-minute lecture does not mean only theory. Many short lessons are hybrid. Explain the pattern very clearly: show the concept, switch to the portal to prove a narrow point, then return to the decision rule. Also emphasize that minimal command usage in the A2A section exists because the current path is not purely portal-only. This keeps the course honest without becoming a coding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environment slowly enough that learners can recognize the required context. Show tenant, subscription, Foundry portal, project selector, and lab assets. Explain that regional model availability and quota can vary, so a lab may use a different model than the recording. Do not install developer SDKs or create code projects in this lesson. Reference Microsoft Learn: Foundry playgrounds are for rapid prototyping, API exploration, and technical validation before committing production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practical readiness slide before the first lab. Explain that most lab confusion comes from the wrong tenant, missing permissions, unavailable regions, or insufficient quota. The checklist gives learners a repeatable starting point. Reinforce that evidence capture is part of a professional cloud workflow: names, validation results, and cleanup decisions should be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Section 1 by confirming the learner's mental model. The review should be concise and practical. Ask learners to summarize the course in one sentence: this is about building, grounding, connecting, evaluating, monitoring, and governing enterprise AI agents with Microsoft Foundry. Transition into Section 2 by explaining that the next step is vocabulary and platform architecture: current Foundry, Foundry Classic, and the major Foundry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a:t>
            </a:r>
            <a:endParaRPr lang="en-US" sz="700" dirty="0"/>
          </a:p>
        </p:txBody>
      </p:sp>
      <p:sp>
        <p:nvSpPr>
          <p:cNvPr id="5" name="Shape 3"/>
          <p:cNvSpPr/>
          <p:nvPr/>
        </p:nvSpPr>
        <p:spPr>
          <a:xfrm>
            <a:off x="0" y="2084832"/>
            <a:ext cx="658368" cy="658368"/>
          </a:xfrm>
          <a:prstGeom prst="chevron">
            <a:avLst/>
          </a:prstGeom>
          <a:solidFill>
            <a:srgbClr val="009FD3"/>
          </a:solidFill>
          <a:ln w="12700">
            <a:solidFill>
              <a:srgbClr val="009FD3"/>
            </a:solidFill>
            <a:prstDash val="solid"/>
          </a:ln>
        </p:spPr>
      </p:sp>
      <p:sp>
        <p:nvSpPr>
          <p:cNvPr id="6" name="Text 4"/>
          <p:cNvSpPr/>
          <p:nvPr/>
        </p:nvSpPr>
        <p:spPr>
          <a:xfrm>
            <a:off x="749808" y="1554480"/>
            <a:ext cx="3794760" cy="1298448"/>
          </a:xfrm>
          <a:prstGeom prst="rect">
            <a:avLst/>
          </a:prstGeom>
          <a:noFill/>
          <a:ln/>
        </p:spPr>
        <p:txBody>
          <a:bodyPr wrap="square" lIns="0" tIns="0" rIns="0" bIns="0" rtlCol="0" anchor="ctr">
            <a:normAutofit/>
          </a:bodyPr>
          <a:lstStyle/>
          <a:p>
            <a:pPr indent="0" marL="0">
              <a:buNone/>
            </a:pPr>
            <a:r>
              <a:rPr lang="en-US" sz="2600" dirty="0">
                <a:solidFill>
                  <a:srgbClr val="009FD3"/>
                </a:solidFill>
                <a:latin typeface="Raleway" pitchFamily="34" charset="0"/>
                <a:ea typeface="Raleway" pitchFamily="34" charset="-122"/>
                <a:cs typeface="Raleway" pitchFamily="34" charset="-120"/>
              </a:rPr>
              <a:t>MICROSOFT FOUNDRY</a:t>
            </a:r>
            <a:endParaRPr lang="en-US" sz="2600" dirty="0"/>
          </a:p>
          <a:p>
            <a:pPr indent="0" marL="0">
              <a:buNone/>
            </a:pPr>
            <a:r>
              <a:rPr lang="en-US" sz="2600" dirty="0">
                <a:solidFill>
                  <a:srgbClr val="009FD3"/>
                </a:solidFill>
                <a:latin typeface="Raleway" pitchFamily="34" charset="0"/>
                <a:ea typeface="Raleway" pitchFamily="34" charset="-122"/>
                <a:cs typeface="Raleway" pitchFamily="34" charset="-120"/>
              </a:rPr>
              <a:t>FOR ENTERPRISE</a:t>
            </a:r>
            <a:endParaRPr lang="en-US" sz="2600" dirty="0"/>
          </a:p>
          <a:p>
            <a:pPr indent="0" marL="0">
              <a:buNone/>
            </a:pPr>
            <a:r>
              <a:rPr lang="en-US" sz="2600" dirty="0">
                <a:solidFill>
                  <a:srgbClr val="009FD3"/>
                </a:solidFill>
                <a:latin typeface="Raleway" pitchFamily="34" charset="0"/>
                <a:ea typeface="Raleway" pitchFamily="34" charset="-122"/>
                <a:cs typeface="Raleway" pitchFamily="34" charset="-120"/>
              </a:rPr>
              <a:t>AI AGENTS</a:t>
            </a:r>
            <a:endParaRPr lang="en-US" sz="2600" dirty="0"/>
          </a:p>
        </p:txBody>
      </p:sp>
      <p:sp>
        <p:nvSpPr>
          <p:cNvPr id="7" name="Text 5"/>
          <p:cNvSpPr/>
          <p:nvPr/>
        </p:nvSpPr>
        <p:spPr>
          <a:xfrm>
            <a:off x="777240" y="2971800"/>
            <a:ext cx="3931920" cy="548640"/>
          </a:xfrm>
          <a:prstGeom prst="rect">
            <a:avLst/>
          </a:prstGeom>
          <a:noFill/>
          <a:ln/>
        </p:spPr>
        <p:txBody>
          <a:bodyPr wrap="square" lIns="0" tIns="0" rIns="0" bIns="0" rtlCol="0" anchor="ctr">
            <a:normAutofit/>
          </a:bodyPr>
          <a:lstStyle/>
          <a:p>
            <a:pPr indent="0" marL="0">
              <a:buNone/>
            </a:pPr>
            <a:r>
              <a:rPr lang="en-US" sz="1300" dirty="0">
                <a:solidFill>
                  <a:srgbClr val="333B45"/>
                </a:solidFill>
                <a:latin typeface="Barlow" pitchFamily="34" charset="0"/>
                <a:ea typeface="Barlow" pitchFamily="34" charset="-122"/>
                <a:cs typeface="Barlow" pitchFamily="34" charset="-120"/>
              </a:rPr>
              <a:t>Build, ground, connect, evaluate, monitor, and govern enterprise AI agents with Microsoft Foundry.</a:t>
            </a:r>
            <a:endParaRPr lang="en-US" sz="1300" dirty="0"/>
          </a:p>
        </p:txBody>
      </p:sp>
      <p:sp>
        <p:nvSpPr>
          <p:cNvPr id="8" name="Text 6"/>
          <p:cNvSpPr/>
          <p:nvPr/>
        </p:nvSpPr>
        <p:spPr>
          <a:xfrm>
            <a:off x="777240" y="3703320"/>
            <a:ext cx="3063240" cy="228600"/>
          </a:xfrm>
          <a:prstGeom prst="rect">
            <a:avLst/>
          </a:prstGeom>
          <a:noFill/>
          <a:ln/>
        </p:spPr>
        <p:txBody>
          <a:bodyPr wrap="square" lIns="0" tIns="0" rIns="0" bIns="0" rtlCol="0" anchor="ctr"/>
          <a:lstStyle/>
          <a:p>
            <a:pPr indent="0" marL="0">
              <a:buNone/>
            </a:pPr>
            <a:r>
              <a:rPr lang="en-US" sz="1100" dirty="0">
                <a:solidFill>
                  <a:srgbClr val="65717D"/>
                </a:solidFill>
                <a:latin typeface="Barlow" pitchFamily="34" charset="0"/>
                <a:ea typeface="Barlow" pitchFamily="34" charset="-122"/>
                <a:cs typeface="Barlow" pitchFamily="34" charset="-120"/>
              </a:rPr>
              <a:t>Section 1 · Introduction</a:t>
            </a:r>
            <a:endParaRPr lang="en-US" sz="1100" dirty="0"/>
          </a:p>
        </p:txBody>
      </p:sp>
      <p:sp>
        <p:nvSpPr>
          <p:cNvPr id="9" name="Text 7"/>
          <p:cNvSpPr/>
          <p:nvPr/>
        </p:nvSpPr>
        <p:spPr>
          <a:xfrm>
            <a:off x="777240" y="4114800"/>
            <a:ext cx="3246120" cy="411480"/>
          </a:xfrm>
          <a:prstGeom prst="rect">
            <a:avLst/>
          </a:prstGeom>
          <a:noFill/>
          <a:ln/>
        </p:spPr>
        <p:txBody>
          <a:bodyPr wrap="square" lIns="0" tIns="0" rIns="0" bIns="0" rtlCol="0" anchor="ctr"/>
          <a:lstStyle/>
          <a:p>
            <a:pPr indent="0" marL="0">
              <a:buNone/>
            </a:pPr>
            <a:r>
              <a:rPr lang="en-US" sz="980" dirty="0">
                <a:solidFill>
                  <a:srgbClr val="65717D"/>
                </a:solidFill>
                <a:latin typeface="Barlow" pitchFamily="34" charset="0"/>
                <a:ea typeface="Barlow" pitchFamily="34" charset="-122"/>
                <a:cs typeface="Barlow" pitchFamily="34" charset="-120"/>
              </a:rPr>
              <a:t>Trevoir Williams</a:t>
            </a:r>
            <a:endParaRPr lang="en-US" sz="980" dirty="0"/>
          </a:p>
          <a:p>
            <a:pPr indent="0" marL="0">
              <a:buNone/>
            </a:pPr>
            <a:r>
              <a:rPr lang="en-US" sz="980" dirty="0">
                <a:solidFill>
                  <a:srgbClr val="65717D"/>
                </a:solidFill>
                <a:latin typeface="Barlow" pitchFamily="34" charset="0"/>
                <a:ea typeface="Barlow" pitchFamily="34" charset="-122"/>
                <a:cs typeface="Barlow" pitchFamily="34" charset="-120"/>
              </a:rPr>
              <a:t>Software Engineer | Microsoft Certified Trainer | Author</a:t>
            </a:r>
            <a:endParaRPr lang="en-US" sz="980" dirty="0"/>
          </a:p>
        </p:txBody>
      </p:sp>
      <p:pic>
        <p:nvPicPr>
          <p:cNvPr id="10" name="Image 0" descr="/mnt/data/gaoler_media/image1.jpg">    </p:cNvPr>
          <p:cNvPicPr>
            <a:picLocks noChangeAspect="1"/>
          </p:cNvPicPr>
          <p:nvPr/>
        </p:nvPicPr>
        <p:blipFill>
          <a:blip r:embed="rId1"/>
          <a:srcRect l="10775" r="10775" t="0" b="0"/>
          <a:stretch/>
        </p:blipFill>
        <p:spPr>
          <a:xfrm>
            <a:off x="5074920" y="960120"/>
            <a:ext cx="3337560" cy="2816352"/>
          </a:xfrm>
          <a:prstGeom prst="rect">
            <a:avLst/>
          </a:prstGeom>
        </p:spPr>
      </p:pic>
      <p:sp>
        <p:nvSpPr>
          <p:cNvPr id="11" name="Shape 8"/>
          <p:cNvSpPr/>
          <p:nvPr/>
        </p:nvSpPr>
        <p:spPr>
          <a:xfrm>
            <a:off x="5074920" y="960120"/>
            <a:ext cx="3337560" cy="2816352"/>
          </a:xfrm>
          <a:prstGeom prst="rect">
            <a:avLst/>
          </a:prstGeom>
          <a:solidFill>
            <a:srgbClr val="FFFFFF">
              <a:alpha val="0"/>
            </a:srgbClr>
          </a:solidFill>
          <a:ln w="15875">
            <a:solidFill>
              <a:srgbClr val="009FD3">
                <a:alpha val="7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2</a:t>
            </a:r>
            <a:endParaRPr lang="en-US" sz="700" dirty="0"/>
          </a:p>
        </p:txBody>
      </p:sp>
      <p:sp>
        <p:nvSpPr>
          <p:cNvPr id="5" name="Text 3"/>
          <p:cNvSpPr/>
          <p:nvPr/>
        </p:nvSpPr>
        <p:spPr>
          <a:xfrm>
            <a:off x="713232" y="777240"/>
            <a:ext cx="1828800" cy="320040"/>
          </a:xfrm>
          <a:prstGeom prst="rect">
            <a:avLst/>
          </a:prstGeom>
          <a:noFill/>
          <a:ln/>
        </p:spPr>
        <p:txBody>
          <a:bodyPr wrap="square" lIns="0" tIns="0" rIns="0" bIns="0" rtlCol="0" anchor="ctr"/>
          <a:lstStyle/>
          <a:p>
            <a:pPr indent="0" marL="0">
              <a:buNone/>
            </a:pPr>
            <a:r>
              <a:rPr lang="en-US" sz="2300" dirty="0">
                <a:solidFill>
                  <a:srgbClr val="009FD3"/>
                </a:solidFill>
                <a:latin typeface="Raleway" pitchFamily="34" charset="0"/>
                <a:ea typeface="Raleway" pitchFamily="34" charset="-122"/>
                <a:cs typeface="Raleway" pitchFamily="34" charset="-120"/>
              </a:rPr>
              <a:t>HELLO!</a:t>
            </a:r>
            <a:endParaRPr lang="en-US" sz="2300" dirty="0"/>
          </a:p>
        </p:txBody>
      </p:sp>
      <p:sp>
        <p:nvSpPr>
          <p:cNvPr id="6" name="Text 4"/>
          <p:cNvSpPr/>
          <p:nvPr/>
        </p:nvSpPr>
        <p:spPr>
          <a:xfrm>
            <a:off x="713232" y="1133856"/>
            <a:ext cx="3108960" cy="640080"/>
          </a:xfrm>
          <a:prstGeom prst="rect">
            <a:avLst/>
          </a:prstGeom>
          <a:noFill/>
          <a:ln/>
        </p:spPr>
        <p:txBody>
          <a:bodyPr wrap="square" lIns="0" tIns="0" rIns="0" bIns="0" rtlCol="0" anchor="ctr">
            <a:normAutofit/>
          </a:bodyPr>
          <a:lstStyle/>
          <a:p>
            <a:pPr indent="0" marL="0">
              <a:buNone/>
            </a:pPr>
            <a:r>
              <a:rPr lang="en-US" sz="2200" b="1" dirty="0">
                <a:solidFill>
                  <a:srgbClr val="009FD3"/>
                </a:solidFill>
                <a:latin typeface="Raleway" pitchFamily="34" charset="0"/>
                <a:ea typeface="Raleway" pitchFamily="34" charset="-122"/>
                <a:cs typeface="Raleway" pitchFamily="34" charset="-120"/>
              </a:rPr>
              <a:t>I am Trevoir</a:t>
            </a:r>
            <a:endParaRPr lang="en-US" sz="2200" dirty="0"/>
          </a:p>
          <a:p>
            <a:pPr indent="0" marL="0">
              <a:buNone/>
            </a:pPr>
            <a:r>
              <a:rPr lang="en-US" sz="2200" b="1" dirty="0">
                <a:solidFill>
                  <a:srgbClr val="009FD3"/>
                </a:solidFill>
                <a:latin typeface="Raleway" pitchFamily="34" charset="0"/>
                <a:ea typeface="Raleway" pitchFamily="34" charset="-122"/>
                <a:cs typeface="Raleway" pitchFamily="34" charset="-120"/>
              </a:rPr>
              <a:t>Williams</a:t>
            </a:r>
            <a:endParaRPr lang="en-US" sz="2200" dirty="0"/>
          </a:p>
        </p:txBody>
      </p:sp>
      <p:sp>
        <p:nvSpPr>
          <p:cNvPr id="7" name="Text 5"/>
          <p:cNvSpPr/>
          <p:nvPr/>
        </p:nvSpPr>
        <p:spPr>
          <a:xfrm>
            <a:off x="731520" y="1938528"/>
            <a:ext cx="3108960" cy="301752"/>
          </a:xfrm>
          <a:prstGeom prst="rect">
            <a:avLst/>
          </a:prstGeom>
          <a:noFill/>
          <a:ln/>
        </p:spPr>
        <p:txBody>
          <a:bodyPr wrap="square" lIns="0" tIns="0" rIns="0" bIns="0" rtlCol="0" anchor="ctr">
            <a:normAutofit/>
          </a:bodyPr>
          <a:lstStyle/>
          <a:p>
            <a:pPr indent="0" marL="0">
              <a:buNone/>
            </a:pPr>
            <a:r>
              <a:rPr lang="en-US" sz="1220" dirty="0">
                <a:solidFill>
                  <a:srgbClr val="333B45"/>
                </a:solidFill>
                <a:latin typeface="Barlow" pitchFamily="34" charset="0"/>
                <a:ea typeface="Barlow" pitchFamily="34" charset="-122"/>
                <a:cs typeface="Barlow" pitchFamily="34" charset="-120"/>
              </a:rPr>
              <a:t>Software Engineer | Author | Microsoft Certified Trainer</a:t>
            </a:r>
            <a:endParaRPr lang="en-US" sz="1220" dirty="0"/>
          </a:p>
        </p:txBody>
      </p:sp>
      <p:sp>
        <p:nvSpPr>
          <p:cNvPr id="8" name="Text 6"/>
          <p:cNvSpPr/>
          <p:nvPr/>
        </p:nvSpPr>
        <p:spPr>
          <a:xfrm>
            <a:off x="731520" y="2423160"/>
            <a:ext cx="3429000" cy="822960"/>
          </a:xfrm>
          <a:prstGeom prst="rect">
            <a:avLst/>
          </a:prstGeom>
          <a:noFill/>
          <a:ln/>
        </p:spPr>
        <p:txBody>
          <a:bodyPr wrap="square" lIns="0" tIns="0" rIns="0" bIns="0" rtlCol="0" anchor="ctr">
            <a:normAutofit/>
          </a:bodyPr>
          <a:lstStyle/>
          <a:p>
            <a:pPr indent="0" marL="0">
              <a:buNone/>
            </a:pPr>
            <a:r>
              <a:rPr lang="en-US" sz="1300" dirty="0">
                <a:solidFill>
                  <a:srgbClr val="333B45"/>
                </a:solidFill>
                <a:latin typeface="Barlow" pitchFamily="34" charset="0"/>
                <a:ea typeface="Barlow" pitchFamily="34" charset="-122"/>
                <a:cs typeface="Barlow" pitchFamily="34" charset="-120"/>
              </a:rPr>
              <a:t>This course is delivered from the perspective of a platform reviewer: how would an enterprise build, prove, and govern an AI agent before trusting it?</a:t>
            </a:r>
            <a:endParaRPr lang="en-US" sz="1300" dirty="0"/>
          </a:p>
        </p:txBody>
      </p:sp>
      <p:sp>
        <p:nvSpPr>
          <p:cNvPr id="9" name="Shape 7"/>
          <p:cNvSpPr/>
          <p:nvPr/>
        </p:nvSpPr>
        <p:spPr>
          <a:xfrm>
            <a:off x="731520" y="3529584"/>
            <a:ext cx="3474720" cy="804672"/>
          </a:xfrm>
          <a:prstGeom prst="rect">
            <a:avLst/>
          </a:prstGeom>
          <a:solidFill>
            <a:srgbClr val="FFFFFF"/>
          </a:solidFill>
          <a:ln w="9525">
            <a:solidFill>
              <a:srgbClr val="E8EEF2"/>
            </a:solidFill>
            <a:prstDash val="solid"/>
          </a:ln>
        </p:spPr>
      </p:sp>
      <p:sp>
        <p:nvSpPr>
          <p:cNvPr id="10" name="Shape 8"/>
          <p:cNvSpPr/>
          <p:nvPr/>
        </p:nvSpPr>
        <p:spPr>
          <a:xfrm>
            <a:off x="896112" y="3694176"/>
            <a:ext cx="283464" cy="283464"/>
          </a:xfrm>
          <a:prstGeom prst="ellipse">
            <a:avLst/>
          </a:prstGeom>
          <a:solidFill>
            <a:srgbClr val="009FD3"/>
          </a:solidFill>
          <a:ln w="12700">
            <a:solidFill>
              <a:srgbClr val="009FD3"/>
            </a:solidFill>
            <a:prstDash val="solid"/>
          </a:ln>
        </p:spPr>
      </p:sp>
      <p:sp>
        <p:nvSpPr>
          <p:cNvPr id="11" name="Text 9"/>
          <p:cNvSpPr/>
          <p:nvPr/>
        </p:nvSpPr>
        <p:spPr>
          <a:xfrm>
            <a:off x="896112" y="3703320"/>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12" name="Text 10"/>
          <p:cNvSpPr/>
          <p:nvPr/>
        </p:nvSpPr>
        <p:spPr>
          <a:xfrm>
            <a:off x="1261872" y="3666744"/>
            <a:ext cx="278892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Teaching stance</a:t>
            </a:r>
            <a:endParaRPr lang="en-US" sz="1250" dirty="0"/>
          </a:p>
        </p:txBody>
      </p:sp>
      <p:sp>
        <p:nvSpPr>
          <p:cNvPr id="13" name="Text 11"/>
          <p:cNvSpPr/>
          <p:nvPr/>
        </p:nvSpPr>
        <p:spPr>
          <a:xfrm>
            <a:off x="1261872" y="3986784"/>
            <a:ext cx="2761488" cy="219456"/>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Expect architecture decisions, portal demonstrations, lab validation, and production-readiness checks—not a software-development workshop.</a:t>
            </a:r>
            <a:endParaRPr lang="en-US" sz="1050" dirty="0"/>
          </a:p>
        </p:txBody>
      </p:sp>
      <p:sp>
        <p:nvSpPr>
          <p:cNvPr id="14" name="Shape 12"/>
          <p:cNvSpPr/>
          <p:nvPr/>
        </p:nvSpPr>
        <p:spPr>
          <a:xfrm>
            <a:off x="5532120" y="941832"/>
            <a:ext cx="2148840" cy="2148840"/>
          </a:xfrm>
          <a:prstGeom prst="ellipse">
            <a:avLst/>
          </a:prstGeom>
          <a:solidFill>
            <a:srgbClr val="009FD3">
              <a:alpha val="95000"/>
            </a:srgbClr>
          </a:solidFill>
          <a:ln w="12700">
            <a:solidFill>
              <a:srgbClr val="009FD3"/>
            </a:solidFill>
            <a:prstDash val="solid"/>
          </a:ln>
        </p:spPr>
      </p:sp>
      <p:sp>
        <p:nvSpPr>
          <p:cNvPr id="15" name="Shape 13"/>
          <p:cNvSpPr/>
          <p:nvPr/>
        </p:nvSpPr>
        <p:spPr>
          <a:xfrm>
            <a:off x="5852160" y="1261872"/>
            <a:ext cx="1508760" cy="1508760"/>
          </a:xfrm>
          <a:prstGeom prst="ellipse">
            <a:avLst/>
          </a:prstGeom>
          <a:solidFill>
            <a:srgbClr val="F4F7F9"/>
          </a:solidFill>
          <a:ln w="25400">
            <a:solidFill>
              <a:srgbClr val="FFFFFF"/>
            </a:solidFill>
            <a:prstDash val="solid"/>
          </a:ln>
        </p:spPr>
      </p:sp>
      <p:sp>
        <p:nvSpPr>
          <p:cNvPr id="16" name="Text 14"/>
          <p:cNvSpPr/>
          <p:nvPr/>
        </p:nvSpPr>
        <p:spPr>
          <a:xfrm>
            <a:off x="6108192" y="1719072"/>
            <a:ext cx="1005840" cy="310896"/>
          </a:xfrm>
          <a:prstGeom prst="rect">
            <a:avLst/>
          </a:prstGeom>
          <a:noFill/>
          <a:ln/>
        </p:spPr>
        <p:txBody>
          <a:bodyPr wrap="square" lIns="0" tIns="0" rIns="0" bIns="0" rtlCol="0" anchor="ctr"/>
          <a:lstStyle/>
          <a:p>
            <a:pPr algn="ctr" indent="0" marL="0">
              <a:buNone/>
            </a:pPr>
            <a:r>
              <a:rPr lang="en-US" sz="2200" b="1" dirty="0">
                <a:solidFill>
                  <a:srgbClr val="009FD3"/>
                </a:solidFill>
                <a:latin typeface="Raleway" pitchFamily="34" charset="0"/>
                <a:ea typeface="Raleway" pitchFamily="34" charset="-122"/>
                <a:cs typeface="Raleway" pitchFamily="34" charset="-120"/>
              </a:rPr>
              <a:t>MCT</a:t>
            </a:r>
            <a:endParaRPr lang="en-US" sz="2200" dirty="0"/>
          </a:p>
        </p:txBody>
      </p:sp>
      <p:sp>
        <p:nvSpPr>
          <p:cNvPr id="17" name="Text 15"/>
          <p:cNvSpPr/>
          <p:nvPr/>
        </p:nvSpPr>
        <p:spPr>
          <a:xfrm>
            <a:off x="5257800" y="3246120"/>
            <a:ext cx="2697480" cy="777240"/>
          </a:xfrm>
          <a:prstGeom prst="rect">
            <a:avLst/>
          </a:prstGeom>
          <a:noFill/>
          <a:ln/>
        </p:spPr>
        <p:txBody>
          <a:bodyPr wrap="square" lIns="0" tIns="0" rIns="0" bIns="0" rtlCol="0" anchor="ctr">
            <a:normAutofit/>
          </a:bodyPr>
          <a:lstStyle/>
          <a:p>
            <a:pPr algn="ctr" indent="0" marL="0">
              <a:buNone/>
            </a:pPr>
            <a:r>
              <a:rPr lang="en-US" sz="1500" dirty="0">
                <a:solidFill>
                  <a:srgbClr val="009FD3"/>
                </a:solidFill>
                <a:latin typeface="Raleway" pitchFamily="34" charset="0"/>
                <a:ea typeface="Raleway" pitchFamily="34" charset="-122"/>
                <a:cs typeface="Raleway" pitchFamily="34" charset="-120"/>
              </a:rPr>
              <a:t>Platform</a:t>
            </a:r>
            <a:endParaRPr lang="en-US" sz="1500" dirty="0"/>
          </a:p>
          <a:p>
            <a:pPr algn="ctr" indent="0" marL="0">
              <a:buNone/>
            </a:pPr>
            <a:r>
              <a:rPr lang="en-US" sz="1500" dirty="0">
                <a:solidFill>
                  <a:srgbClr val="009FD3"/>
                </a:solidFill>
                <a:latin typeface="Raleway" pitchFamily="34" charset="0"/>
                <a:ea typeface="Raleway" pitchFamily="34" charset="-122"/>
                <a:cs typeface="Raleway" pitchFamily="34" charset="-120"/>
              </a:rPr>
              <a:t>Architecture</a:t>
            </a:r>
            <a:endParaRPr lang="en-US" sz="1500" dirty="0"/>
          </a:p>
          <a:p>
            <a:pPr algn="ctr" indent="0" marL="0">
              <a:buNone/>
            </a:pPr>
            <a:r>
              <a:rPr lang="en-US" sz="1500" dirty="0">
                <a:solidFill>
                  <a:srgbClr val="009FD3"/>
                </a:solidFill>
                <a:latin typeface="Raleway" pitchFamily="34" charset="0"/>
                <a:ea typeface="Raleway" pitchFamily="34" charset="-122"/>
                <a:cs typeface="Raleway" pitchFamily="34" charset="-120"/>
              </a:rPr>
              <a:t>Operations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3</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Course objectives</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What learners should be able to explain, configure, and evaluate by the end.</a:t>
            </a:r>
            <a:endParaRPr lang="en-US" sz="1180" dirty="0"/>
          </a:p>
        </p:txBody>
      </p:sp>
      <p:sp>
        <p:nvSpPr>
          <p:cNvPr id="7" name="Text 5"/>
          <p:cNvSpPr/>
          <p:nvPr/>
        </p:nvSpPr>
        <p:spPr>
          <a:xfrm>
            <a:off x="713232" y="1664208"/>
            <a:ext cx="4983480" cy="2468880"/>
          </a:xfrm>
          <a:prstGeom prst="rect">
            <a:avLst/>
          </a:prstGeom>
          <a:noFill/>
          <a:ln/>
        </p:spPr>
        <p:txBody>
          <a:bodyPr wrap="square" lIns="0" tIns="0" rIns="0" bIns="0" rtlCol="0" anchor="t">
            <a:normAutofit/>
          </a:bodyPr>
          <a:lstStyle/>
          <a:p>
            <a:pPr indent="0" marL="0">
              <a:buNone/>
            </a:pPr>
            <a:r>
              <a:rPr lang="en-US" sz="1400" dirty="0">
                <a:solidFill>
                  <a:srgbClr val="333B45"/>
                </a:solidFill>
                <a:latin typeface="Barlow" pitchFamily="34" charset="0"/>
                <a:ea typeface="Barlow" pitchFamily="34" charset="-122"/>
                <a:cs typeface="Barlow" pitchFamily="34" charset="-120"/>
              </a:rPr>
              <a:t>▸ Explain the current Microsoft Foundry resource, project, and governance model.</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Provision a Foundry project and choose an enterprise-suitable model deployment.</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Create governed prompt agents with clear instructions, versions, and publishing controls.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Ground agents with Foundry IQ knowledge bases and citation-backed responses.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Connect approved tools, evaluate behavior, monitor operations, and review production readiness.</a:t>
            </a:r>
            <a:endParaRPr lang="en-US" sz="1400" dirty="0"/>
          </a:p>
        </p:txBody>
      </p:sp>
      <p:sp>
        <p:nvSpPr>
          <p:cNvPr id="8" name="Shape 6"/>
          <p:cNvSpPr/>
          <p:nvPr/>
        </p:nvSpPr>
        <p:spPr>
          <a:xfrm>
            <a:off x="6016752" y="1645920"/>
            <a:ext cx="2487168" cy="1371600"/>
          </a:xfrm>
          <a:prstGeom prst="rect">
            <a:avLst/>
          </a:prstGeom>
          <a:solidFill>
            <a:srgbClr val="FFFFFF"/>
          </a:solidFill>
          <a:ln w="9525">
            <a:solidFill>
              <a:srgbClr val="E8EEF2"/>
            </a:solidFill>
            <a:prstDash val="solid"/>
          </a:ln>
        </p:spPr>
      </p:sp>
      <p:sp>
        <p:nvSpPr>
          <p:cNvPr id="9" name="Shape 7"/>
          <p:cNvSpPr/>
          <p:nvPr/>
        </p:nvSpPr>
        <p:spPr>
          <a:xfrm>
            <a:off x="6181344" y="1810512"/>
            <a:ext cx="283464" cy="283464"/>
          </a:xfrm>
          <a:prstGeom prst="ellipse">
            <a:avLst/>
          </a:prstGeom>
          <a:solidFill>
            <a:srgbClr val="009FD3"/>
          </a:solidFill>
          <a:ln w="12700">
            <a:solidFill>
              <a:srgbClr val="009FD3"/>
            </a:solidFill>
            <a:prstDash val="solid"/>
          </a:ln>
        </p:spPr>
      </p:sp>
      <p:sp>
        <p:nvSpPr>
          <p:cNvPr id="10" name="Text 8"/>
          <p:cNvSpPr/>
          <p:nvPr/>
        </p:nvSpPr>
        <p:spPr>
          <a:xfrm>
            <a:off x="6181344" y="181965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11" name="Text 9"/>
          <p:cNvSpPr/>
          <p:nvPr/>
        </p:nvSpPr>
        <p:spPr>
          <a:xfrm>
            <a:off x="6547104" y="1783080"/>
            <a:ext cx="1801368"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Course outcome</a:t>
            </a:r>
            <a:endParaRPr lang="en-US" sz="1250" dirty="0"/>
          </a:p>
        </p:txBody>
      </p:sp>
      <p:sp>
        <p:nvSpPr>
          <p:cNvPr id="12" name="Text 10"/>
          <p:cNvSpPr/>
          <p:nvPr/>
        </p:nvSpPr>
        <p:spPr>
          <a:xfrm>
            <a:off x="6547104" y="2103120"/>
            <a:ext cx="1773936" cy="786384"/>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A practical platform architecture path for enterprise-grade AI agents, with labs that validate configuration and governance rather than application code.</a:t>
            </a:r>
            <a:endParaRPr lang="en-US" sz="1050" dirty="0"/>
          </a:p>
        </p:txBody>
      </p:sp>
      <p:sp>
        <p:nvSpPr>
          <p:cNvPr id="13" name="Shape 11"/>
          <p:cNvSpPr/>
          <p:nvPr/>
        </p:nvSpPr>
        <p:spPr>
          <a:xfrm>
            <a:off x="6016752" y="3246120"/>
            <a:ext cx="2487168" cy="868680"/>
          </a:xfrm>
          <a:prstGeom prst="rect">
            <a:avLst/>
          </a:prstGeom>
          <a:solidFill>
            <a:srgbClr val="FFFFFF"/>
          </a:solidFill>
          <a:ln w="9525">
            <a:solidFill>
              <a:srgbClr val="E8EEF2"/>
            </a:solidFill>
            <a:prstDash val="solid"/>
          </a:ln>
        </p:spPr>
      </p:sp>
      <p:sp>
        <p:nvSpPr>
          <p:cNvPr id="14" name="Shape 12"/>
          <p:cNvSpPr/>
          <p:nvPr/>
        </p:nvSpPr>
        <p:spPr>
          <a:xfrm>
            <a:off x="6181344" y="3410712"/>
            <a:ext cx="283464" cy="283464"/>
          </a:xfrm>
          <a:prstGeom prst="ellipse">
            <a:avLst/>
          </a:prstGeom>
          <a:solidFill>
            <a:srgbClr val="009FD3"/>
          </a:solidFill>
          <a:ln w="12700">
            <a:solidFill>
              <a:srgbClr val="009FD3"/>
            </a:solidFill>
            <a:prstDash val="solid"/>
          </a:ln>
        </p:spPr>
      </p:sp>
      <p:sp>
        <p:nvSpPr>
          <p:cNvPr id="15" name="Text 13"/>
          <p:cNvSpPr/>
          <p:nvPr/>
        </p:nvSpPr>
        <p:spPr>
          <a:xfrm>
            <a:off x="6181344" y="341985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16" name="Text 14"/>
          <p:cNvSpPr/>
          <p:nvPr/>
        </p:nvSpPr>
        <p:spPr>
          <a:xfrm>
            <a:off x="6547104" y="3383280"/>
            <a:ext cx="1801368"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Delivery style</a:t>
            </a:r>
            <a:endParaRPr lang="en-US" sz="1250" dirty="0"/>
          </a:p>
        </p:txBody>
      </p:sp>
      <p:sp>
        <p:nvSpPr>
          <p:cNvPr id="17" name="Text 15"/>
          <p:cNvSpPr/>
          <p:nvPr/>
        </p:nvSpPr>
        <p:spPr>
          <a:xfrm>
            <a:off x="6547104" y="3703320"/>
            <a:ext cx="1773936" cy="283464"/>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Short theory segments are often followed by a targeted portal demonstration or lab checkpoint.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4</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Enterprise scenario: Governed agent operations</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The course scenario follows an organization moving from isolated AI experiments to managed enterprise agents.</a:t>
            </a:r>
            <a:endParaRPr lang="en-US" sz="1180" dirty="0"/>
          </a:p>
        </p:txBody>
      </p:sp>
      <p:sp>
        <p:nvSpPr>
          <p:cNvPr id="7" name="Text 5"/>
          <p:cNvSpPr/>
          <p:nvPr/>
        </p:nvSpPr>
        <p:spPr>
          <a:xfrm>
            <a:off x="713232" y="1664208"/>
            <a:ext cx="5166360" cy="2286000"/>
          </a:xfrm>
          <a:prstGeom prst="rect">
            <a:avLst/>
          </a:prstGeom>
          <a:noFill/>
          <a:ln/>
        </p:spPr>
        <p:txBody>
          <a:bodyPr wrap="square" lIns="0" tIns="0" rIns="0" bIns="0" rtlCol="0" anchor="t">
            <a:normAutofit/>
          </a:bodyPr>
          <a:lstStyle/>
          <a:p>
            <a:pPr indent="0" marL="0">
              <a:buNone/>
            </a:pPr>
            <a:r>
              <a:rPr lang="en-US" sz="1400" dirty="0">
                <a:solidFill>
                  <a:srgbClr val="333B45"/>
                </a:solidFill>
                <a:latin typeface="Barlow" pitchFamily="34" charset="0"/>
                <a:ea typeface="Barlow" pitchFamily="34" charset="-122"/>
                <a:cs typeface="Barlow" pitchFamily="34" charset="-120"/>
              </a:rPr>
              <a:t>▸ Business teams need useful agents that answer from trusted enterprise knowledge.</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Security teams need identity, policy, auditability, and controlled tool access.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Cloud teams need repeatable resource, project, deployment, and cost boundaries.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Operations teams need monitoring, evaluation, incident response, and lifecycle control.</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Leaders need a production-readiness model before scaling agent usage.</a:t>
            </a:r>
            <a:endParaRPr lang="en-US" sz="1400" dirty="0"/>
          </a:p>
        </p:txBody>
      </p:sp>
      <p:sp>
        <p:nvSpPr>
          <p:cNvPr id="8" name="Shape 6"/>
          <p:cNvSpPr/>
          <p:nvPr/>
        </p:nvSpPr>
        <p:spPr>
          <a:xfrm>
            <a:off x="6172200" y="1417320"/>
            <a:ext cx="2148840" cy="347472"/>
          </a:xfrm>
          <a:prstGeom prst="roundRect">
            <a:avLst>
              <a:gd name="adj" fmla="val 15789"/>
            </a:avLst>
          </a:prstGeom>
          <a:solidFill>
            <a:srgbClr val="009FD3"/>
          </a:solidFill>
          <a:ln w="12700">
            <a:solidFill>
              <a:srgbClr val="009FD3"/>
            </a:solidFill>
            <a:prstDash val="solid"/>
          </a:ln>
        </p:spPr>
      </p:sp>
      <p:sp>
        <p:nvSpPr>
          <p:cNvPr id="9" name="Text 7"/>
          <p:cNvSpPr/>
          <p:nvPr/>
        </p:nvSpPr>
        <p:spPr>
          <a:xfrm>
            <a:off x="6281928" y="1499616"/>
            <a:ext cx="1929384" cy="155448"/>
          </a:xfrm>
          <a:prstGeom prst="rect">
            <a:avLst/>
          </a:prstGeom>
          <a:noFill/>
          <a:ln/>
        </p:spPr>
        <p:txBody>
          <a:bodyPr wrap="square" lIns="0" tIns="0" rIns="0" bIns="0" rtlCol="0" anchor="ctr"/>
          <a:lstStyle/>
          <a:p>
            <a:pPr algn="ctr" indent="0" marL="0">
              <a:buNone/>
            </a:pPr>
            <a:r>
              <a:rPr lang="en-US" sz="1040" b="1" dirty="0">
                <a:solidFill>
                  <a:srgbClr val="FFFFFF"/>
                </a:solidFill>
                <a:latin typeface="Barlow" pitchFamily="34" charset="0"/>
                <a:ea typeface="Barlow" pitchFamily="34" charset="-122"/>
                <a:cs typeface="Barlow" pitchFamily="34" charset="-120"/>
              </a:rPr>
              <a:t>Users</a:t>
            </a:r>
            <a:endParaRPr lang="en-US" sz="1040" dirty="0"/>
          </a:p>
        </p:txBody>
      </p:sp>
      <p:sp>
        <p:nvSpPr>
          <p:cNvPr id="10" name="Shape 8"/>
          <p:cNvSpPr/>
          <p:nvPr/>
        </p:nvSpPr>
        <p:spPr>
          <a:xfrm rot="5400000">
            <a:off x="7068312" y="1773936"/>
            <a:ext cx="256032" cy="164592"/>
          </a:xfrm>
          <a:prstGeom prst="chevron">
            <a:avLst/>
          </a:prstGeom>
          <a:solidFill>
            <a:srgbClr val="00B7D8"/>
          </a:solidFill>
          <a:ln w="12700">
            <a:solidFill>
              <a:srgbClr val="00B7D8"/>
            </a:solidFill>
            <a:prstDash val="solid"/>
          </a:ln>
        </p:spPr>
      </p:sp>
      <p:sp>
        <p:nvSpPr>
          <p:cNvPr id="11" name="Shape 9"/>
          <p:cNvSpPr/>
          <p:nvPr/>
        </p:nvSpPr>
        <p:spPr>
          <a:xfrm>
            <a:off x="6172200" y="1938528"/>
            <a:ext cx="2148840" cy="347472"/>
          </a:xfrm>
          <a:prstGeom prst="roundRect">
            <a:avLst>
              <a:gd name="adj" fmla="val 15789"/>
            </a:avLst>
          </a:prstGeom>
          <a:solidFill>
            <a:srgbClr val="074E76"/>
          </a:solidFill>
          <a:ln w="12700">
            <a:solidFill>
              <a:srgbClr val="074E76"/>
            </a:solidFill>
            <a:prstDash val="solid"/>
          </a:ln>
        </p:spPr>
      </p:sp>
      <p:sp>
        <p:nvSpPr>
          <p:cNvPr id="12" name="Text 10"/>
          <p:cNvSpPr/>
          <p:nvPr/>
        </p:nvSpPr>
        <p:spPr>
          <a:xfrm>
            <a:off x="6281928" y="2020824"/>
            <a:ext cx="1929384" cy="155448"/>
          </a:xfrm>
          <a:prstGeom prst="rect">
            <a:avLst/>
          </a:prstGeom>
          <a:noFill/>
          <a:ln/>
        </p:spPr>
        <p:txBody>
          <a:bodyPr wrap="square" lIns="0" tIns="0" rIns="0" bIns="0" rtlCol="0" anchor="ctr"/>
          <a:lstStyle/>
          <a:p>
            <a:pPr algn="ctr" indent="0" marL="0">
              <a:buNone/>
            </a:pPr>
            <a:r>
              <a:rPr lang="en-US" sz="1040" b="1" dirty="0">
                <a:solidFill>
                  <a:srgbClr val="FFFFFF"/>
                </a:solidFill>
                <a:latin typeface="Barlow" pitchFamily="34" charset="0"/>
                <a:ea typeface="Barlow" pitchFamily="34" charset="-122"/>
                <a:cs typeface="Barlow" pitchFamily="34" charset="-120"/>
              </a:rPr>
              <a:t>Agents</a:t>
            </a:r>
            <a:endParaRPr lang="en-US" sz="1040" dirty="0"/>
          </a:p>
        </p:txBody>
      </p:sp>
      <p:sp>
        <p:nvSpPr>
          <p:cNvPr id="13" name="Shape 11"/>
          <p:cNvSpPr/>
          <p:nvPr/>
        </p:nvSpPr>
        <p:spPr>
          <a:xfrm rot="5400000">
            <a:off x="7068312" y="2295144"/>
            <a:ext cx="256032" cy="164592"/>
          </a:xfrm>
          <a:prstGeom prst="chevron">
            <a:avLst/>
          </a:prstGeom>
          <a:solidFill>
            <a:srgbClr val="00B7D8"/>
          </a:solidFill>
          <a:ln w="12700">
            <a:solidFill>
              <a:srgbClr val="00B7D8"/>
            </a:solidFill>
            <a:prstDash val="solid"/>
          </a:ln>
        </p:spPr>
      </p:sp>
      <p:sp>
        <p:nvSpPr>
          <p:cNvPr id="14" name="Shape 12"/>
          <p:cNvSpPr/>
          <p:nvPr/>
        </p:nvSpPr>
        <p:spPr>
          <a:xfrm>
            <a:off x="6172200" y="2459736"/>
            <a:ext cx="2148840" cy="347472"/>
          </a:xfrm>
          <a:prstGeom prst="roundRect">
            <a:avLst>
              <a:gd name="adj" fmla="val 15789"/>
            </a:avLst>
          </a:prstGeom>
          <a:solidFill>
            <a:srgbClr val="009FD3"/>
          </a:solidFill>
          <a:ln w="12700">
            <a:solidFill>
              <a:srgbClr val="009FD3"/>
            </a:solidFill>
            <a:prstDash val="solid"/>
          </a:ln>
        </p:spPr>
      </p:sp>
      <p:sp>
        <p:nvSpPr>
          <p:cNvPr id="15" name="Text 13"/>
          <p:cNvSpPr/>
          <p:nvPr/>
        </p:nvSpPr>
        <p:spPr>
          <a:xfrm>
            <a:off x="6281928" y="2542032"/>
            <a:ext cx="1929384" cy="155448"/>
          </a:xfrm>
          <a:prstGeom prst="rect">
            <a:avLst/>
          </a:prstGeom>
          <a:noFill/>
          <a:ln/>
        </p:spPr>
        <p:txBody>
          <a:bodyPr wrap="square" lIns="0" tIns="0" rIns="0" bIns="0" rtlCol="0" anchor="ctr"/>
          <a:lstStyle/>
          <a:p>
            <a:pPr algn="ctr" indent="0" marL="0">
              <a:buNone/>
            </a:pPr>
            <a:r>
              <a:rPr lang="en-US" sz="1040" b="1" dirty="0">
                <a:solidFill>
                  <a:srgbClr val="FFFFFF"/>
                </a:solidFill>
                <a:latin typeface="Barlow" pitchFamily="34" charset="0"/>
                <a:ea typeface="Barlow" pitchFamily="34" charset="-122"/>
                <a:cs typeface="Barlow" pitchFamily="34" charset="-120"/>
              </a:rPr>
              <a:t>Knowledge + Tools</a:t>
            </a:r>
            <a:endParaRPr lang="en-US" sz="1040" dirty="0"/>
          </a:p>
        </p:txBody>
      </p:sp>
      <p:sp>
        <p:nvSpPr>
          <p:cNvPr id="16" name="Shape 14"/>
          <p:cNvSpPr/>
          <p:nvPr/>
        </p:nvSpPr>
        <p:spPr>
          <a:xfrm rot="5400000">
            <a:off x="7068312" y="2816352"/>
            <a:ext cx="256032" cy="164592"/>
          </a:xfrm>
          <a:prstGeom prst="chevron">
            <a:avLst/>
          </a:prstGeom>
          <a:solidFill>
            <a:srgbClr val="00B7D8"/>
          </a:solidFill>
          <a:ln w="12700">
            <a:solidFill>
              <a:srgbClr val="00B7D8"/>
            </a:solidFill>
            <a:prstDash val="solid"/>
          </a:ln>
        </p:spPr>
      </p:sp>
      <p:sp>
        <p:nvSpPr>
          <p:cNvPr id="17" name="Shape 15"/>
          <p:cNvSpPr/>
          <p:nvPr/>
        </p:nvSpPr>
        <p:spPr>
          <a:xfrm>
            <a:off x="6172200" y="2980944"/>
            <a:ext cx="2148840" cy="347472"/>
          </a:xfrm>
          <a:prstGeom prst="roundRect">
            <a:avLst>
              <a:gd name="adj" fmla="val 15789"/>
            </a:avLst>
          </a:prstGeom>
          <a:solidFill>
            <a:srgbClr val="074E76"/>
          </a:solidFill>
          <a:ln w="12700">
            <a:solidFill>
              <a:srgbClr val="074E76"/>
            </a:solidFill>
            <a:prstDash val="solid"/>
          </a:ln>
        </p:spPr>
      </p:sp>
      <p:sp>
        <p:nvSpPr>
          <p:cNvPr id="18" name="Text 16"/>
          <p:cNvSpPr/>
          <p:nvPr/>
        </p:nvSpPr>
        <p:spPr>
          <a:xfrm>
            <a:off x="6281928" y="3063240"/>
            <a:ext cx="1929384" cy="155448"/>
          </a:xfrm>
          <a:prstGeom prst="rect">
            <a:avLst/>
          </a:prstGeom>
          <a:noFill/>
          <a:ln/>
        </p:spPr>
        <p:txBody>
          <a:bodyPr wrap="square" lIns="0" tIns="0" rIns="0" bIns="0" rtlCol="0" anchor="ctr"/>
          <a:lstStyle/>
          <a:p>
            <a:pPr algn="ctr" indent="0" marL="0">
              <a:buNone/>
            </a:pPr>
            <a:r>
              <a:rPr lang="en-US" sz="1040" b="1" dirty="0">
                <a:solidFill>
                  <a:srgbClr val="FFFFFF"/>
                </a:solidFill>
                <a:latin typeface="Barlow" pitchFamily="34" charset="0"/>
                <a:ea typeface="Barlow" pitchFamily="34" charset="-122"/>
                <a:cs typeface="Barlow" pitchFamily="34" charset="-120"/>
              </a:rPr>
              <a:t>Evaluation + Monitoring</a:t>
            </a:r>
            <a:endParaRPr lang="en-US" sz="1040" dirty="0"/>
          </a:p>
        </p:txBody>
      </p:sp>
      <p:sp>
        <p:nvSpPr>
          <p:cNvPr id="19" name="Shape 17"/>
          <p:cNvSpPr/>
          <p:nvPr/>
        </p:nvSpPr>
        <p:spPr>
          <a:xfrm rot="5400000">
            <a:off x="7068312" y="3337560"/>
            <a:ext cx="256032" cy="164592"/>
          </a:xfrm>
          <a:prstGeom prst="chevron">
            <a:avLst/>
          </a:prstGeom>
          <a:solidFill>
            <a:srgbClr val="00B7D8"/>
          </a:solidFill>
          <a:ln w="12700">
            <a:solidFill>
              <a:srgbClr val="00B7D8"/>
            </a:solidFill>
            <a:prstDash val="solid"/>
          </a:ln>
        </p:spPr>
      </p:sp>
      <p:sp>
        <p:nvSpPr>
          <p:cNvPr id="20" name="Shape 18"/>
          <p:cNvSpPr/>
          <p:nvPr/>
        </p:nvSpPr>
        <p:spPr>
          <a:xfrm>
            <a:off x="6172200" y="3502152"/>
            <a:ext cx="2148840" cy="347472"/>
          </a:xfrm>
          <a:prstGeom prst="roundRect">
            <a:avLst>
              <a:gd name="adj" fmla="val 15789"/>
            </a:avLst>
          </a:prstGeom>
          <a:solidFill>
            <a:srgbClr val="009FD3"/>
          </a:solidFill>
          <a:ln w="12700">
            <a:solidFill>
              <a:srgbClr val="009FD3"/>
            </a:solidFill>
            <a:prstDash val="solid"/>
          </a:ln>
        </p:spPr>
      </p:sp>
      <p:sp>
        <p:nvSpPr>
          <p:cNvPr id="21" name="Text 19"/>
          <p:cNvSpPr/>
          <p:nvPr/>
        </p:nvSpPr>
        <p:spPr>
          <a:xfrm>
            <a:off x="6281928" y="3584448"/>
            <a:ext cx="1929384" cy="155448"/>
          </a:xfrm>
          <a:prstGeom prst="rect">
            <a:avLst/>
          </a:prstGeom>
          <a:noFill/>
          <a:ln/>
        </p:spPr>
        <p:txBody>
          <a:bodyPr wrap="square" lIns="0" tIns="0" rIns="0" bIns="0" rtlCol="0" anchor="ctr"/>
          <a:lstStyle/>
          <a:p>
            <a:pPr algn="ctr" indent="0" marL="0">
              <a:buNone/>
            </a:pPr>
            <a:r>
              <a:rPr lang="en-US" sz="1040" b="1" dirty="0">
                <a:solidFill>
                  <a:srgbClr val="FFFFFF"/>
                </a:solidFill>
                <a:latin typeface="Barlow" pitchFamily="34" charset="0"/>
                <a:ea typeface="Barlow" pitchFamily="34" charset="-122"/>
                <a:cs typeface="Barlow" pitchFamily="34" charset="-120"/>
              </a:rPr>
              <a:t>Governance</a:t>
            </a:r>
            <a:endParaRPr lang="en-US" sz="1040" dirty="0"/>
          </a:p>
        </p:txBody>
      </p:sp>
      <p:sp>
        <p:nvSpPr>
          <p:cNvPr id="22" name="Shape 20"/>
          <p:cNvSpPr/>
          <p:nvPr/>
        </p:nvSpPr>
        <p:spPr>
          <a:xfrm>
            <a:off x="5806440" y="4023360"/>
            <a:ext cx="2788920" cy="603504"/>
          </a:xfrm>
          <a:prstGeom prst="rect">
            <a:avLst/>
          </a:prstGeom>
          <a:solidFill>
            <a:srgbClr val="FFFFFF"/>
          </a:solidFill>
          <a:ln w="9525">
            <a:solidFill>
              <a:srgbClr val="E8EEF2"/>
            </a:solidFill>
            <a:prstDash val="solid"/>
          </a:ln>
        </p:spPr>
      </p:sp>
      <p:sp>
        <p:nvSpPr>
          <p:cNvPr id="23" name="Shape 21"/>
          <p:cNvSpPr/>
          <p:nvPr/>
        </p:nvSpPr>
        <p:spPr>
          <a:xfrm>
            <a:off x="5971032" y="4187952"/>
            <a:ext cx="283464" cy="283464"/>
          </a:xfrm>
          <a:prstGeom prst="ellipse">
            <a:avLst/>
          </a:prstGeom>
          <a:solidFill>
            <a:srgbClr val="009FD3"/>
          </a:solidFill>
          <a:ln w="12700">
            <a:solidFill>
              <a:srgbClr val="009FD3"/>
            </a:solidFill>
            <a:prstDash val="solid"/>
          </a:ln>
        </p:spPr>
      </p:sp>
      <p:sp>
        <p:nvSpPr>
          <p:cNvPr id="24" name="Text 22"/>
          <p:cNvSpPr/>
          <p:nvPr/>
        </p:nvSpPr>
        <p:spPr>
          <a:xfrm>
            <a:off x="5971032" y="419709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25" name="Text 23"/>
          <p:cNvSpPr/>
          <p:nvPr/>
        </p:nvSpPr>
        <p:spPr>
          <a:xfrm>
            <a:off x="6336792" y="4160520"/>
            <a:ext cx="210312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Scenario lens</a:t>
            </a:r>
            <a:endParaRPr lang="en-US" sz="1250" dirty="0"/>
          </a:p>
        </p:txBody>
      </p:sp>
      <p:sp>
        <p:nvSpPr>
          <p:cNvPr id="26" name="Text 24"/>
          <p:cNvSpPr/>
          <p:nvPr/>
        </p:nvSpPr>
        <p:spPr>
          <a:xfrm>
            <a:off x="6336792" y="4480560"/>
            <a:ext cx="2075688" cy="18288"/>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Every lesson returns to one question: can this agent be trusted, operated, and governed?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5</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How to approach this course</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The goal is practical platform confidence, not memorizing every portal screen.</a:t>
            </a:r>
            <a:endParaRPr lang="en-US" sz="1180" dirty="0"/>
          </a:p>
        </p:txBody>
      </p:sp>
      <p:sp>
        <p:nvSpPr>
          <p:cNvPr id="7" name="Text 5"/>
          <p:cNvSpPr/>
          <p:nvPr/>
        </p:nvSpPr>
        <p:spPr>
          <a:xfrm>
            <a:off x="713232" y="1664208"/>
            <a:ext cx="5257800" cy="2377440"/>
          </a:xfrm>
          <a:prstGeom prst="rect">
            <a:avLst/>
          </a:prstGeom>
          <a:noFill/>
          <a:ln/>
        </p:spPr>
        <p:txBody>
          <a:bodyPr wrap="square" lIns="0" tIns="0" rIns="0" bIns="0" rtlCol="0" anchor="t">
            <a:normAutofit/>
          </a:bodyPr>
          <a:lstStyle/>
          <a:p>
            <a:pPr indent="0" marL="0">
              <a:buNone/>
            </a:pPr>
            <a:r>
              <a:rPr lang="en-US" sz="1400" dirty="0">
                <a:solidFill>
                  <a:srgbClr val="333B45"/>
                </a:solidFill>
                <a:latin typeface="Barlow" pitchFamily="34" charset="0"/>
                <a:ea typeface="Barlow" pitchFamily="34" charset="-122"/>
                <a:cs typeface="Barlow" pitchFamily="34" charset="-120"/>
              </a:rPr>
              <a:t>▸ Treat Microsoft Learn as the source of truth for fast-moving product details.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Focus on architecture decisions, security boundaries, and operational readiness.</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Use demonstrations to see how concepts appear in the current portal experience.</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Expect preview features to be identified and handled carefully.</a:t>
            </a:r>
            <a:endParaRPr lang="en-US" sz="1400" dirty="0"/>
          </a:p>
          <a:p>
            <a:pPr indent="0" marL="0">
              <a:buNone/>
            </a:pPr>
            <a:r>
              <a:rPr lang="en-US" sz="1400" dirty="0">
                <a:solidFill>
                  <a:srgbClr val="333B45"/>
                </a:solidFill>
                <a:latin typeface="Barlow" pitchFamily="34" charset="0"/>
                <a:ea typeface="Barlow" pitchFamily="34" charset="-122"/>
                <a:cs typeface="Barlow" pitchFamily="34" charset="-120"/>
              </a:rPr>
              <a:t>▸ Use labs to practice configuration, validation, and governance checks.</a:t>
            </a:r>
            <a:endParaRPr lang="en-US" sz="1400" dirty="0"/>
          </a:p>
        </p:txBody>
      </p:sp>
      <p:sp>
        <p:nvSpPr>
          <p:cNvPr id="8" name="Shape 6"/>
          <p:cNvSpPr/>
          <p:nvPr/>
        </p:nvSpPr>
        <p:spPr>
          <a:xfrm>
            <a:off x="5989320" y="1645920"/>
            <a:ext cx="2560320" cy="1261872"/>
          </a:xfrm>
          <a:prstGeom prst="rect">
            <a:avLst/>
          </a:prstGeom>
          <a:solidFill>
            <a:srgbClr val="FFFFFF"/>
          </a:solidFill>
          <a:ln w="9525">
            <a:solidFill>
              <a:srgbClr val="E8EEF2"/>
            </a:solidFill>
            <a:prstDash val="solid"/>
          </a:ln>
        </p:spPr>
      </p:sp>
      <p:sp>
        <p:nvSpPr>
          <p:cNvPr id="9" name="Shape 7"/>
          <p:cNvSpPr/>
          <p:nvPr/>
        </p:nvSpPr>
        <p:spPr>
          <a:xfrm>
            <a:off x="6153912" y="1810512"/>
            <a:ext cx="283464" cy="283464"/>
          </a:xfrm>
          <a:prstGeom prst="ellipse">
            <a:avLst/>
          </a:prstGeom>
          <a:solidFill>
            <a:srgbClr val="009FD3"/>
          </a:solidFill>
          <a:ln w="12700">
            <a:solidFill>
              <a:srgbClr val="009FD3"/>
            </a:solidFill>
            <a:prstDash val="solid"/>
          </a:ln>
        </p:spPr>
      </p:sp>
      <p:sp>
        <p:nvSpPr>
          <p:cNvPr id="10" name="Text 8"/>
          <p:cNvSpPr/>
          <p:nvPr/>
        </p:nvSpPr>
        <p:spPr>
          <a:xfrm>
            <a:off x="6153912" y="181965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11" name="Text 9"/>
          <p:cNvSpPr/>
          <p:nvPr/>
        </p:nvSpPr>
        <p:spPr>
          <a:xfrm>
            <a:off x="6519672" y="1783080"/>
            <a:ext cx="187452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Learning posture</a:t>
            </a:r>
            <a:endParaRPr lang="en-US" sz="1250" dirty="0"/>
          </a:p>
        </p:txBody>
      </p:sp>
      <p:sp>
        <p:nvSpPr>
          <p:cNvPr id="12" name="Text 10"/>
          <p:cNvSpPr/>
          <p:nvPr/>
        </p:nvSpPr>
        <p:spPr>
          <a:xfrm>
            <a:off x="6519672" y="2103120"/>
            <a:ext cx="1847088" cy="676656"/>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Think like an enterprise reviewer: what is enabled, who can use it, what data can it reach, and how is it governed?</a:t>
            </a:r>
            <a:endParaRPr lang="en-US" sz="1050" dirty="0"/>
          </a:p>
        </p:txBody>
      </p:sp>
      <p:sp>
        <p:nvSpPr>
          <p:cNvPr id="13" name="Shape 11"/>
          <p:cNvSpPr/>
          <p:nvPr/>
        </p:nvSpPr>
        <p:spPr>
          <a:xfrm>
            <a:off x="5989320" y="3200400"/>
            <a:ext cx="2560320" cy="868680"/>
          </a:xfrm>
          <a:prstGeom prst="rect">
            <a:avLst/>
          </a:prstGeom>
          <a:solidFill>
            <a:srgbClr val="FFFFFF"/>
          </a:solidFill>
          <a:ln w="9525">
            <a:solidFill>
              <a:srgbClr val="E8EEF2"/>
            </a:solidFill>
            <a:prstDash val="solid"/>
          </a:ln>
        </p:spPr>
      </p:sp>
      <p:sp>
        <p:nvSpPr>
          <p:cNvPr id="14" name="Shape 12"/>
          <p:cNvSpPr/>
          <p:nvPr/>
        </p:nvSpPr>
        <p:spPr>
          <a:xfrm>
            <a:off x="6153912" y="3364992"/>
            <a:ext cx="283464" cy="283464"/>
          </a:xfrm>
          <a:prstGeom prst="ellipse">
            <a:avLst/>
          </a:prstGeom>
          <a:solidFill>
            <a:srgbClr val="009FD3"/>
          </a:solidFill>
          <a:ln w="12700">
            <a:solidFill>
              <a:srgbClr val="009FD3"/>
            </a:solidFill>
            <a:prstDash val="solid"/>
          </a:ln>
        </p:spPr>
      </p:sp>
      <p:sp>
        <p:nvSpPr>
          <p:cNvPr id="15" name="Text 13"/>
          <p:cNvSpPr/>
          <p:nvPr/>
        </p:nvSpPr>
        <p:spPr>
          <a:xfrm>
            <a:off x="6153912" y="337413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16" name="Text 14"/>
          <p:cNvSpPr/>
          <p:nvPr/>
        </p:nvSpPr>
        <p:spPr>
          <a:xfrm>
            <a:off x="6519672" y="3337560"/>
            <a:ext cx="187452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No coding focus</a:t>
            </a:r>
            <a:endParaRPr lang="en-US" sz="1250" dirty="0"/>
          </a:p>
        </p:txBody>
      </p:sp>
      <p:sp>
        <p:nvSpPr>
          <p:cNvPr id="17" name="Text 15"/>
          <p:cNvSpPr/>
          <p:nvPr/>
        </p:nvSpPr>
        <p:spPr>
          <a:xfrm>
            <a:off x="6519672" y="3657600"/>
            <a:ext cx="1847088" cy="283464"/>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A2A uses a supplied REST/PowerShell command only where a portal-only demonstration is not available.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2075688"/>
            <a:ext cx="475488" cy="713232"/>
          </a:xfrm>
          <a:prstGeom prst="triangle">
            <a:avLst/>
          </a:prstGeom>
          <a:solidFill>
            <a:srgbClr val="009FD3"/>
          </a:solidFill>
          <a:ln w="12700">
            <a:solidFill>
              <a:srgbClr val="009FD3"/>
            </a:solidFill>
            <a:prstDash val="solid"/>
          </a:ln>
        </p:spPr>
      </p:sp>
      <p:sp>
        <p:nvSpPr>
          <p:cNvPr id="3" name="Text 1"/>
          <p:cNvSpPr/>
          <p:nvPr/>
        </p:nvSpPr>
        <p:spPr>
          <a:xfrm>
            <a:off x="804672" y="1847088"/>
            <a:ext cx="1417320" cy="274320"/>
          </a:xfrm>
          <a:prstGeom prst="rect">
            <a:avLst/>
          </a:prstGeom>
          <a:noFill/>
          <a:ln/>
        </p:spPr>
        <p:txBody>
          <a:bodyPr wrap="square" lIns="0" tIns="0" rIns="0" bIns="0" rtlCol="0" anchor="ctr"/>
          <a:lstStyle/>
          <a:p>
            <a:pPr indent="0" marL="0">
              <a:buNone/>
            </a:pPr>
            <a:r>
              <a:rPr lang="en-US" sz="1400" dirty="0">
                <a:solidFill>
                  <a:srgbClr val="65717D"/>
                </a:solidFill>
                <a:latin typeface="Barlow" pitchFamily="34" charset="0"/>
                <a:ea typeface="Barlow" pitchFamily="34" charset="-122"/>
                <a:cs typeface="Barlow" pitchFamily="34" charset="-120"/>
              </a:rPr>
              <a:t>Section 1</a:t>
            </a:r>
            <a:endParaRPr lang="en-US" sz="1400" dirty="0"/>
          </a:p>
        </p:txBody>
      </p:sp>
      <p:sp>
        <p:nvSpPr>
          <p:cNvPr id="4" name="Text 2"/>
          <p:cNvSpPr/>
          <p:nvPr/>
        </p:nvSpPr>
        <p:spPr>
          <a:xfrm>
            <a:off x="786384" y="2148840"/>
            <a:ext cx="7086600" cy="512064"/>
          </a:xfrm>
          <a:prstGeom prst="rect">
            <a:avLst/>
          </a:prstGeom>
          <a:noFill/>
          <a:ln/>
        </p:spPr>
        <p:txBody>
          <a:bodyPr wrap="square" lIns="0" tIns="0" rIns="0" bIns="0" rtlCol="0" anchor="ctr">
            <a:normAutofit/>
          </a:bodyPr>
          <a:lstStyle/>
          <a:p>
            <a:pPr indent="0" marL="0">
              <a:buNone/>
            </a:pPr>
            <a:r>
              <a:rPr lang="en-US" sz="2700" dirty="0">
                <a:solidFill>
                  <a:srgbClr val="009FD3"/>
                </a:solidFill>
                <a:latin typeface="Raleway" pitchFamily="34" charset="0"/>
                <a:ea typeface="Raleway" pitchFamily="34" charset="-122"/>
                <a:cs typeface="Raleway" pitchFamily="34" charset="-120"/>
              </a:rPr>
              <a:t>Introduction</a:t>
            </a:r>
            <a:endParaRPr lang="en-US" sz="2700" dirty="0"/>
          </a:p>
        </p:txBody>
      </p:sp>
      <p:sp>
        <p:nvSpPr>
          <p:cNvPr id="5" name="Text 3"/>
          <p:cNvSpPr/>
          <p:nvPr/>
        </p:nvSpPr>
        <p:spPr>
          <a:xfrm>
            <a:off x="804672" y="2770632"/>
            <a:ext cx="6812280" cy="310896"/>
          </a:xfrm>
          <a:prstGeom prst="rect">
            <a:avLst/>
          </a:prstGeom>
          <a:noFill/>
          <a:ln/>
        </p:spPr>
        <p:txBody>
          <a:bodyPr wrap="square" lIns="0" tIns="0" rIns="0" bIns="0" rtlCol="0" anchor="ctr">
            <a:normAutofit/>
          </a:bodyPr>
          <a:lstStyle/>
          <a:p>
            <a:pPr indent="0" marL="0">
              <a:buNone/>
            </a:pPr>
            <a:r>
              <a:rPr lang="en-US" sz="1200" dirty="0">
                <a:solidFill>
                  <a:srgbClr val="333B45"/>
                </a:solidFill>
                <a:latin typeface="Barlow" pitchFamily="34" charset="0"/>
                <a:ea typeface="Barlow" pitchFamily="34" charset="-122"/>
                <a:cs typeface="Barlow" pitchFamily="34" charset="-120"/>
              </a:rPr>
              <a:t>Course purpose, enterprise scenario, demonstration model, and Azure workspace setup</a:t>
            </a:r>
            <a:endParaRPr lang="en-US" sz="1200" dirty="0"/>
          </a:p>
        </p:txBody>
      </p:sp>
      <p:sp>
        <p:nvSpPr>
          <p:cNvPr id="6" name="Shape 4"/>
          <p:cNvSpPr/>
          <p:nvPr/>
        </p:nvSpPr>
        <p:spPr>
          <a:xfrm>
            <a:off x="8924544" y="4892040"/>
            <a:ext cx="201168" cy="201168"/>
          </a:xfrm>
          <a:prstGeom prst="triangle">
            <a:avLst/>
          </a:prstGeom>
          <a:solidFill>
            <a:srgbClr val="00B7D8"/>
          </a:solidFill>
          <a:ln w="12700">
            <a:solidFill>
              <a:srgbClr val="00B7D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7</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Why Microsoft Foundry matters</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Enterprise agents need a managed platform, not scattered experiments.</a:t>
            </a:r>
            <a:endParaRPr lang="en-US" sz="1180" dirty="0"/>
          </a:p>
        </p:txBody>
      </p:sp>
      <p:sp>
        <p:nvSpPr>
          <p:cNvPr id="7" name="Text 5"/>
          <p:cNvSpPr/>
          <p:nvPr/>
        </p:nvSpPr>
        <p:spPr>
          <a:xfrm>
            <a:off x="713232" y="1554480"/>
            <a:ext cx="5230368" cy="2286000"/>
          </a:xfrm>
          <a:prstGeom prst="rect">
            <a:avLst/>
          </a:prstGeom>
          <a:noFill/>
          <a:ln/>
        </p:spPr>
        <p:txBody>
          <a:bodyPr wrap="square" lIns="0" tIns="0" rIns="0" bIns="0" rtlCol="0" anchor="t">
            <a:normAutofit/>
          </a:bodyPr>
          <a:lstStyle/>
          <a:p>
            <a:pPr indent="0" marL="0">
              <a:buNone/>
            </a:pPr>
            <a:r>
              <a:rPr lang="en-US" sz="1360" dirty="0">
                <a:solidFill>
                  <a:srgbClr val="333B45"/>
                </a:solidFill>
                <a:latin typeface="Barlow" pitchFamily="34" charset="0"/>
                <a:ea typeface="Barlow" pitchFamily="34" charset="-122"/>
                <a:cs typeface="Barlow" pitchFamily="34" charset="-120"/>
              </a:rPr>
              <a:t>▸ Models, agents, and tools are managed through a common enterprise platform boundary.</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RBAC, networking, policies, evaluations, and monitoring become part of the same operating model.</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Projects organize work for teams, environments, and related AI assets.</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Agents can be built, grounded, connected, evaluated, published, and governed through Foundry.</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The architecture supports a path from prototype validation to production oversight.</a:t>
            </a:r>
            <a:endParaRPr lang="en-US" sz="1360" dirty="0"/>
          </a:p>
        </p:txBody>
      </p:sp>
      <p:sp>
        <p:nvSpPr>
          <p:cNvPr id="8" name="Shape 6"/>
          <p:cNvSpPr/>
          <p:nvPr/>
        </p:nvSpPr>
        <p:spPr>
          <a:xfrm>
            <a:off x="6035040" y="1828800"/>
            <a:ext cx="2523744" cy="1225296"/>
          </a:xfrm>
          <a:prstGeom prst="rect">
            <a:avLst/>
          </a:prstGeom>
          <a:solidFill>
            <a:srgbClr val="FFFFFF"/>
          </a:solidFill>
          <a:ln w="9525">
            <a:solidFill>
              <a:srgbClr val="E8EEF2"/>
            </a:solidFill>
            <a:prstDash val="solid"/>
          </a:ln>
        </p:spPr>
      </p:sp>
      <p:sp>
        <p:nvSpPr>
          <p:cNvPr id="9" name="Shape 7"/>
          <p:cNvSpPr/>
          <p:nvPr/>
        </p:nvSpPr>
        <p:spPr>
          <a:xfrm>
            <a:off x="6199632" y="1993392"/>
            <a:ext cx="283464" cy="283464"/>
          </a:xfrm>
          <a:prstGeom prst="ellipse">
            <a:avLst/>
          </a:prstGeom>
          <a:solidFill>
            <a:srgbClr val="009FD3"/>
          </a:solidFill>
          <a:ln w="12700">
            <a:solidFill>
              <a:srgbClr val="009FD3"/>
            </a:solidFill>
            <a:prstDash val="solid"/>
          </a:ln>
        </p:spPr>
      </p:sp>
      <p:sp>
        <p:nvSpPr>
          <p:cNvPr id="10" name="Text 8"/>
          <p:cNvSpPr/>
          <p:nvPr/>
        </p:nvSpPr>
        <p:spPr>
          <a:xfrm>
            <a:off x="6199632" y="200253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11" name="Text 9"/>
          <p:cNvSpPr/>
          <p:nvPr/>
        </p:nvSpPr>
        <p:spPr>
          <a:xfrm>
            <a:off x="6565392" y="1965960"/>
            <a:ext cx="1837944"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Major point</a:t>
            </a:r>
            <a:endParaRPr lang="en-US" sz="1250" dirty="0"/>
          </a:p>
        </p:txBody>
      </p:sp>
      <p:sp>
        <p:nvSpPr>
          <p:cNvPr id="12" name="Text 10"/>
          <p:cNvSpPr/>
          <p:nvPr/>
        </p:nvSpPr>
        <p:spPr>
          <a:xfrm>
            <a:off x="6565392" y="2286000"/>
            <a:ext cx="1810512" cy="640080"/>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The model is not the platform. The platform is the management, security, lifecycle, and governance boundary around model-powered work.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8</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A production agent is a stack of controls</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A prompt and model are only the starting point.</a:t>
            </a:r>
            <a:endParaRPr lang="en-US" sz="1180" dirty="0"/>
          </a:p>
        </p:txBody>
      </p:sp>
      <p:sp>
        <p:nvSpPr>
          <p:cNvPr id="7" name="Shape 5"/>
          <p:cNvSpPr/>
          <p:nvPr/>
        </p:nvSpPr>
        <p:spPr>
          <a:xfrm>
            <a:off x="822960" y="1417320"/>
            <a:ext cx="7498080" cy="393192"/>
          </a:xfrm>
          <a:prstGeom prst="roundRect">
            <a:avLst>
              <a:gd name="adj" fmla="val 11628"/>
            </a:avLst>
          </a:prstGeom>
          <a:solidFill>
            <a:srgbClr val="009FD3"/>
          </a:solidFill>
          <a:ln w="12700">
            <a:solidFill>
              <a:srgbClr val="009FD3"/>
            </a:solidFill>
            <a:prstDash val="solid"/>
          </a:ln>
        </p:spPr>
      </p:sp>
      <p:sp>
        <p:nvSpPr>
          <p:cNvPr id="8" name="Text 6"/>
          <p:cNvSpPr/>
          <p:nvPr/>
        </p:nvSpPr>
        <p:spPr>
          <a:xfrm>
            <a:off x="1005840" y="1527048"/>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Business experience</a:t>
            </a:r>
            <a:endParaRPr lang="en-US" sz="920" dirty="0"/>
          </a:p>
        </p:txBody>
      </p:sp>
      <p:sp>
        <p:nvSpPr>
          <p:cNvPr id="9" name="Text 7"/>
          <p:cNvSpPr/>
          <p:nvPr/>
        </p:nvSpPr>
        <p:spPr>
          <a:xfrm>
            <a:off x="2980944" y="1527048"/>
            <a:ext cx="4892040"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approved user channel and business workflow</a:t>
            </a:r>
            <a:endParaRPr lang="en-US" sz="880" dirty="0"/>
          </a:p>
        </p:txBody>
      </p:sp>
      <p:sp>
        <p:nvSpPr>
          <p:cNvPr id="10" name="Shape 8"/>
          <p:cNvSpPr/>
          <p:nvPr/>
        </p:nvSpPr>
        <p:spPr>
          <a:xfrm>
            <a:off x="886968" y="1810512"/>
            <a:ext cx="7370064" cy="393192"/>
          </a:xfrm>
          <a:prstGeom prst="roundRect">
            <a:avLst>
              <a:gd name="adj" fmla="val 11628"/>
            </a:avLst>
          </a:prstGeom>
          <a:solidFill>
            <a:srgbClr val="074E76"/>
          </a:solidFill>
          <a:ln w="12700">
            <a:solidFill>
              <a:srgbClr val="074E76"/>
            </a:solidFill>
            <a:prstDash val="solid"/>
          </a:ln>
        </p:spPr>
      </p:sp>
      <p:sp>
        <p:nvSpPr>
          <p:cNvPr id="11" name="Text 9"/>
          <p:cNvSpPr/>
          <p:nvPr/>
        </p:nvSpPr>
        <p:spPr>
          <a:xfrm>
            <a:off x="1069848" y="1920240"/>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Agent lifecycle</a:t>
            </a:r>
            <a:endParaRPr lang="en-US" sz="920" dirty="0"/>
          </a:p>
        </p:txBody>
      </p:sp>
      <p:sp>
        <p:nvSpPr>
          <p:cNvPr id="12" name="Text 10"/>
          <p:cNvSpPr/>
          <p:nvPr/>
        </p:nvSpPr>
        <p:spPr>
          <a:xfrm>
            <a:off x="3044952" y="1920240"/>
            <a:ext cx="4764024"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instructions, versions, conversations, publishing</a:t>
            </a:r>
            <a:endParaRPr lang="en-US" sz="880" dirty="0"/>
          </a:p>
        </p:txBody>
      </p:sp>
      <p:sp>
        <p:nvSpPr>
          <p:cNvPr id="13" name="Shape 11"/>
          <p:cNvSpPr/>
          <p:nvPr/>
        </p:nvSpPr>
        <p:spPr>
          <a:xfrm>
            <a:off x="950976" y="2203704"/>
            <a:ext cx="7242048" cy="393192"/>
          </a:xfrm>
          <a:prstGeom prst="roundRect">
            <a:avLst>
              <a:gd name="adj" fmla="val 11628"/>
            </a:avLst>
          </a:prstGeom>
          <a:solidFill>
            <a:srgbClr val="009FD3"/>
          </a:solidFill>
          <a:ln w="12700">
            <a:solidFill>
              <a:srgbClr val="009FD3"/>
            </a:solidFill>
            <a:prstDash val="solid"/>
          </a:ln>
        </p:spPr>
      </p:sp>
      <p:sp>
        <p:nvSpPr>
          <p:cNvPr id="14" name="Text 12"/>
          <p:cNvSpPr/>
          <p:nvPr/>
        </p:nvSpPr>
        <p:spPr>
          <a:xfrm>
            <a:off x="1133856" y="2313432"/>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Knowledge and tools</a:t>
            </a:r>
            <a:endParaRPr lang="en-US" sz="920" dirty="0"/>
          </a:p>
        </p:txBody>
      </p:sp>
      <p:sp>
        <p:nvSpPr>
          <p:cNvPr id="15" name="Text 13"/>
          <p:cNvSpPr/>
          <p:nvPr/>
        </p:nvSpPr>
        <p:spPr>
          <a:xfrm>
            <a:off x="3108960" y="2313432"/>
            <a:ext cx="4636008"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Foundry IQ, citations, connectors, MCP, A2A</a:t>
            </a:r>
            <a:endParaRPr lang="en-US" sz="880" dirty="0"/>
          </a:p>
        </p:txBody>
      </p:sp>
      <p:sp>
        <p:nvSpPr>
          <p:cNvPr id="16" name="Shape 14"/>
          <p:cNvSpPr/>
          <p:nvPr/>
        </p:nvSpPr>
        <p:spPr>
          <a:xfrm>
            <a:off x="1014984" y="2596896"/>
            <a:ext cx="7114032" cy="393192"/>
          </a:xfrm>
          <a:prstGeom prst="roundRect">
            <a:avLst>
              <a:gd name="adj" fmla="val 11628"/>
            </a:avLst>
          </a:prstGeom>
          <a:solidFill>
            <a:srgbClr val="074E76"/>
          </a:solidFill>
          <a:ln w="12700">
            <a:solidFill>
              <a:srgbClr val="074E76"/>
            </a:solidFill>
            <a:prstDash val="solid"/>
          </a:ln>
        </p:spPr>
      </p:sp>
      <p:sp>
        <p:nvSpPr>
          <p:cNvPr id="17" name="Text 15"/>
          <p:cNvSpPr/>
          <p:nvPr/>
        </p:nvSpPr>
        <p:spPr>
          <a:xfrm>
            <a:off x="1197864" y="2706624"/>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Model deployment</a:t>
            </a:r>
            <a:endParaRPr lang="en-US" sz="920" dirty="0"/>
          </a:p>
        </p:txBody>
      </p:sp>
      <p:sp>
        <p:nvSpPr>
          <p:cNvPr id="18" name="Text 16"/>
          <p:cNvSpPr/>
          <p:nvPr/>
        </p:nvSpPr>
        <p:spPr>
          <a:xfrm>
            <a:off x="3172968" y="2706624"/>
            <a:ext cx="4507992"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model choice, endpoint, region, quota, cost</a:t>
            </a:r>
            <a:endParaRPr lang="en-US" sz="880" dirty="0"/>
          </a:p>
        </p:txBody>
      </p:sp>
      <p:sp>
        <p:nvSpPr>
          <p:cNvPr id="19" name="Shape 17"/>
          <p:cNvSpPr/>
          <p:nvPr/>
        </p:nvSpPr>
        <p:spPr>
          <a:xfrm>
            <a:off x="1078992" y="2990088"/>
            <a:ext cx="6986016" cy="393192"/>
          </a:xfrm>
          <a:prstGeom prst="roundRect">
            <a:avLst>
              <a:gd name="adj" fmla="val 11628"/>
            </a:avLst>
          </a:prstGeom>
          <a:solidFill>
            <a:srgbClr val="009FD3"/>
          </a:solidFill>
          <a:ln w="12700">
            <a:solidFill>
              <a:srgbClr val="009FD3"/>
            </a:solidFill>
            <a:prstDash val="solid"/>
          </a:ln>
        </p:spPr>
      </p:sp>
      <p:sp>
        <p:nvSpPr>
          <p:cNvPr id="20" name="Text 18"/>
          <p:cNvSpPr/>
          <p:nvPr/>
        </p:nvSpPr>
        <p:spPr>
          <a:xfrm>
            <a:off x="1261872" y="3099816"/>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Identity and boundary</a:t>
            </a:r>
            <a:endParaRPr lang="en-US" sz="920" dirty="0"/>
          </a:p>
        </p:txBody>
      </p:sp>
      <p:sp>
        <p:nvSpPr>
          <p:cNvPr id="21" name="Text 19"/>
          <p:cNvSpPr/>
          <p:nvPr/>
        </p:nvSpPr>
        <p:spPr>
          <a:xfrm>
            <a:off x="3236976" y="3099816"/>
            <a:ext cx="4379976"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Entra ID, RBAC, project scope, network controls</a:t>
            </a:r>
            <a:endParaRPr lang="en-US" sz="880" dirty="0"/>
          </a:p>
        </p:txBody>
      </p:sp>
      <p:sp>
        <p:nvSpPr>
          <p:cNvPr id="22" name="Shape 20"/>
          <p:cNvSpPr/>
          <p:nvPr/>
        </p:nvSpPr>
        <p:spPr>
          <a:xfrm>
            <a:off x="1143000" y="3383280"/>
            <a:ext cx="6858000" cy="393192"/>
          </a:xfrm>
          <a:prstGeom prst="roundRect">
            <a:avLst>
              <a:gd name="adj" fmla="val 11628"/>
            </a:avLst>
          </a:prstGeom>
          <a:solidFill>
            <a:srgbClr val="074E76"/>
          </a:solidFill>
          <a:ln w="12700">
            <a:solidFill>
              <a:srgbClr val="074E76"/>
            </a:solidFill>
            <a:prstDash val="solid"/>
          </a:ln>
        </p:spPr>
      </p:sp>
      <p:sp>
        <p:nvSpPr>
          <p:cNvPr id="23" name="Text 21"/>
          <p:cNvSpPr/>
          <p:nvPr/>
        </p:nvSpPr>
        <p:spPr>
          <a:xfrm>
            <a:off x="1325880" y="3493008"/>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Evaluation and operation</a:t>
            </a:r>
            <a:endParaRPr lang="en-US" sz="920" dirty="0"/>
          </a:p>
        </p:txBody>
      </p:sp>
      <p:sp>
        <p:nvSpPr>
          <p:cNvPr id="24" name="Text 22"/>
          <p:cNvSpPr/>
          <p:nvPr/>
        </p:nvSpPr>
        <p:spPr>
          <a:xfrm>
            <a:off x="3300984" y="3493008"/>
            <a:ext cx="4251960"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quality gates, monitoring, incidents, rollback</a:t>
            </a:r>
            <a:endParaRPr lang="en-US" sz="880" dirty="0"/>
          </a:p>
        </p:txBody>
      </p:sp>
      <p:sp>
        <p:nvSpPr>
          <p:cNvPr id="25" name="Shape 23"/>
          <p:cNvSpPr/>
          <p:nvPr/>
        </p:nvSpPr>
        <p:spPr>
          <a:xfrm>
            <a:off x="1207008" y="3776472"/>
            <a:ext cx="6729984" cy="393192"/>
          </a:xfrm>
          <a:prstGeom prst="roundRect">
            <a:avLst>
              <a:gd name="adj" fmla="val 11628"/>
            </a:avLst>
          </a:prstGeom>
          <a:solidFill>
            <a:srgbClr val="009FD3"/>
          </a:solidFill>
          <a:ln w="12700">
            <a:solidFill>
              <a:srgbClr val="009FD3"/>
            </a:solidFill>
            <a:prstDash val="solid"/>
          </a:ln>
        </p:spPr>
      </p:sp>
      <p:sp>
        <p:nvSpPr>
          <p:cNvPr id="26" name="Text 24"/>
          <p:cNvSpPr/>
          <p:nvPr/>
        </p:nvSpPr>
        <p:spPr>
          <a:xfrm>
            <a:off x="1389888" y="3886200"/>
            <a:ext cx="1828800" cy="12801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Raleway" pitchFamily="34" charset="0"/>
                <a:ea typeface="Raleway" pitchFamily="34" charset="-122"/>
                <a:cs typeface="Raleway" pitchFamily="34" charset="-120"/>
              </a:rPr>
              <a:t>Enterprise governance</a:t>
            </a:r>
            <a:endParaRPr lang="en-US" sz="920" dirty="0"/>
          </a:p>
        </p:txBody>
      </p:sp>
      <p:sp>
        <p:nvSpPr>
          <p:cNvPr id="27" name="Text 25"/>
          <p:cNvSpPr/>
          <p:nvPr/>
        </p:nvSpPr>
        <p:spPr>
          <a:xfrm>
            <a:off x="3364992" y="3886200"/>
            <a:ext cx="4123944" cy="128016"/>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Barlow" pitchFamily="34" charset="0"/>
                <a:ea typeface="Barlow" pitchFamily="34" charset="-122"/>
                <a:cs typeface="Barlow" pitchFamily="34" charset="-120"/>
              </a:rPr>
              <a:t>Control Plane, policy, gateway, Defender, Purview</a:t>
            </a:r>
            <a:endParaRPr lang="en-US" sz="880" dirty="0"/>
          </a:p>
        </p:txBody>
      </p:sp>
      <p:sp>
        <p:nvSpPr>
          <p:cNvPr id="28" name="Shape 26"/>
          <p:cNvSpPr/>
          <p:nvPr/>
        </p:nvSpPr>
        <p:spPr>
          <a:xfrm>
            <a:off x="868680" y="4434840"/>
            <a:ext cx="7406640" cy="402336"/>
          </a:xfrm>
          <a:prstGeom prst="rect">
            <a:avLst/>
          </a:prstGeom>
          <a:solidFill>
            <a:srgbClr val="FFFFFF"/>
          </a:solidFill>
          <a:ln w="9525">
            <a:solidFill>
              <a:srgbClr val="E8EEF2"/>
            </a:solidFill>
            <a:prstDash val="solid"/>
          </a:ln>
        </p:spPr>
      </p:sp>
      <p:sp>
        <p:nvSpPr>
          <p:cNvPr id="29" name="Shape 27"/>
          <p:cNvSpPr/>
          <p:nvPr/>
        </p:nvSpPr>
        <p:spPr>
          <a:xfrm>
            <a:off x="1033272" y="4599432"/>
            <a:ext cx="283464" cy="283464"/>
          </a:xfrm>
          <a:prstGeom prst="ellipse">
            <a:avLst/>
          </a:prstGeom>
          <a:solidFill>
            <a:srgbClr val="009FD3"/>
          </a:solidFill>
          <a:ln w="12700">
            <a:solidFill>
              <a:srgbClr val="009FD3"/>
            </a:solidFill>
            <a:prstDash val="solid"/>
          </a:ln>
        </p:spPr>
      </p:sp>
      <p:sp>
        <p:nvSpPr>
          <p:cNvPr id="30" name="Text 28"/>
          <p:cNvSpPr/>
          <p:nvPr/>
        </p:nvSpPr>
        <p:spPr>
          <a:xfrm>
            <a:off x="1033272" y="460857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31" name="Text 29"/>
          <p:cNvSpPr/>
          <p:nvPr/>
        </p:nvSpPr>
        <p:spPr>
          <a:xfrm>
            <a:off x="1399032" y="4572000"/>
            <a:ext cx="672084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Decision rule</a:t>
            </a:r>
            <a:endParaRPr lang="en-US" sz="1250" dirty="0"/>
          </a:p>
        </p:txBody>
      </p:sp>
      <p:sp>
        <p:nvSpPr>
          <p:cNvPr id="32" name="Text 30"/>
          <p:cNvSpPr/>
          <p:nvPr/>
        </p:nvSpPr>
        <p:spPr>
          <a:xfrm>
            <a:off x="1399032" y="4892040"/>
            <a:ext cx="6693408" cy="-182880"/>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If a layer is missing, the agent may still demo well, but it is not ready for enterprise trust.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9</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Enterprise architecture overview</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The course follows the same agent architecture from first project setup to production review.</a:t>
            </a:r>
            <a:endParaRPr lang="en-US" sz="1180" dirty="0"/>
          </a:p>
        </p:txBody>
      </p:sp>
      <p:sp>
        <p:nvSpPr>
          <p:cNvPr id="7" name="Shape 5"/>
          <p:cNvSpPr/>
          <p:nvPr/>
        </p:nvSpPr>
        <p:spPr>
          <a:xfrm>
            <a:off x="685800" y="1417320"/>
            <a:ext cx="2377440" cy="896112"/>
          </a:xfrm>
          <a:prstGeom prst="roundRect">
            <a:avLst>
              <a:gd name="adj" fmla="val 5102"/>
            </a:avLst>
          </a:prstGeom>
          <a:solidFill>
            <a:srgbClr val="FFFFFF"/>
          </a:solidFill>
          <a:ln w="12700">
            <a:solidFill>
              <a:srgbClr val="009FD3"/>
            </a:solidFill>
            <a:prstDash val="solid"/>
          </a:ln>
        </p:spPr>
      </p:sp>
      <p:sp>
        <p:nvSpPr>
          <p:cNvPr id="8" name="Shape 6"/>
          <p:cNvSpPr/>
          <p:nvPr/>
        </p:nvSpPr>
        <p:spPr>
          <a:xfrm>
            <a:off x="850392" y="1600200"/>
            <a:ext cx="457200" cy="457200"/>
          </a:xfrm>
          <a:prstGeom prst="ellipse">
            <a:avLst/>
          </a:prstGeom>
          <a:solidFill>
            <a:srgbClr val="009FD3"/>
          </a:solidFill>
          <a:ln w="12700">
            <a:solidFill>
              <a:srgbClr val="009FD3"/>
            </a:solidFill>
            <a:prstDash val="solid"/>
          </a:ln>
        </p:spPr>
      </p:sp>
      <p:sp>
        <p:nvSpPr>
          <p:cNvPr id="9" name="Text 7"/>
          <p:cNvSpPr/>
          <p:nvPr/>
        </p:nvSpPr>
        <p:spPr>
          <a:xfrm>
            <a:off x="850392" y="170992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1</a:t>
            </a:r>
            <a:endParaRPr lang="en-US" sz="1000" dirty="0"/>
          </a:p>
        </p:txBody>
      </p:sp>
      <p:sp>
        <p:nvSpPr>
          <p:cNvPr id="10" name="Text 8"/>
          <p:cNvSpPr/>
          <p:nvPr/>
        </p:nvSpPr>
        <p:spPr>
          <a:xfrm>
            <a:off x="1435608" y="156362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Provision</a:t>
            </a:r>
            <a:endParaRPr lang="en-US" sz="1320" dirty="0"/>
          </a:p>
        </p:txBody>
      </p:sp>
      <p:sp>
        <p:nvSpPr>
          <p:cNvPr id="11" name="Text 9"/>
          <p:cNvSpPr/>
          <p:nvPr/>
        </p:nvSpPr>
        <p:spPr>
          <a:xfrm>
            <a:off x="1435608" y="185623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Foundry resource, project, model deployment</a:t>
            </a:r>
            <a:endParaRPr lang="en-US" sz="970" dirty="0"/>
          </a:p>
        </p:txBody>
      </p:sp>
      <p:sp>
        <p:nvSpPr>
          <p:cNvPr id="12" name="Shape 10"/>
          <p:cNvSpPr/>
          <p:nvPr/>
        </p:nvSpPr>
        <p:spPr>
          <a:xfrm>
            <a:off x="3474720" y="1417320"/>
            <a:ext cx="2377440" cy="896112"/>
          </a:xfrm>
          <a:prstGeom prst="roundRect">
            <a:avLst>
              <a:gd name="adj" fmla="val 5102"/>
            </a:avLst>
          </a:prstGeom>
          <a:solidFill>
            <a:srgbClr val="FFFFFF"/>
          </a:solidFill>
          <a:ln w="12700">
            <a:solidFill>
              <a:srgbClr val="009FD3"/>
            </a:solidFill>
            <a:prstDash val="solid"/>
          </a:ln>
        </p:spPr>
      </p:sp>
      <p:sp>
        <p:nvSpPr>
          <p:cNvPr id="13" name="Shape 11"/>
          <p:cNvSpPr/>
          <p:nvPr/>
        </p:nvSpPr>
        <p:spPr>
          <a:xfrm>
            <a:off x="3639312" y="1600200"/>
            <a:ext cx="457200" cy="457200"/>
          </a:xfrm>
          <a:prstGeom prst="ellipse">
            <a:avLst/>
          </a:prstGeom>
          <a:solidFill>
            <a:srgbClr val="009FD3"/>
          </a:solidFill>
          <a:ln w="12700">
            <a:solidFill>
              <a:srgbClr val="009FD3"/>
            </a:solidFill>
            <a:prstDash val="solid"/>
          </a:ln>
        </p:spPr>
      </p:sp>
      <p:sp>
        <p:nvSpPr>
          <p:cNvPr id="14" name="Text 12"/>
          <p:cNvSpPr/>
          <p:nvPr/>
        </p:nvSpPr>
        <p:spPr>
          <a:xfrm>
            <a:off x="3639312" y="170992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2</a:t>
            </a:r>
            <a:endParaRPr lang="en-US" sz="1000" dirty="0"/>
          </a:p>
        </p:txBody>
      </p:sp>
      <p:sp>
        <p:nvSpPr>
          <p:cNvPr id="15" name="Text 13"/>
          <p:cNvSpPr/>
          <p:nvPr/>
        </p:nvSpPr>
        <p:spPr>
          <a:xfrm>
            <a:off x="4224528" y="156362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Build</a:t>
            </a:r>
            <a:endParaRPr lang="en-US" sz="1320" dirty="0"/>
          </a:p>
        </p:txBody>
      </p:sp>
      <p:sp>
        <p:nvSpPr>
          <p:cNvPr id="16" name="Text 14"/>
          <p:cNvSpPr/>
          <p:nvPr/>
        </p:nvSpPr>
        <p:spPr>
          <a:xfrm>
            <a:off x="4224528" y="185623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Prompt agent, instructions, versions, publishing</a:t>
            </a:r>
            <a:endParaRPr lang="en-US" sz="970" dirty="0"/>
          </a:p>
        </p:txBody>
      </p:sp>
      <p:sp>
        <p:nvSpPr>
          <p:cNvPr id="17" name="Shape 15"/>
          <p:cNvSpPr/>
          <p:nvPr/>
        </p:nvSpPr>
        <p:spPr>
          <a:xfrm>
            <a:off x="6263640" y="1417320"/>
            <a:ext cx="2377440" cy="896112"/>
          </a:xfrm>
          <a:prstGeom prst="roundRect">
            <a:avLst>
              <a:gd name="adj" fmla="val 5102"/>
            </a:avLst>
          </a:prstGeom>
          <a:solidFill>
            <a:srgbClr val="FFFFFF"/>
          </a:solidFill>
          <a:ln w="12700">
            <a:solidFill>
              <a:srgbClr val="009FD3"/>
            </a:solidFill>
            <a:prstDash val="solid"/>
          </a:ln>
        </p:spPr>
      </p:sp>
      <p:sp>
        <p:nvSpPr>
          <p:cNvPr id="18" name="Shape 16"/>
          <p:cNvSpPr/>
          <p:nvPr/>
        </p:nvSpPr>
        <p:spPr>
          <a:xfrm>
            <a:off x="6428232" y="1600200"/>
            <a:ext cx="457200" cy="457200"/>
          </a:xfrm>
          <a:prstGeom prst="ellipse">
            <a:avLst/>
          </a:prstGeom>
          <a:solidFill>
            <a:srgbClr val="009FD3"/>
          </a:solidFill>
          <a:ln w="12700">
            <a:solidFill>
              <a:srgbClr val="009FD3"/>
            </a:solidFill>
            <a:prstDash val="solid"/>
          </a:ln>
        </p:spPr>
      </p:sp>
      <p:sp>
        <p:nvSpPr>
          <p:cNvPr id="19" name="Text 17"/>
          <p:cNvSpPr/>
          <p:nvPr/>
        </p:nvSpPr>
        <p:spPr>
          <a:xfrm>
            <a:off x="6428232" y="170992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3</a:t>
            </a:r>
            <a:endParaRPr lang="en-US" sz="1000" dirty="0"/>
          </a:p>
        </p:txBody>
      </p:sp>
      <p:sp>
        <p:nvSpPr>
          <p:cNvPr id="20" name="Text 18"/>
          <p:cNvSpPr/>
          <p:nvPr/>
        </p:nvSpPr>
        <p:spPr>
          <a:xfrm>
            <a:off x="7013448" y="156362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Ground</a:t>
            </a:r>
            <a:endParaRPr lang="en-US" sz="1320" dirty="0"/>
          </a:p>
        </p:txBody>
      </p:sp>
      <p:sp>
        <p:nvSpPr>
          <p:cNvPr id="21" name="Text 19"/>
          <p:cNvSpPr/>
          <p:nvPr/>
        </p:nvSpPr>
        <p:spPr>
          <a:xfrm>
            <a:off x="7013448" y="185623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Foundry IQ knowledge base and citations</a:t>
            </a:r>
            <a:endParaRPr lang="en-US" sz="970" dirty="0"/>
          </a:p>
        </p:txBody>
      </p:sp>
      <p:sp>
        <p:nvSpPr>
          <p:cNvPr id="22" name="Shape 20"/>
          <p:cNvSpPr/>
          <p:nvPr/>
        </p:nvSpPr>
        <p:spPr>
          <a:xfrm>
            <a:off x="685800" y="2743200"/>
            <a:ext cx="2377440" cy="896112"/>
          </a:xfrm>
          <a:prstGeom prst="roundRect">
            <a:avLst>
              <a:gd name="adj" fmla="val 5102"/>
            </a:avLst>
          </a:prstGeom>
          <a:solidFill>
            <a:srgbClr val="FFFFFF"/>
          </a:solidFill>
          <a:ln w="12700">
            <a:solidFill>
              <a:srgbClr val="009FD3"/>
            </a:solidFill>
            <a:prstDash val="solid"/>
          </a:ln>
        </p:spPr>
      </p:sp>
      <p:sp>
        <p:nvSpPr>
          <p:cNvPr id="23" name="Shape 21"/>
          <p:cNvSpPr/>
          <p:nvPr/>
        </p:nvSpPr>
        <p:spPr>
          <a:xfrm>
            <a:off x="850392" y="2926080"/>
            <a:ext cx="457200" cy="457200"/>
          </a:xfrm>
          <a:prstGeom prst="ellipse">
            <a:avLst/>
          </a:prstGeom>
          <a:solidFill>
            <a:srgbClr val="009FD3"/>
          </a:solidFill>
          <a:ln w="12700">
            <a:solidFill>
              <a:srgbClr val="009FD3"/>
            </a:solidFill>
            <a:prstDash val="solid"/>
          </a:ln>
        </p:spPr>
      </p:sp>
      <p:sp>
        <p:nvSpPr>
          <p:cNvPr id="24" name="Text 22"/>
          <p:cNvSpPr/>
          <p:nvPr/>
        </p:nvSpPr>
        <p:spPr>
          <a:xfrm>
            <a:off x="850392" y="303580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4</a:t>
            </a:r>
            <a:endParaRPr lang="en-US" sz="1000" dirty="0"/>
          </a:p>
        </p:txBody>
      </p:sp>
      <p:sp>
        <p:nvSpPr>
          <p:cNvPr id="25" name="Text 23"/>
          <p:cNvSpPr/>
          <p:nvPr/>
        </p:nvSpPr>
        <p:spPr>
          <a:xfrm>
            <a:off x="1435608" y="288950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Connect</a:t>
            </a:r>
            <a:endParaRPr lang="en-US" sz="1320" dirty="0"/>
          </a:p>
        </p:txBody>
      </p:sp>
      <p:sp>
        <p:nvSpPr>
          <p:cNvPr id="26" name="Text 24"/>
          <p:cNvSpPr/>
          <p:nvPr/>
        </p:nvSpPr>
        <p:spPr>
          <a:xfrm>
            <a:off x="1435608" y="318211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Catalog tools, connectors, MCP, A2A</a:t>
            </a:r>
            <a:endParaRPr lang="en-US" sz="970" dirty="0"/>
          </a:p>
        </p:txBody>
      </p:sp>
      <p:sp>
        <p:nvSpPr>
          <p:cNvPr id="27" name="Shape 25"/>
          <p:cNvSpPr/>
          <p:nvPr/>
        </p:nvSpPr>
        <p:spPr>
          <a:xfrm>
            <a:off x="3474720" y="2743200"/>
            <a:ext cx="2377440" cy="896112"/>
          </a:xfrm>
          <a:prstGeom prst="roundRect">
            <a:avLst>
              <a:gd name="adj" fmla="val 5102"/>
            </a:avLst>
          </a:prstGeom>
          <a:solidFill>
            <a:srgbClr val="FFFFFF"/>
          </a:solidFill>
          <a:ln w="12700">
            <a:solidFill>
              <a:srgbClr val="009FD3"/>
            </a:solidFill>
            <a:prstDash val="solid"/>
          </a:ln>
        </p:spPr>
      </p:sp>
      <p:sp>
        <p:nvSpPr>
          <p:cNvPr id="28" name="Shape 26"/>
          <p:cNvSpPr/>
          <p:nvPr/>
        </p:nvSpPr>
        <p:spPr>
          <a:xfrm>
            <a:off x="3639312" y="2926080"/>
            <a:ext cx="457200" cy="457200"/>
          </a:xfrm>
          <a:prstGeom prst="ellipse">
            <a:avLst/>
          </a:prstGeom>
          <a:solidFill>
            <a:srgbClr val="009FD3"/>
          </a:solidFill>
          <a:ln w="12700">
            <a:solidFill>
              <a:srgbClr val="009FD3"/>
            </a:solidFill>
            <a:prstDash val="solid"/>
          </a:ln>
        </p:spPr>
      </p:sp>
      <p:sp>
        <p:nvSpPr>
          <p:cNvPr id="29" name="Text 27"/>
          <p:cNvSpPr/>
          <p:nvPr/>
        </p:nvSpPr>
        <p:spPr>
          <a:xfrm>
            <a:off x="3639312" y="303580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5</a:t>
            </a:r>
            <a:endParaRPr lang="en-US" sz="1000" dirty="0"/>
          </a:p>
        </p:txBody>
      </p:sp>
      <p:sp>
        <p:nvSpPr>
          <p:cNvPr id="30" name="Text 28"/>
          <p:cNvSpPr/>
          <p:nvPr/>
        </p:nvSpPr>
        <p:spPr>
          <a:xfrm>
            <a:off x="4224528" y="288950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Operate</a:t>
            </a:r>
            <a:endParaRPr lang="en-US" sz="1320" dirty="0"/>
          </a:p>
        </p:txBody>
      </p:sp>
      <p:sp>
        <p:nvSpPr>
          <p:cNvPr id="31" name="Text 29"/>
          <p:cNvSpPr/>
          <p:nvPr/>
        </p:nvSpPr>
        <p:spPr>
          <a:xfrm>
            <a:off x="4224528" y="318211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Evaluations, monitoring, red teaming</a:t>
            </a:r>
            <a:endParaRPr lang="en-US" sz="970" dirty="0"/>
          </a:p>
        </p:txBody>
      </p:sp>
      <p:sp>
        <p:nvSpPr>
          <p:cNvPr id="32" name="Shape 30"/>
          <p:cNvSpPr/>
          <p:nvPr/>
        </p:nvSpPr>
        <p:spPr>
          <a:xfrm>
            <a:off x="6263640" y="2743200"/>
            <a:ext cx="2377440" cy="896112"/>
          </a:xfrm>
          <a:prstGeom prst="roundRect">
            <a:avLst>
              <a:gd name="adj" fmla="val 5102"/>
            </a:avLst>
          </a:prstGeom>
          <a:solidFill>
            <a:srgbClr val="FFFFFF"/>
          </a:solidFill>
          <a:ln w="12700">
            <a:solidFill>
              <a:srgbClr val="009FD3"/>
            </a:solidFill>
            <a:prstDash val="solid"/>
          </a:ln>
        </p:spPr>
      </p:sp>
      <p:sp>
        <p:nvSpPr>
          <p:cNvPr id="33" name="Shape 31"/>
          <p:cNvSpPr/>
          <p:nvPr/>
        </p:nvSpPr>
        <p:spPr>
          <a:xfrm>
            <a:off x="6428232" y="2926080"/>
            <a:ext cx="457200" cy="457200"/>
          </a:xfrm>
          <a:prstGeom prst="ellipse">
            <a:avLst/>
          </a:prstGeom>
          <a:solidFill>
            <a:srgbClr val="009FD3"/>
          </a:solidFill>
          <a:ln w="12700">
            <a:solidFill>
              <a:srgbClr val="009FD3"/>
            </a:solidFill>
            <a:prstDash val="solid"/>
          </a:ln>
        </p:spPr>
      </p:sp>
      <p:sp>
        <p:nvSpPr>
          <p:cNvPr id="34" name="Text 32"/>
          <p:cNvSpPr/>
          <p:nvPr/>
        </p:nvSpPr>
        <p:spPr>
          <a:xfrm>
            <a:off x="6428232" y="3035808"/>
            <a:ext cx="457200"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Raleway" pitchFamily="34" charset="0"/>
                <a:ea typeface="Raleway" pitchFamily="34" charset="-122"/>
                <a:cs typeface="Raleway" pitchFamily="34" charset="-120"/>
              </a:rPr>
              <a:t>6</a:t>
            </a:r>
            <a:endParaRPr lang="en-US" sz="1000" dirty="0"/>
          </a:p>
        </p:txBody>
      </p:sp>
      <p:sp>
        <p:nvSpPr>
          <p:cNvPr id="35" name="Text 33"/>
          <p:cNvSpPr/>
          <p:nvPr/>
        </p:nvSpPr>
        <p:spPr>
          <a:xfrm>
            <a:off x="7013448" y="2889504"/>
            <a:ext cx="1417320" cy="201168"/>
          </a:xfrm>
          <a:prstGeom prst="rect">
            <a:avLst/>
          </a:prstGeom>
          <a:noFill/>
          <a:ln/>
        </p:spPr>
        <p:txBody>
          <a:bodyPr wrap="square" lIns="0" tIns="0" rIns="0" bIns="0" rtlCol="0" anchor="ctr">
            <a:normAutofit/>
          </a:bodyPr>
          <a:lstStyle/>
          <a:p>
            <a:pPr indent="0" marL="0">
              <a:buNone/>
            </a:pPr>
            <a:r>
              <a:rPr lang="en-US" sz="1320" b="1" dirty="0">
                <a:solidFill>
                  <a:srgbClr val="009FD3"/>
                </a:solidFill>
                <a:latin typeface="Raleway" pitchFamily="34" charset="0"/>
                <a:ea typeface="Raleway" pitchFamily="34" charset="-122"/>
                <a:cs typeface="Raleway" pitchFamily="34" charset="-120"/>
              </a:rPr>
              <a:t>Govern</a:t>
            </a:r>
            <a:endParaRPr lang="en-US" sz="1320" dirty="0"/>
          </a:p>
        </p:txBody>
      </p:sp>
      <p:sp>
        <p:nvSpPr>
          <p:cNvPr id="36" name="Text 34"/>
          <p:cNvSpPr/>
          <p:nvPr/>
        </p:nvSpPr>
        <p:spPr>
          <a:xfrm>
            <a:off x="7013448" y="3182112"/>
            <a:ext cx="1444752" cy="310896"/>
          </a:xfrm>
          <a:prstGeom prst="rect">
            <a:avLst/>
          </a:prstGeom>
          <a:noFill/>
          <a:ln/>
        </p:spPr>
        <p:txBody>
          <a:bodyPr wrap="square" lIns="0" tIns="0" rIns="0" bIns="0" rtlCol="0" anchor="ctr">
            <a:normAutofit/>
          </a:bodyPr>
          <a:lstStyle/>
          <a:p>
            <a:pPr indent="0" marL="0">
              <a:buNone/>
            </a:pPr>
            <a:r>
              <a:rPr lang="en-US" sz="970" dirty="0">
                <a:solidFill>
                  <a:srgbClr val="333B45"/>
                </a:solidFill>
                <a:latin typeface="Barlow" pitchFamily="34" charset="0"/>
                <a:ea typeface="Barlow" pitchFamily="34" charset="-122"/>
                <a:cs typeface="Barlow" pitchFamily="34" charset="-120"/>
              </a:rPr>
              <a:t>Control Plane, policy, gateway, security</a:t>
            </a:r>
            <a:endParaRPr lang="en-US" sz="970" dirty="0"/>
          </a:p>
        </p:txBody>
      </p:sp>
      <p:sp>
        <p:nvSpPr>
          <p:cNvPr id="37" name="Shape 35"/>
          <p:cNvSpPr/>
          <p:nvPr/>
        </p:nvSpPr>
        <p:spPr>
          <a:xfrm>
            <a:off x="868680" y="4206240"/>
            <a:ext cx="7360920" cy="457200"/>
          </a:xfrm>
          <a:prstGeom prst="rect">
            <a:avLst/>
          </a:prstGeom>
          <a:solidFill>
            <a:srgbClr val="FFFFFF"/>
          </a:solidFill>
          <a:ln w="9525">
            <a:solidFill>
              <a:srgbClr val="E8EEF2"/>
            </a:solidFill>
            <a:prstDash val="solid"/>
          </a:ln>
        </p:spPr>
      </p:sp>
      <p:sp>
        <p:nvSpPr>
          <p:cNvPr id="38" name="Shape 36"/>
          <p:cNvSpPr/>
          <p:nvPr/>
        </p:nvSpPr>
        <p:spPr>
          <a:xfrm>
            <a:off x="1033272" y="4370832"/>
            <a:ext cx="283464" cy="283464"/>
          </a:xfrm>
          <a:prstGeom prst="ellipse">
            <a:avLst/>
          </a:prstGeom>
          <a:solidFill>
            <a:srgbClr val="009FD3"/>
          </a:solidFill>
          <a:ln w="12700">
            <a:solidFill>
              <a:srgbClr val="009FD3"/>
            </a:solidFill>
            <a:prstDash val="solid"/>
          </a:ln>
        </p:spPr>
      </p:sp>
      <p:sp>
        <p:nvSpPr>
          <p:cNvPr id="39" name="Text 37"/>
          <p:cNvSpPr/>
          <p:nvPr/>
        </p:nvSpPr>
        <p:spPr>
          <a:xfrm>
            <a:off x="1033272" y="437997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40" name="Text 38"/>
          <p:cNvSpPr/>
          <p:nvPr/>
        </p:nvSpPr>
        <p:spPr>
          <a:xfrm>
            <a:off x="1399032" y="4343400"/>
            <a:ext cx="667512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Teaching pattern</a:t>
            </a:r>
            <a:endParaRPr lang="en-US" sz="1250" dirty="0"/>
          </a:p>
        </p:txBody>
      </p:sp>
      <p:sp>
        <p:nvSpPr>
          <p:cNvPr id="41" name="Text 39"/>
          <p:cNvSpPr/>
          <p:nvPr/>
        </p:nvSpPr>
        <p:spPr>
          <a:xfrm>
            <a:off x="1399032" y="4663440"/>
            <a:ext cx="6647688" cy="-128016"/>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Each stage starts with the architecture decision, then uses the portal or lab to prove the concept.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10</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How demonstrations are used</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A demonstration appears when the portal or a short command clarifies the concept.</a:t>
            </a:r>
            <a:endParaRPr lang="en-US" sz="1180" dirty="0"/>
          </a:p>
        </p:txBody>
      </p:sp>
      <p:sp>
        <p:nvSpPr>
          <p:cNvPr id="7" name="Text 5"/>
          <p:cNvSpPr/>
          <p:nvPr/>
        </p:nvSpPr>
        <p:spPr>
          <a:xfrm>
            <a:off x="713232" y="1645920"/>
            <a:ext cx="5074920" cy="2377440"/>
          </a:xfrm>
          <a:prstGeom prst="rect">
            <a:avLst/>
          </a:prstGeom>
          <a:noFill/>
          <a:ln/>
        </p:spPr>
        <p:txBody>
          <a:bodyPr wrap="square" lIns="0" tIns="0" rIns="0" bIns="0" rtlCol="0" anchor="t">
            <a:normAutofit/>
          </a:bodyPr>
          <a:lstStyle/>
          <a:p>
            <a:pPr indent="0" marL="0">
              <a:buNone/>
            </a:pPr>
            <a:r>
              <a:rPr lang="en-US" sz="1360" dirty="0">
                <a:solidFill>
                  <a:srgbClr val="333B45"/>
                </a:solidFill>
                <a:latin typeface="Barlow" pitchFamily="34" charset="0"/>
                <a:ea typeface="Barlow" pitchFamily="34" charset="-122"/>
                <a:cs typeface="Barlow" pitchFamily="34" charset="-120"/>
              </a:rPr>
              <a:t>▸ Concept lessons are mostly slide-led, with diagrams and decision rules.</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Configuration lessons include short Foundry or Azure portal walkthroughs.</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Lab lessons include prerequisites, task sequence, validation, and cleanup.</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A2A uses a supplied REST or PowerShell command only where required.</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No lesson depends on writing application code from scratch.</a:t>
            </a:r>
            <a:endParaRPr lang="en-US" sz="1360" dirty="0"/>
          </a:p>
        </p:txBody>
      </p:sp>
      <p:sp>
        <p:nvSpPr>
          <p:cNvPr id="8" name="Shape 6"/>
          <p:cNvSpPr/>
          <p:nvPr/>
        </p:nvSpPr>
        <p:spPr>
          <a:xfrm>
            <a:off x="6080760" y="1664208"/>
            <a:ext cx="2423160" cy="1234440"/>
          </a:xfrm>
          <a:prstGeom prst="rect">
            <a:avLst/>
          </a:prstGeom>
          <a:solidFill>
            <a:srgbClr val="FFFFFF"/>
          </a:solidFill>
          <a:ln w="9525">
            <a:solidFill>
              <a:srgbClr val="E8EEF2"/>
            </a:solidFill>
            <a:prstDash val="solid"/>
          </a:ln>
        </p:spPr>
      </p:sp>
      <p:sp>
        <p:nvSpPr>
          <p:cNvPr id="9" name="Shape 7"/>
          <p:cNvSpPr/>
          <p:nvPr/>
        </p:nvSpPr>
        <p:spPr>
          <a:xfrm>
            <a:off x="6245352" y="1828800"/>
            <a:ext cx="283464" cy="283464"/>
          </a:xfrm>
          <a:prstGeom prst="ellipse">
            <a:avLst/>
          </a:prstGeom>
          <a:solidFill>
            <a:srgbClr val="009FD3"/>
          </a:solidFill>
          <a:ln w="12700">
            <a:solidFill>
              <a:srgbClr val="009FD3"/>
            </a:solidFill>
            <a:prstDash val="solid"/>
          </a:ln>
        </p:spPr>
      </p:sp>
      <p:sp>
        <p:nvSpPr>
          <p:cNvPr id="10" name="Text 8"/>
          <p:cNvSpPr/>
          <p:nvPr/>
        </p:nvSpPr>
        <p:spPr>
          <a:xfrm>
            <a:off x="6245352" y="1837944"/>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11" name="Text 9"/>
          <p:cNvSpPr/>
          <p:nvPr/>
        </p:nvSpPr>
        <p:spPr>
          <a:xfrm>
            <a:off x="6611112" y="1801368"/>
            <a:ext cx="173736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When you see “Demonstration”</a:t>
            </a:r>
            <a:endParaRPr lang="en-US" sz="1250" dirty="0"/>
          </a:p>
        </p:txBody>
      </p:sp>
      <p:sp>
        <p:nvSpPr>
          <p:cNvPr id="12" name="Text 10"/>
          <p:cNvSpPr/>
          <p:nvPr/>
        </p:nvSpPr>
        <p:spPr>
          <a:xfrm>
            <a:off x="6611112" y="2121408"/>
            <a:ext cx="1709928" cy="649224"/>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Watch for the starting point, what is being proven, the expected result, and the failure or fallback path.</a:t>
            </a:r>
            <a:endParaRPr lang="en-US" sz="1050" dirty="0"/>
          </a:p>
        </p:txBody>
      </p:sp>
      <p:sp>
        <p:nvSpPr>
          <p:cNvPr id="13" name="Shape 11"/>
          <p:cNvSpPr/>
          <p:nvPr/>
        </p:nvSpPr>
        <p:spPr>
          <a:xfrm>
            <a:off x="6080760" y="3182112"/>
            <a:ext cx="2423160" cy="932688"/>
          </a:xfrm>
          <a:prstGeom prst="rect">
            <a:avLst/>
          </a:prstGeom>
          <a:solidFill>
            <a:srgbClr val="FFFFFF"/>
          </a:solidFill>
          <a:ln w="9525">
            <a:solidFill>
              <a:srgbClr val="E8EEF2"/>
            </a:solidFill>
            <a:prstDash val="solid"/>
          </a:ln>
        </p:spPr>
      </p:sp>
      <p:sp>
        <p:nvSpPr>
          <p:cNvPr id="14" name="Shape 12"/>
          <p:cNvSpPr/>
          <p:nvPr/>
        </p:nvSpPr>
        <p:spPr>
          <a:xfrm>
            <a:off x="6245352" y="3346704"/>
            <a:ext cx="283464" cy="283464"/>
          </a:xfrm>
          <a:prstGeom prst="ellipse">
            <a:avLst/>
          </a:prstGeom>
          <a:solidFill>
            <a:srgbClr val="009FD3"/>
          </a:solidFill>
          <a:ln w="12700">
            <a:solidFill>
              <a:srgbClr val="009FD3"/>
            </a:solidFill>
            <a:prstDash val="solid"/>
          </a:ln>
        </p:spPr>
      </p:sp>
      <p:sp>
        <p:nvSpPr>
          <p:cNvPr id="15" name="Text 13"/>
          <p:cNvSpPr/>
          <p:nvPr/>
        </p:nvSpPr>
        <p:spPr>
          <a:xfrm>
            <a:off x="6245352" y="3355848"/>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16" name="Text 14"/>
          <p:cNvSpPr/>
          <p:nvPr/>
        </p:nvSpPr>
        <p:spPr>
          <a:xfrm>
            <a:off x="6611112" y="3319272"/>
            <a:ext cx="173736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Instructor note</a:t>
            </a:r>
            <a:endParaRPr lang="en-US" sz="1250" dirty="0"/>
          </a:p>
        </p:txBody>
      </p:sp>
      <p:sp>
        <p:nvSpPr>
          <p:cNvPr id="17" name="Text 15"/>
          <p:cNvSpPr/>
          <p:nvPr/>
        </p:nvSpPr>
        <p:spPr>
          <a:xfrm>
            <a:off x="6611112" y="3639312"/>
            <a:ext cx="1709928" cy="347472"/>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A short lesson can still be hybrid: 3–4 minutes of theory followed by a focused portal walkthrough.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11</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Course environment and Azure workspace setup</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Prepare the environment without turning setup into a development workshop.</a:t>
            </a:r>
            <a:endParaRPr lang="en-US" sz="1180" dirty="0"/>
          </a:p>
        </p:txBody>
      </p:sp>
      <p:sp>
        <p:nvSpPr>
          <p:cNvPr id="7" name="Text 5"/>
          <p:cNvSpPr/>
          <p:nvPr/>
        </p:nvSpPr>
        <p:spPr>
          <a:xfrm>
            <a:off x="713232" y="1572768"/>
            <a:ext cx="4663440" cy="2286000"/>
          </a:xfrm>
          <a:prstGeom prst="rect">
            <a:avLst/>
          </a:prstGeom>
          <a:noFill/>
          <a:ln/>
        </p:spPr>
        <p:txBody>
          <a:bodyPr wrap="square" lIns="0" tIns="0" rIns="0" bIns="0" rtlCol="0" anchor="t">
            <a:normAutofit/>
          </a:bodyPr>
          <a:lstStyle/>
          <a:p>
            <a:pPr indent="0" marL="0">
              <a:buNone/>
            </a:pPr>
            <a:r>
              <a:rPr lang="en-US" sz="1360" dirty="0">
                <a:solidFill>
                  <a:srgbClr val="333B45"/>
                </a:solidFill>
                <a:latin typeface="Barlow" pitchFamily="34" charset="0"/>
                <a:ea typeface="Barlow" pitchFamily="34" charset="-122"/>
                <a:cs typeface="Barlow" pitchFamily="34" charset="-120"/>
              </a:rPr>
              <a:t>▸ Use a modern browser and the current Microsoft Foundry portal.</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Confirm Azure access, tenant, subscription, and required permissions.</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Use Udemy Azure workspaces where labs require cloud access.</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Keep model names flexible because availability varies by region and quota.</a:t>
            </a:r>
            <a:endParaRPr lang="en-US" sz="1360" dirty="0"/>
          </a:p>
          <a:p>
            <a:pPr indent="0" marL="0">
              <a:buNone/>
            </a:pPr>
            <a:r>
              <a:rPr lang="en-US" sz="1360" dirty="0">
                <a:solidFill>
                  <a:srgbClr val="333B45"/>
                </a:solidFill>
                <a:latin typeface="Barlow" pitchFamily="34" charset="0"/>
                <a:ea typeface="Barlow" pitchFamily="34" charset="-122"/>
                <a:cs typeface="Barlow" pitchFamily="34" charset="-120"/>
              </a:rPr>
              <a:t>▸ Plan cleanup to avoid unnecessary Azure charges.</a:t>
            </a:r>
            <a:endParaRPr lang="en-US" sz="1360" dirty="0"/>
          </a:p>
        </p:txBody>
      </p:sp>
      <p:sp>
        <p:nvSpPr>
          <p:cNvPr id="8" name="Shape 6"/>
          <p:cNvSpPr/>
          <p:nvPr/>
        </p:nvSpPr>
        <p:spPr>
          <a:xfrm>
            <a:off x="5760720" y="1719072"/>
            <a:ext cx="2103120" cy="329184"/>
          </a:xfrm>
          <a:prstGeom prst="roundRect">
            <a:avLst>
              <a:gd name="adj" fmla="val 13889"/>
            </a:avLst>
          </a:prstGeom>
          <a:solidFill>
            <a:srgbClr val="009FD3"/>
          </a:solidFill>
          <a:ln w="12700">
            <a:solidFill>
              <a:srgbClr val="009FD3"/>
            </a:solidFill>
            <a:prstDash val="solid"/>
          </a:ln>
        </p:spPr>
      </p:sp>
      <p:sp>
        <p:nvSpPr>
          <p:cNvPr id="9" name="Text 7"/>
          <p:cNvSpPr/>
          <p:nvPr/>
        </p:nvSpPr>
        <p:spPr>
          <a:xfrm>
            <a:off x="5806440" y="1796796"/>
            <a:ext cx="2011680" cy="137160"/>
          </a:xfrm>
          <a:prstGeom prst="rect">
            <a:avLst/>
          </a:prstGeom>
          <a:noFill/>
          <a:ln/>
        </p:spPr>
        <p:txBody>
          <a:bodyPr wrap="square" lIns="0" tIns="0" rIns="0" bIns="0" rtlCol="0" anchor="ctr"/>
          <a:lstStyle/>
          <a:p>
            <a:pPr algn="ctr" indent="0" marL="0">
              <a:buNone/>
            </a:pPr>
            <a:r>
              <a:rPr lang="en-US" sz="960" b="1" dirty="0">
                <a:solidFill>
                  <a:srgbClr val="FFFFFF"/>
                </a:solidFill>
                <a:latin typeface="Barlow" pitchFamily="34" charset="0"/>
                <a:ea typeface="Barlow" pitchFamily="34" charset="-122"/>
                <a:cs typeface="Barlow" pitchFamily="34" charset="-120"/>
              </a:rPr>
              <a:t>Tenant</a:t>
            </a:r>
            <a:endParaRPr lang="en-US" sz="960" dirty="0"/>
          </a:p>
        </p:txBody>
      </p:sp>
      <p:sp>
        <p:nvSpPr>
          <p:cNvPr id="10" name="Shape 8"/>
          <p:cNvSpPr/>
          <p:nvPr/>
        </p:nvSpPr>
        <p:spPr>
          <a:xfrm rot="5400000">
            <a:off x="6702552" y="2075688"/>
            <a:ext cx="219456" cy="164592"/>
          </a:xfrm>
          <a:prstGeom prst="chevron">
            <a:avLst/>
          </a:prstGeom>
          <a:solidFill>
            <a:srgbClr val="00B7D8"/>
          </a:solidFill>
          <a:ln w="12700">
            <a:solidFill>
              <a:srgbClr val="00B7D8"/>
            </a:solidFill>
            <a:prstDash val="solid"/>
          </a:ln>
        </p:spPr>
      </p:sp>
      <p:sp>
        <p:nvSpPr>
          <p:cNvPr id="11" name="Shape 9"/>
          <p:cNvSpPr/>
          <p:nvPr/>
        </p:nvSpPr>
        <p:spPr>
          <a:xfrm>
            <a:off x="5760720" y="2359152"/>
            <a:ext cx="2103120" cy="329184"/>
          </a:xfrm>
          <a:prstGeom prst="roundRect">
            <a:avLst>
              <a:gd name="adj" fmla="val 13889"/>
            </a:avLst>
          </a:prstGeom>
          <a:solidFill>
            <a:srgbClr val="074E76"/>
          </a:solidFill>
          <a:ln w="12700">
            <a:solidFill>
              <a:srgbClr val="074E76"/>
            </a:solidFill>
            <a:prstDash val="solid"/>
          </a:ln>
        </p:spPr>
      </p:sp>
      <p:sp>
        <p:nvSpPr>
          <p:cNvPr id="12" name="Text 10"/>
          <p:cNvSpPr/>
          <p:nvPr/>
        </p:nvSpPr>
        <p:spPr>
          <a:xfrm>
            <a:off x="5806440" y="2436876"/>
            <a:ext cx="2011680" cy="137160"/>
          </a:xfrm>
          <a:prstGeom prst="rect">
            <a:avLst/>
          </a:prstGeom>
          <a:noFill/>
          <a:ln/>
        </p:spPr>
        <p:txBody>
          <a:bodyPr wrap="square" lIns="0" tIns="0" rIns="0" bIns="0" rtlCol="0" anchor="ctr"/>
          <a:lstStyle/>
          <a:p>
            <a:pPr algn="ctr" indent="0" marL="0">
              <a:buNone/>
            </a:pPr>
            <a:r>
              <a:rPr lang="en-US" sz="960" b="1" dirty="0">
                <a:solidFill>
                  <a:srgbClr val="FFFFFF"/>
                </a:solidFill>
                <a:latin typeface="Barlow" pitchFamily="34" charset="0"/>
                <a:ea typeface="Barlow" pitchFamily="34" charset="-122"/>
                <a:cs typeface="Barlow" pitchFamily="34" charset="-120"/>
              </a:rPr>
              <a:t>Subscription</a:t>
            </a:r>
            <a:endParaRPr lang="en-US" sz="960" dirty="0"/>
          </a:p>
        </p:txBody>
      </p:sp>
      <p:sp>
        <p:nvSpPr>
          <p:cNvPr id="13" name="Shape 11"/>
          <p:cNvSpPr/>
          <p:nvPr/>
        </p:nvSpPr>
        <p:spPr>
          <a:xfrm rot="5400000">
            <a:off x="6702552" y="2715768"/>
            <a:ext cx="219456" cy="164592"/>
          </a:xfrm>
          <a:prstGeom prst="chevron">
            <a:avLst/>
          </a:prstGeom>
          <a:solidFill>
            <a:srgbClr val="00B7D8"/>
          </a:solidFill>
          <a:ln w="12700">
            <a:solidFill>
              <a:srgbClr val="00B7D8"/>
            </a:solidFill>
            <a:prstDash val="solid"/>
          </a:ln>
        </p:spPr>
      </p:sp>
      <p:sp>
        <p:nvSpPr>
          <p:cNvPr id="14" name="Shape 12"/>
          <p:cNvSpPr/>
          <p:nvPr/>
        </p:nvSpPr>
        <p:spPr>
          <a:xfrm>
            <a:off x="5760720" y="2999232"/>
            <a:ext cx="2103120" cy="329184"/>
          </a:xfrm>
          <a:prstGeom prst="roundRect">
            <a:avLst>
              <a:gd name="adj" fmla="val 13889"/>
            </a:avLst>
          </a:prstGeom>
          <a:solidFill>
            <a:srgbClr val="009FD3"/>
          </a:solidFill>
          <a:ln w="12700">
            <a:solidFill>
              <a:srgbClr val="009FD3"/>
            </a:solidFill>
            <a:prstDash val="solid"/>
          </a:ln>
        </p:spPr>
      </p:sp>
      <p:sp>
        <p:nvSpPr>
          <p:cNvPr id="15" name="Text 13"/>
          <p:cNvSpPr/>
          <p:nvPr/>
        </p:nvSpPr>
        <p:spPr>
          <a:xfrm>
            <a:off x="5806440" y="3076956"/>
            <a:ext cx="2011680" cy="137160"/>
          </a:xfrm>
          <a:prstGeom prst="rect">
            <a:avLst/>
          </a:prstGeom>
          <a:noFill/>
          <a:ln/>
        </p:spPr>
        <p:txBody>
          <a:bodyPr wrap="square" lIns="0" tIns="0" rIns="0" bIns="0" rtlCol="0" anchor="ctr"/>
          <a:lstStyle/>
          <a:p>
            <a:pPr algn="ctr" indent="0" marL="0">
              <a:buNone/>
            </a:pPr>
            <a:r>
              <a:rPr lang="en-US" sz="960" b="1" dirty="0">
                <a:solidFill>
                  <a:srgbClr val="FFFFFF"/>
                </a:solidFill>
                <a:latin typeface="Barlow" pitchFamily="34" charset="0"/>
                <a:ea typeface="Barlow" pitchFamily="34" charset="-122"/>
                <a:cs typeface="Barlow" pitchFamily="34" charset="-120"/>
              </a:rPr>
              <a:t>Foundry resource</a:t>
            </a:r>
            <a:endParaRPr lang="en-US" sz="960" dirty="0"/>
          </a:p>
        </p:txBody>
      </p:sp>
      <p:sp>
        <p:nvSpPr>
          <p:cNvPr id="16" name="Shape 14"/>
          <p:cNvSpPr/>
          <p:nvPr/>
        </p:nvSpPr>
        <p:spPr>
          <a:xfrm rot="5400000">
            <a:off x="6702552" y="3355848"/>
            <a:ext cx="219456" cy="164592"/>
          </a:xfrm>
          <a:prstGeom prst="chevron">
            <a:avLst/>
          </a:prstGeom>
          <a:solidFill>
            <a:srgbClr val="00B7D8"/>
          </a:solidFill>
          <a:ln w="12700">
            <a:solidFill>
              <a:srgbClr val="00B7D8"/>
            </a:solidFill>
            <a:prstDash val="solid"/>
          </a:ln>
        </p:spPr>
      </p:sp>
      <p:sp>
        <p:nvSpPr>
          <p:cNvPr id="17" name="Shape 15"/>
          <p:cNvSpPr/>
          <p:nvPr/>
        </p:nvSpPr>
        <p:spPr>
          <a:xfrm>
            <a:off x="5760720" y="3639312"/>
            <a:ext cx="2103120" cy="329184"/>
          </a:xfrm>
          <a:prstGeom prst="roundRect">
            <a:avLst>
              <a:gd name="adj" fmla="val 13889"/>
            </a:avLst>
          </a:prstGeom>
          <a:solidFill>
            <a:srgbClr val="074E76"/>
          </a:solidFill>
          <a:ln w="12700">
            <a:solidFill>
              <a:srgbClr val="074E76"/>
            </a:solidFill>
            <a:prstDash val="solid"/>
          </a:ln>
        </p:spPr>
      </p:sp>
      <p:sp>
        <p:nvSpPr>
          <p:cNvPr id="18" name="Text 16"/>
          <p:cNvSpPr/>
          <p:nvPr/>
        </p:nvSpPr>
        <p:spPr>
          <a:xfrm>
            <a:off x="5806440" y="3717036"/>
            <a:ext cx="2011680" cy="137160"/>
          </a:xfrm>
          <a:prstGeom prst="rect">
            <a:avLst/>
          </a:prstGeom>
          <a:noFill/>
          <a:ln/>
        </p:spPr>
        <p:txBody>
          <a:bodyPr wrap="square" lIns="0" tIns="0" rIns="0" bIns="0" rtlCol="0" anchor="ctr"/>
          <a:lstStyle/>
          <a:p>
            <a:pPr algn="ctr" indent="0" marL="0">
              <a:buNone/>
            </a:pPr>
            <a:r>
              <a:rPr lang="en-US" sz="960" b="1" dirty="0">
                <a:solidFill>
                  <a:srgbClr val="FFFFFF"/>
                </a:solidFill>
                <a:latin typeface="Barlow" pitchFamily="34" charset="0"/>
                <a:ea typeface="Barlow" pitchFamily="34" charset="-122"/>
                <a:cs typeface="Barlow" pitchFamily="34" charset="-120"/>
              </a:rPr>
              <a:t>Project</a:t>
            </a:r>
            <a:endParaRPr lang="en-US" sz="960" dirty="0"/>
          </a:p>
        </p:txBody>
      </p:sp>
      <p:sp>
        <p:nvSpPr>
          <p:cNvPr id="19" name="Shape 17"/>
          <p:cNvSpPr/>
          <p:nvPr/>
        </p:nvSpPr>
        <p:spPr>
          <a:xfrm>
            <a:off x="5669280" y="4069080"/>
            <a:ext cx="2834640" cy="512064"/>
          </a:xfrm>
          <a:prstGeom prst="rect">
            <a:avLst/>
          </a:prstGeom>
          <a:solidFill>
            <a:srgbClr val="FFFFFF"/>
          </a:solidFill>
          <a:ln w="9525">
            <a:solidFill>
              <a:srgbClr val="E8EEF2"/>
            </a:solidFill>
            <a:prstDash val="solid"/>
          </a:ln>
        </p:spPr>
      </p:sp>
      <p:sp>
        <p:nvSpPr>
          <p:cNvPr id="20" name="Shape 18"/>
          <p:cNvSpPr/>
          <p:nvPr/>
        </p:nvSpPr>
        <p:spPr>
          <a:xfrm>
            <a:off x="5833872" y="4233672"/>
            <a:ext cx="283464" cy="283464"/>
          </a:xfrm>
          <a:prstGeom prst="ellipse">
            <a:avLst/>
          </a:prstGeom>
          <a:solidFill>
            <a:srgbClr val="009FD3"/>
          </a:solidFill>
          <a:ln w="12700">
            <a:solidFill>
              <a:srgbClr val="009FD3"/>
            </a:solidFill>
            <a:prstDash val="solid"/>
          </a:ln>
        </p:spPr>
      </p:sp>
      <p:sp>
        <p:nvSpPr>
          <p:cNvPr id="21" name="Text 19"/>
          <p:cNvSpPr/>
          <p:nvPr/>
        </p:nvSpPr>
        <p:spPr>
          <a:xfrm>
            <a:off x="5833872" y="424281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i</a:t>
            </a:r>
            <a:endParaRPr lang="en-US" sz="1100" dirty="0"/>
          </a:p>
        </p:txBody>
      </p:sp>
      <p:sp>
        <p:nvSpPr>
          <p:cNvPr id="22" name="Text 20"/>
          <p:cNvSpPr/>
          <p:nvPr/>
        </p:nvSpPr>
        <p:spPr>
          <a:xfrm>
            <a:off x="6199632" y="4206240"/>
            <a:ext cx="214884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Demonstration</a:t>
            </a:r>
            <a:endParaRPr lang="en-US" sz="1250" dirty="0"/>
          </a:p>
        </p:txBody>
      </p:sp>
      <p:sp>
        <p:nvSpPr>
          <p:cNvPr id="23" name="Text 21"/>
          <p:cNvSpPr/>
          <p:nvPr/>
        </p:nvSpPr>
        <p:spPr>
          <a:xfrm>
            <a:off x="6199632" y="4526280"/>
            <a:ext cx="2121408" cy="-73152"/>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Walk through sign-in, project context, supplied assets, and cleanup expectations.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12</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Workspace readiness checklist</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Confirm these items before beginning any Azure lab.</a:t>
            </a:r>
            <a:endParaRPr lang="en-US" sz="1180" dirty="0"/>
          </a:p>
        </p:txBody>
      </p:sp>
      <p:sp>
        <p:nvSpPr>
          <p:cNvPr id="7" name="Shape 5"/>
          <p:cNvSpPr/>
          <p:nvPr/>
        </p:nvSpPr>
        <p:spPr>
          <a:xfrm>
            <a:off x="713232" y="1417320"/>
            <a:ext cx="3520440" cy="566928"/>
          </a:xfrm>
          <a:prstGeom prst="roundRect">
            <a:avLst>
              <a:gd name="adj" fmla="val 8065"/>
            </a:avLst>
          </a:prstGeom>
          <a:solidFill>
            <a:srgbClr val="FFFFFF"/>
          </a:solidFill>
          <a:ln w="10160">
            <a:solidFill>
              <a:srgbClr val="E8EEF2"/>
            </a:solidFill>
            <a:prstDash val="solid"/>
          </a:ln>
        </p:spPr>
      </p:sp>
      <p:sp>
        <p:nvSpPr>
          <p:cNvPr id="8" name="Shape 6"/>
          <p:cNvSpPr/>
          <p:nvPr/>
        </p:nvSpPr>
        <p:spPr>
          <a:xfrm rot="5400000">
            <a:off x="859536" y="1609344"/>
            <a:ext cx="146304" cy="146304"/>
          </a:xfrm>
          <a:prstGeom prst="triangle">
            <a:avLst/>
          </a:prstGeom>
          <a:solidFill>
            <a:srgbClr val="009FD3"/>
          </a:solidFill>
          <a:ln w="12700">
            <a:solidFill>
              <a:srgbClr val="009FD3"/>
            </a:solidFill>
            <a:prstDash val="solid"/>
          </a:ln>
        </p:spPr>
      </p:sp>
      <p:sp>
        <p:nvSpPr>
          <p:cNvPr id="9" name="Text 7"/>
          <p:cNvSpPr/>
          <p:nvPr/>
        </p:nvSpPr>
        <p:spPr>
          <a:xfrm>
            <a:off x="1124712" y="1536192"/>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Identity</a:t>
            </a:r>
            <a:endParaRPr lang="en-US" sz="1080" dirty="0"/>
          </a:p>
        </p:txBody>
      </p:sp>
      <p:sp>
        <p:nvSpPr>
          <p:cNvPr id="10" name="Text 8"/>
          <p:cNvSpPr/>
          <p:nvPr/>
        </p:nvSpPr>
        <p:spPr>
          <a:xfrm>
            <a:off x="2130552" y="1536192"/>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Correct tenant, subscription, and learner account are active.</a:t>
            </a:r>
            <a:endParaRPr lang="en-US" sz="920" dirty="0"/>
          </a:p>
        </p:txBody>
      </p:sp>
      <p:sp>
        <p:nvSpPr>
          <p:cNvPr id="11" name="Shape 9"/>
          <p:cNvSpPr/>
          <p:nvPr/>
        </p:nvSpPr>
        <p:spPr>
          <a:xfrm>
            <a:off x="713232" y="2267712"/>
            <a:ext cx="3520440" cy="566928"/>
          </a:xfrm>
          <a:prstGeom prst="roundRect">
            <a:avLst>
              <a:gd name="adj" fmla="val 8065"/>
            </a:avLst>
          </a:prstGeom>
          <a:solidFill>
            <a:srgbClr val="FFFFFF"/>
          </a:solidFill>
          <a:ln w="10160">
            <a:solidFill>
              <a:srgbClr val="E8EEF2"/>
            </a:solidFill>
            <a:prstDash val="solid"/>
          </a:ln>
        </p:spPr>
      </p:sp>
      <p:sp>
        <p:nvSpPr>
          <p:cNvPr id="12" name="Shape 10"/>
          <p:cNvSpPr/>
          <p:nvPr/>
        </p:nvSpPr>
        <p:spPr>
          <a:xfrm rot="5400000">
            <a:off x="859536" y="2459736"/>
            <a:ext cx="146304" cy="146304"/>
          </a:xfrm>
          <a:prstGeom prst="triangle">
            <a:avLst/>
          </a:prstGeom>
          <a:solidFill>
            <a:srgbClr val="009FD3"/>
          </a:solidFill>
          <a:ln w="12700">
            <a:solidFill>
              <a:srgbClr val="009FD3"/>
            </a:solidFill>
            <a:prstDash val="solid"/>
          </a:ln>
        </p:spPr>
      </p:sp>
      <p:sp>
        <p:nvSpPr>
          <p:cNvPr id="13" name="Text 11"/>
          <p:cNvSpPr/>
          <p:nvPr/>
        </p:nvSpPr>
        <p:spPr>
          <a:xfrm>
            <a:off x="1124712" y="2386584"/>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Permissions</a:t>
            </a:r>
            <a:endParaRPr lang="en-US" sz="1080" dirty="0"/>
          </a:p>
        </p:txBody>
      </p:sp>
      <p:sp>
        <p:nvSpPr>
          <p:cNvPr id="14" name="Text 12"/>
          <p:cNvSpPr/>
          <p:nvPr/>
        </p:nvSpPr>
        <p:spPr>
          <a:xfrm>
            <a:off x="2130552" y="2386584"/>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Required roles allow resource, project, and deployment work.</a:t>
            </a:r>
            <a:endParaRPr lang="en-US" sz="920" dirty="0"/>
          </a:p>
        </p:txBody>
      </p:sp>
      <p:sp>
        <p:nvSpPr>
          <p:cNvPr id="15" name="Shape 13"/>
          <p:cNvSpPr/>
          <p:nvPr/>
        </p:nvSpPr>
        <p:spPr>
          <a:xfrm>
            <a:off x="713232" y="3118104"/>
            <a:ext cx="3520440" cy="566928"/>
          </a:xfrm>
          <a:prstGeom prst="roundRect">
            <a:avLst>
              <a:gd name="adj" fmla="val 8065"/>
            </a:avLst>
          </a:prstGeom>
          <a:solidFill>
            <a:srgbClr val="FFFFFF"/>
          </a:solidFill>
          <a:ln w="10160">
            <a:solidFill>
              <a:srgbClr val="E8EEF2"/>
            </a:solidFill>
            <a:prstDash val="solid"/>
          </a:ln>
        </p:spPr>
      </p:sp>
      <p:sp>
        <p:nvSpPr>
          <p:cNvPr id="16" name="Shape 14"/>
          <p:cNvSpPr/>
          <p:nvPr/>
        </p:nvSpPr>
        <p:spPr>
          <a:xfrm rot="5400000">
            <a:off x="859536" y="3310128"/>
            <a:ext cx="146304" cy="146304"/>
          </a:xfrm>
          <a:prstGeom prst="triangle">
            <a:avLst/>
          </a:prstGeom>
          <a:solidFill>
            <a:srgbClr val="009FD3"/>
          </a:solidFill>
          <a:ln w="12700">
            <a:solidFill>
              <a:srgbClr val="009FD3"/>
            </a:solidFill>
            <a:prstDash val="solid"/>
          </a:ln>
        </p:spPr>
      </p:sp>
      <p:sp>
        <p:nvSpPr>
          <p:cNvPr id="17" name="Text 15"/>
          <p:cNvSpPr/>
          <p:nvPr/>
        </p:nvSpPr>
        <p:spPr>
          <a:xfrm>
            <a:off x="1124712" y="3236976"/>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Region</a:t>
            </a:r>
            <a:endParaRPr lang="en-US" sz="1080" dirty="0"/>
          </a:p>
        </p:txBody>
      </p:sp>
      <p:sp>
        <p:nvSpPr>
          <p:cNvPr id="18" name="Text 16"/>
          <p:cNvSpPr/>
          <p:nvPr/>
        </p:nvSpPr>
        <p:spPr>
          <a:xfrm>
            <a:off x="2130552" y="3236976"/>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Chosen region supports the needed model and service capability.</a:t>
            </a:r>
            <a:endParaRPr lang="en-US" sz="920" dirty="0"/>
          </a:p>
        </p:txBody>
      </p:sp>
      <p:sp>
        <p:nvSpPr>
          <p:cNvPr id="19" name="Shape 17"/>
          <p:cNvSpPr/>
          <p:nvPr/>
        </p:nvSpPr>
        <p:spPr>
          <a:xfrm>
            <a:off x="4572000" y="1417320"/>
            <a:ext cx="3520440" cy="566928"/>
          </a:xfrm>
          <a:prstGeom prst="roundRect">
            <a:avLst>
              <a:gd name="adj" fmla="val 8065"/>
            </a:avLst>
          </a:prstGeom>
          <a:solidFill>
            <a:srgbClr val="FFFFFF"/>
          </a:solidFill>
          <a:ln w="10160">
            <a:solidFill>
              <a:srgbClr val="E8EEF2"/>
            </a:solidFill>
            <a:prstDash val="solid"/>
          </a:ln>
        </p:spPr>
      </p:sp>
      <p:sp>
        <p:nvSpPr>
          <p:cNvPr id="20" name="Shape 18"/>
          <p:cNvSpPr/>
          <p:nvPr/>
        </p:nvSpPr>
        <p:spPr>
          <a:xfrm rot="5400000">
            <a:off x="4718304" y="1609344"/>
            <a:ext cx="146304" cy="146304"/>
          </a:xfrm>
          <a:prstGeom prst="triangle">
            <a:avLst/>
          </a:prstGeom>
          <a:solidFill>
            <a:srgbClr val="009FD3"/>
          </a:solidFill>
          <a:ln w="12700">
            <a:solidFill>
              <a:srgbClr val="009FD3"/>
            </a:solidFill>
            <a:prstDash val="solid"/>
          </a:ln>
        </p:spPr>
      </p:sp>
      <p:sp>
        <p:nvSpPr>
          <p:cNvPr id="21" name="Text 19"/>
          <p:cNvSpPr/>
          <p:nvPr/>
        </p:nvSpPr>
        <p:spPr>
          <a:xfrm>
            <a:off x="4983480" y="1536192"/>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Quota</a:t>
            </a:r>
            <a:endParaRPr lang="en-US" sz="1080" dirty="0"/>
          </a:p>
        </p:txBody>
      </p:sp>
      <p:sp>
        <p:nvSpPr>
          <p:cNvPr id="22" name="Text 20"/>
          <p:cNvSpPr/>
          <p:nvPr/>
        </p:nvSpPr>
        <p:spPr>
          <a:xfrm>
            <a:off x="5989320" y="1536192"/>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Model deployment quota is available before lab execution.</a:t>
            </a:r>
            <a:endParaRPr lang="en-US" sz="920" dirty="0"/>
          </a:p>
        </p:txBody>
      </p:sp>
      <p:sp>
        <p:nvSpPr>
          <p:cNvPr id="23" name="Shape 21"/>
          <p:cNvSpPr/>
          <p:nvPr/>
        </p:nvSpPr>
        <p:spPr>
          <a:xfrm>
            <a:off x="4572000" y="2267712"/>
            <a:ext cx="3520440" cy="566928"/>
          </a:xfrm>
          <a:prstGeom prst="roundRect">
            <a:avLst>
              <a:gd name="adj" fmla="val 8065"/>
            </a:avLst>
          </a:prstGeom>
          <a:solidFill>
            <a:srgbClr val="FFFFFF"/>
          </a:solidFill>
          <a:ln w="10160">
            <a:solidFill>
              <a:srgbClr val="E8EEF2"/>
            </a:solidFill>
            <a:prstDash val="solid"/>
          </a:ln>
        </p:spPr>
      </p:sp>
      <p:sp>
        <p:nvSpPr>
          <p:cNvPr id="24" name="Shape 22"/>
          <p:cNvSpPr/>
          <p:nvPr/>
        </p:nvSpPr>
        <p:spPr>
          <a:xfrm rot="5400000">
            <a:off x="4718304" y="2459736"/>
            <a:ext cx="146304" cy="146304"/>
          </a:xfrm>
          <a:prstGeom prst="triangle">
            <a:avLst/>
          </a:prstGeom>
          <a:solidFill>
            <a:srgbClr val="009FD3"/>
          </a:solidFill>
          <a:ln w="12700">
            <a:solidFill>
              <a:srgbClr val="009FD3"/>
            </a:solidFill>
            <a:prstDash val="solid"/>
          </a:ln>
        </p:spPr>
      </p:sp>
      <p:sp>
        <p:nvSpPr>
          <p:cNvPr id="25" name="Text 23"/>
          <p:cNvSpPr/>
          <p:nvPr/>
        </p:nvSpPr>
        <p:spPr>
          <a:xfrm>
            <a:off x="4983480" y="2386584"/>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Evidence</a:t>
            </a:r>
            <a:endParaRPr lang="en-US" sz="1080" dirty="0"/>
          </a:p>
        </p:txBody>
      </p:sp>
      <p:sp>
        <p:nvSpPr>
          <p:cNvPr id="26" name="Text 24"/>
          <p:cNvSpPr/>
          <p:nvPr/>
        </p:nvSpPr>
        <p:spPr>
          <a:xfrm>
            <a:off x="5989320" y="2386584"/>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Names, screenshots, and validation results can be captured.</a:t>
            </a:r>
            <a:endParaRPr lang="en-US" sz="920" dirty="0"/>
          </a:p>
        </p:txBody>
      </p:sp>
      <p:sp>
        <p:nvSpPr>
          <p:cNvPr id="27" name="Shape 25"/>
          <p:cNvSpPr/>
          <p:nvPr/>
        </p:nvSpPr>
        <p:spPr>
          <a:xfrm>
            <a:off x="4572000" y="3118104"/>
            <a:ext cx="3520440" cy="566928"/>
          </a:xfrm>
          <a:prstGeom prst="roundRect">
            <a:avLst>
              <a:gd name="adj" fmla="val 8065"/>
            </a:avLst>
          </a:prstGeom>
          <a:solidFill>
            <a:srgbClr val="FFFFFF"/>
          </a:solidFill>
          <a:ln w="10160">
            <a:solidFill>
              <a:srgbClr val="E8EEF2"/>
            </a:solidFill>
            <a:prstDash val="solid"/>
          </a:ln>
        </p:spPr>
      </p:sp>
      <p:sp>
        <p:nvSpPr>
          <p:cNvPr id="28" name="Shape 26"/>
          <p:cNvSpPr/>
          <p:nvPr/>
        </p:nvSpPr>
        <p:spPr>
          <a:xfrm rot="5400000">
            <a:off x="4718304" y="3310128"/>
            <a:ext cx="146304" cy="146304"/>
          </a:xfrm>
          <a:prstGeom prst="triangle">
            <a:avLst/>
          </a:prstGeom>
          <a:solidFill>
            <a:srgbClr val="009FD3"/>
          </a:solidFill>
          <a:ln w="12700">
            <a:solidFill>
              <a:srgbClr val="009FD3"/>
            </a:solidFill>
            <a:prstDash val="solid"/>
          </a:ln>
        </p:spPr>
      </p:sp>
      <p:sp>
        <p:nvSpPr>
          <p:cNvPr id="29" name="Text 27"/>
          <p:cNvSpPr/>
          <p:nvPr/>
        </p:nvSpPr>
        <p:spPr>
          <a:xfrm>
            <a:off x="4983480" y="3236976"/>
            <a:ext cx="822960" cy="164592"/>
          </a:xfrm>
          <a:prstGeom prst="rect">
            <a:avLst/>
          </a:prstGeom>
          <a:noFill/>
          <a:ln/>
        </p:spPr>
        <p:txBody>
          <a:bodyPr wrap="square" lIns="0" tIns="0" rIns="0" bIns="0" rtlCol="0" anchor="ctr">
            <a:normAutofit/>
          </a:bodyPr>
          <a:lstStyle/>
          <a:p>
            <a:pPr indent="0" marL="0">
              <a:buNone/>
            </a:pPr>
            <a:r>
              <a:rPr lang="en-US" sz="1080" b="1" dirty="0">
                <a:solidFill>
                  <a:srgbClr val="009FD3"/>
                </a:solidFill>
                <a:latin typeface="Raleway" pitchFamily="34" charset="0"/>
                <a:ea typeface="Raleway" pitchFamily="34" charset="-122"/>
                <a:cs typeface="Raleway" pitchFamily="34" charset="-120"/>
              </a:rPr>
              <a:t>Cleanup</a:t>
            </a:r>
            <a:endParaRPr lang="en-US" sz="1080" dirty="0"/>
          </a:p>
        </p:txBody>
      </p:sp>
      <p:sp>
        <p:nvSpPr>
          <p:cNvPr id="30" name="Text 28"/>
          <p:cNvSpPr/>
          <p:nvPr/>
        </p:nvSpPr>
        <p:spPr>
          <a:xfrm>
            <a:off x="5989320" y="3236976"/>
            <a:ext cx="1874520" cy="301752"/>
          </a:xfrm>
          <a:prstGeom prst="rect">
            <a:avLst/>
          </a:prstGeom>
          <a:noFill/>
          <a:ln/>
        </p:spPr>
        <p:txBody>
          <a:bodyPr wrap="square" lIns="0" tIns="0" rIns="0" bIns="0" rtlCol="0" anchor="ctr">
            <a:normAutofit/>
          </a:bodyPr>
          <a:lstStyle/>
          <a:p>
            <a:pPr indent="0" marL="0">
              <a:buNone/>
            </a:pPr>
            <a:r>
              <a:rPr lang="en-US" sz="920" dirty="0">
                <a:solidFill>
                  <a:srgbClr val="333B45"/>
                </a:solidFill>
                <a:latin typeface="Barlow" pitchFamily="34" charset="0"/>
                <a:ea typeface="Barlow" pitchFamily="34" charset="-122"/>
                <a:cs typeface="Barlow" pitchFamily="34" charset="-120"/>
              </a:rPr>
              <a:t>Resource-retention or deletion instructions are understood.</a:t>
            </a:r>
            <a:endParaRPr lang="en-US" sz="920" dirty="0"/>
          </a:p>
        </p:txBody>
      </p:sp>
      <p:sp>
        <p:nvSpPr>
          <p:cNvPr id="31" name="Shape 29"/>
          <p:cNvSpPr/>
          <p:nvPr/>
        </p:nvSpPr>
        <p:spPr>
          <a:xfrm>
            <a:off x="868680" y="4297680"/>
            <a:ext cx="7406640" cy="420624"/>
          </a:xfrm>
          <a:prstGeom prst="rect">
            <a:avLst/>
          </a:prstGeom>
          <a:solidFill>
            <a:srgbClr val="FFFFFF"/>
          </a:solidFill>
          <a:ln w="9525">
            <a:solidFill>
              <a:srgbClr val="E8EEF2"/>
            </a:solidFill>
            <a:prstDash val="solid"/>
          </a:ln>
        </p:spPr>
      </p:sp>
      <p:sp>
        <p:nvSpPr>
          <p:cNvPr id="32" name="Shape 30"/>
          <p:cNvSpPr/>
          <p:nvPr/>
        </p:nvSpPr>
        <p:spPr>
          <a:xfrm>
            <a:off x="1033272" y="4462272"/>
            <a:ext cx="283464" cy="283464"/>
          </a:xfrm>
          <a:prstGeom prst="ellipse">
            <a:avLst/>
          </a:prstGeom>
          <a:solidFill>
            <a:srgbClr val="009FD3"/>
          </a:solidFill>
          <a:ln w="12700">
            <a:solidFill>
              <a:srgbClr val="009FD3"/>
            </a:solidFill>
            <a:prstDash val="solid"/>
          </a:ln>
        </p:spPr>
      </p:sp>
      <p:sp>
        <p:nvSpPr>
          <p:cNvPr id="33" name="Text 31"/>
          <p:cNvSpPr/>
          <p:nvPr/>
        </p:nvSpPr>
        <p:spPr>
          <a:xfrm>
            <a:off x="1033272" y="447141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34" name="Text 32"/>
          <p:cNvSpPr/>
          <p:nvPr/>
        </p:nvSpPr>
        <p:spPr>
          <a:xfrm>
            <a:off x="1399032" y="4434840"/>
            <a:ext cx="672084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Lab rule</a:t>
            </a:r>
            <a:endParaRPr lang="en-US" sz="1250" dirty="0"/>
          </a:p>
        </p:txBody>
      </p:sp>
      <p:sp>
        <p:nvSpPr>
          <p:cNvPr id="35" name="Text 33"/>
          <p:cNvSpPr/>
          <p:nvPr/>
        </p:nvSpPr>
        <p:spPr>
          <a:xfrm>
            <a:off x="1399032" y="4754880"/>
            <a:ext cx="6693408" cy="-164592"/>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Do not start a lab until the active tenant, subscription, project context, region, and quota are known.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577072" y="4727448"/>
            <a:ext cx="292608"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13</a:t>
            </a:r>
            <a:endParaRPr lang="en-US" sz="700" dirty="0"/>
          </a:p>
        </p:txBody>
      </p:sp>
      <p:sp>
        <p:nvSpPr>
          <p:cNvPr id="5" name="Text 3"/>
          <p:cNvSpPr/>
          <p:nvPr/>
        </p:nvSpPr>
        <p:spPr>
          <a:xfrm>
            <a:off x="658368" y="621792"/>
            <a:ext cx="7909560" cy="420624"/>
          </a:xfrm>
          <a:prstGeom prst="rect">
            <a:avLst/>
          </a:prstGeom>
          <a:noFill/>
          <a:ln/>
        </p:spPr>
        <p:txBody>
          <a:bodyPr wrap="square" lIns="0" tIns="0" rIns="0" bIns="0" rtlCol="0" anchor="ctr">
            <a:normAutofit/>
          </a:bodyPr>
          <a:lstStyle/>
          <a:p>
            <a:pPr indent="0" marL="0">
              <a:buNone/>
            </a:pPr>
            <a:r>
              <a:rPr lang="en-US" sz="2500" dirty="0">
                <a:solidFill>
                  <a:srgbClr val="009FD3"/>
                </a:solidFill>
                <a:latin typeface="Raleway" pitchFamily="34" charset="0"/>
                <a:ea typeface="Raleway" pitchFamily="34" charset="-122"/>
                <a:cs typeface="Raleway" pitchFamily="34" charset="-120"/>
              </a:rPr>
              <a:t>Section 1 review</a:t>
            </a:r>
            <a:endParaRPr lang="en-US" sz="2500" dirty="0"/>
          </a:p>
        </p:txBody>
      </p:sp>
      <p:sp>
        <p:nvSpPr>
          <p:cNvPr id="6" name="Text 4"/>
          <p:cNvSpPr/>
          <p:nvPr/>
        </p:nvSpPr>
        <p:spPr>
          <a:xfrm>
            <a:off x="658368" y="1207008"/>
            <a:ext cx="7635240" cy="201168"/>
          </a:xfrm>
          <a:prstGeom prst="rect">
            <a:avLst/>
          </a:prstGeom>
          <a:noFill/>
          <a:ln/>
        </p:spPr>
        <p:txBody>
          <a:bodyPr wrap="square" lIns="0" tIns="0" rIns="0" bIns="0" rtlCol="0" anchor="ctr">
            <a:normAutofit/>
          </a:bodyPr>
          <a:lstStyle/>
          <a:p>
            <a:pPr indent="0" marL="0">
              <a:buNone/>
            </a:pPr>
            <a:r>
              <a:rPr lang="en-US" sz="1180" dirty="0">
                <a:solidFill>
                  <a:srgbClr val="65717D"/>
                </a:solidFill>
                <a:latin typeface="Barlow" pitchFamily="34" charset="0"/>
                <a:ea typeface="Barlow" pitchFamily="34" charset="-122"/>
                <a:cs typeface="Barlow" pitchFamily="34" charset="-120"/>
              </a:rPr>
              <a:t>Key takeaways before moving into platform foundations.</a:t>
            </a:r>
            <a:endParaRPr lang="en-US" sz="1180" dirty="0"/>
          </a:p>
        </p:txBody>
      </p:sp>
      <p:sp>
        <p:nvSpPr>
          <p:cNvPr id="7" name="Shape 5"/>
          <p:cNvSpPr/>
          <p:nvPr/>
        </p:nvSpPr>
        <p:spPr>
          <a:xfrm>
            <a:off x="749808" y="1463040"/>
            <a:ext cx="3520440" cy="713232"/>
          </a:xfrm>
          <a:prstGeom prst="roundRect">
            <a:avLst>
              <a:gd name="adj" fmla="val 6410"/>
            </a:avLst>
          </a:prstGeom>
          <a:solidFill>
            <a:srgbClr val="FFFFFF"/>
          </a:solidFill>
          <a:ln w="10160">
            <a:solidFill>
              <a:srgbClr val="009FD3"/>
            </a:solidFill>
            <a:prstDash val="solid"/>
          </a:ln>
        </p:spPr>
      </p:sp>
      <p:sp>
        <p:nvSpPr>
          <p:cNvPr id="8" name="Shape 6"/>
          <p:cNvSpPr/>
          <p:nvPr/>
        </p:nvSpPr>
        <p:spPr>
          <a:xfrm rot="5400000">
            <a:off x="896112" y="1691640"/>
            <a:ext cx="182880" cy="182880"/>
          </a:xfrm>
          <a:prstGeom prst="triangle">
            <a:avLst/>
          </a:prstGeom>
          <a:solidFill>
            <a:srgbClr val="009FD3"/>
          </a:solidFill>
          <a:ln w="12700">
            <a:solidFill>
              <a:srgbClr val="009FD3"/>
            </a:solidFill>
            <a:prstDash val="solid"/>
          </a:ln>
        </p:spPr>
      </p:sp>
      <p:sp>
        <p:nvSpPr>
          <p:cNvPr id="9" name="Text 7"/>
          <p:cNvSpPr/>
          <p:nvPr/>
        </p:nvSpPr>
        <p:spPr>
          <a:xfrm>
            <a:off x="1207008" y="1600200"/>
            <a:ext cx="2788920" cy="201168"/>
          </a:xfrm>
          <a:prstGeom prst="rect">
            <a:avLst/>
          </a:prstGeom>
          <a:noFill/>
          <a:ln/>
        </p:spPr>
        <p:txBody>
          <a:bodyPr wrap="square" lIns="0" tIns="0" rIns="0" bIns="0" rtlCol="0" anchor="ctr">
            <a:normAutofit/>
          </a:bodyPr>
          <a:lstStyle/>
          <a:p>
            <a:pPr indent="0" marL="0">
              <a:buNone/>
            </a:pPr>
            <a:r>
              <a:rPr lang="en-US" sz="1150" b="1" dirty="0">
                <a:solidFill>
                  <a:srgbClr val="009FD3"/>
                </a:solidFill>
                <a:latin typeface="Raleway" pitchFamily="34" charset="0"/>
                <a:ea typeface="Raleway" pitchFamily="34" charset="-122"/>
                <a:cs typeface="Raleway" pitchFamily="34" charset="-120"/>
              </a:rPr>
              <a:t>Agent systems need controls</a:t>
            </a:r>
            <a:endParaRPr lang="en-US" sz="1150" dirty="0"/>
          </a:p>
        </p:txBody>
      </p:sp>
      <p:sp>
        <p:nvSpPr>
          <p:cNvPr id="10" name="Text 8"/>
          <p:cNvSpPr/>
          <p:nvPr/>
        </p:nvSpPr>
        <p:spPr>
          <a:xfrm>
            <a:off x="1207008" y="1865376"/>
            <a:ext cx="2834640" cy="201168"/>
          </a:xfrm>
          <a:prstGeom prst="rect">
            <a:avLst/>
          </a:prstGeom>
          <a:noFill/>
          <a:ln/>
        </p:spPr>
        <p:txBody>
          <a:bodyPr wrap="square" lIns="0" tIns="0" rIns="0" bIns="0" rtlCol="0" anchor="ctr">
            <a:normAutofit/>
          </a:bodyPr>
          <a:lstStyle/>
          <a:p>
            <a:pPr indent="0" marL="0">
              <a:buNone/>
            </a:pPr>
            <a:r>
              <a:rPr lang="en-US" sz="960" dirty="0">
                <a:solidFill>
                  <a:srgbClr val="333B45"/>
                </a:solidFill>
                <a:latin typeface="Barlow" pitchFamily="34" charset="0"/>
                <a:ea typeface="Barlow" pitchFamily="34" charset="-122"/>
                <a:cs typeface="Barlow" pitchFamily="34" charset="-120"/>
              </a:rPr>
              <a:t>A useful answer is not enough for enterprise trust.</a:t>
            </a:r>
            <a:endParaRPr lang="en-US" sz="960" dirty="0"/>
          </a:p>
        </p:txBody>
      </p:sp>
      <p:sp>
        <p:nvSpPr>
          <p:cNvPr id="11" name="Shape 9"/>
          <p:cNvSpPr/>
          <p:nvPr/>
        </p:nvSpPr>
        <p:spPr>
          <a:xfrm>
            <a:off x="4727448" y="1463040"/>
            <a:ext cx="3520440" cy="713232"/>
          </a:xfrm>
          <a:prstGeom prst="roundRect">
            <a:avLst>
              <a:gd name="adj" fmla="val 6410"/>
            </a:avLst>
          </a:prstGeom>
          <a:solidFill>
            <a:srgbClr val="FFFFFF"/>
          </a:solidFill>
          <a:ln w="10160">
            <a:solidFill>
              <a:srgbClr val="009FD3"/>
            </a:solidFill>
            <a:prstDash val="solid"/>
          </a:ln>
        </p:spPr>
      </p:sp>
      <p:sp>
        <p:nvSpPr>
          <p:cNvPr id="12" name="Shape 10"/>
          <p:cNvSpPr/>
          <p:nvPr/>
        </p:nvSpPr>
        <p:spPr>
          <a:xfrm rot="5400000">
            <a:off x="4873752" y="1691640"/>
            <a:ext cx="182880" cy="182880"/>
          </a:xfrm>
          <a:prstGeom prst="triangle">
            <a:avLst/>
          </a:prstGeom>
          <a:solidFill>
            <a:srgbClr val="009FD3"/>
          </a:solidFill>
          <a:ln w="12700">
            <a:solidFill>
              <a:srgbClr val="009FD3"/>
            </a:solidFill>
            <a:prstDash val="solid"/>
          </a:ln>
        </p:spPr>
      </p:sp>
      <p:sp>
        <p:nvSpPr>
          <p:cNvPr id="13" name="Text 11"/>
          <p:cNvSpPr/>
          <p:nvPr/>
        </p:nvSpPr>
        <p:spPr>
          <a:xfrm>
            <a:off x="5184648" y="1600200"/>
            <a:ext cx="2788920" cy="201168"/>
          </a:xfrm>
          <a:prstGeom prst="rect">
            <a:avLst/>
          </a:prstGeom>
          <a:noFill/>
          <a:ln/>
        </p:spPr>
        <p:txBody>
          <a:bodyPr wrap="square" lIns="0" tIns="0" rIns="0" bIns="0" rtlCol="0" anchor="ctr">
            <a:normAutofit/>
          </a:bodyPr>
          <a:lstStyle/>
          <a:p>
            <a:pPr indent="0" marL="0">
              <a:buNone/>
            </a:pPr>
            <a:r>
              <a:rPr lang="en-US" sz="1150" b="1" dirty="0">
                <a:solidFill>
                  <a:srgbClr val="009FD3"/>
                </a:solidFill>
                <a:latin typeface="Raleway" pitchFamily="34" charset="0"/>
                <a:ea typeface="Raleway" pitchFamily="34" charset="-122"/>
                <a:cs typeface="Raleway" pitchFamily="34" charset="-120"/>
              </a:rPr>
              <a:t>Foundry provides the platform boundary</a:t>
            </a:r>
            <a:endParaRPr lang="en-US" sz="1150" dirty="0"/>
          </a:p>
        </p:txBody>
      </p:sp>
      <p:sp>
        <p:nvSpPr>
          <p:cNvPr id="14" name="Text 12"/>
          <p:cNvSpPr/>
          <p:nvPr/>
        </p:nvSpPr>
        <p:spPr>
          <a:xfrm>
            <a:off x="5184648" y="1865376"/>
            <a:ext cx="2834640" cy="201168"/>
          </a:xfrm>
          <a:prstGeom prst="rect">
            <a:avLst/>
          </a:prstGeom>
          <a:noFill/>
          <a:ln/>
        </p:spPr>
        <p:txBody>
          <a:bodyPr wrap="square" lIns="0" tIns="0" rIns="0" bIns="0" rtlCol="0" anchor="ctr">
            <a:normAutofit/>
          </a:bodyPr>
          <a:lstStyle/>
          <a:p>
            <a:pPr indent="0" marL="0">
              <a:buNone/>
            </a:pPr>
            <a:r>
              <a:rPr lang="en-US" sz="960" dirty="0">
                <a:solidFill>
                  <a:srgbClr val="333B45"/>
                </a:solidFill>
                <a:latin typeface="Barlow" pitchFamily="34" charset="0"/>
                <a:ea typeface="Barlow" pitchFamily="34" charset="-122"/>
                <a:cs typeface="Barlow" pitchFamily="34" charset="-120"/>
              </a:rPr>
              <a:t>Models, agents, tools, evaluations, identity, and governance operate together.</a:t>
            </a:r>
            <a:endParaRPr lang="en-US" sz="960" dirty="0"/>
          </a:p>
        </p:txBody>
      </p:sp>
      <p:sp>
        <p:nvSpPr>
          <p:cNvPr id="15" name="Shape 13"/>
          <p:cNvSpPr/>
          <p:nvPr/>
        </p:nvSpPr>
        <p:spPr>
          <a:xfrm>
            <a:off x="749808" y="2633472"/>
            <a:ext cx="3520440" cy="713232"/>
          </a:xfrm>
          <a:prstGeom prst="roundRect">
            <a:avLst>
              <a:gd name="adj" fmla="val 6410"/>
            </a:avLst>
          </a:prstGeom>
          <a:solidFill>
            <a:srgbClr val="FFFFFF"/>
          </a:solidFill>
          <a:ln w="10160">
            <a:solidFill>
              <a:srgbClr val="009FD3"/>
            </a:solidFill>
            <a:prstDash val="solid"/>
          </a:ln>
        </p:spPr>
      </p:sp>
      <p:sp>
        <p:nvSpPr>
          <p:cNvPr id="16" name="Shape 14"/>
          <p:cNvSpPr/>
          <p:nvPr/>
        </p:nvSpPr>
        <p:spPr>
          <a:xfrm rot="5400000">
            <a:off x="896112" y="2862072"/>
            <a:ext cx="182880" cy="182880"/>
          </a:xfrm>
          <a:prstGeom prst="triangle">
            <a:avLst/>
          </a:prstGeom>
          <a:solidFill>
            <a:srgbClr val="009FD3"/>
          </a:solidFill>
          <a:ln w="12700">
            <a:solidFill>
              <a:srgbClr val="009FD3"/>
            </a:solidFill>
            <a:prstDash val="solid"/>
          </a:ln>
        </p:spPr>
      </p:sp>
      <p:sp>
        <p:nvSpPr>
          <p:cNvPr id="17" name="Text 15"/>
          <p:cNvSpPr/>
          <p:nvPr/>
        </p:nvSpPr>
        <p:spPr>
          <a:xfrm>
            <a:off x="1207008" y="2770632"/>
            <a:ext cx="2788920" cy="201168"/>
          </a:xfrm>
          <a:prstGeom prst="rect">
            <a:avLst/>
          </a:prstGeom>
          <a:noFill/>
          <a:ln/>
        </p:spPr>
        <p:txBody>
          <a:bodyPr wrap="square" lIns="0" tIns="0" rIns="0" bIns="0" rtlCol="0" anchor="ctr">
            <a:normAutofit/>
          </a:bodyPr>
          <a:lstStyle/>
          <a:p>
            <a:pPr indent="0" marL="0">
              <a:buNone/>
            </a:pPr>
            <a:r>
              <a:rPr lang="en-US" sz="1150" b="1" dirty="0">
                <a:solidFill>
                  <a:srgbClr val="009FD3"/>
                </a:solidFill>
                <a:latin typeface="Raleway" pitchFamily="34" charset="0"/>
                <a:ea typeface="Raleway" pitchFamily="34" charset="-122"/>
                <a:cs typeface="Raleway" pitchFamily="34" charset="-120"/>
              </a:rPr>
              <a:t>Demonstrations prove specific concepts</a:t>
            </a:r>
            <a:endParaRPr lang="en-US" sz="1150" dirty="0"/>
          </a:p>
        </p:txBody>
      </p:sp>
      <p:sp>
        <p:nvSpPr>
          <p:cNvPr id="18" name="Text 16"/>
          <p:cNvSpPr/>
          <p:nvPr/>
        </p:nvSpPr>
        <p:spPr>
          <a:xfrm>
            <a:off x="1207008" y="3035808"/>
            <a:ext cx="2834640" cy="201168"/>
          </a:xfrm>
          <a:prstGeom prst="rect">
            <a:avLst/>
          </a:prstGeom>
          <a:noFill/>
          <a:ln/>
        </p:spPr>
        <p:txBody>
          <a:bodyPr wrap="square" lIns="0" tIns="0" rIns="0" bIns="0" rtlCol="0" anchor="ctr">
            <a:normAutofit/>
          </a:bodyPr>
          <a:lstStyle/>
          <a:p>
            <a:pPr indent="0" marL="0">
              <a:buNone/>
            </a:pPr>
            <a:r>
              <a:rPr lang="en-US" sz="960" dirty="0">
                <a:solidFill>
                  <a:srgbClr val="333B45"/>
                </a:solidFill>
                <a:latin typeface="Barlow" pitchFamily="34" charset="0"/>
                <a:ea typeface="Barlow" pitchFamily="34" charset="-122"/>
                <a:cs typeface="Barlow" pitchFamily="34" charset="-120"/>
              </a:rPr>
              <a:t>Every demo has a starting point, expected result, and validation step.</a:t>
            </a:r>
            <a:endParaRPr lang="en-US" sz="960" dirty="0"/>
          </a:p>
        </p:txBody>
      </p:sp>
      <p:sp>
        <p:nvSpPr>
          <p:cNvPr id="19" name="Shape 17"/>
          <p:cNvSpPr/>
          <p:nvPr/>
        </p:nvSpPr>
        <p:spPr>
          <a:xfrm>
            <a:off x="4727448" y="2633472"/>
            <a:ext cx="3520440" cy="713232"/>
          </a:xfrm>
          <a:prstGeom prst="roundRect">
            <a:avLst>
              <a:gd name="adj" fmla="val 6410"/>
            </a:avLst>
          </a:prstGeom>
          <a:solidFill>
            <a:srgbClr val="FFFFFF"/>
          </a:solidFill>
          <a:ln w="10160">
            <a:solidFill>
              <a:srgbClr val="009FD3"/>
            </a:solidFill>
            <a:prstDash val="solid"/>
          </a:ln>
        </p:spPr>
      </p:sp>
      <p:sp>
        <p:nvSpPr>
          <p:cNvPr id="20" name="Shape 18"/>
          <p:cNvSpPr/>
          <p:nvPr/>
        </p:nvSpPr>
        <p:spPr>
          <a:xfrm rot="5400000">
            <a:off x="4873752" y="2862072"/>
            <a:ext cx="182880" cy="182880"/>
          </a:xfrm>
          <a:prstGeom prst="triangle">
            <a:avLst/>
          </a:prstGeom>
          <a:solidFill>
            <a:srgbClr val="009FD3"/>
          </a:solidFill>
          <a:ln w="12700">
            <a:solidFill>
              <a:srgbClr val="009FD3"/>
            </a:solidFill>
            <a:prstDash val="solid"/>
          </a:ln>
        </p:spPr>
      </p:sp>
      <p:sp>
        <p:nvSpPr>
          <p:cNvPr id="21" name="Text 19"/>
          <p:cNvSpPr/>
          <p:nvPr/>
        </p:nvSpPr>
        <p:spPr>
          <a:xfrm>
            <a:off x="5184648" y="2770632"/>
            <a:ext cx="2788920" cy="201168"/>
          </a:xfrm>
          <a:prstGeom prst="rect">
            <a:avLst/>
          </a:prstGeom>
          <a:noFill/>
          <a:ln/>
        </p:spPr>
        <p:txBody>
          <a:bodyPr wrap="square" lIns="0" tIns="0" rIns="0" bIns="0" rtlCol="0" anchor="ctr">
            <a:normAutofit/>
          </a:bodyPr>
          <a:lstStyle/>
          <a:p>
            <a:pPr indent="0" marL="0">
              <a:buNone/>
            </a:pPr>
            <a:r>
              <a:rPr lang="en-US" sz="1150" b="1" dirty="0">
                <a:solidFill>
                  <a:srgbClr val="009FD3"/>
                </a:solidFill>
                <a:latin typeface="Raleway" pitchFamily="34" charset="0"/>
                <a:ea typeface="Raleway" pitchFamily="34" charset="-122"/>
                <a:cs typeface="Raleway" pitchFamily="34" charset="-120"/>
              </a:rPr>
              <a:t>Azure context matters</a:t>
            </a:r>
            <a:endParaRPr lang="en-US" sz="1150" dirty="0"/>
          </a:p>
        </p:txBody>
      </p:sp>
      <p:sp>
        <p:nvSpPr>
          <p:cNvPr id="22" name="Text 20"/>
          <p:cNvSpPr/>
          <p:nvPr/>
        </p:nvSpPr>
        <p:spPr>
          <a:xfrm>
            <a:off x="5184648" y="3035808"/>
            <a:ext cx="2834640" cy="201168"/>
          </a:xfrm>
          <a:prstGeom prst="rect">
            <a:avLst/>
          </a:prstGeom>
          <a:noFill/>
          <a:ln/>
        </p:spPr>
        <p:txBody>
          <a:bodyPr wrap="square" lIns="0" tIns="0" rIns="0" bIns="0" rtlCol="0" anchor="ctr">
            <a:normAutofit/>
          </a:bodyPr>
          <a:lstStyle/>
          <a:p>
            <a:pPr indent="0" marL="0">
              <a:buNone/>
            </a:pPr>
            <a:r>
              <a:rPr lang="en-US" sz="960" dirty="0">
                <a:solidFill>
                  <a:srgbClr val="333B45"/>
                </a:solidFill>
                <a:latin typeface="Barlow" pitchFamily="34" charset="0"/>
                <a:ea typeface="Barlow" pitchFamily="34" charset="-122"/>
                <a:cs typeface="Barlow" pitchFamily="34" charset="-120"/>
              </a:rPr>
              <a:t>Tenant, subscription, region, quota, and cleanup affect every hands-on lab.</a:t>
            </a:r>
            <a:endParaRPr lang="en-US" sz="960" dirty="0"/>
          </a:p>
        </p:txBody>
      </p:sp>
      <p:sp>
        <p:nvSpPr>
          <p:cNvPr id="23" name="Shape 21"/>
          <p:cNvSpPr/>
          <p:nvPr/>
        </p:nvSpPr>
        <p:spPr>
          <a:xfrm>
            <a:off x="960120" y="4069080"/>
            <a:ext cx="7086600" cy="512064"/>
          </a:xfrm>
          <a:prstGeom prst="rect">
            <a:avLst/>
          </a:prstGeom>
          <a:solidFill>
            <a:srgbClr val="FFFFFF"/>
          </a:solidFill>
          <a:ln w="9525">
            <a:solidFill>
              <a:srgbClr val="E8EEF2"/>
            </a:solidFill>
            <a:prstDash val="solid"/>
          </a:ln>
        </p:spPr>
      </p:sp>
      <p:sp>
        <p:nvSpPr>
          <p:cNvPr id="24" name="Shape 22"/>
          <p:cNvSpPr/>
          <p:nvPr/>
        </p:nvSpPr>
        <p:spPr>
          <a:xfrm>
            <a:off x="1124712" y="4233672"/>
            <a:ext cx="283464" cy="283464"/>
          </a:xfrm>
          <a:prstGeom prst="ellipse">
            <a:avLst/>
          </a:prstGeom>
          <a:solidFill>
            <a:srgbClr val="009FD3"/>
          </a:solidFill>
          <a:ln w="12700">
            <a:solidFill>
              <a:srgbClr val="009FD3"/>
            </a:solidFill>
            <a:prstDash val="solid"/>
          </a:ln>
        </p:spPr>
      </p:sp>
      <p:sp>
        <p:nvSpPr>
          <p:cNvPr id="25" name="Text 23"/>
          <p:cNvSpPr/>
          <p:nvPr/>
        </p:nvSpPr>
        <p:spPr>
          <a:xfrm>
            <a:off x="1124712" y="4242816"/>
            <a:ext cx="28346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Raleway" pitchFamily="34" charset="0"/>
                <a:ea typeface="Raleway" pitchFamily="34" charset="-122"/>
                <a:cs typeface="Raleway" pitchFamily="34" charset="-120"/>
              </a:rPr>
              <a:t>▸</a:t>
            </a:r>
            <a:endParaRPr lang="en-US" sz="1100" dirty="0"/>
          </a:p>
        </p:txBody>
      </p:sp>
      <p:sp>
        <p:nvSpPr>
          <p:cNvPr id="26" name="Text 24"/>
          <p:cNvSpPr/>
          <p:nvPr/>
        </p:nvSpPr>
        <p:spPr>
          <a:xfrm>
            <a:off x="1490472" y="4206240"/>
            <a:ext cx="6400800" cy="228600"/>
          </a:xfrm>
          <a:prstGeom prst="rect">
            <a:avLst/>
          </a:prstGeom>
          <a:noFill/>
          <a:ln/>
        </p:spPr>
        <p:txBody>
          <a:bodyPr wrap="square" lIns="0" tIns="0" rIns="0" bIns="0" rtlCol="0" anchor="ctr">
            <a:normAutofit/>
          </a:bodyPr>
          <a:lstStyle/>
          <a:p>
            <a:pPr indent="0" marL="0">
              <a:buNone/>
            </a:pPr>
            <a:r>
              <a:rPr lang="en-US" sz="1250" b="1" dirty="0">
                <a:solidFill>
                  <a:srgbClr val="009FD3"/>
                </a:solidFill>
                <a:latin typeface="Raleway" pitchFamily="34" charset="0"/>
                <a:ea typeface="Raleway" pitchFamily="34" charset="-122"/>
                <a:cs typeface="Raleway" pitchFamily="34" charset="-120"/>
              </a:rPr>
              <a:t>Next</a:t>
            </a:r>
            <a:endParaRPr lang="en-US" sz="1250" dirty="0"/>
          </a:p>
        </p:txBody>
      </p:sp>
      <p:sp>
        <p:nvSpPr>
          <p:cNvPr id="27" name="Text 25"/>
          <p:cNvSpPr/>
          <p:nvPr/>
        </p:nvSpPr>
        <p:spPr>
          <a:xfrm>
            <a:off x="1490472" y="4526280"/>
            <a:ext cx="6373368" cy="-73152"/>
          </a:xfrm>
          <a:prstGeom prst="rect">
            <a:avLst/>
          </a:prstGeom>
          <a:noFill/>
          <a:ln/>
        </p:spPr>
        <p:txBody>
          <a:bodyPr wrap="square" lIns="0" tIns="0" rIns="0" bIns="0" rtlCol="0" anchor="ctr">
            <a:normAutofit/>
          </a:bodyPr>
          <a:lstStyle/>
          <a:p>
            <a:pPr indent="0" marL="0">
              <a:buNone/>
            </a:pPr>
            <a:r>
              <a:rPr lang="en-US" sz="1050" dirty="0">
                <a:solidFill>
                  <a:srgbClr val="333B45"/>
                </a:solidFill>
                <a:latin typeface="Barlow" pitchFamily="34" charset="0"/>
                <a:ea typeface="Barlow" pitchFamily="34" charset="-122"/>
                <a:cs typeface="Barlow" pitchFamily="34" charset="-120"/>
              </a:rPr>
              <a:t>Section 2 establishes the Microsoft Foundry terminology and platform pillars used by the rest of the course.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1 - Introduction</dc:title>
  <dc:subject>Microsoft Foundry</dc:subject>
  <dc:creator>Trevoir Williams</dc:creator>
  <cp:lastModifiedBy>Trevoir Williams</cp:lastModifiedBy>
  <cp:revision>1</cp:revision>
  <dcterms:created xsi:type="dcterms:W3CDTF">2026-07-11T21:06:14Z</dcterms:created>
  <dcterms:modified xsi:type="dcterms:W3CDTF">2026-07-11T21:06:14Z</dcterms:modified>
</cp:coreProperties>
</file>