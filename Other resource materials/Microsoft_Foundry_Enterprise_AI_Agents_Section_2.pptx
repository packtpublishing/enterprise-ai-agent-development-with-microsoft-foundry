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11" autoAdjust="0"/>
    <p:restoredTop sz="94610"/>
  </p:normalViewPr>
  <p:slideViewPr>
    <p:cSldViewPr snapToGrid="0" snapToObjects="1">
      <p:cViewPr varScale="1">
        <p:scale>
          <a:sx n="101" d="100"/>
          <a:sy n="101" d="100"/>
        </p:scale>
        <p:origin x="96" y="8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8486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Section 3 by connecting the platform foundation from Section 2 to practical enterprise configuration. This section is the first place where learners move from vocabulary into resource decisions: where the Foundry resource lives, how projects are organized, how models are selected and deployed, how quota and cost are considered, and how identity and access boundaries are reviewed before agent work begins. Keep the tone clear and student-friendly. This is not a development workshop. The section uses slides, short portal demonstrations, and one Azure workspace lab to build confidence with the core Foundry environment. Source hooks: Microsoft Learn, Microsoft Foundry architecture; planning a Foundry rollout; Foundry RBAC; model catalog and deployment guidance.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section overview to make the shift from Section 2 explicit. Section 2 explained the platform model; Section 3 asks learners to make the first practical design decisions. The emphasis is still enterprise architecture, not software development. Explain that the section is delivered through a mix of slides, short portal demonstrations, and one Azure workspace lab. Learners will see how a Foundry resource and project are organized, how model selection becomes an operational decision, why quotas and regions matter, and how identity and network controls shape enterprise readiness. Source hooks: Microsoft Learn, Microsoft Foundry architecture; planning a Foundry rollout; model catalog and deployment documentation; RBAC for Microsoft Foundry.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Lecture 9 by telling learners that enterprise Foundry work starts with boundaries. A team should not begin by creating prompts or experimenting with agents. It should first decide where AI assets live, who owns them, how they are separated, and which connected services they depend on. Use student-friendly language: a Foundry resource is the management boundary, while a project is the working area for related deployments, agents, tools, knowledge, evaluations, and connections. In a small demo, learners will see where these items appear in the portal. Source hook: Microsoft Learn, Microsoft Foundry architecture, which describes the Foundry resource hierarchy and connected Azure services.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resource and project relationship slowly. A Foundry resource provides the platform boundary where enterprise settings, security expectations, and shared management concerns are anchored. Projects organize the day-to-day AI work inside that boundary. A project can represent a business domain, environment, team, or scenario. The exact mapping depends on ownership, data sensitivity, release cadence, and cost tracking needs. Emphasize that connected Azure services such as Storage, Azure AI Search, Key Vault, or network resources remain Azure resources with their own governance boundaries, even when Foundry projects use them. Demonstration cue: switch to the portal and locate the Foundry resource, project list, connections, and project settings.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hierarchy diagram as a practical architecture model. Azure subscriptions and resource groups still matter for billing, policy, and infrastructure lifecycle. The Foundry resource is the AI platform management boundary. Foundry projects then organize related AI assets for a team, environment, or scenario. Explain that connected services remain separate Azure resources. For example, an Azure AI Search resource or storage account can be connected to a project, but that does not erase its own access control and governance requirements. This slide should help learners explain why they are creating a project before building agents: the project is where later assets become traceable and manageable. Source hook: Microsoft Learn, Foundry resource hierarchy.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turns the hierarchy into a decision habit. A small team may start with one project for a controlled scenario, but an enterprise should not automatically place every model deployment, agent, knowledge base, and tool into a single shared project. Project boundaries should reflect ownership, data scope, environment, release cadence, security posture, and operational reporting needs. Use examples: a development project can tolerate experimentation; a production project needs stricter access and publishing controls. A human-resources agent and a public support agent probably should not share the same knowledge and tool boundaries. The instructor should emphasize that the cleanest boundary is the one a reviewer can explain later.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prevent learners from treating connections as simple setup steps. In Foundry, connections make external capabilities available to a project. That may include storage, Azure AI Search, data sources, tools, or other Azure resources. Each connected service can carry its own access control, network, and data-classification requirements. A connection that is safe for a development project may not be safe for production. The teaching point is that connections are part of the security and governance model, not just a convenience. Demonstration cue: show the project connections area and explain what a reviewer should ask before trusting a connection in a published agent.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a demonstration transition slide. Keep the screen walkthrough short and purposeful. The goal is not to tour every portal blade. Start in the current Microsoft Foundry portal. Locate the active project, project settings, and connections. Point out the difference between a project-specific working area and broader Azure administration. Then briefly show where models, agents, knowledge, tools, and evaluations appear so learners can connect the Section 2 architecture to the Section 3 configuration work. If the portal UI changes, use the same conceptual anchors: project, settings, connections, model deployments, and project-level assets.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Lecture 10 by framing model selection as an architecture decision. Learners may arrive expecting a simple instruction such as “pick this model.” Avoid that. Model availability varies by region, quota, provider, deployment type, and feature support. Also, the best model for a quick answer may not be the best model for a governed agent. Teach learners to evaluate capability, reasoning quality, latency, context length, cost, tool support, region, and lifecycle stability. Demonstration cue: the model catalog walkthrough should show how to apply a selection framework, not merely where to click. Source hook: Microsoft Learn, Foundry Models overview and model catalog.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Teach learners that the model catalog is not a shopping list. It is a decision surface. Start with the business task: what the agent must do, what kind of reasoning it needs, whether it needs tools or retrieval, and how responsive it must be. Then apply operating constraints: region, quota, deployment option, cost, data handling, and lifecycle support. A model can be impressive in isolation and still be wrong for a regulated production workflow. In the demonstration, use a regionally available model rather than promising a fixed model name. This keeps the course resilient when Microsoft updates the catalog.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matrix as a practical selection tool. The goal is to teach learners how to justify a model decision to a platform owner, security reviewer, or business stakeholder. Capability asks whether the model can actually complete the task with the required quality. Operations asks whether it can run in the required region and capacity envelope. Security asks whether the model and deployment path satisfy enterprise data requirements. Cost asks whether the total cost per workflow is acceptable. Lifecycle asks whether the model is stable enough for the release risk profile. Encourage learners to write down the selected model and the reason, because future maintainers will need to revisit the decision.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keep the course current. Microsoft Foundry gives learners access to a changing catalog of models. Some are broadly useful chat models. Some are stronger for reasoning or complex planning. Some handle multimodal inputs or specialized tasks. The instructor should not overpromise that one named model will always be available. Instead, teach the category, the use case, and the operational criteria. This also supports the Udemy lab experience: learners should select a model that is regionally available in the provided workspace, then document the selection.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comparison to explain why the course will not promise one permanent model name. Foundry model availability can vary by region, quota, provider, deployment type, and product changes. A course that says “always deploy this exact model” becomes brittle. A better course teaches the selection criteria and provides a fallback rule: choose a regionally available model that supports the lesson scenario. This is also how enterprise teams should operate. They need to document the required capability and operating constraints, then select the model that meets them at the time of deployment.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should be practical and calm. Open the model catalog and show learners how to inspect options. Do not make the demo about the largest or newest model. Apply the criteria from the previous slide: capability, operations, security, cost, and lifecycle. If the model displayed in the recording is not available for a learner, explain the fallback approach: choose an available model that satisfies the same course scenario. The demo should end with a clear model-selection statement: “For this lab, I selected this model because it is available in this region and supports the required chat behavior within the expected quota and cost envelope.”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Lecture 11 by separating model selection from model deployment. Selecting a model answers “what should we use?” Deploying the model answers “how does this project actually consume it?” Once a deployment exists, it becomes an operational dependency for agents, evaluations, and users. That means it needs a name, region, quota awareness, cost visibility, lifecycle tracking, and access control. Use student-friendly language: the deployment is the thing your project can call. If it is throttled, unavailable, misnamed, or too expensive, the agent experience suffers. Source hooks: Microsoft Learn, model deployments, quota and limits, planning and high availability guidance.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deployments should be readable to a future operator. A name such as “prod-agent-chat-eastus” communicates more than “test1.” Quota determines how much capacity can be assigned to a model in a region, and rate limits affect whether the deployment can handle expected request volume. Cost should be discussed at the workflow level: how often the agent runs, how long prompts and retrieved context are, which tools are called, and what happens during retries. The demonstration should locate the deployment, identify where quota is visible, and point to where cost management should be handled, without turning the course into billing administration.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process as the simplest operating path learners can remember. First, select the model using the framework from Lecture 10. Then deploy it with a meaningful name in a supported region. Next, confirm quota and expected limits. Then test the deployment with a controlled prompt in the playground. Finally, monitor the model as it is used by agents or applications. This sequence is intentionally simple because the lab should reinforce it. The important point is that deployment is not just a creation step. It is the beginning of an operating dependency that must be tested, monitored, and maintained.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matrix to prevent term confusion. Quota is about available capacity in a region and for a model. Tokens are the units of text processed by prompts, outputs, retrieved context, and sometimes tool-related content. Rate limits define how fast the deployment can process requests. Cost is the financial consequence of real usage patterns, not only the published unit price. Alerts and budgets help teams notice when usage moves outside expectations. The instructor should emphasize that a single playground test does not prove production capacity. It only proves that the deployment can answer one controlled request.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as a practical review checklist. Learners do not need to become Azure billing experts, but they do need to recognize that model deployments are consumption points. If a business workflow depends on an agent, the team must know expected volume, peak times, user access, fallback behavior, monitoring responsibility, and the approval path for quota increases. A common enterprise failure mode is proving that an agent works once, then discovering that it cannot handle expected usage or that costs spike unexpectedly. Encourage learners to ask these questions before publishing agent behavior to real users.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demonstration should show the minimum operating information learners must recognize. Locate the deployment area, identify the deployment name, model, region, and deployment type, then point to quota or capacity information. If the portal surface differs by tenant or feature status, explain the concept and use the visible controls available in your environment. Then briefly mention cost management and budgets in Azure. The learners’ task is not to master all billing controls today; it is to know that cost and quota are part of responsible model deployment. Close by telling learners what to capture in the lab: project name, deployment name, model, region, and relevant quota or cost observation.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Open Lecture 12 by making the security principle explicit: agent capability should not be added before access boundaries are understood. Microsoft Learn emphasizes that Microsoft Entra ID supports conditional access, managed identities, and granular RBAC, while API keys are less traceable and bypass granular role restrictions when used as broad access secrets. The course should not turn learners into identity administrators, but they must know what to inspect: roles, scopes, managed identity, agent identity, connections, and network exposure. Source hooks: Microsoft Learn, authentication and authorization in Microsoft Foundry; RBAC for Microsoft Foundry; private link and managed virtual network documentation.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Explain that security in Foundry combines Azure identity, Foundry roles, project permissions, connected service access, and network posture. A user who can create resources may not be the same user who should publish agents or invoke endpoints. Microsoft Entra ID gives enterprises traceability and policy integration that raw keys do not provide. Least privilege means assigning the smallest role at the narrowest appropriate scope. The demo should show where role assignments and project permissions are inspected, then briefly discuss what a production team would review before allowing a deployment or agent to be used broadly.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matrix to explain that “access” is not one thing. One person may administer Azure resources. Another may manage project assets. Another may test or publish agents. Another may only invoke a published agent application. A connected service may require its own role assignments. This is why least privilege requires both role and scope. Explain that a common mistake is assigning a broad role just to make a demo work, then forgetting to tighten it later. In production, access reviews should map each permission to a responsibility: create, manage, deploy, invoke, connect, observe, or govern.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set expectations. In a Udemy lab, learners may use a simplified network path so they can complete the exercise reliably within a limited workspace. That does not mean production should ignore network isolation. Microsoft Learn documents private endpoints and managed virtual network options for Foundry scenarios. Explain the conceptual difference: a private endpoint helps secure private connectivity to Foundry resources and projects, while managed virtual networking can secure underlying agent service traffic boundaries. Connected resources such as Storage, Key Vault, or Azure AI Search may have their own network rules. The key takeaway is to discuss networking during architecture review, not after production users begin relying on the agent.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prepares learners for the first lab and the agent sections that follow. Ask learners to think like reviewers. A working model deployment is not enough. They should know who can manage the resource, who can deploy models, who can consume endpoints, which connected services are reachable, which network paths are allowed, and which actions require approval or audit evidence. This checklist also prepares them for later sections on tools, MCP, A2A, evaluation, and governance. Emphasize that the safest time to review boundaries is before an agent is grounded with enterprise data or connected to tools.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demonstration to show learners how to inspect access, not how to design every enterprise identity pattern. Start with the resource or project access-control view. Point out role assignments and scope. Explain why scope matters: assignment at a broad scope can grant more access than intended. If the environment supports visible project-level identity and connection settings, show them briefly. Then relate the demo to the lab: learners need enough access to create or use the resource, deploy a model, test it, and view basic settings. They do not need broad production-style access for every later enterprise role.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slide to frame the lab clearly. This is the first Azure workspace lab, and it should feel practical without becoming a coding exercise. The lab outcome is a working Foundry project and a usable model deployment. Learners should understand each step as an enterprise setup activity: resource and project creation define the boundary, model selection defines the capability, deployment makes the model usable, identity and quota review confirm the operating posture, and cleanup controls cost. Make sure learners know that model names may differ by region or quota. The lab instruction should therefore tell them to select a regionally available model that satisfies the course scenario.</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lab task flow before students begin. This slide gives them the order and the reason for each step. First, the Foundry resource establishes the platform boundary. Second, the project isolates the scenario. Third, the model deployment turns a model choice into a usable project asset. Fourth, a playground test confirms the deployment works. Fifth, learners review identity, quota, and cost signals so the deployment is not treated as a black box. Emphasize the validation checkpoint: if the playground test fails, do not continue. Troubleshoot region, deployment name, quota, access, or model availability first.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Use this as the end-of-lab validation slide. Learners should not consider the lab complete simply because they clicked through setup screens. They need evidence: the project exists, the deployment is visible, the deployment has a clear name, a test prompt succeeds, and access, quota, and cost signals have been reviewed. Ask them to capture the project name, resource name, region, deployment name, and selected model. These details become useful in later sections when they create prompt agents, ground agents with knowledge, connect tools, and evaluate behavior. If anything fails, guide them to troubleshoot quota, model availability, permissions, and region support before continuing.</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the lab with cleanup and troubleshooting. In an Azure workspace, learners must understand whether resources disappear when the workspace session ends or whether they need to delete resources manually. If they are using a personal subscription, cleanup is especially important to avoid unnecessary cost. Troubleshooting should focus on common issues: unsupported region, insufficient quota, missing permissions, unavailable model, incorrect deployment name, or portal differences. Encourage learners to write down unresolved issues rather than skipping them. If the model deployment is unstable or inaccessible, later agent labs will fail or become confusing.</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review slide to consolidate Section 3. Learners should now understand that Foundry configuration starts with boundaries: resources, projects, connections, model deployments, identity, and cost. Reinforce that the first lab is not just about getting a model to answer in a playground. It is about proving the enterprise setup is understandable, testable, and controlled. Ask learners to explain which project boundary they created, which model deployment they selected, who can access it, what quota or cost controls they observed, and what information they must carry into the next section when they create a governed prompt agent. Transition to Section 4 by saying: now that the environment exists, the next step is to configure agent behavior responsibly.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a:t>
            </a:r>
            <a:endParaRPr lang="en-US" sz="780" dirty="0"/>
          </a:p>
        </p:txBody>
      </p:sp>
      <p:sp>
        <p:nvSpPr>
          <p:cNvPr id="6" name="Text 3"/>
          <p:cNvSpPr/>
          <p:nvPr/>
        </p:nvSpPr>
        <p:spPr>
          <a:xfrm>
            <a:off x="502920" y="822960"/>
            <a:ext cx="1828800" cy="237744"/>
          </a:xfrm>
          <a:prstGeom prst="rect">
            <a:avLst/>
          </a:prstGeom>
          <a:noFill/>
          <a:ln/>
        </p:spPr>
        <p:txBody>
          <a:bodyPr wrap="square" lIns="0" tIns="0" rIns="0" bIns="0" rtlCol="0" anchor="ctr"/>
          <a:lstStyle/>
          <a:p>
            <a:pPr marL="0" indent="0">
              <a:buNone/>
            </a:pPr>
            <a:r>
              <a:rPr lang="en-US" sz="1950" dirty="0">
                <a:solidFill>
                  <a:srgbClr val="08A9C9"/>
                </a:solidFill>
                <a:latin typeface="Aptos Display" pitchFamily="34" charset="0"/>
                <a:ea typeface="Aptos Display" pitchFamily="34" charset="-122"/>
                <a:cs typeface="Aptos Display" pitchFamily="34" charset="-120"/>
              </a:rPr>
              <a:t>Section 3</a:t>
            </a:r>
            <a:endParaRPr lang="en-US" sz="1950" dirty="0"/>
          </a:p>
        </p:txBody>
      </p:sp>
      <p:sp>
        <p:nvSpPr>
          <p:cNvPr id="8" name="Text 5"/>
          <p:cNvSpPr/>
          <p:nvPr/>
        </p:nvSpPr>
        <p:spPr>
          <a:xfrm>
            <a:off x="502920" y="1572768"/>
            <a:ext cx="5760720" cy="960120"/>
          </a:xfrm>
          <a:prstGeom prst="rect">
            <a:avLst/>
          </a:prstGeom>
          <a:noFill/>
          <a:ln/>
        </p:spPr>
        <p:txBody>
          <a:bodyPr wrap="square" lIns="0" tIns="0" rIns="0" bIns="0" rtlCol="0" anchor="ctr">
            <a:normAutofit/>
          </a:bodyPr>
          <a:lstStyle/>
          <a:p>
            <a:pPr marL="0" indent="0">
              <a:buNone/>
            </a:pPr>
            <a:r>
              <a:rPr lang="en-US" sz="2900" dirty="0">
                <a:solidFill>
                  <a:srgbClr val="1F2A37"/>
                </a:solidFill>
                <a:latin typeface="Aptos Display" pitchFamily="34" charset="0"/>
                <a:ea typeface="Aptos Display" pitchFamily="34" charset="-122"/>
                <a:cs typeface="Aptos Display" pitchFamily="34" charset="-120"/>
              </a:rPr>
              <a:t>Foundry Resources,</a:t>
            </a:r>
            <a:endParaRPr lang="en-US" sz="2900" dirty="0"/>
          </a:p>
          <a:p>
            <a:pPr marL="0" indent="0">
              <a:buNone/>
            </a:pPr>
            <a:r>
              <a:rPr lang="en-US" sz="2900" dirty="0">
                <a:solidFill>
                  <a:srgbClr val="1F2A37"/>
                </a:solidFill>
                <a:latin typeface="Aptos Display" pitchFamily="34" charset="0"/>
                <a:ea typeface="Aptos Display" pitchFamily="34" charset="-122"/>
                <a:cs typeface="Aptos Display" pitchFamily="34" charset="-120"/>
              </a:rPr>
              <a:t>Models, Identity, and Cost</a:t>
            </a:r>
            <a:endParaRPr lang="en-US" sz="2900" dirty="0"/>
          </a:p>
        </p:txBody>
      </p:sp>
      <p:sp>
        <p:nvSpPr>
          <p:cNvPr id="9" name="Text 6"/>
          <p:cNvSpPr/>
          <p:nvPr/>
        </p:nvSpPr>
        <p:spPr>
          <a:xfrm>
            <a:off x="502920" y="2834640"/>
            <a:ext cx="6583680" cy="411480"/>
          </a:xfrm>
          <a:prstGeom prst="rect">
            <a:avLst/>
          </a:prstGeom>
          <a:noFill/>
          <a:ln/>
        </p:spPr>
        <p:txBody>
          <a:bodyPr wrap="square" lIns="254" tIns="254" rIns="254" bIns="254" rtlCol="0" anchor="ctr">
            <a:normAutofit/>
          </a:bodyPr>
          <a:lstStyle/>
          <a:p>
            <a:pPr marL="0" indent="0">
              <a:buNone/>
            </a:pPr>
            <a:r>
              <a:rPr lang="en-US" sz="1320" dirty="0">
                <a:solidFill>
                  <a:srgbClr val="374151"/>
                </a:solidFill>
                <a:latin typeface="Aptos" pitchFamily="34" charset="0"/>
                <a:ea typeface="Aptos" pitchFamily="34" charset="-122"/>
                <a:cs typeface="Aptos" pitchFamily="34" charset="-120"/>
              </a:rPr>
              <a:t>Provision the core Foundry environment, choose a model responsibly, secure access, and prepare the first workspace lab.</a:t>
            </a:r>
            <a:endParaRPr lang="en-US" sz="1320" dirty="0"/>
          </a:p>
        </p:txBody>
      </p:sp>
      <p:sp>
        <p:nvSpPr>
          <p:cNvPr id="10" name="Shape 7"/>
          <p:cNvSpPr/>
          <p:nvPr/>
        </p:nvSpPr>
        <p:spPr>
          <a:xfrm>
            <a:off x="8641080" y="1143000"/>
            <a:ext cx="2103120" cy="1143000"/>
          </a:xfrm>
          <a:prstGeom prst="roundRect">
            <a:avLst>
              <a:gd name="adj" fmla="val 4000"/>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8961120" y="1920240"/>
            <a:ext cx="2103120" cy="1143000"/>
          </a:xfrm>
          <a:prstGeom prst="roundRect">
            <a:avLst>
              <a:gd name="adj" fmla="val 4000"/>
            </a:avLst>
          </a:prstGeom>
          <a:solidFill>
            <a:srgbClr val="FFFFFF"/>
          </a:solidFill>
          <a:ln w="16510">
            <a:solidFill>
              <a:srgbClr val="08A9C9"/>
            </a:solidFill>
            <a:prstDash val="solid"/>
          </a:ln>
        </p:spPr>
        <p:txBody>
          <a:bodyPr/>
          <a:lstStyle/>
          <a:p>
            <a:endParaRPr lang="en-US"/>
          </a:p>
        </p:txBody>
      </p:sp>
      <p:sp>
        <p:nvSpPr>
          <p:cNvPr id="12" name="Shape 9"/>
          <p:cNvSpPr/>
          <p:nvPr/>
        </p:nvSpPr>
        <p:spPr>
          <a:xfrm>
            <a:off x="8229600" y="2697480"/>
            <a:ext cx="384048" cy="384048"/>
          </a:xfrm>
          <a:prstGeom prst="ellipse">
            <a:avLst/>
          </a:prstGeom>
          <a:solidFill>
            <a:srgbClr val="08A9C9"/>
          </a:solidFill>
          <a:ln w="12700">
            <a:solidFill>
              <a:srgbClr val="08A9C9"/>
            </a:solidFill>
            <a:prstDash val="solid"/>
          </a:ln>
        </p:spPr>
        <p:txBody>
          <a:bodyPr/>
          <a:lstStyle/>
          <a:p>
            <a:endParaRPr lang="en-US"/>
          </a:p>
        </p:txBody>
      </p:sp>
      <p:sp>
        <p:nvSpPr>
          <p:cNvPr id="13" name="Shape 10"/>
          <p:cNvSpPr/>
          <p:nvPr/>
        </p:nvSpPr>
        <p:spPr>
          <a:xfrm>
            <a:off x="8595360" y="2880360"/>
            <a:ext cx="868680" cy="0"/>
          </a:xfrm>
          <a:prstGeom prst="line">
            <a:avLst/>
          </a:prstGeom>
          <a:noFill/>
          <a:ln w="25400">
            <a:solidFill>
              <a:srgbClr val="08A9C9"/>
            </a:solidFill>
            <a:prstDash val="solid"/>
          </a:ln>
        </p:spPr>
        <p:txBody>
          <a:bodyPr/>
          <a:lstStyle/>
          <a:p>
            <a:endParaRPr lang="en-US"/>
          </a:p>
        </p:txBody>
      </p:sp>
      <p:sp>
        <p:nvSpPr>
          <p:cNvPr id="14" name="Shape 11"/>
          <p:cNvSpPr/>
          <p:nvPr/>
        </p:nvSpPr>
        <p:spPr>
          <a:xfrm>
            <a:off x="9646920" y="2496312"/>
            <a:ext cx="914400" cy="411480"/>
          </a:xfrm>
          <a:prstGeom prst="line">
            <a:avLst/>
          </a:prstGeom>
          <a:noFill/>
          <a:ln w="25400">
            <a:solidFill>
              <a:srgbClr val="08A9C9"/>
            </a:solidFill>
            <a:prstDash val="solid"/>
          </a:ln>
        </p:spPr>
        <p:txBody>
          <a:bodyPr/>
          <a:lstStyle/>
          <a:p>
            <a:endParaRPr lang="en-US"/>
          </a:p>
        </p:txBody>
      </p:sp>
      <p:sp>
        <p:nvSpPr>
          <p:cNvPr id="15" name="Shape 12"/>
          <p:cNvSpPr/>
          <p:nvPr/>
        </p:nvSpPr>
        <p:spPr>
          <a:xfrm>
            <a:off x="9235440" y="2194560"/>
            <a:ext cx="274320" cy="73152"/>
          </a:xfrm>
          <a:prstGeom prst="rect">
            <a:avLst/>
          </a:prstGeom>
          <a:solidFill>
            <a:srgbClr val="08A9C9"/>
          </a:solidFill>
          <a:ln w="12700">
            <a:solidFill>
              <a:srgbClr val="08A9C9"/>
            </a:solidFill>
            <a:prstDash val="solid"/>
          </a:ln>
        </p:spPr>
        <p:txBody>
          <a:bodyPr/>
          <a:lstStyle/>
          <a:p>
            <a:endParaRPr lang="en-US"/>
          </a:p>
        </p:txBody>
      </p:sp>
      <p:sp>
        <p:nvSpPr>
          <p:cNvPr id="16" name="Shape 13"/>
          <p:cNvSpPr/>
          <p:nvPr/>
        </p:nvSpPr>
        <p:spPr>
          <a:xfrm>
            <a:off x="9646920" y="2194560"/>
            <a:ext cx="685800" cy="73152"/>
          </a:xfrm>
          <a:prstGeom prst="rect">
            <a:avLst/>
          </a:prstGeom>
          <a:solidFill>
            <a:srgbClr val="E8EEF1"/>
          </a:solidFill>
          <a:ln w="12700">
            <a:solidFill>
              <a:srgbClr val="E8EEF1"/>
            </a:solidFill>
            <a:prstDash val="solid"/>
          </a:ln>
        </p:spPr>
        <p:txBody>
          <a:bodyPr/>
          <a:lstStyle/>
          <a:p>
            <a:endParaRPr lang="en-US"/>
          </a:p>
        </p:txBody>
      </p:sp>
      <p:sp>
        <p:nvSpPr>
          <p:cNvPr id="17" name="Shape 14"/>
          <p:cNvSpPr/>
          <p:nvPr/>
        </p:nvSpPr>
        <p:spPr>
          <a:xfrm>
            <a:off x="9235440" y="2468880"/>
            <a:ext cx="274320" cy="73152"/>
          </a:xfrm>
          <a:prstGeom prst="rect">
            <a:avLst/>
          </a:prstGeom>
          <a:solidFill>
            <a:srgbClr val="08A9C9"/>
          </a:solidFill>
          <a:ln w="12700">
            <a:solidFill>
              <a:srgbClr val="08A9C9"/>
            </a:solidFill>
            <a:prstDash val="solid"/>
          </a:ln>
        </p:spPr>
        <p:txBody>
          <a:bodyPr/>
          <a:lstStyle/>
          <a:p>
            <a:endParaRPr lang="en-US"/>
          </a:p>
        </p:txBody>
      </p:sp>
      <p:sp>
        <p:nvSpPr>
          <p:cNvPr id="18" name="Shape 15"/>
          <p:cNvSpPr/>
          <p:nvPr/>
        </p:nvSpPr>
        <p:spPr>
          <a:xfrm>
            <a:off x="9646920" y="2468880"/>
            <a:ext cx="1005840" cy="73152"/>
          </a:xfrm>
          <a:prstGeom prst="rect">
            <a:avLst/>
          </a:prstGeom>
          <a:solidFill>
            <a:srgbClr val="E8EEF1"/>
          </a:solidFill>
          <a:ln w="12700">
            <a:solidFill>
              <a:srgbClr val="E8EEF1"/>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Section Overview</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This section moves from platform concepts to the first practical configuration decisions.</a:t>
            </a:r>
            <a:endParaRPr lang="en-US" sz="1260" dirty="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Define the Foundry resource and project boundaries.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Select models using capability and operating constraints.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Understand deployments, quotas, tokens, regions, and cost.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Apply identity-first security before exposing agent capabilities.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Complete the first Azure workspace lab.</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dirty="0">
                <a:solidFill>
                  <a:srgbClr val="1F2A37"/>
                </a:solidFill>
                <a:latin typeface="Aptos" pitchFamily="34" charset="0"/>
                <a:ea typeface="Aptos" pitchFamily="34" charset="-122"/>
                <a:cs typeface="Aptos" pitchFamily="34" charset="-120"/>
              </a:rPr>
              <a:t>Section outcome</a:t>
            </a:r>
            <a:endParaRPr lang="en-US" sz="1150" dirty="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dirty="0">
                <a:solidFill>
                  <a:srgbClr val="374151"/>
                </a:solidFill>
                <a:latin typeface="Aptos" pitchFamily="34" charset="0"/>
                <a:ea typeface="Aptos" pitchFamily="34" charset="-122"/>
                <a:cs typeface="Aptos" pitchFamily="34" charset="-120"/>
              </a:rPr>
              <a:t>You can provision and reason about the core Foundry environment.</a:t>
            </a:r>
            <a:endParaRPr lang="en-US" sz="107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9</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9</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Lecture Goal: Define the Foundry Environment Boundary</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Before deploying models or agents, learners need a clean environment model.</a:t>
            </a:r>
            <a:endParaRPr lang="en-US" sz="1260" dirty="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Explain what belongs at the Foundry resource level.</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Explain how projects isolate related AI assets.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Recognize when separate projects or resources are justified.</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Identify connections and shared services that support projects.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Prepare for a short portal walkthrough of resource and project settings.</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dirty="0">
                <a:solidFill>
                  <a:srgbClr val="1F2A37"/>
                </a:solidFill>
                <a:latin typeface="Aptos" pitchFamily="34" charset="0"/>
                <a:ea typeface="Aptos" pitchFamily="34" charset="-122"/>
                <a:cs typeface="Aptos" pitchFamily="34" charset="-120"/>
              </a:rPr>
              <a:t>Outcome</a:t>
            </a:r>
            <a:endParaRPr lang="en-US" sz="1150" dirty="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dirty="0">
                <a:solidFill>
                  <a:srgbClr val="374151"/>
                </a:solidFill>
                <a:latin typeface="Aptos" pitchFamily="34" charset="0"/>
                <a:ea typeface="Aptos" pitchFamily="34" charset="-122"/>
                <a:cs typeface="Aptos" pitchFamily="34" charset="-120"/>
              </a:rPr>
              <a:t>You can explain the boundary before you configure it.</a:t>
            </a:r>
            <a:endParaRPr lang="en-US" sz="107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9</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9</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Foundry Resources and Projects</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A Foundry resource is the enterprise management boundary; projects organize work inside it.</a:t>
            </a:r>
            <a:endParaRPr lang="en-US" sz="1260" dirty="0"/>
          </a:p>
        </p:txBody>
      </p:sp>
      <p:sp>
        <p:nvSpPr>
          <p:cNvPr id="9" name="Text 6"/>
          <p:cNvSpPr/>
          <p:nvPr/>
        </p:nvSpPr>
        <p:spPr>
          <a:xfrm>
            <a:off x="749808" y="1984248"/>
            <a:ext cx="7132320" cy="3337560"/>
          </a:xfrm>
          <a:prstGeom prst="rect">
            <a:avLst/>
          </a:prstGeom>
          <a:noFill/>
          <a:ln/>
        </p:spPr>
        <p:txBody>
          <a:bodyPr wrap="square" lIns="254" tIns="254" rIns="254" bIns="254" rtlCol="0" anchor="t">
            <a:noAutofit/>
          </a:bodyPr>
          <a:lstStyle/>
          <a:p>
            <a:pPr marL="0" indent="0">
              <a:lnSpc>
                <a:spcPct val="150000"/>
              </a:lnSpc>
              <a:buNone/>
            </a:pPr>
            <a:r>
              <a:rPr lang="en-US" dirty="0">
                <a:solidFill>
                  <a:srgbClr val="374151"/>
                </a:solidFill>
                <a:latin typeface="Aptos" pitchFamily="34" charset="0"/>
                <a:ea typeface="Aptos" pitchFamily="34" charset="-122"/>
                <a:cs typeface="Aptos" pitchFamily="34" charset="-120"/>
              </a:rPr>
              <a:t>▸ Use the Foundry resource to anchor management, access, networking, and governance.</a:t>
            </a:r>
            <a:endParaRPr lang="en-US" dirty="0"/>
          </a:p>
          <a:p>
            <a:pPr marL="0" indent="0">
              <a:lnSpc>
                <a:spcPct val="150000"/>
              </a:lnSpc>
              <a:buNone/>
            </a:pPr>
            <a:r>
              <a:rPr lang="en-US" dirty="0">
                <a:solidFill>
                  <a:srgbClr val="374151"/>
                </a:solidFill>
                <a:latin typeface="Aptos" pitchFamily="34" charset="0"/>
                <a:ea typeface="Aptos" pitchFamily="34" charset="-122"/>
                <a:cs typeface="Aptos" pitchFamily="34" charset="-120"/>
              </a:rPr>
              <a:t>▸ Use projects to isolate teams, environments, or related AI workloads.</a:t>
            </a:r>
            <a:endParaRPr lang="en-US" dirty="0"/>
          </a:p>
          <a:p>
            <a:pPr marL="0" indent="0">
              <a:lnSpc>
                <a:spcPct val="150000"/>
              </a:lnSpc>
              <a:buNone/>
            </a:pPr>
            <a:r>
              <a:rPr lang="en-US" dirty="0">
                <a:solidFill>
                  <a:srgbClr val="374151"/>
                </a:solidFill>
                <a:latin typeface="Aptos" pitchFamily="34" charset="0"/>
                <a:ea typeface="Aptos" pitchFamily="34" charset="-122"/>
                <a:cs typeface="Aptos" pitchFamily="34" charset="-120"/>
              </a:rPr>
              <a:t>▸ Use connections to link storage, search, tools, and other Azure services.</a:t>
            </a:r>
            <a:endParaRPr lang="en-US" dirty="0"/>
          </a:p>
          <a:p>
            <a:pPr marL="0" indent="0">
              <a:lnSpc>
                <a:spcPct val="150000"/>
              </a:lnSpc>
              <a:buNone/>
            </a:pPr>
            <a:r>
              <a:rPr lang="en-US" dirty="0">
                <a:solidFill>
                  <a:srgbClr val="374151"/>
                </a:solidFill>
                <a:latin typeface="Aptos" pitchFamily="34" charset="0"/>
                <a:ea typeface="Aptos" pitchFamily="34" charset="-122"/>
                <a:cs typeface="Aptos" pitchFamily="34" charset="-120"/>
              </a:rPr>
              <a:t>▸ Use environment separation to reduce accidental production impact.</a:t>
            </a:r>
            <a:endParaRPr lang="en-US" dirty="0"/>
          </a:p>
          <a:p>
            <a:pPr marL="0" indent="0">
              <a:lnSpc>
                <a:spcPct val="150000"/>
              </a:lnSpc>
              <a:buNone/>
            </a:pPr>
            <a:r>
              <a:rPr lang="en-US" dirty="0">
                <a:solidFill>
                  <a:srgbClr val="374151"/>
                </a:solidFill>
                <a:latin typeface="Aptos" pitchFamily="34" charset="0"/>
                <a:ea typeface="Aptos" pitchFamily="34" charset="-122"/>
                <a:cs typeface="Aptos" pitchFamily="34" charset="-120"/>
              </a:rPr>
              <a:t>▸ Assign ownership so every project has accountable administrators.</a:t>
            </a:r>
            <a:endParaRPr lang="en-US"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13" name="Text 10"/>
          <p:cNvSpPr/>
          <p:nvPr/>
        </p:nvSpPr>
        <p:spPr>
          <a:xfrm>
            <a:off x="9308592" y="2011680"/>
            <a:ext cx="1508760" cy="182880"/>
          </a:xfrm>
          <a:prstGeom prst="rect">
            <a:avLst/>
          </a:prstGeom>
          <a:noFill/>
          <a:ln/>
        </p:spPr>
        <p:txBody>
          <a:bodyPr wrap="square" lIns="0" tIns="0" rIns="0" bIns="0" rtlCol="0" anchor="ctr">
            <a:normAutofit fontScale="85000" lnSpcReduction="10000"/>
          </a:bodyPr>
          <a:lstStyle/>
          <a:p>
            <a:pPr marL="0" indent="0">
              <a:buNone/>
            </a:pPr>
            <a:r>
              <a:rPr lang="en-US" sz="1150" b="1" dirty="0">
                <a:solidFill>
                  <a:srgbClr val="1F2A37"/>
                </a:solidFill>
                <a:latin typeface="Aptos" pitchFamily="34" charset="0"/>
                <a:ea typeface="Aptos" pitchFamily="34" charset="-122"/>
                <a:cs typeface="Aptos" pitchFamily="34" charset="-120"/>
              </a:rPr>
              <a:t>Demonstration attached</a:t>
            </a:r>
            <a:endParaRPr lang="en-US" sz="1150" dirty="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fontScale="92500"/>
          </a:bodyPr>
          <a:lstStyle/>
          <a:p>
            <a:r>
              <a:rPr lang="en-US" sz="1070" dirty="0">
                <a:solidFill>
                  <a:srgbClr val="374151"/>
                </a:solidFill>
                <a:latin typeface="Aptos" pitchFamily="34" charset="0"/>
                <a:ea typeface="Aptos" pitchFamily="34" charset="-122"/>
                <a:cs typeface="Aptos" pitchFamily="34" charset="-120"/>
              </a:rPr>
              <a:t>Inspect a Foundry resource, the project, the connections area, and the project settings in the portal.</a:t>
            </a:r>
            <a:endParaRPr lang="en-US" sz="107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9</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9</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Resource and Project Hierarchy</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Use the hierarchy to decide where ownership, isolation, and governance belong.</a:t>
            </a:r>
            <a:endParaRPr lang="en-US" sz="1260" dirty="0"/>
          </a:p>
        </p:txBody>
      </p:sp>
      <p:sp>
        <p:nvSpPr>
          <p:cNvPr id="9" name="Shape 6"/>
          <p:cNvSpPr/>
          <p:nvPr/>
        </p:nvSpPr>
        <p:spPr>
          <a:xfrm>
            <a:off x="685800" y="1828800"/>
            <a:ext cx="22860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0" name="Text 7"/>
          <p:cNvSpPr/>
          <p:nvPr/>
        </p:nvSpPr>
        <p:spPr>
          <a:xfrm>
            <a:off x="850392" y="2011680"/>
            <a:ext cx="1956816" cy="228600"/>
          </a:xfrm>
          <a:prstGeom prst="rect">
            <a:avLst/>
          </a:prstGeom>
          <a:noFill/>
          <a:ln/>
        </p:spPr>
        <p:txBody>
          <a:bodyPr wrap="square" lIns="0" tIns="0" rIns="0" bIns="0" rtlCol="0" anchor="ctr">
            <a:normAutofit/>
          </a:bodyPr>
          <a:lstStyle/>
          <a:p>
            <a:pPr marL="0" indent="0">
              <a:buNone/>
            </a:pPr>
            <a:r>
              <a:rPr lang="en-US" sz="1280" b="1" dirty="0">
                <a:solidFill>
                  <a:srgbClr val="1F2A37"/>
                </a:solidFill>
                <a:latin typeface="Aptos" pitchFamily="34" charset="0"/>
                <a:ea typeface="Aptos" pitchFamily="34" charset="-122"/>
                <a:cs typeface="Aptos" pitchFamily="34" charset="-120"/>
              </a:rPr>
              <a:t>Azure subscription</a:t>
            </a:r>
            <a:endParaRPr lang="en-US" sz="1280" dirty="0"/>
          </a:p>
        </p:txBody>
      </p:sp>
      <p:sp>
        <p:nvSpPr>
          <p:cNvPr id="11" name="Text 8"/>
          <p:cNvSpPr/>
          <p:nvPr/>
        </p:nvSpPr>
        <p:spPr>
          <a:xfrm>
            <a:off x="850392" y="2395728"/>
            <a:ext cx="1956816" cy="365760"/>
          </a:xfrm>
          <a:prstGeom prst="rect">
            <a:avLst/>
          </a:prstGeom>
          <a:noFill/>
          <a:ln/>
        </p:spPr>
        <p:txBody>
          <a:bodyPr wrap="square" lIns="127" tIns="127" rIns="127" bIns="127" rtlCol="0" anchor="ctr">
            <a:normAutofit/>
          </a:bodyPr>
          <a:lstStyle/>
          <a:p>
            <a:pPr marL="0" indent="0" algn="ctr">
              <a:buNone/>
            </a:pPr>
            <a:r>
              <a:rPr lang="en-US" sz="1040" dirty="0">
                <a:solidFill>
                  <a:srgbClr val="374151"/>
                </a:solidFill>
                <a:latin typeface="Aptos" pitchFamily="34" charset="0"/>
                <a:ea typeface="Aptos" pitchFamily="34" charset="-122"/>
                <a:cs typeface="Aptos" pitchFamily="34" charset="-120"/>
              </a:rPr>
              <a:t>Billing, policy, administration</a:t>
            </a:r>
            <a:endParaRPr lang="en-US" sz="1040" dirty="0"/>
          </a:p>
        </p:txBody>
      </p:sp>
      <p:sp>
        <p:nvSpPr>
          <p:cNvPr id="12" name="Shape 9"/>
          <p:cNvSpPr/>
          <p:nvPr/>
        </p:nvSpPr>
        <p:spPr>
          <a:xfrm rot="5400000">
            <a:off x="3090672" y="2304288"/>
            <a:ext cx="219456" cy="219456"/>
          </a:xfrm>
          <a:prstGeom prst="triangle">
            <a:avLst/>
          </a:prstGeom>
          <a:solidFill>
            <a:srgbClr val="08A9C9"/>
          </a:solidFill>
          <a:ln w="12700">
            <a:solidFill>
              <a:srgbClr val="08A9C9"/>
            </a:solidFill>
            <a:prstDash val="solid"/>
          </a:ln>
        </p:spPr>
        <p:txBody>
          <a:bodyPr/>
          <a:lstStyle/>
          <a:p>
            <a:endParaRPr lang="en-US"/>
          </a:p>
        </p:txBody>
      </p:sp>
      <p:sp>
        <p:nvSpPr>
          <p:cNvPr id="13" name="Shape 10"/>
          <p:cNvSpPr/>
          <p:nvPr/>
        </p:nvSpPr>
        <p:spPr>
          <a:xfrm>
            <a:off x="3063240" y="1828800"/>
            <a:ext cx="22860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4" name="Text 11"/>
          <p:cNvSpPr/>
          <p:nvPr/>
        </p:nvSpPr>
        <p:spPr>
          <a:xfrm>
            <a:off x="3227832" y="2011680"/>
            <a:ext cx="1956816" cy="228600"/>
          </a:xfrm>
          <a:prstGeom prst="rect">
            <a:avLst/>
          </a:prstGeom>
          <a:noFill/>
          <a:ln/>
        </p:spPr>
        <p:txBody>
          <a:bodyPr wrap="square" lIns="0" tIns="0" rIns="0" bIns="0" rtlCol="0" anchor="ctr">
            <a:normAutofit/>
          </a:bodyPr>
          <a:lstStyle/>
          <a:p>
            <a:pPr marL="0" indent="0">
              <a:buNone/>
            </a:pPr>
            <a:r>
              <a:rPr lang="en-US" sz="1280" b="1" dirty="0">
                <a:solidFill>
                  <a:srgbClr val="1F2A37"/>
                </a:solidFill>
                <a:latin typeface="Aptos" pitchFamily="34" charset="0"/>
                <a:ea typeface="Aptos" pitchFamily="34" charset="-122"/>
                <a:cs typeface="Aptos" pitchFamily="34" charset="-120"/>
              </a:rPr>
              <a:t>Resource group</a:t>
            </a:r>
            <a:endParaRPr lang="en-US" sz="1280" dirty="0"/>
          </a:p>
        </p:txBody>
      </p:sp>
      <p:sp>
        <p:nvSpPr>
          <p:cNvPr id="15" name="Text 12"/>
          <p:cNvSpPr/>
          <p:nvPr/>
        </p:nvSpPr>
        <p:spPr>
          <a:xfrm>
            <a:off x="3227832" y="2395728"/>
            <a:ext cx="1956816" cy="365760"/>
          </a:xfrm>
          <a:prstGeom prst="rect">
            <a:avLst/>
          </a:prstGeom>
          <a:noFill/>
          <a:ln/>
        </p:spPr>
        <p:txBody>
          <a:bodyPr wrap="square" lIns="127" tIns="127" rIns="127" bIns="127" rtlCol="0" anchor="ctr">
            <a:normAutofit/>
          </a:bodyPr>
          <a:lstStyle/>
          <a:p>
            <a:pPr marL="0" indent="0" algn="ctr">
              <a:buNone/>
            </a:pPr>
            <a:r>
              <a:rPr lang="en-US" sz="1040" dirty="0">
                <a:solidFill>
                  <a:srgbClr val="374151"/>
                </a:solidFill>
                <a:latin typeface="Aptos" pitchFamily="34" charset="0"/>
                <a:ea typeface="Aptos" pitchFamily="34" charset="-122"/>
                <a:cs typeface="Aptos" pitchFamily="34" charset="-120"/>
              </a:rPr>
              <a:t>Lifecycle and infrastructure grouping</a:t>
            </a:r>
            <a:endParaRPr lang="en-US" sz="1040" dirty="0"/>
          </a:p>
        </p:txBody>
      </p:sp>
      <p:sp>
        <p:nvSpPr>
          <p:cNvPr id="16" name="Shape 13"/>
          <p:cNvSpPr/>
          <p:nvPr/>
        </p:nvSpPr>
        <p:spPr>
          <a:xfrm rot="5400000">
            <a:off x="5468112" y="2304288"/>
            <a:ext cx="219456" cy="219456"/>
          </a:xfrm>
          <a:prstGeom prst="triangle">
            <a:avLst/>
          </a:prstGeom>
          <a:solidFill>
            <a:srgbClr val="08A9C9"/>
          </a:solidFill>
          <a:ln w="12700">
            <a:solidFill>
              <a:srgbClr val="08A9C9"/>
            </a:solidFill>
            <a:prstDash val="solid"/>
          </a:ln>
        </p:spPr>
        <p:txBody>
          <a:bodyPr/>
          <a:lstStyle/>
          <a:p>
            <a:endParaRPr lang="en-US"/>
          </a:p>
        </p:txBody>
      </p:sp>
      <p:sp>
        <p:nvSpPr>
          <p:cNvPr id="17" name="Shape 14"/>
          <p:cNvSpPr/>
          <p:nvPr/>
        </p:nvSpPr>
        <p:spPr>
          <a:xfrm>
            <a:off x="5440680" y="1828800"/>
            <a:ext cx="2286000" cy="1234440"/>
          </a:xfrm>
          <a:prstGeom prst="roundRect">
            <a:avLst>
              <a:gd name="adj" fmla="val 2222"/>
            </a:avLst>
          </a:prstGeom>
          <a:solidFill>
            <a:srgbClr val="FFFFFF"/>
          </a:solidFill>
          <a:ln w="20320">
            <a:solidFill>
              <a:srgbClr val="08A9C9"/>
            </a:solidFill>
            <a:prstDash val="solid"/>
          </a:ln>
        </p:spPr>
        <p:txBody>
          <a:bodyPr/>
          <a:lstStyle/>
          <a:p>
            <a:endParaRPr lang="en-US"/>
          </a:p>
        </p:txBody>
      </p:sp>
      <p:sp>
        <p:nvSpPr>
          <p:cNvPr id="18" name="Text 15"/>
          <p:cNvSpPr/>
          <p:nvPr/>
        </p:nvSpPr>
        <p:spPr>
          <a:xfrm>
            <a:off x="5605272" y="2011680"/>
            <a:ext cx="1956816" cy="228600"/>
          </a:xfrm>
          <a:prstGeom prst="rect">
            <a:avLst/>
          </a:prstGeom>
          <a:noFill/>
          <a:ln/>
        </p:spPr>
        <p:txBody>
          <a:bodyPr wrap="square" lIns="0" tIns="0" rIns="0" bIns="0" rtlCol="0" anchor="ctr">
            <a:normAutofit/>
          </a:bodyPr>
          <a:lstStyle/>
          <a:p>
            <a:pPr marL="0" indent="0">
              <a:buNone/>
            </a:pPr>
            <a:r>
              <a:rPr lang="en-US" sz="1280" b="1" dirty="0">
                <a:solidFill>
                  <a:srgbClr val="1F2A37"/>
                </a:solidFill>
                <a:latin typeface="Aptos" pitchFamily="34" charset="0"/>
                <a:ea typeface="Aptos" pitchFamily="34" charset="-122"/>
                <a:cs typeface="Aptos" pitchFamily="34" charset="-120"/>
              </a:rPr>
              <a:t>Foundry resource</a:t>
            </a:r>
            <a:endParaRPr lang="en-US" sz="1280" dirty="0"/>
          </a:p>
        </p:txBody>
      </p:sp>
      <p:sp>
        <p:nvSpPr>
          <p:cNvPr id="19" name="Text 16"/>
          <p:cNvSpPr/>
          <p:nvPr/>
        </p:nvSpPr>
        <p:spPr>
          <a:xfrm>
            <a:off x="5605272" y="2395728"/>
            <a:ext cx="1956816" cy="365760"/>
          </a:xfrm>
          <a:prstGeom prst="rect">
            <a:avLst/>
          </a:prstGeom>
          <a:noFill/>
          <a:ln/>
        </p:spPr>
        <p:txBody>
          <a:bodyPr wrap="square" lIns="127" tIns="127" rIns="127" bIns="127" rtlCol="0" anchor="ctr">
            <a:normAutofit/>
          </a:bodyPr>
          <a:lstStyle/>
          <a:p>
            <a:pPr marL="0" indent="0" algn="ctr">
              <a:buNone/>
            </a:pPr>
            <a:r>
              <a:rPr lang="en-US" sz="1040" dirty="0">
                <a:solidFill>
                  <a:srgbClr val="374151"/>
                </a:solidFill>
                <a:latin typeface="Aptos" pitchFamily="34" charset="0"/>
                <a:ea typeface="Aptos" pitchFamily="34" charset="-122"/>
                <a:cs typeface="Aptos" pitchFamily="34" charset="-120"/>
              </a:rPr>
              <a:t>AI platform management boundary</a:t>
            </a:r>
            <a:endParaRPr lang="en-US" sz="1040" dirty="0"/>
          </a:p>
        </p:txBody>
      </p:sp>
      <p:sp>
        <p:nvSpPr>
          <p:cNvPr id="20" name="Shape 17"/>
          <p:cNvSpPr/>
          <p:nvPr/>
        </p:nvSpPr>
        <p:spPr>
          <a:xfrm rot="5400000">
            <a:off x="7845552" y="2304288"/>
            <a:ext cx="219456" cy="219456"/>
          </a:xfrm>
          <a:prstGeom prst="triangle">
            <a:avLst/>
          </a:prstGeom>
          <a:solidFill>
            <a:srgbClr val="08A9C9"/>
          </a:solidFill>
          <a:ln w="12700">
            <a:solidFill>
              <a:srgbClr val="08A9C9"/>
            </a:solidFill>
            <a:prstDash val="solid"/>
          </a:ln>
        </p:spPr>
        <p:txBody>
          <a:bodyPr/>
          <a:lstStyle/>
          <a:p>
            <a:endParaRPr lang="en-US"/>
          </a:p>
        </p:txBody>
      </p:sp>
      <p:sp>
        <p:nvSpPr>
          <p:cNvPr id="21" name="Shape 18"/>
          <p:cNvSpPr/>
          <p:nvPr/>
        </p:nvSpPr>
        <p:spPr>
          <a:xfrm>
            <a:off x="7818120" y="1828800"/>
            <a:ext cx="265176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22" name="Text 19"/>
          <p:cNvSpPr/>
          <p:nvPr/>
        </p:nvSpPr>
        <p:spPr>
          <a:xfrm>
            <a:off x="7982712" y="2011680"/>
            <a:ext cx="2322576" cy="228600"/>
          </a:xfrm>
          <a:prstGeom prst="rect">
            <a:avLst/>
          </a:prstGeom>
          <a:noFill/>
          <a:ln/>
        </p:spPr>
        <p:txBody>
          <a:bodyPr wrap="square" lIns="0" tIns="0" rIns="0" bIns="0" rtlCol="0" anchor="ctr">
            <a:normAutofit/>
          </a:bodyPr>
          <a:lstStyle/>
          <a:p>
            <a:pPr marL="0" indent="0">
              <a:buNone/>
            </a:pPr>
            <a:r>
              <a:rPr lang="en-US" sz="1280" b="1" dirty="0">
                <a:solidFill>
                  <a:srgbClr val="1F2A37"/>
                </a:solidFill>
                <a:latin typeface="Aptos" pitchFamily="34" charset="0"/>
                <a:ea typeface="Aptos" pitchFamily="34" charset="-122"/>
                <a:cs typeface="Aptos" pitchFamily="34" charset="-120"/>
              </a:rPr>
              <a:t>Foundry projects</a:t>
            </a:r>
            <a:endParaRPr lang="en-US" sz="1280" dirty="0"/>
          </a:p>
        </p:txBody>
      </p:sp>
      <p:sp>
        <p:nvSpPr>
          <p:cNvPr id="23" name="Text 20"/>
          <p:cNvSpPr/>
          <p:nvPr/>
        </p:nvSpPr>
        <p:spPr>
          <a:xfrm>
            <a:off x="7982712" y="2395728"/>
            <a:ext cx="2322576" cy="365760"/>
          </a:xfrm>
          <a:prstGeom prst="rect">
            <a:avLst/>
          </a:prstGeom>
          <a:noFill/>
          <a:ln/>
        </p:spPr>
        <p:txBody>
          <a:bodyPr wrap="square" lIns="127" tIns="127" rIns="127" bIns="127" rtlCol="0" anchor="ctr">
            <a:normAutofit/>
          </a:bodyPr>
          <a:lstStyle/>
          <a:p>
            <a:pPr marL="0" indent="0" algn="ctr">
              <a:buNone/>
            </a:pPr>
            <a:r>
              <a:rPr lang="en-US" sz="1040" dirty="0">
                <a:solidFill>
                  <a:srgbClr val="374151"/>
                </a:solidFill>
                <a:latin typeface="Aptos" pitchFamily="34" charset="0"/>
                <a:ea typeface="Aptos" pitchFamily="34" charset="-122"/>
                <a:cs typeface="Aptos" pitchFamily="34" charset="-120"/>
              </a:rPr>
              <a:t>Team, environment, or scenario isolation</a:t>
            </a:r>
            <a:endParaRPr lang="en-US" sz="1040" dirty="0"/>
          </a:p>
        </p:txBody>
      </p:sp>
      <p:sp>
        <p:nvSpPr>
          <p:cNvPr id="24" name="Text 21"/>
          <p:cNvSpPr/>
          <p:nvPr/>
        </p:nvSpPr>
        <p:spPr>
          <a:xfrm>
            <a:off x="822960" y="3977640"/>
            <a:ext cx="7680960" cy="1051560"/>
          </a:xfrm>
          <a:prstGeom prst="rect">
            <a:avLst/>
          </a:prstGeom>
          <a:noFill/>
          <a:ln/>
        </p:spPr>
        <p:txBody>
          <a:bodyPr wrap="square" lIns="254" tIns="254" rIns="254" bIns="254" rtlCol="0" anchor="ctr">
            <a:noAutofit/>
          </a:bodyPr>
          <a:lstStyle/>
          <a:p>
            <a:pPr marL="0" indent="0">
              <a:lnSpc>
                <a:spcPct val="150000"/>
              </a:lnSpc>
              <a:buNone/>
            </a:pPr>
            <a:r>
              <a:rPr lang="en-US" sz="1400" dirty="0">
                <a:solidFill>
                  <a:srgbClr val="374151"/>
                </a:solidFill>
                <a:latin typeface="Aptos" pitchFamily="34" charset="0"/>
                <a:ea typeface="Aptos" pitchFamily="34" charset="-122"/>
                <a:cs typeface="Aptos" pitchFamily="34" charset="-120"/>
              </a:rPr>
              <a:t>▸ Projects inherit platform expectations but still need clear local ownership.</a:t>
            </a:r>
            <a:endParaRPr lang="en-US" sz="1400" dirty="0"/>
          </a:p>
          <a:p>
            <a:pPr marL="0" indent="0">
              <a:lnSpc>
                <a:spcPct val="150000"/>
              </a:lnSpc>
              <a:buNone/>
            </a:pPr>
            <a:r>
              <a:rPr lang="en-US" sz="1400" dirty="0">
                <a:solidFill>
                  <a:srgbClr val="374151"/>
                </a:solidFill>
                <a:latin typeface="Aptos" pitchFamily="34" charset="0"/>
                <a:ea typeface="Aptos" pitchFamily="34" charset="-122"/>
                <a:cs typeface="Aptos" pitchFamily="34" charset="-120"/>
              </a:rPr>
              <a:t>▸ Connections should not be treated as invisible plumbing; they define what a project can reach.</a:t>
            </a:r>
            <a:endParaRPr lang="en-US" sz="1400" dirty="0"/>
          </a:p>
          <a:p>
            <a:pPr marL="0" indent="0">
              <a:lnSpc>
                <a:spcPct val="150000"/>
              </a:lnSpc>
              <a:buNone/>
            </a:pPr>
            <a:r>
              <a:rPr lang="en-US" sz="1400" dirty="0">
                <a:solidFill>
                  <a:srgbClr val="374151"/>
                </a:solidFill>
                <a:latin typeface="Aptos" pitchFamily="34" charset="0"/>
                <a:ea typeface="Aptos" pitchFamily="34" charset="-122"/>
                <a:cs typeface="Aptos" pitchFamily="34" charset="-120"/>
              </a:rPr>
              <a:t>▸ If the data scope, security posture, or release cadence differs, review the boundary before reusing the same project.</a:t>
            </a:r>
            <a:endParaRPr lang="en-US" sz="1400" dirty="0"/>
          </a:p>
        </p:txBody>
      </p:sp>
      <p:sp>
        <p:nvSpPr>
          <p:cNvPr id="25" name="Shape 22"/>
          <p:cNvSpPr/>
          <p:nvPr/>
        </p:nvSpPr>
        <p:spPr>
          <a:xfrm>
            <a:off x="9098280" y="3858768"/>
            <a:ext cx="2057400" cy="960120"/>
          </a:xfrm>
          <a:prstGeom prst="roundRect">
            <a:avLst>
              <a:gd name="adj" fmla="val 2857"/>
            </a:avLst>
          </a:prstGeom>
          <a:solidFill>
            <a:srgbClr val="FFFFFF"/>
          </a:solidFill>
          <a:ln w="12700">
            <a:solidFill>
              <a:srgbClr val="C9D5DA"/>
            </a:solidFill>
            <a:prstDash val="solid"/>
          </a:ln>
        </p:spPr>
        <p:txBody>
          <a:bodyPr/>
          <a:lstStyle/>
          <a:p>
            <a:endParaRPr lang="en-US"/>
          </a:p>
        </p:txBody>
      </p:sp>
      <p:sp>
        <p:nvSpPr>
          <p:cNvPr id="26" name="Shape 23"/>
          <p:cNvSpPr/>
          <p:nvPr/>
        </p:nvSpPr>
        <p:spPr>
          <a:xfrm>
            <a:off x="9281160" y="4005072"/>
            <a:ext cx="164592" cy="164592"/>
          </a:xfrm>
          <a:prstGeom prst="ellipse">
            <a:avLst/>
          </a:prstGeom>
          <a:solidFill>
            <a:srgbClr val="08A9C9"/>
          </a:solidFill>
          <a:ln w="12700">
            <a:solidFill>
              <a:srgbClr val="08A9C9"/>
            </a:solidFill>
            <a:prstDash val="solid"/>
          </a:ln>
        </p:spPr>
        <p:txBody>
          <a:bodyPr/>
          <a:lstStyle/>
          <a:p>
            <a:endParaRPr lang="en-US"/>
          </a:p>
        </p:txBody>
      </p:sp>
      <p:sp>
        <p:nvSpPr>
          <p:cNvPr id="27" name="Text 24"/>
          <p:cNvSpPr/>
          <p:nvPr/>
        </p:nvSpPr>
        <p:spPr>
          <a:xfrm>
            <a:off x="9313164" y="4003243"/>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28" name="Text 25"/>
          <p:cNvSpPr/>
          <p:nvPr/>
        </p:nvSpPr>
        <p:spPr>
          <a:xfrm>
            <a:off x="9537192" y="3995928"/>
            <a:ext cx="1508760" cy="182880"/>
          </a:xfrm>
          <a:prstGeom prst="rect">
            <a:avLst/>
          </a:prstGeom>
          <a:noFill/>
          <a:ln/>
        </p:spPr>
        <p:txBody>
          <a:bodyPr wrap="square" lIns="0" tIns="0" rIns="0" bIns="0" rtlCol="0" anchor="ctr">
            <a:normAutofit/>
          </a:bodyPr>
          <a:lstStyle/>
          <a:p>
            <a:pPr marL="0" indent="0">
              <a:buNone/>
            </a:pPr>
            <a:r>
              <a:rPr lang="en-US" sz="1150" b="1" dirty="0">
                <a:solidFill>
                  <a:srgbClr val="1F2A37"/>
                </a:solidFill>
                <a:latin typeface="Aptos" pitchFamily="34" charset="0"/>
                <a:ea typeface="Aptos" pitchFamily="34" charset="-122"/>
                <a:cs typeface="Aptos" pitchFamily="34" charset="-120"/>
              </a:rPr>
              <a:t>Boundary habit</a:t>
            </a:r>
            <a:endParaRPr lang="en-US" sz="1150" dirty="0"/>
          </a:p>
        </p:txBody>
      </p:sp>
      <p:sp>
        <p:nvSpPr>
          <p:cNvPr id="29" name="Text 26"/>
          <p:cNvSpPr/>
          <p:nvPr/>
        </p:nvSpPr>
        <p:spPr>
          <a:xfrm>
            <a:off x="9372600" y="4297680"/>
            <a:ext cx="1554480" cy="384048"/>
          </a:xfrm>
          <a:prstGeom prst="rect">
            <a:avLst/>
          </a:prstGeom>
          <a:noFill/>
          <a:ln/>
        </p:spPr>
        <p:txBody>
          <a:bodyPr wrap="square" lIns="127" tIns="127" rIns="127" bIns="127" rtlCol="0" anchor="ctr">
            <a:normAutofit fontScale="92500" lnSpcReduction="20000"/>
          </a:bodyPr>
          <a:lstStyle/>
          <a:p>
            <a:pPr marL="0" indent="0">
              <a:buNone/>
            </a:pPr>
            <a:r>
              <a:rPr lang="en-US" sz="1070" dirty="0">
                <a:solidFill>
                  <a:srgbClr val="374151"/>
                </a:solidFill>
                <a:latin typeface="Aptos" pitchFamily="34" charset="0"/>
                <a:ea typeface="Aptos" pitchFamily="34" charset="-122"/>
                <a:cs typeface="Aptos" pitchFamily="34" charset="-120"/>
              </a:rPr>
              <a:t>Start with ownership and isolation, then configure resources.</a:t>
            </a:r>
            <a:endParaRPr lang="en-US" sz="107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5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5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500"/>
                                        <p:tgtEl>
                                          <p:spTgt spid="22"/>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4">
                                            <p:txEl>
                                              <p:pRg st="0" end="0"/>
                                            </p:txEl>
                                          </p:spTgt>
                                        </p:tgtEl>
                                        <p:attrNameLst>
                                          <p:attrName>style.visibility</p:attrName>
                                        </p:attrNameLst>
                                      </p:cBhvr>
                                      <p:to>
                                        <p:strVal val="visible"/>
                                      </p:to>
                                    </p:set>
                                    <p:animEffect transition="in" filter="fade">
                                      <p:cBhvr>
                                        <p:cTn id="57" dur="500"/>
                                        <p:tgtEl>
                                          <p:spTgt spid="24">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4">
                                            <p:txEl>
                                              <p:pRg st="1" end="1"/>
                                            </p:txEl>
                                          </p:spTgt>
                                        </p:tgtEl>
                                        <p:attrNameLst>
                                          <p:attrName>style.visibility</p:attrName>
                                        </p:attrNameLst>
                                      </p:cBhvr>
                                      <p:to>
                                        <p:strVal val="visible"/>
                                      </p:to>
                                    </p:set>
                                    <p:animEffect transition="in" filter="fade">
                                      <p:cBhvr>
                                        <p:cTn id="62" dur="500"/>
                                        <p:tgtEl>
                                          <p:spTgt spid="24">
                                            <p:txEl>
                                              <p:pRg st="1" end="1"/>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4">
                                            <p:txEl>
                                              <p:pRg st="2" end="2"/>
                                            </p:txEl>
                                          </p:spTgt>
                                        </p:tgtEl>
                                        <p:attrNameLst>
                                          <p:attrName>style.visibility</p:attrName>
                                        </p:attrNameLst>
                                      </p:cBhvr>
                                      <p:to>
                                        <p:strVal val="visible"/>
                                      </p:to>
                                    </p:set>
                                    <p:animEffect transition="in" filter="fade">
                                      <p:cBhvr>
                                        <p:cTn id="67" dur="500"/>
                                        <p:tgtEl>
                                          <p:spTgt spid="24">
                                            <p:txEl>
                                              <p:pRg st="2" end="2"/>
                                            </p:txEl>
                                          </p:spTgt>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500"/>
                                        <p:tgtEl>
                                          <p:spTgt spid="23"/>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animEffect transition="in" filter="fade">
                                      <p:cBhvr>
                                        <p:cTn id="75" dur="500"/>
                                        <p:tgtEl>
                                          <p:spTgt spid="25"/>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6"/>
                                        </p:tgtEl>
                                        <p:attrNameLst>
                                          <p:attrName>style.visibility</p:attrName>
                                        </p:attrNameLst>
                                      </p:cBhvr>
                                      <p:to>
                                        <p:strVal val="visible"/>
                                      </p:to>
                                    </p:set>
                                    <p:animEffect transition="in" filter="fade">
                                      <p:cBhvr>
                                        <p:cTn id="78" dur="500"/>
                                        <p:tgtEl>
                                          <p:spTgt spid="26"/>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7"/>
                                        </p:tgtEl>
                                        <p:attrNameLst>
                                          <p:attrName>style.visibility</p:attrName>
                                        </p:attrNameLst>
                                      </p:cBhvr>
                                      <p:to>
                                        <p:strVal val="visible"/>
                                      </p:to>
                                    </p:set>
                                    <p:animEffect transition="in" filter="fade">
                                      <p:cBhvr>
                                        <p:cTn id="81" dur="500"/>
                                        <p:tgtEl>
                                          <p:spTgt spid="27"/>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500"/>
                                        <p:tgtEl>
                                          <p:spTgt spid="28"/>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9</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9</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Enterprise Boundary Decisions</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Good Foundry architecture starts with boundaries, not prompts.</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85000" lnSpcReduction="10000"/>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Separate development, test, and production projects where governance requires it.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Avoid mixing unrelated business domains in one unmanaged project.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Keep connections scoped to the teams and agents that need them.</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Define resource administration and project administration separately.</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Document which assets are shared and which are environment-specific.</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Decision rule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If ownership, data scope, or release cadence differs, review the project boundary.</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9</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9</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Connections and Shared Services</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Connections make external capabilities available to projects, so they must be reviewed.</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85000" lnSpcReduction="10000"/>
          </a:bodyPr>
          <a:lstStyle/>
          <a:p>
            <a:pPr marL="0" indent="0">
              <a:lnSpc>
                <a:spcPct val="150000"/>
              </a:lnSpc>
              <a:buNone/>
            </a:pPr>
            <a:r>
              <a:rPr lang="en-US" sz="2000">
                <a:solidFill>
                  <a:srgbClr val="374151"/>
                </a:solidFill>
                <a:latin typeface="Aptos" pitchFamily="34" charset="0"/>
                <a:ea typeface="Aptos" pitchFamily="34" charset="-122"/>
                <a:cs typeface="Aptos" pitchFamily="34" charset="-120"/>
              </a:rPr>
              <a:t>▸ Connections can link projects to storage, search, tools, and other Azure services.</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Connected services may have their own RBAC, networking, and data-classification rules.</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A connection should have a named owner and a clear business purpose.</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Project users should not automatically gain access to every connected service.</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Review connections before publishing agents that depend on them.</a:t>
            </a:r>
            <a:endParaRPr lang="en-US" sz="200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Review frame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A connection expands what a project can reach; treat it as an access decision.</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9</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9</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Demo: Inspect Resource and Project Settings</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This walkthrough connects the architecture model to the current portal surface.</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ctr">
            <a:normAutofit fontScale="92500" lnSpcReduction="10000"/>
          </a:bodyPr>
          <a:lstStyle/>
          <a:p>
            <a:pPr marL="0" indent="0">
              <a:lnSpc>
                <a:spcPct val="150000"/>
              </a:lnSpc>
              <a:buNone/>
            </a:pPr>
            <a:r>
              <a:rPr lang="en-US" sz="2000">
                <a:solidFill>
                  <a:srgbClr val="374151"/>
                </a:solidFill>
                <a:latin typeface="Aptos" pitchFamily="34" charset="0"/>
                <a:ea typeface="Aptos" pitchFamily="34" charset="-122"/>
                <a:cs typeface="Aptos" pitchFamily="34" charset="-120"/>
              </a:rPr>
              <a:t>▸ Open the current Microsoft Foundry portal and locate the Foundry project.</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Identify the resource and project naming pattern.</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Review where project settings and connections appear.</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Locate model, agent, knowledge, tool, and evaluation areas without configuring them yet.</a:t>
            </a:r>
            <a:endParaRPr lang="en-US" sz="2000"/>
          </a:p>
          <a:p>
            <a:pPr marL="0" indent="0">
              <a:lnSpc>
                <a:spcPct val="150000"/>
              </a:lnSpc>
              <a:buNone/>
            </a:pPr>
            <a:r>
              <a:rPr lang="en-US" sz="2000">
                <a:solidFill>
                  <a:srgbClr val="374151"/>
                </a:solidFill>
                <a:latin typeface="Aptos" pitchFamily="34" charset="0"/>
                <a:ea typeface="Aptos" pitchFamily="34" charset="-122"/>
                <a:cs typeface="Aptos" pitchFamily="34" charset="-120"/>
              </a:rPr>
              <a:t>▸ Close the demo by restating the project boundary learners will use in the lab.</a:t>
            </a:r>
            <a:endParaRPr lang="en-US" sz="200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Demonstration</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Use this demo to orient learners before the first lab, not to provision everything yet.</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10</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10</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Lecture Goal: Select a Model Responsibly</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Model choice affects quality, latency, cost, region, tools, and lifecycle risk.</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Read the model catalog as an enterprise selection surface.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Compare models by capability and operating constraints.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Avoid locking the course to a single model name.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Choose a regionally available model for the lab scenario.</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Document why a model is selected.</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Outcome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You can defend a model selection without relying on popularity or hype.</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10</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10</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Choose Enterprise Models from the Catalog</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Model selection is an architecture decision, not a popularity contest.</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92500"/>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Match the model to reasoning, latency, context, tool use, and multimodal needs.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Check regional availability and enterprise data requirements.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Consider cost per business task, not only cost per token.</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Choose a supported deployment option for the course scenario.</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Avoid hard-coding a course or architecture to one model name.</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fontScale="85000" lnSpcReduction="10000"/>
          </a:bodyPr>
          <a:lstStyle/>
          <a:p>
            <a:pPr marL="0" indent="0">
              <a:buNone/>
            </a:pPr>
            <a:r>
              <a:rPr lang="en-US" sz="1150" b="1">
                <a:solidFill>
                  <a:srgbClr val="1F2A37"/>
                </a:solidFill>
                <a:latin typeface="Aptos" pitchFamily="34" charset="0"/>
                <a:ea typeface="Aptos" pitchFamily="34" charset="-122"/>
                <a:cs typeface="Aptos" pitchFamily="34" charset="-120"/>
              </a:rPr>
              <a:t>Demonstration attached</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Walk through the model catalog and apply the selection criteria to one available model.</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10</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10</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Model Selection Framework</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Use consistent criteria so teams can defend why a model was selected.</a:t>
            </a:r>
            <a:endParaRPr lang="en-US" sz="1260" dirty="0"/>
          </a:p>
        </p:txBody>
      </p:sp>
      <p:sp>
        <p:nvSpPr>
          <p:cNvPr id="9" name="Shape 6"/>
          <p:cNvSpPr/>
          <p:nvPr/>
        </p:nvSpPr>
        <p:spPr>
          <a:xfrm>
            <a:off x="341376" y="1719072"/>
            <a:ext cx="8729472" cy="3785616"/>
          </a:xfrm>
          <a:prstGeom prst="rect">
            <a:avLst/>
          </a:prstGeom>
          <a:solidFill>
            <a:srgbClr val="FFFFFF"/>
          </a:solidFill>
          <a:ln w="12700">
            <a:solidFill>
              <a:srgbClr val="C9D5DA"/>
            </a:solidFill>
            <a:prstDash val="solid"/>
          </a:ln>
        </p:spPr>
        <p:txBody>
          <a:bodyPr/>
          <a:lstStyle/>
          <a:p>
            <a:endParaRPr lang="en-US"/>
          </a:p>
        </p:txBody>
      </p:sp>
      <p:sp>
        <p:nvSpPr>
          <p:cNvPr id="10" name="Shape 7"/>
          <p:cNvSpPr/>
          <p:nvPr/>
        </p:nvSpPr>
        <p:spPr>
          <a:xfrm>
            <a:off x="658368" y="1874520"/>
            <a:ext cx="1965960" cy="402336"/>
          </a:xfrm>
          <a:prstGeom prst="rect">
            <a:avLst/>
          </a:prstGeom>
          <a:solidFill>
            <a:srgbClr val="08A9C9"/>
          </a:solidFill>
          <a:ln w="12700">
            <a:solidFill>
              <a:srgbClr val="08A9C9"/>
            </a:solidFill>
            <a:prstDash val="solid"/>
          </a:ln>
        </p:spPr>
        <p:txBody>
          <a:bodyPr/>
          <a:lstStyle/>
          <a:p>
            <a:endParaRPr lang="en-US" sz="2400"/>
          </a:p>
        </p:txBody>
      </p:sp>
      <p:sp>
        <p:nvSpPr>
          <p:cNvPr id="11" name="Text 8"/>
          <p:cNvSpPr/>
          <p:nvPr/>
        </p:nvSpPr>
        <p:spPr>
          <a:xfrm>
            <a:off x="713232" y="1984248"/>
            <a:ext cx="1856232" cy="109728"/>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Aptos" pitchFamily="34" charset="0"/>
                <a:ea typeface="Aptos" pitchFamily="34" charset="-122"/>
                <a:cs typeface="Aptos" pitchFamily="34" charset="-120"/>
              </a:rPr>
              <a:t>Criterion</a:t>
            </a:r>
            <a:endParaRPr lang="en-US" sz="2000" dirty="0"/>
          </a:p>
        </p:txBody>
      </p:sp>
      <p:sp>
        <p:nvSpPr>
          <p:cNvPr id="12" name="Shape 9"/>
          <p:cNvSpPr/>
          <p:nvPr/>
        </p:nvSpPr>
        <p:spPr>
          <a:xfrm>
            <a:off x="2624328" y="1874520"/>
            <a:ext cx="2011680" cy="402336"/>
          </a:xfrm>
          <a:prstGeom prst="rect">
            <a:avLst/>
          </a:prstGeom>
          <a:solidFill>
            <a:srgbClr val="08A9C9"/>
          </a:solidFill>
          <a:ln w="12700">
            <a:solidFill>
              <a:srgbClr val="08A9C9"/>
            </a:solidFill>
            <a:prstDash val="solid"/>
          </a:ln>
        </p:spPr>
        <p:txBody>
          <a:bodyPr/>
          <a:lstStyle/>
          <a:p>
            <a:endParaRPr lang="en-US" sz="2400"/>
          </a:p>
        </p:txBody>
      </p:sp>
      <p:sp>
        <p:nvSpPr>
          <p:cNvPr id="13" name="Text 10"/>
          <p:cNvSpPr/>
          <p:nvPr/>
        </p:nvSpPr>
        <p:spPr>
          <a:xfrm>
            <a:off x="2679192" y="1984248"/>
            <a:ext cx="1901952" cy="109728"/>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Aptos" pitchFamily="34" charset="0"/>
                <a:ea typeface="Aptos" pitchFamily="34" charset="-122"/>
                <a:cs typeface="Aptos" pitchFamily="34" charset="-120"/>
              </a:rPr>
              <a:t>Question</a:t>
            </a:r>
            <a:endParaRPr lang="en-US" sz="1600" dirty="0"/>
          </a:p>
        </p:txBody>
      </p:sp>
      <p:sp>
        <p:nvSpPr>
          <p:cNvPr id="14" name="Shape 11"/>
          <p:cNvSpPr/>
          <p:nvPr/>
        </p:nvSpPr>
        <p:spPr>
          <a:xfrm>
            <a:off x="4636008" y="1874520"/>
            <a:ext cx="2057400" cy="402336"/>
          </a:xfrm>
          <a:prstGeom prst="rect">
            <a:avLst/>
          </a:prstGeom>
          <a:solidFill>
            <a:srgbClr val="08A9C9"/>
          </a:solidFill>
          <a:ln w="12700">
            <a:solidFill>
              <a:srgbClr val="08A9C9"/>
            </a:solidFill>
            <a:prstDash val="solid"/>
          </a:ln>
        </p:spPr>
        <p:txBody>
          <a:bodyPr/>
          <a:lstStyle/>
          <a:p>
            <a:endParaRPr lang="en-US" sz="2400"/>
          </a:p>
        </p:txBody>
      </p:sp>
      <p:sp>
        <p:nvSpPr>
          <p:cNvPr id="15" name="Text 12"/>
          <p:cNvSpPr/>
          <p:nvPr/>
        </p:nvSpPr>
        <p:spPr>
          <a:xfrm>
            <a:off x="4690872" y="1984248"/>
            <a:ext cx="1947672" cy="109728"/>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Aptos" pitchFamily="34" charset="0"/>
                <a:ea typeface="Aptos" pitchFamily="34" charset="-122"/>
                <a:cs typeface="Aptos" pitchFamily="34" charset="-120"/>
              </a:rPr>
              <a:t>Evidence to review</a:t>
            </a:r>
            <a:endParaRPr lang="en-US" sz="1600" dirty="0"/>
          </a:p>
        </p:txBody>
      </p:sp>
      <p:sp>
        <p:nvSpPr>
          <p:cNvPr id="16" name="Shape 13"/>
          <p:cNvSpPr/>
          <p:nvPr/>
        </p:nvSpPr>
        <p:spPr>
          <a:xfrm>
            <a:off x="6693408" y="1874520"/>
            <a:ext cx="2011680" cy="402336"/>
          </a:xfrm>
          <a:prstGeom prst="rect">
            <a:avLst/>
          </a:prstGeom>
          <a:solidFill>
            <a:srgbClr val="08A9C9"/>
          </a:solidFill>
          <a:ln w="12700">
            <a:solidFill>
              <a:srgbClr val="08A9C9"/>
            </a:solidFill>
            <a:prstDash val="solid"/>
          </a:ln>
        </p:spPr>
        <p:txBody>
          <a:bodyPr/>
          <a:lstStyle/>
          <a:p>
            <a:endParaRPr lang="en-US" sz="2400"/>
          </a:p>
        </p:txBody>
      </p:sp>
      <p:sp>
        <p:nvSpPr>
          <p:cNvPr id="17" name="Text 14"/>
          <p:cNvSpPr/>
          <p:nvPr/>
        </p:nvSpPr>
        <p:spPr>
          <a:xfrm>
            <a:off x="6748272" y="1984248"/>
            <a:ext cx="1901952" cy="109728"/>
          </a:xfrm>
          <a:prstGeom prst="rect">
            <a:avLst/>
          </a:prstGeom>
          <a:noFill/>
          <a:ln/>
        </p:spPr>
        <p:txBody>
          <a:bodyPr wrap="square" lIns="0" tIns="0" rIns="0" bIns="0" rtlCol="0" anchor="ctr">
            <a:noAutofit/>
          </a:bodyPr>
          <a:lstStyle/>
          <a:p>
            <a:pPr marL="0" indent="0">
              <a:buNone/>
            </a:pPr>
            <a:r>
              <a:rPr lang="en-US" sz="1600" b="1" dirty="0">
                <a:solidFill>
                  <a:srgbClr val="FFFFFF"/>
                </a:solidFill>
                <a:latin typeface="Aptos" pitchFamily="34" charset="0"/>
                <a:ea typeface="Aptos" pitchFamily="34" charset="-122"/>
                <a:cs typeface="Aptos" pitchFamily="34" charset="-120"/>
              </a:rPr>
              <a:t>Decision risk</a:t>
            </a:r>
            <a:endParaRPr lang="en-US" sz="1600" dirty="0"/>
          </a:p>
        </p:txBody>
      </p:sp>
      <p:sp>
        <p:nvSpPr>
          <p:cNvPr id="18" name="Shape 15"/>
          <p:cNvSpPr/>
          <p:nvPr/>
        </p:nvSpPr>
        <p:spPr>
          <a:xfrm>
            <a:off x="658368" y="2276856"/>
            <a:ext cx="1965960" cy="603504"/>
          </a:xfrm>
          <a:prstGeom prst="rect">
            <a:avLst/>
          </a:prstGeom>
          <a:solidFill>
            <a:srgbClr val="F8FAFB"/>
          </a:solidFill>
          <a:ln w="6350">
            <a:solidFill>
              <a:srgbClr val="C9D5DA"/>
            </a:solidFill>
            <a:prstDash val="solid"/>
          </a:ln>
        </p:spPr>
        <p:txBody>
          <a:bodyPr/>
          <a:lstStyle/>
          <a:p>
            <a:endParaRPr lang="en-US" sz="2400"/>
          </a:p>
        </p:txBody>
      </p:sp>
      <p:sp>
        <p:nvSpPr>
          <p:cNvPr id="19" name="Text 16"/>
          <p:cNvSpPr/>
          <p:nvPr/>
        </p:nvSpPr>
        <p:spPr>
          <a:xfrm>
            <a:off x="722376" y="2350008"/>
            <a:ext cx="183794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Capability</a:t>
            </a:r>
            <a:endParaRPr lang="en-US" sz="1050" dirty="0"/>
          </a:p>
        </p:txBody>
      </p:sp>
      <p:sp>
        <p:nvSpPr>
          <p:cNvPr id="20" name="Shape 17"/>
          <p:cNvSpPr/>
          <p:nvPr/>
        </p:nvSpPr>
        <p:spPr>
          <a:xfrm>
            <a:off x="2624328" y="2276856"/>
            <a:ext cx="2011680" cy="603504"/>
          </a:xfrm>
          <a:prstGeom prst="rect">
            <a:avLst/>
          </a:prstGeom>
          <a:solidFill>
            <a:srgbClr val="F8FAFB"/>
          </a:solidFill>
          <a:ln w="6350">
            <a:solidFill>
              <a:srgbClr val="C9D5DA"/>
            </a:solidFill>
            <a:prstDash val="solid"/>
          </a:ln>
        </p:spPr>
        <p:txBody>
          <a:bodyPr/>
          <a:lstStyle/>
          <a:p>
            <a:endParaRPr lang="en-US" sz="2400"/>
          </a:p>
        </p:txBody>
      </p:sp>
      <p:sp>
        <p:nvSpPr>
          <p:cNvPr id="21" name="Text 18"/>
          <p:cNvSpPr/>
          <p:nvPr/>
        </p:nvSpPr>
        <p:spPr>
          <a:xfrm>
            <a:off x="2688336" y="2350008"/>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Can it do the task?</a:t>
            </a:r>
            <a:endParaRPr lang="en-US" sz="1050" dirty="0"/>
          </a:p>
        </p:txBody>
      </p:sp>
      <p:sp>
        <p:nvSpPr>
          <p:cNvPr id="22" name="Shape 19"/>
          <p:cNvSpPr/>
          <p:nvPr/>
        </p:nvSpPr>
        <p:spPr>
          <a:xfrm>
            <a:off x="4636008" y="2276856"/>
            <a:ext cx="2057400" cy="603504"/>
          </a:xfrm>
          <a:prstGeom prst="rect">
            <a:avLst/>
          </a:prstGeom>
          <a:solidFill>
            <a:srgbClr val="F8FAFB"/>
          </a:solidFill>
          <a:ln w="6350">
            <a:solidFill>
              <a:srgbClr val="C9D5DA"/>
            </a:solidFill>
            <a:prstDash val="solid"/>
          </a:ln>
        </p:spPr>
        <p:txBody>
          <a:bodyPr/>
          <a:lstStyle/>
          <a:p>
            <a:endParaRPr lang="en-US" sz="2400"/>
          </a:p>
        </p:txBody>
      </p:sp>
      <p:sp>
        <p:nvSpPr>
          <p:cNvPr id="23" name="Text 20"/>
          <p:cNvSpPr/>
          <p:nvPr/>
        </p:nvSpPr>
        <p:spPr>
          <a:xfrm>
            <a:off x="4700016" y="2350008"/>
            <a:ext cx="192938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Quality, modality, tool and retrieval support</a:t>
            </a:r>
            <a:endParaRPr lang="en-US" sz="1050" dirty="0"/>
          </a:p>
        </p:txBody>
      </p:sp>
      <p:sp>
        <p:nvSpPr>
          <p:cNvPr id="24" name="Shape 21"/>
          <p:cNvSpPr/>
          <p:nvPr/>
        </p:nvSpPr>
        <p:spPr>
          <a:xfrm>
            <a:off x="6693408" y="2276856"/>
            <a:ext cx="2011680" cy="603504"/>
          </a:xfrm>
          <a:prstGeom prst="rect">
            <a:avLst/>
          </a:prstGeom>
          <a:solidFill>
            <a:srgbClr val="F8FAFB"/>
          </a:solidFill>
          <a:ln w="6350">
            <a:solidFill>
              <a:srgbClr val="C9D5DA"/>
            </a:solidFill>
            <a:prstDash val="solid"/>
          </a:ln>
        </p:spPr>
        <p:txBody>
          <a:bodyPr/>
          <a:lstStyle/>
          <a:p>
            <a:endParaRPr lang="en-US" sz="2400"/>
          </a:p>
        </p:txBody>
      </p:sp>
      <p:sp>
        <p:nvSpPr>
          <p:cNvPr id="25" name="Text 22"/>
          <p:cNvSpPr/>
          <p:nvPr/>
        </p:nvSpPr>
        <p:spPr>
          <a:xfrm>
            <a:off x="6757416" y="2350008"/>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Wrong model produces unreliable behavior</a:t>
            </a:r>
            <a:endParaRPr lang="en-US" sz="1050" dirty="0"/>
          </a:p>
        </p:txBody>
      </p:sp>
      <p:sp>
        <p:nvSpPr>
          <p:cNvPr id="26" name="Shape 23"/>
          <p:cNvSpPr/>
          <p:nvPr/>
        </p:nvSpPr>
        <p:spPr>
          <a:xfrm>
            <a:off x="658368" y="2880360"/>
            <a:ext cx="1965960" cy="603504"/>
          </a:xfrm>
          <a:prstGeom prst="rect">
            <a:avLst/>
          </a:prstGeom>
          <a:solidFill>
            <a:srgbClr val="FFFFFF"/>
          </a:solidFill>
          <a:ln w="6350">
            <a:solidFill>
              <a:srgbClr val="C9D5DA"/>
            </a:solidFill>
            <a:prstDash val="solid"/>
          </a:ln>
        </p:spPr>
        <p:txBody>
          <a:bodyPr/>
          <a:lstStyle/>
          <a:p>
            <a:endParaRPr lang="en-US" sz="2400"/>
          </a:p>
        </p:txBody>
      </p:sp>
      <p:sp>
        <p:nvSpPr>
          <p:cNvPr id="27" name="Text 24"/>
          <p:cNvSpPr/>
          <p:nvPr/>
        </p:nvSpPr>
        <p:spPr>
          <a:xfrm>
            <a:off x="722376" y="2953512"/>
            <a:ext cx="183794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Operations</a:t>
            </a:r>
            <a:endParaRPr lang="en-US" sz="1050" dirty="0"/>
          </a:p>
        </p:txBody>
      </p:sp>
      <p:sp>
        <p:nvSpPr>
          <p:cNvPr id="28" name="Shape 25"/>
          <p:cNvSpPr/>
          <p:nvPr/>
        </p:nvSpPr>
        <p:spPr>
          <a:xfrm>
            <a:off x="2624328" y="2880360"/>
            <a:ext cx="2011680" cy="603504"/>
          </a:xfrm>
          <a:prstGeom prst="rect">
            <a:avLst/>
          </a:prstGeom>
          <a:solidFill>
            <a:srgbClr val="FFFFFF"/>
          </a:solidFill>
          <a:ln w="6350">
            <a:solidFill>
              <a:srgbClr val="C9D5DA"/>
            </a:solidFill>
            <a:prstDash val="solid"/>
          </a:ln>
        </p:spPr>
        <p:txBody>
          <a:bodyPr/>
          <a:lstStyle/>
          <a:p>
            <a:endParaRPr lang="en-US" sz="2400"/>
          </a:p>
        </p:txBody>
      </p:sp>
      <p:sp>
        <p:nvSpPr>
          <p:cNvPr id="29" name="Text 26"/>
          <p:cNvSpPr/>
          <p:nvPr/>
        </p:nvSpPr>
        <p:spPr>
          <a:xfrm>
            <a:off x="2688336" y="2953512"/>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Can it run where needed?</a:t>
            </a:r>
            <a:endParaRPr lang="en-US" sz="1050" dirty="0"/>
          </a:p>
        </p:txBody>
      </p:sp>
      <p:sp>
        <p:nvSpPr>
          <p:cNvPr id="30" name="Shape 27"/>
          <p:cNvSpPr/>
          <p:nvPr/>
        </p:nvSpPr>
        <p:spPr>
          <a:xfrm>
            <a:off x="4636008" y="2880360"/>
            <a:ext cx="2057400" cy="603504"/>
          </a:xfrm>
          <a:prstGeom prst="rect">
            <a:avLst/>
          </a:prstGeom>
          <a:solidFill>
            <a:srgbClr val="FFFFFF"/>
          </a:solidFill>
          <a:ln w="6350">
            <a:solidFill>
              <a:srgbClr val="C9D5DA"/>
            </a:solidFill>
            <a:prstDash val="solid"/>
          </a:ln>
        </p:spPr>
        <p:txBody>
          <a:bodyPr/>
          <a:lstStyle/>
          <a:p>
            <a:endParaRPr lang="en-US" sz="2400"/>
          </a:p>
        </p:txBody>
      </p:sp>
      <p:sp>
        <p:nvSpPr>
          <p:cNvPr id="31" name="Text 28"/>
          <p:cNvSpPr/>
          <p:nvPr/>
        </p:nvSpPr>
        <p:spPr>
          <a:xfrm>
            <a:off x="4700016" y="2953512"/>
            <a:ext cx="192938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Region, quota, throughput, latency</a:t>
            </a:r>
            <a:endParaRPr lang="en-US" sz="1050" dirty="0"/>
          </a:p>
        </p:txBody>
      </p:sp>
      <p:sp>
        <p:nvSpPr>
          <p:cNvPr id="32" name="Shape 29"/>
          <p:cNvSpPr/>
          <p:nvPr/>
        </p:nvSpPr>
        <p:spPr>
          <a:xfrm>
            <a:off x="6693408" y="2880360"/>
            <a:ext cx="2011680" cy="603504"/>
          </a:xfrm>
          <a:prstGeom prst="rect">
            <a:avLst/>
          </a:prstGeom>
          <a:solidFill>
            <a:srgbClr val="FFFFFF"/>
          </a:solidFill>
          <a:ln w="6350">
            <a:solidFill>
              <a:srgbClr val="C9D5DA"/>
            </a:solidFill>
            <a:prstDash val="solid"/>
          </a:ln>
        </p:spPr>
        <p:txBody>
          <a:bodyPr/>
          <a:lstStyle/>
          <a:p>
            <a:endParaRPr lang="en-US" sz="2400"/>
          </a:p>
        </p:txBody>
      </p:sp>
      <p:sp>
        <p:nvSpPr>
          <p:cNvPr id="33" name="Text 30"/>
          <p:cNvSpPr/>
          <p:nvPr/>
        </p:nvSpPr>
        <p:spPr>
          <a:xfrm>
            <a:off x="6757416" y="2953512"/>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Good model fails under real usage</a:t>
            </a:r>
            <a:endParaRPr lang="en-US" sz="1050" dirty="0"/>
          </a:p>
        </p:txBody>
      </p:sp>
      <p:sp>
        <p:nvSpPr>
          <p:cNvPr id="34" name="Shape 31"/>
          <p:cNvSpPr/>
          <p:nvPr/>
        </p:nvSpPr>
        <p:spPr>
          <a:xfrm>
            <a:off x="658368" y="3483864"/>
            <a:ext cx="1965960" cy="603504"/>
          </a:xfrm>
          <a:prstGeom prst="rect">
            <a:avLst/>
          </a:prstGeom>
          <a:solidFill>
            <a:srgbClr val="F8FAFB"/>
          </a:solidFill>
          <a:ln w="6350">
            <a:solidFill>
              <a:srgbClr val="C9D5DA"/>
            </a:solidFill>
            <a:prstDash val="solid"/>
          </a:ln>
        </p:spPr>
        <p:txBody>
          <a:bodyPr/>
          <a:lstStyle/>
          <a:p>
            <a:endParaRPr lang="en-US" sz="2400"/>
          </a:p>
        </p:txBody>
      </p:sp>
      <p:sp>
        <p:nvSpPr>
          <p:cNvPr id="35" name="Text 32"/>
          <p:cNvSpPr/>
          <p:nvPr/>
        </p:nvSpPr>
        <p:spPr>
          <a:xfrm>
            <a:off x="722376" y="3557016"/>
            <a:ext cx="183794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Security</a:t>
            </a:r>
            <a:endParaRPr lang="en-US" sz="1050" dirty="0"/>
          </a:p>
        </p:txBody>
      </p:sp>
      <p:sp>
        <p:nvSpPr>
          <p:cNvPr id="36" name="Shape 33"/>
          <p:cNvSpPr/>
          <p:nvPr/>
        </p:nvSpPr>
        <p:spPr>
          <a:xfrm>
            <a:off x="2624328" y="3483864"/>
            <a:ext cx="2011680" cy="603504"/>
          </a:xfrm>
          <a:prstGeom prst="rect">
            <a:avLst/>
          </a:prstGeom>
          <a:solidFill>
            <a:srgbClr val="F8FAFB"/>
          </a:solidFill>
          <a:ln w="6350">
            <a:solidFill>
              <a:srgbClr val="C9D5DA"/>
            </a:solidFill>
            <a:prstDash val="solid"/>
          </a:ln>
        </p:spPr>
        <p:txBody>
          <a:bodyPr/>
          <a:lstStyle/>
          <a:p>
            <a:endParaRPr lang="en-US" sz="2400"/>
          </a:p>
        </p:txBody>
      </p:sp>
      <p:sp>
        <p:nvSpPr>
          <p:cNvPr id="37" name="Text 34"/>
          <p:cNvSpPr/>
          <p:nvPr/>
        </p:nvSpPr>
        <p:spPr>
          <a:xfrm>
            <a:off x="2688336" y="3557016"/>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Can it meet data rules?</a:t>
            </a:r>
            <a:endParaRPr lang="en-US" sz="1050" dirty="0"/>
          </a:p>
        </p:txBody>
      </p:sp>
      <p:sp>
        <p:nvSpPr>
          <p:cNvPr id="38" name="Shape 35"/>
          <p:cNvSpPr/>
          <p:nvPr/>
        </p:nvSpPr>
        <p:spPr>
          <a:xfrm>
            <a:off x="4636008" y="3483864"/>
            <a:ext cx="2057400" cy="603504"/>
          </a:xfrm>
          <a:prstGeom prst="rect">
            <a:avLst/>
          </a:prstGeom>
          <a:solidFill>
            <a:srgbClr val="F8FAFB"/>
          </a:solidFill>
          <a:ln w="6350">
            <a:solidFill>
              <a:srgbClr val="C9D5DA"/>
            </a:solidFill>
            <a:prstDash val="solid"/>
          </a:ln>
        </p:spPr>
        <p:txBody>
          <a:bodyPr/>
          <a:lstStyle/>
          <a:p>
            <a:endParaRPr lang="en-US" sz="2400"/>
          </a:p>
        </p:txBody>
      </p:sp>
      <p:sp>
        <p:nvSpPr>
          <p:cNvPr id="39" name="Text 36"/>
          <p:cNvSpPr/>
          <p:nvPr/>
        </p:nvSpPr>
        <p:spPr>
          <a:xfrm>
            <a:off x="4700016" y="3557016"/>
            <a:ext cx="192938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Auth, data handling, tenant policies</a:t>
            </a:r>
            <a:endParaRPr lang="en-US" sz="1050" dirty="0"/>
          </a:p>
        </p:txBody>
      </p:sp>
      <p:sp>
        <p:nvSpPr>
          <p:cNvPr id="40" name="Shape 37"/>
          <p:cNvSpPr/>
          <p:nvPr/>
        </p:nvSpPr>
        <p:spPr>
          <a:xfrm>
            <a:off x="6693408" y="3483864"/>
            <a:ext cx="2011680" cy="603504"/>
          </a:xfrm>
          <a:prstGeom prst="rect">
            <a:avLst/>
          </a:prstGeom>
          <a:solidFill>
            <a:srgbClr val="F8FAFB"/>
          </a:solidFill>
          <a:ln w="6350">
            <a:solidFill>
              <a:srgbClr val="C9D5DA"/>
            </a:solidFill>
            <a:prstDash val="solid"/>
          </a:ln>
        </p:spPr>
        <p:txBody>
          <a:bodyPr/>
          <a:lstStyle/>
          <a:p>
            <a:endParaRPr lang="en-US" sz="2400"/>
          </a:p>
        </p:txBody>
      </p:sp>
      <p:sp>
        <p:nvSpPr>
          <p:cNvPr id="41" name="Text 38"/>
          <p:cNvSpPr/>
          <p:nvPr/>
        </p:nvSpPr>
        <p:spPr>
          <a:xfrm>
            <a:off x="6757416" y="3557016"/>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Model violates enterprise constraints</a:t>
            </a:r>
            <a:endParaRPr lang="en-US" sz="1050" dirty="0"/>
          </a:p>
        </p:txBody>
      </p:sp>
      <p:sp>
        <p:nvSpPr>
          <p:cNvPr id="42" name="Shape 39"/>
          <p:cNvSpPr/>
          <p:nvPr/>
        </p:nvSpPr>
        <p:spPr>
          <a:xfrm>
            <a:off x="658368" y="4087368"/>
            <a:ext cx="1965960" cy="603504"/>
          </a:xfrm>
          <a:prstGeom prst="rect">
            <a:avLst/>
          </a:prstGeom>
          <a:solidFill>
            <a:srgbClr val="FFFFFF"/>
          </a:solidFill>
          <a:ln w="6350">
            <a:solidFill>
              <a:srgbClr val="C9D5DA"/>
            </a:solidFill>
            <a:prstDash val="solid"/>
          </a:ln>
        </p:spPr>
        <p:txBody>
          <a:bodyPr/>
          <a:lstStyle/>
          <a:p>
            <a:endParaRPr lang="en-US" sz="2400"/>
          </a:p>
        </p:txBody>
      </p:sp>
      <p:sp>
        <p:nvSpPr>
          <p:cNvPr id="43" name="Text 40"/>
          <p:cNvSpPr/>
          <p:nvPr/>
        </p:nvSpPr>
        <p:spPr>
          <a:xfrm>
            <a:off x="722376" y="4160520"/>
            <a:ext cx="183794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Cost</a:t>
            </a:r>
            <a:endParaRPr lang="en-US" sz="1050" dirty="0"/>
          </a:p>
        </p:txBody>
      </p:sp>
      <p:sp>
        <p:nvSpPr>
          <p:cNvPr id="44" name="Shape 41"/>
          <p:cNvSpPr/>
          <p:nvPr/>
        </p:nvSpPr>
        <p:spPr>
          <a:xfrm>
            <a:off x="2624328" y="4087368"/>
            <a:ext cx="2011680" cy="603504"/>
          </a:xfrm>
          <a:prstGeom prst="rect">
            <a:avLst/>
          </a:prstGeom>
          <a:solidFill>
            <a:srgbClr val="FFFFFF"/>
          </a:solidFill>
          <a:ln w="6350">
            <a:solidFill>
              <a:srgbClr val="C9D5DA"/>
            </a:solidFill>
            <a:prstDash val="solid"/>
          </a:ln>
        </p:spPr>
        <p:txBody>
          <a:bodyPr/>
          <a:lstStyle/>
          <a:p>
            <a:endParaRPr lang="en-US" sz="2400"/>
          </a:p>
        </p:txBody>
      </p:sp>
      <p:sp>
        <p:nvSpPr>
          <p:cNvPr id="45" name="Text 42"/>
          <p:cNvSpPr/>
          <p:nvPr/>
        </p:nvSpPr>
        <p:spPr>
          <a:xfrm>
            <a:off x="2688336" y="4160520"/>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Is task cost acceptable?</a:t>
            </a:r>
            <a:endParaRPr lang="en-US" sz="1050" dirty="0"/>
          </a:p>
        </p:txBody>
      </p:sp>
      <p:sp>
        <p:nvSpPr>
          <p:cNvPr id="46" name="Shape 43"/>
          <p:cNvSpPr/>
          <p:nvPr/>
        </p:nvSpPr>
        <p:spPr>
          <a:xfrm>
            <a:off x="4636008" y="4087368"/>
            <a:ext cx="2057400" cy="603504"/>
          </a:xfrm>
          <a:prstGeom prst="rect">
            <a:avLst/>
          </a:prstGeom>
          <a:solidFill>
            <a:srgbClr val="FFFFFF"/>
          </a:solidFill>
          <a:ln w="6350">
            <a:solidFill>
              <a:srgbClr val="C9D5DA"/>
            </a:solidFill>
            <a:prstDash val="solid"/>
          </a:ln>
        </p:spPr>
        <p:txBody>
          <a:bodyPr/>
          <a:lstStyle/>
          <a:p>
            <a:endParaRPr lang="en-US" sz="2400"/>
          </a:p>
        </p:txBody>
      </p:sp>
      <p:sp>
        <p:nvSpPr>
          <p:cNvPr id="47" name="Text 44"/>
          <p:cNvSpPr/>
          <p:nvPr/>
        </p:nvSpPr>
        <p:spPr>
          <a:xfrm>
            <a:off x="4700016" y="4160520"/>
            <a:ext cx="192938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Token use, volume, provisioned options</a:t>
            </a:r>
            <a:endParaRPr lang="en-US" sz="1050" dirty="0"/>
          </a:p>
        </p:txBody>
      </p:sp>
      <p:sp>
        <p:nvSpPr>
          <p:cNvPr id="48" name="Shape 45"/>
          <p:cNvSpPr/>
          <p:nvPr/>
        </p:nvSpPr>
        <p:spPr>
          <a:xfrm>
            <a:off x="6693408" y="4087368"/>
            <a:ext cx="2011680" cy="603504"/>
          </a:xfrm>
          <a:prstGeom prst="rect">
            <a:avLst/>
          </a:prstGeom>
          <a:solidFill>
            <a:srgbClr val="FFFFFF"/>
          </a:solidFill>
          <a:ln w="6350">
            <a:solidFill>
              <a:srgbClr val="C9D5DA"/>
            </a:solidFill>
            <a:prstDash val="solid"/>
          </a:ln>
        </p:spPr>
        <p:txBody>
          <a:bodyPr/>
          <a:lstStyle/>
          <a:p>
            <a:endParaRPr lang="en-US" sz="2400"/>
          </a:p>
        </p:txBody>
      </p:sp>
      <p:sp>
        <p:nvSpPr>
          <p:cNvPr id="49" name="Text 46"/>
          <p:cNvSpPr/>
          <p:nvPr/>
        </p:nvSpPr>
        <p:spPr>
          <a:xfrm>
            <a:off x="6757416" y="4160520"/>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Agent becomes too expensive to scale</a:t>
            </a:r>
            <a:endParaRPr lang="en-US" sz="1050" dirty="0"/>
          </a:p>
        </p:txBody>
      </p:sp>
      <p:sp>
        <p:nvSpPr>
          <p:cNvPr id="50" name="Shape 47"/>
          <p:cNvSpPr/>
          <p:nvPr/>
        </p:nvSpPr>
        <p:spPr>
          <a:xfrm>
            <a:off x="658368" y="4690872"/>
            <a:ext cx="1965960" cy="603504"/>
          </a:xfrm>
          <a:prstGeom prst="rect">
            <a:avLst/>
          </a:prstGeom>
          <a:solidFill>
            <a:srgbClr val="F8FAFB"/>
          </a:solidFill>
          <a:ln w="6350">
            <a:solidFill>
              <a:srgbClr val="C9D5DA"/>
            </a:solidFill>
            <a:prstDash val="solid"/>
          </a:ln>
        </p:spPr>
        <p:txBody>
          <a:bodyPr/>
          <a:lstStyle/>
          <a:p>
            <a:endParaRPr lang="en-US" sz="2400"/>
          </a:p>
        </p:txBody>
      </p:sp>
      <p:sp>
        <p:nvSpPr>
          <p:cNvPr id="51" name="Text 48"/>
          <p:cNvSpPr/>
          <p:nvPr/>
        </p:nvSpPr>
        <p:spPr>
          <a:xfrm>
            <a:off x="722376" y="4764024"/>
            <a:ext cx="183794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Lifecycle</a:t>
            </a:r>
            <a:endParaRPr lang="en-US" sz="1050" dirty="0"/>
          </a:p>
        </p:txBody>
      </p:sp>
      <p:sp>
        <p:nvSpPr>
          <p:cNvPr id="52" name="Shape 49"/>
          <p:cNvSpPr/>
          <p:nvPr/>
        </p:nvSpPr>
        <p:spPr>
          <a:xfrm>
            <a:off x="2624328" y="4690872"/>
            <a:ext cx="2011680" cy="603504"/>
          </a:xfrm>
          <a:prstGeom prst="rect">
            <a:avLst/>
          </a:prstGeom>
          <a:solidFill>
            <a:srgbClr val="F8FAFB"/>
          </a:solidFill>
          <a:ln w="6350">
            <a:solidFill>
              <a:srgbClr val="C9D5DA"/>
            </a:solidFill>
            <a:prstDash val="solid"/>
          </a:ln>
        </p:spPr>
        <p:txBody>
          <a:bodyPr/>
          <a:lstStyle/>
          <a:p>
            <a:endParaRPr lang="en-US" sz="2400"/>
          </a:p>
        </p:txBody>
      </p:sp>
      <p:sp>
        <p:nvSpPr>
          <p:cNvPr id="53" name="Text 50"/>
          <p:cNvSpPr/>
          <p:nvPr/>
        </p:nvSpPr>
        <p:spPr>
          <a:xfrm>
            <a:off x="2688336" y="4764024"/>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Is it stable enough?</a:t>
            </a:r>
            <a:endParaRPr lang="en-US" sz="1050" dirty="0"/>
          </a:p>
        </p:txBody>
      </p:sp>
      <p:sp>
        <p:nvSpPr>
          <p:cNvPr id="54" name="Shape 51"/>
          <p:cNvSpPr/>
          <p:nvPr/>
        </p:nvSpPr>
        <p:spPr>
          <a:xfrm>
            <a:off x="4636008" y="4690872"/>
            <a:ext cx="2057400" cy="603504"/>
          </a:xfrm>
          <a:prstGeom prst="rect">
            <a:avLst/>
          </a:prstGeom>
          <a:solidFill>
            <a:srgbClr val="F8FAFB"/>
          </a:solidFill>
          <a:ln w="6350">
            <a:solidFill>
              <a:srgbClr val="C9D5DA"/>
            </a:solidFill>
            <a:prstDash val="solid"/>
          </a:ln>
        </p:spPr>
        <p:txBody>
          <a:bodyPr/>
          <a:lstStyle/>
          <a:p>
            <a:endParaRPr lang="en-US" sz="2400"/>
          </a:p>
        </p:txBody>
      </p:sp>
      <p:sp>
        <p:nvSpPr>
          <p:cNvPr id="55" name="Text 52"/>
          <p:cNvSpPr/>
          <p:nvPr/>
        </p:nvSpPr>
        <p:spPr>
          <a:xfrm>
            <a:off x="4700016" y="4764024"/>
            <a:ext cx="192938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Status, retirement, upgrade path</a:t>
            </a:r>
            <a:endParaRPr lang="en-US" sz="1050" dirty="0"/>
          </a:p>
        </p:txBody>
      </p:sp>
      <p:sp>
        <p:nvSpPr>
          <p:cNvPr id="56" name="Shape 53"/>
          <p:cNvSpPr/>
          <p:nvPr/>
        </p:nvSpPr>
        <p:spPr>
          <a:xfrm>
            <a:off x="6693408" y="4690872"/>
            <a:ext cx="2011680" cy="603504"/>
          </a:xfrm>
          <a:prstGeom prst="rect">
            <a:avLst/>
          </a:prstGeom>
          <a:solidFill>
            <a:srgbClr val="F8FAFB"/>
          </a:solidFill>
          <a:ln w="6350">
            <a:solidFill>
              <a:srgbClr val="C9D5DA"/>
            </a:solidFill>
            <a:prstDash val="solid"/>
          </a:ln>
        </p:spPr>
        <p:txBody>
          <a:bodyPr/>
          <a:lstStyle/>
          <a:p>
            <a:endParaRPr lang="en-US" sz="2400"/>
          </a:p>
        </p:txBody>
      </p:sp>
      <p:sp>
        <p:nvSpPr>
          <p:cNvPr id="57" name="Text 54"/>
          <p:cNvSpPr/>
          <p:nvPr/>
        </p:nvSpPr>
        <p:spPr>
          <a:xfrm>
            <a:off x="6757416" y="4764024"/>
            <a:ext cx="1883664" cy="420624"/>
          </a:xfrm>
          <a:prstGeom prst="rect">
            <a:avLst/>
          </a:prstGeom>
          <a:noFill/>
          <a:ln/>
        </p:spPr>
        <p:txBody>
          <a:bodyPr wrap="square" lIns="127" tIns="127" rIns="127" bIns="127" rtlCol="0" anchor="ctr">
            <a:normAutofit/>
          </a:bodyPr>
          <a:lstStyle/>
          <a:p>
            <a:pPr marL="0" indent="0">
              <a:buNone/>
            </a:pPr>
            <a:r>
              <a:rPr lang="en-US" sz="1050" dirty="0">
                <a:solidFill>
                  <a:srgbClr val="374151"/>
                </a:solidFill>
                <a:latin typeface="Aptos" pitchFamily="34" charset="0"/>
                <a:ea typeface="Aptos" pitchFamily="34" charset="-122"/>
                <a:cs typeface="Aptos" pitchFamily="34" charset="-120"/>
              </a:rPr>
              <a:t>Future change breaks expectations</a:t>
            </a:r>
            <a:endParaRPr lang="en-US" sz="1050" dirty="0"/>
          </a:p>
        </p:txBody>
      </p:sp>
      <p:sp>
        <p:nvSpPr>
          <p:cNvPr id="58" name="Shape 55"/>
          <p:cNvSpPr/>
          <p:nvPr/>
        </p:nvSpPr>
        <p:spPr>
          <a:xfrm>
            <a:off x="9464040" y="2057400"/>
            <a:ext cx="1965960" cy="1097280"/>
          </a:xfrm>
          <a:prstGeom prst="roundRect">
            <a:avLst>
              <a:gd name="adj" fmla="val 2500"/>
            </a:avLst>
          </a:prstGeom>
          <a:solidFill>
            <a:srgbClr val="FFFFFF"/>
          </a:solidFill>
          <a:ln w="12700">
            <a:solidFill>
              <a:srgbClr val="C9D5DA"/>
            </a:solidFill>
            <a:prstDash val="solid"/>
          </a:ln>
        </p:spPr>
        <p:txBody>
          <a:bodyPr/>
          <a:lstStyle/>
          <a:p>
            <a:endParaRPr lang="en-US"/>
          </a:p>
        </p:txBody>
      </p:sp>
      <p:sp>
        <p:nvSpPr>
          <p:cNvPr id="59" name="Shape 56"/>
          <p:cNvSpPr/>
          <p:nvPr/>
        </p:nvSpPr>
        <p:spPr>
          <a:xfrm>
            <a:off x="9646920" y="2203704"/>
            <a:ext cx="164592" cy="164592"/>
          </a:xfrm>
          <a:prstGeom prst="ellipse">
            <a:avLst/>
          </a:prstGeom>
          <a:solidFill>
            <a:srgbClr val="08A9C9"/>
          </a:solidFill>
          <a:ln w="12700">
            <a:solidFill>
              <a:srgbClr val="08A9C9"/>
            </a:solidFill>
            <a:prstDash val="solid"/>
          </a:ln>
        </p:spPr>
        <p:txBody>
          <a:bodyPr/>
          <a:lstStyle/>
          <a:p>
            <a:endParaRPr lang="en-US"/>
          </a:p>
        </p:txBody>
      </p:sp>
      <p:sp>
        <p:nvSpPr>
          <p:cNvPr id="60" name="Text 57"/>
          <p:cNvSpPr/>
          <p:nvPr/>
        </p:nvSpPr>
        <p:spPr>
          <a:xfrm>
            <a:off x="9678924" y="2201875"/>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61" name="Text 58"/>
          <p:cNvSpPr/>
          <p:nvPr/>
        </p:nvSpPr>
        <p:spPr>
          <a:xfrm>
            <a:off x="9902952" y="2194560"/>
            <a:ext cx="1417320" cy="182880"/>
          </a:xfrm>
          <a:prstGeom prst="rect">
            <a:avLst/>
          </a:prstGeom>
          <a:noFill/>
          <a:ln/>
        </p:spPr>
        <p:txBody>
          <a:bodyPr wrap="square" lIns="0" tIns="0" rIns="0" bIns="0" rtlCol="0" anchor="ctr">
            <a:normAutofit/>
          </a:bodyPr>
          <a:lstStyle/>
          <a:p>
            <a:pPr marL="0" indent="0">
              <a:buNone/>
            </a:pPr>
            <a:r>
              <a:rPr lang="en-US" sz="1150" b="1" dirty="0">
                <a:solidFill>
                  <a:srgbClr val="1F2A37"/>
                </a:solidFill>
                <a:latin typeface="Aptos" pitchFamily="34" charset="0"/>
                <a:ea typeface="Aptos" pitchFamily="34" charset="-122"/>
                <a:cs typeface="Aptos" pitchFamily="34" charset="-120"/>
              </a:rPr>
              <a:t>Selection habit</a:t>
            </a:r>
            <a:endParaRPr lang="en-US" sz="1150" dirty="0"/>
          </a:p>
        </p:txBody>
      </p:sp>
      <p:sp>
        <p:nvSpPr>
          <p:cNvPr id="62" name="Text 59"/>
          <p:cNvSpPr/>
          <p:nvPr/>
        </p:nvSpPr>
        <p:spPr>
          <a:xfrm>
            <a:off x="9738360" y="2496312"/>
            <a:ext cx="1463040" cy="521208"/>
          </a:xfrm>
          <a:prstGeom prst="rect">
            <a:avLst/>
          </a:prstGeom>
          <a:noFill/>
          <a:ln/>
        </p:spPr>
        <p:txBody>
          <a:bodyPr wrap="square" lIns="127" tIns="127" rIns="127" bIns="127" rtlCol="0" anchor="ctr">
            <a:normAutofit/>
          </a:bodyPr>
          <a:lstStyle/>
          <a:p>
            <a:pPr marL="0" indent="0">
              <a:buNone/>
            </a:pPr>
            <a:r>
              <a:rPr lang="en-US" sz="1070" dirty="0">
                <a:solidFill>
                  <a:srgbClr val="374151"/>
                </a:solidFill>
                <a:latin typeface="Aptos" pitchFamily="34" charset="0"/>
                <a:ea typeface="Aptos" pitchFamily="34" charset="-122"/>
                <a:cs typeface="Aptos" pitchFamily="34" charset="-120"/>
              </a:rPr>
              <a:t>Record the reason, not just the name.</a:t>
            </a:r>
            <a:endParaRPr lang="en-US" sz="10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10</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10</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Model Categories Learners May Encounter</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One model is not universal; Do some research to ensure that you make the best choice.</a:t>
            </a:r>
            <a:endParaRPr lang="en-US" sz="1260" dirty="0"/>
          </a:p>
        </p:txBody>
      </p:sp>
      <p:sp>
        <p:nvSpPr>
          <p:cNvPr id="9" name="Shape 6"/>
          <p:cNvSpPr/>
          <p:nvPr/>
        </p:nvSpPr>
        <p:spPr>
          <a:xfrm>
            <a:off x="685800" y="1874520"/>
            <a:ext cx="2788920" cy="2331720"/>
          </a:xfrm>
          <a:prstGeom prst="roundRect">
            <a:avLst>
              <a:gd name="adj" fmla="val 1176"/>
            </a:avLst>
          </a:prstGeom>
          <a:solidFill>
            <a:srgbClr val="FFFFFF"/>
          </a:solidFill>
          <a:ln w="15240">
            <a:solidFill>
              <a:srgbClr val="C9D5DA"/>
            </a:solidFill>
            <a:prstDash val="solid"/>
          </a:ln>
        </p:spPr>
        <p:txBody>
          <a:bodyPr/>
          <a:lstStyle/>
          <a:p>
            <a:endParaRPr lang="en-US"/>
          </a:p>
        </p:txBody>
      </p:sp>
      <p:sp>
        <p:nvSpPr>
          <p:cNvPr id="10" name="Shape 7"/>
          <p:cNvSpPr/>
          <p:nvPr/>
        </p:nvSpPr>
        <p:spPr>
          <a:xfrm>
            <a:off x="868680" y="2039112"/>
            <a:ext cx="256032" cy="256032"/>
          </a:xfrm>
          <a:prstGeom prst="ellipse">
            <a:avLst/>
          </a:prstGeom>
          <a:solidFill>
            <a:srgbClr val="08A9C9"/>
          </a:solidFill>
          <a:ln w="12700">
            <a:solidFill>
              <a:srgbClr val="08A9C9"/>
            </a:solidFill>
            <a:prstDash val="solid"/>
          </a:ln>
        </p:spPr>
        <p:txBody>
          <a:bodyPr/>
          <a:lstStyle/>
          <a:p>
            <a:endParaRPr lang="en-US"/>
          </a:p>
        </p:txBody>
      </p:sp>
      <p:sp>
        <p:nvSpPr>
          <p:cNvPr id="11" name="Text 8"/>
          <p:cNvSpPr/>
          <p:nvPr/>
        </p:nvSpPr>
        <p:spPr>
          <a:xfrm>
            <a:off x="923544" y="2109216"/>
            <a:ext cx="146304" cy="109728"/>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1</a:t>
            </a:r>
            <a:endParaRPr lang="en-US" sz="1600" dirty="0"/>
          </a:p>
        </p:txBody>
      </p:sp>
      <p:sp>
        <p:nvSpPr>
          <p:cNvPr id="12" name="Text 9"/>
          <p:cNvSpPr/>
          <p:nvPr/>
        </p:nvSpPr>
        <p:spPr>
          <a:xfrm>
            <a:off x="1216152" y="2011680"/>
            <a:ext cx="2057400" cy="365760"/>
          </a:xfrm>
          <a:prstGeom prst="rect">
            <a:avLst/>
          </a:prstGeom>
          <a:noFill/>
          <a:ln/>
        </p:spPr>
        <p:txBody>
          <a:bodyPr wrap="square" lIns="254" tIns="254" rIns="254" bIns="254" rtlCol="0" anchor="ctr">
            <a:normAutofit/>
          </a:bodyPr>
          <a:lstStyle/>
          <a:p>
            <a:pPr marL="0" indent="0">
              <a:buNone/>
            </a:pPr>
            <a:r>
              <a:rPr lang="en-US" sz="1240" b="1" dirty="0">
                <a:solidFill>
                  <a:srgbClr val="1F2A37"/>
                </a:solidFill>
                <a:latin typeface="Aptos" pitchFamily="34" charset="0"/>
                <a:ea typeface="Aptos" pitchFamily="34" charset="-122"/>
                <a:cs typeface="Aptos" pitchFamily="34" charset="-120"/>
              </a:rPr>
              <a:t>General chat models</a:t>
            </a:r>
            <a:endParaRPr lang="en-US" sz="1240" dirty="0"/>
          </a:p>
        </p:txBody>
      </p:sp>
      <p:sp>
        <p:nvSpPr>
          <p:cNvPr id="13" name="Text 10"/>
          <p:cNvSpPr/>
          <p:nvPr/>
        </p:nvSpPr>
        <p:spPr>
          <a:xfrm>
            <a:off x="978408" y="2532888"/>
            <a:ext cx="2240280" cy="1417320"/>
          </a:xfrm>
          <a:prstGeom prst="rect">
            <a:avLst/>
          </a:prstGeom>
          <a:noFill/>
          <a:ln/>
        </p:spPr>
        <p:txBody>
          <a:bodyPr wrap="square" lIns="254" tIns="254" rIns="254" bIns="254" rtlCol="0" anchor="ctr">
            <a:normAutofit/>
          </a:bodyPr>
          <a:lstStyle/>
          <a:p>
            <a:pPr marL="0" indent="0">
              <a:buNone/>
            </a:pPr>
            <a:r>
              <a:rPr lang="en-US" sz="1600" dirty="0">
                <a:solidFill>
                  <a:srgbClr val="374151"/>
                </a:solidFill>
                <a:latin typeface="Aptos" pitchFamily="34" charset="0"/>
                <a:ea typeface="Aptos" pitchFamily="34" charset="-122"/>
                <a:cs typeface="Aptos" pitchFamily="34" charset="-120"/>
              </a:rPr>
              <a:t>Good for broad language tasks, grounded answers, </a:t>
            </a:r>
            <a:r>
              <a:rPr lang="en-US" dirty="0">
                <a:solidFill>
                  <a:srgbClr val="374151"/>
                </a:solidFill>
                <a:latin typeface="Aptos" pitchFamily="34" charset="0"/>
                <a:ea typeface="Aptos" pitchFamily="34" charset="-122"/>
                <a:cs typeface="Aptos" pitchFamily="34" charset="-120"/>
              </a:rPr>
              <a:t>summarization</a:t>
            </a:r>
            <a:r>
              <a:rPr lang="en-US" sz="1600" dirty="0">
                <a:solidFill>
                  <a:srgbClr val="374151"/>
                </a:solidFill>
                <a:latin typeface="Aptos" pitchFamily="34" charset="0"/>
                <a:ea typeface="Aptos" pitchFamily="34" charset="-122"/>
                <a:cs typeface="Aptos" pitchFamily="34" charset="-120"/>
              </a:rPr>
              <a:t>, and agent conversation when capability and cost fit.</a:t>
            </a:r>
            <a:endParaRPr lang="en-US" sz="1600" dirty="0"/>
          </a:p>
        </p:txBody>
      </p:sp>
      <p:sp>
        <p:nvSpPr>
          <p:cNvPr id="14" name="Shape 11"/>
          <p:cNvSpPr/>
          <p:nvPr/>
        </p:nvSpPr>
        <p:spPr>
          <a:xfrm>
            <a:off x="3822192" y="1874520"/>
            <a:ext cx="2788920" cy="2331720"/>
          </a:xfrm>
          <a:prstGeom prst="roundRect">
            <a:avLst>
              <a:gd name="adj" fmla="val 1176"/>
            </a:avLst>
          </a:prstGeom>
          <a:solidFill>
            <a:srgbClr val="FFFFFF"/>
          </a:solidFill>
          <a:ln w="15240">
            <a:solidFill>
              <a:srgbClr val="C9D5DA"/>
            </a:solidFill>
            <a:prstDash val="solid"/>
          </a:ln>
        </p:spPr>
        <p:txBody>
          <a:bodyPr/>
          <a:lstStyle/>
          <a:p>
            <a:endParaRPr lang="en-US"/>
          </a:p>
        </p:txBody>
      </p:sp>
      <p:sp>
        <p:nvSpPr>
          <p:cNvPr id="15" name="Shape 12"/>
          <p:cNvSpPr/>
          <p:nvPr/>
        </p:nvSpPr>
        <p:spPr>
          <a:xfrm>
            <a:off x="4005072" y="2039112"/>
            <a:ext cx="256032" cy="256032"/>
          </a:xfrm>
          <a:prstGeom prst="ellipse">
            <a:avLst/>
          </a:prstGeom>
          <a:solidFill>
            <a:srgbClr val="08A9C9"/>
          </a:solidFill>
          <a:ln w="12700">
            <a:solidFill>
              <a:srgbClr val="08A9C9"/>
            </a:solidFill>
            <a:prstDash val="solid"/>
          </a:ln>
        </p:spPr>
        <p:txBody>
          <a:bodyPr/>
          <a:lstStyle/>
          <a:p>
            <a:endParaRPr lang="en-US"/>
          </a:p>
        </p:txBody>
      </p:sp>
      <p:sp>
        <p:nvSpPr>
          <p:cNvPr id="16" name="Text 13"/>
          <p:cNvSpPr/>
          <p:nvPr/>
        </p:nvSpPr>
        <p:spPr>
          <a:xfrm>
            <a:off x="4059936" y="2097024"/>
            <a:ext cx="146304" cy="109728"/>
          </a:xfrm>
          <a:prstGeom prst="rect">
            <a:avLst/>
          </a:prstGeom>
          <a:noFill/>
          <a:ln/>
        </p:spPr>
        <p:txBody>
          <a:bodyPr wrap="square" lIns="0" tIns="0" rIns="0" bIns="0" rtlCol="0" anchor="ctr"/>
          <a:lstStyle/>
          <a:p>
            <a:pPr marL="0" indent="0" algn="ctr">
              <a:buNone/>
            </a:pPr>
            <a:r>
              <a:rPr lang="en-US" b="1" dirty="0">
                <a:solidFill>
                  <a:srgbClr val="FFFFFF"/>
                </a:solidFill>
                <a:latin typeface="Aptos" pitchFamily="34" charset="0"/>
                <a:ea typeface="Aptos" pitchFamily="34" charset="-122"/>
                <a:cs typeface="Aptos" pitchFamily="34" charset="-120"/>
              </a:rPr>
              <a:t>2</a:t>
            </a:r>
            <a:endParaRPr lang="en-US" dirty="0"/>
          </a:p>
        </p:txBody>
      </p:sp>
      <p:sp>
        <p:nvSpPr>
          <p:cNvPr id="17" name="Text 14"/>
          <p:cNvSpPr/>
          <p:nvPr/>
        </p:nvSpPr>
        <p:spPr>
          <a:xfrm>
            <a:off x="4352544" y="2011680"/>
            <a:ext cx="2057400" cy="365760"/>
          </a:xfrm>
          <a:prstGeom prst="rect">
            <a:avLst/>
          </a:prstGeom>
          <a:noFill/>
          <a:ln/>
        </p:spPr>
        <p:txBody>
          <a:bodyPr wrap="square" lIns="254" tIns="254" rIns="254" bIns="254" rtlCol="0" anchor="ctr">
            <a:normAutofit/>
          </a:bodyPr>
          <a:lstStyle/>
          <a:p>
            <a:pPr marL="0" indent="0">
              <a:buNone/>
            </a:pPr>
            <a:r>
              <a:rPr lang="en-US" sz="1240" b="1" dirty="0">
                <a:solidFill>
                  <a:srgbClr val="1F2A37"/>
                </a:solidFill>
                <a:latin typeface="Aptos" pitchFamily="34" charset="0"/>
                <a:ea typeface="Aptos" pitchFamily="34" charset="-122"/>
                <a:cs typeface="Aptos" pitchFamily="34" charset="-120"/>
              </a:rPr>
              <a:t>Reasoning-focused models</a:t>
            </a:r>
            <a:endParaRPr lang="en-US" sz="1240" dirty="0"/>
          </a:p>
        </p:txBody>
      </p:sp>
      <p:sp>
        <p:nvSpPr>
          <p:cNvPr id="18" name="Text 15"/>
          <p:cNvSpPr/>
          <p:nvPr/>
        </p:nvSpPr>
        <p:spPr>
          <a:xfrm>
            <a:off x="4114800" y="2532888"/>
            <a:ext cx="2240280" cy="1417320"/>
          </a:xfrm>
          <a:prstGeom prst="rect">
            <a:avLst/>
          </a:prstGeom>
          <a:noFill/>
          <a:ln/>
        </p:spPr>
        <p:txBody>
          <a:bodyPr wrap="square" lIns="254" tIns="254" rIns="254" bIns="254" rtlCol="0" anchor="ctr">
            <a:normAutofit/>
          </a:bodyPr>
          <a:lstStyle/>
          <a:p>
            <a:pPr marL="0" indent="0">
              <a:buNone/>
            </a:pPr>
            <a:r>
              <a:rPr lang="en-US" sz="1600" dirty="0">
                <a:solidFill>
                  <a:srgbClr val="374151"/>
                </a:solidFill>
                <a:latin typeface="Aptos" pitchFamily="34" charset="0"/>
                <a:ea typeface="Aptos" pitchFamily="34" charset="-122"/>
                <a:cs typeface="Aptos" pitchFamily="34" charset="-120"/>
              </a:rPr>
              <a:t>Useful when the task requires deeper planning, multi-step analysis, or higher decision complexity.</a:t>
            </a:r>
            <a:endParaRPr lang="en-US" sz="1600" dirty="0"/>
          </a:p>
        </p:txBody>
      </p:sp>
      <p:sp>
        <p:nvSpPr>
          <p:cNvPr id="19" name="Shape 16"/>
          <p:cNvSpPr/>
          <p:nvPr/>
        </p:nvSpPr>
        <p:spPr>
          <a:xfrm>
            <a:off x="6958584" y="1874520"/>
            <a:ext cx="2788920" cy="2331720"/>
          </a:xfrm>
          <a:prstGeom prst="roundRect">
            <a:avLst>
              <a:gd name="adj" fmla="val 1176"/>
            </a:avLst>
          </a:prstGeom>
          <a:solidFill>
            <a:srgbClr val="FFFFFF"/>
          </a:solidFill>
          <a:ln w="15240">
            <a:solidFill>
              <a:srgbClr val="C9D5DA"/>
            </a:solidFill>
            <a:prstDash val="solid"/>
          </a:ln>
        </p:spPr>
        <p:txBody>
          <a:bodyPr/>
          <a:lstStyle/>
          <a:p>
            <a:endParaRPr lang="en-US"/>
          </a:p>
        </p:txBody>
      </p:sp>
      <p:sp>
        <p:nvSpPr>
          <p:cNvPr id="20" name="Shape 17"/>
          <p:cNvSpPr/>
          <p:nvPr/>
        </p:nvSpPr>
        <p:spPr>
          <a:xfrm>
            <a:off x="7141464" y="2039112"/>
            <a:ext cx="256032" cy="256032"/>
          </a:xfrm>
          <a:prstGeom prst="ellipse">
            <a:avLst/>
          </a:prstGeom>
          <a:solidFill>
            <a:srgbClr val="08A9C9"/>
          </a:solidFill>
          <a:ln w="12700">
            <a:solidFill>
              <a:srgbClr val="08A9C9"/>
            </a:solidFill>
            <a:prstDash val="solid"/>
          </a:ln>
        </p:spPr>
        <p:txBody>
          <a:bodyPr/>
          <a:lstStyle/>
          <a:p>
            <a:endParaRPr lang="en-US"/>
          </a:p>
        </p:txBody>
      </p:sp>
      <p:sp>
        <p:nvSpPr>
          <p:cNvPr id="21" name="Text 18"/>
          <p:cNvSpPr/>
          <p:nvPr/>
        </p:nvSpPr>
        <p:spPr>
          <a:xfrm>
            <a:off x="7196328" y="2103120"/>
            <a:ext cx="146304" cy="109728"/>
          </a:xfrm>
          <a:prstGeom prst="rect">
            <a:avLst/>
          </a:prstGeom>
          <a:noFill/>
          <a:ln/>
        </p:spPr>
        <p:txBody>
          <a:bodyPr wrap="square" lIns="0" tIns="0" rIns="0" bIns="0" rtlCol="0" anchor="ctr"/>
          <a:lstStyle/>
          <a:p>
            <a:pPr marL="0" indent="0" algn="ctr">
              <a:buNone/>
            </a:pPr>
            <a:r>
              <a:rPr lang="en-US" sz="1600" b="1" dirty="0">
                <a:solidFill>
                  <a:srgbClr val="FFFFFF"/>
                </a:solidFill>
                <a:latin typeface="Aptos" pitchFamily="34" charset="0"/>
                <a:ea typeface="Aptos" pitchFamily="34" charset="-122"/>
                <a:cs typeface="Aptos" pitchFamily="34" charset="-120"/>
              </a:rPr>
              <a:t>3</a:t>
            </a:r>
            <a:endParaRPr lang="en-US" sz="1600" dirty="0"/>
          </a:p>
        </p:txBody>
      </p:sp>
      <p:sp>
        <p:nvSpPr>
          <p:cNvPr id="22" name="Text 19"/>
          <p:cNvSpPr/>
          <p:nvPr/>
        </p:nvSpPr>
        <p:spPr>
          <a:xfrm>
            <a:off x="7488936" y="2011680"/>
            <a:ext cx="2057400" cy="365760"/>
          </a:xfrm>
          <a:prstGeom prst="rect">
            <a:avLst/>
          </a:prstGeom>
          <a:noFill/>
          <a:ln/>
        </p:spPr>
        <p:txBody>
          <a:bodyPr wrap="square" lIns="254" tIns="254" rIns="254" bIns="254" rtlCol="0" anchor="ctr">
            <a:normAutofit lnSpcReduction="10000"/>
          </a:bodyPr>
          <a:lstStyle/>
          <a:p>
            <a:pPr marL="0" indent="0">
              <a:buNone/>
            </a:pPr>
            <a:r>
              <a:rPr lang="en-US" sz="1240" b="1" dirty="0">
                <a:solidFill>
                  <a:srgbClr val="1F2A37"/>
                </a:solidFill>
                <a:latin typeface="Aptos" pitchFamily="34" charset="0"/>
                <a:ea typeface="Aptos" pitchFamily="34" charset="-122"/>
                <a:cs typeface="Aptos" pitchFamily="34" charset="-120"/>
              </a:rPr>
              <a:t>Multimodal or specialized models</a:t>
            </a:r>
            <a:endParaRPr lang="en-US" sz="1240" dirty="0"/>
          </a:p>
        </p:txBody>
      </p:sp>
      <p:sp>
        <p:nvSpPr>
          <p:cNvPr id="23" name="Text 20"/>
          <p:cNvSpPr/>
          <p:nvPr/>
        </p:nvSpPr>
        <p:spPr>
          <a:xfrm>
            <a:off x="7251192" y="2532888"/>
            <a:ext cx="2240280" cy="1417320"/>
          </a:xfrm>
          <a:prstGeom prst="rect">
            <a:avLst/>
          </a:prstGeom>
          <a:noFill/>
          <a:ln/>
        </p:spPr>
        <p:txBody>
          <a:bodyPr wrap="square" lIns="254" tIns="254" rIns="254" bIns="254" rtlCol="0" anchor="ctr">
            <a:normAutofit lnSpcReduction="10000"/>
          </a:bodyPr>
          <a:lstStyle/>
          <a:p>
            <a:pPr marL="0" indent="0">
              <a:buNone/>
            </a:pPr>
            <a:r>
              <a:rPr lang="en-US" sz="1600" dirty="0">
                <a:solidFill>
                  <a:srgbClr val="374151"/>
                </a:solidFill>
                <a:latin typeface="Aptos" pitchFamily="34" charset="0"/>
                <a:ea typeface="Aptos" pitchFamily="34" charset="-122"/>
                <a:cs typeface="Aptos" pitchFamily="34" charset="-120"/>
              </a:rPr>
              <a:t>Useful when the workload includes images, documents, embeddings, classification, or domain-specific constraints.</a:t>
            </a:r>
            <a:endParaRPr 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500"/>
                                        <p:tgtEl>
                                          <p:spTgt spid="16"/>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animEffect transition="in" filter="fade">
                                      <p:cBhvr>
                                        <p:cTn id="33" dur="500"/>
                                        <p:tgtEl>
                                          <p:spTgt spid="17"/>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8"/>
                                        </p:tgtEl>
                                        <p:attrNameLst>
                                          <p:attrName>style.visibility</p:attrName>
                                        </p:attrNameLst>
                                      </p:cBhvr>
                                      <p:to>
                                        <p:strVal val="visible"/>
                                      </p:to>
                                    </p:set>
                                    <p:animEffect transition="in" filter="fade">
                                      <p:cBhvr>
                                        <p:cTn id="36" dur="500"/>
                                        <p:tgtEl>
                                          <p:spTgt spid="18"/>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5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2"/>
                                        </p:tgtEl>
                                        <p:attrNameLst>
                                          <p:attrName>style.visibility</p:attrName>
                                        </p:attrNameLst>
                                      </p:cBhvr>
                                      <p:to>
                                        <p:strVal val="visible"/>
                                      </p:to>
                                    </p:set>
                                    <p:animEffect transition="in" filter="fade">
                                      <p:cBhvr>
                                        <p:cTn id="50" dur="500"/>
                                        <p:tgtEl>
                                          <p:spTgt spid="22"/>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3"/>
                                        </p:tgtEl>
                                        <p:attrNameLst>
                                          <p:attrName>style.visibility</p:attrName>
                                        </p:attrNameLst>
                                      </p:cBhvr>
                                      <p:to>
                                        <p:strVal val="visible"/>
                                      </p:to>
                                    </p:set>
                                    <p:animEffect transition="in" filter="fade">
                                      <p:cBhvr>
                                        <p:cTn id="5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10</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10</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Fixed Model Choice vs Supported Model Choice</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The lab should survive regional and catalog changes.</a:t>
            </a:r>
            <a:endParaRPr lang="en-US" sz="1260" dirty="0"/>
          </a:p>
        </p:txBody>
      </p:sp>
      <p:sp>
        <p:nvSpPr>
          <p:cNvPr id="9" name="Shape 6"/>
          <p:cNvSpPr/>
          <p:nvPr/>
        </p:nvSpPr>
        <p:spPr>
          <a:xfrm>
            <a:off x="658368" y="1828800"/>
            <a:ext cx="4160520" cy="2971800"/>
          </a:xfrm>
          <a:prstGeom prst="roundRect">
            <a:avLst>
              <a:gd name="adj" fmla="val 923"/>
            </a:avLst>
          </a:prstGeom>
          <a:solidFill>
            <a:srgbClr val="FFF4EB"/>
          </a:solidFill>
          <a:ln w="13970">
            <a:solidFill>
              <a:srgbClr val="F4A261"/>
            </a:solidFill>
            <a:prstDash val="solid"/>
          </a:ln>
        </p:spPr>
        <p:txBody>
          <a:bodyPr/>
          <a:lstStyle/>
          <a:p>
            <a:endParaRPr lang="en-US"/>
          </a:p>
        </p:txBody>
      </p:sp>
      <p:sp>
        <p:nvSpPr>
          <p:cNvPr id="10" name="Shape 7"/>
          <p:cNvSpPr/>
          <p:nvPr/>
        </p:nvSpPr>
        <p:spPr>
          <a:xfrm>
            <a:off x="841248" y="2029968"/>
            <a:ext cx="228600" cy="228600"/>
          </a:xfrm>
          <a:prstGeom prst="ellipse">
            <a:avLst/>
          </a:prstGeom>
          <a:solidFill>
            <a:srgbClr val="E86E3D"/>
          </a:solidFill>
          <a:ln w="12700">
            <a:solidFill>
              <a:srgbClr val="E86E3D"/>
            </a:solidFill>
            <a:prstDash val="solid"/>
          </a:ln>
        </p:spPr>
        <p:txBody>
          <a:bodyPr/>
          <a:lstStyle/>
          <a:p>
            <a:endParaRPr lang="en-US"/>
          </a:p>
        </p:txBody>
      </p:sp>
      <p:sp>
        <p:nvSpPr>
          <p:cNvPr id="11" name="Text 8"/>
          <p:cNvSpPr/>
          <p:nvPr/>
        </p:nvSpPr>
        <p:spPr>
          <a:xfrm>
            <a:off x="891540" y="2039112"/>
            <a:ext cx="91440" cy="73152"/>
          </a:xfrm>
          <a:prstGeom prst="rect">
            <a:avLst/>
          </a:prstGeom>
          <a:noFill/>
          <a:ln/>
        </p:spPr>
        <p:txBody>
          <a:bodyPr wrap="square" lIns="0" tIns="0" rIns="0" bIns="0" rtlCol="0" anchor="ctr"/>
          <a:lstStyle/>
          <a:p>
            <a:pPr marL="0" indent="0" algn="ctr">
              <a:buNone/>
            </a:pPr>
            <a:r>
              <a:rPr lang="en-US" sz="860" b="1" dirty="0">
                <a:solidFill>
                  <a:srgbClr val="FFFFFF"/>
                </a:solidFill>
                <a:latin typeface="Aptos" pitchFamily="34" charset="0"/>
                <a:ea typeface="Aptos" pitchFamily="34" charset="-122"/>
                <a:cs typeface="Aptos" pitchFamily="34" charset="-120"/>
              </a:rPr>
              <a:t>1</a:t>
            </a:r>
            <a:endParaRPr lang="en-US" sz="860" dirty="0"/>
          </a:p>
        </p:txBody>
      </p:sp>
      <p:sp>
        <p:nvSpPr>
          <p:cNvPr id="12" name="Text 9"/>
          <p:cNvSpPr/>
          <p:nvPr/>
        </p:nvSpPr>
        <p:spPr>
          <a:xfrm>
            <a:off x="1170432" y="1984248"/>
            <a:ext cx="3291840" cy="347472"/>
          </a:xfrm>
          <a:prstGeom prst="rect">
            <a:avLst/>
          </a:prstGeom>
          <a:noFill/>
          <a:ln/>
        </p:spPr>
        <p:txBody>
          <a:bodyPr wrap="square" lIns="0" tIns="0" rIns="0" bIns="0" rtlCol="0" anchor="ctr">
            <a:normAutofit lnSpcReduction="10000"/>
          </a:bodyPr>
          <a:lstStyle/>
          <a:p>
            <a:pPr marL="0" indent="0">
              <a:buNone/>
            </a:pPr>
            <a:r>
              <a:rPr lang="en-US" sz="1220" b="1" dirty="0">
                <a:solidFill>
                  <a:srgbClr val="1F2A37"/>
                </a:solidFill>
                <a:latin typeface="Aptos" pitchFamily="34" charset="0"/>
                <a:ea typeface="Aptos" pitchFamily="34" charset="-122"/>
                <a:cs typeface="Aptos" pitchFamily="34" charset="-120"/>
              </a:rPr>
              <a:t>Weak course design</a:t>
            </a:r>
            <a:endParaRPr lang="en-US" sz="1220" dirty="0"/>
          </a:p>
          <a:p>
            <a:pPr marL="0" indent="0">
              <a:buNone/>
            </a:pPr>
            <a:r>
              <a:rPr lang="en-US" sz="1220" b="1" dirty="0">
                <a:solidFill>
                  <a:srgbClr val="1F2A37"/>
                </a:solidFill>
                <a:latin typeface="Aptos" pitchFamily="34" charset="0"/>
                <a:ea typeface="Aptos" pitchFamily="34" charset="-122"/>
                <a:cs typeface="Aptos" pitchFamily="34" charset="-120"/>
              </a:rPr>
              <a:t>One hard-coded model name</a:t>
            </a:r>
            <a:endParaRPr lang="en-US" sz="1220" dirty="0"/>
          </a:p>
        </p:txBody>
      </p:sp>
      <p:sp>
        <p:nvSpPr>
          <p:cNvPr id="13" name="Text 10"/>
          <p:cNvSpPr/>
          <p:nvPr/>
        </p:nvSpPr>
        <p:spPr>
          <a:xfrm>
            <a:off x="914400" y="2542032"/>
            <a:ext cx="3566160" cy="1783080"/>
          </a:xfrm>
          <a:prstGeom prst="rect">
            <a:avLst/>
          </a:prstGeom>
          <a:noFill/>
          <a:ln/>
        </p:spPr>
        <p:txBody>
          <a:bodyPr wrap="square" lIns="254" tIns="254" rIns="254" bIns="254" rtlCol="0" anchor="ctr">
            <a:normAutofit/>
          </a:bodyPr>
          <a:lstStyle/>
          <a:p>
            <a:pPr marL="0" indent="0">
              <a:buNone/>
            </a:pPr>
            <a:r>
              <a:rPr lang="en-US" sz="1040" dirty="0">
                <a:solidFill>
                  <a:srgbClr val="374151"/>
                </a:solidFill>
                <a:latin typeface="Aptos" pitchFamily="34" charset="0"/>
                <a:ea typeface="Aptos" pitchFamily="34" charset="-122"/>
                <a:cs typeface="Aptos" pitchFamily="34" charset="-120"/>
              </a:rPr>
              <a:t>• Fails when availability changes.</a:t>
            </a:r>
            <a:endParaRPr lang="en-US" sz="1040" dirty="0"/>
          </a:p>
          <a:p>
            <a:pPr marL="0" indent="0">
              <a:buNone/>
            </a:pPr>
            <a:r>
              <a:rPr lang="en-US" sz="1040" dirty="0">
                <a:solidFill>
                  <a:srgbClr val="374151"/>
                </a:solidFill>
                <a:latin typeface="Aptos" pitchFamily="34" charset="0"/>
                <a:ea typeface="Aptos" pitchFamily="34" charset="-122"/>
                <a:cs typeface="Aptos" pitchFamily="34" charset="-120"/>
              </a:rPr>
              <a:t>• Creates unnecessary support questions.</a:t>
            </a:r>
            <a:endParaRPr lang="en-US" sz="1040" dirty="0"/>
          </a:p>
          <a:p>
            <a:pPr marL="0" indent="0">
              <a:buNone/>
            </a:pPr>
            <a:r>
              <a:rPr lang="en-US" sz="1040" dirty="0">
                <a:solidFill>
                  <a:srgbClr val="374151"/>
                </a:solidFill>
                <a:latin typeface="Aptos" pitchFamily="34" charset="0"/>
                <a:ea typeface="Aptos" pitchFamily="34" charset="-122"/>
                <a:cs typeface="Aptos" pitchFamily="34" charset="-120"/>
              </a:rPr>
              <a:t>• Teaches memorization instead of selection.</a:t>
            </a:r>
            <a:endParaRPr lang="en-US" sz="1040" dirty="0"/>
          </a:p>
          <a:p>
            <a:pPr marL="0" indent="0">
              <a:buNone/>
            </a:pPr>
            <a:r>
              <a:rPr lang="en-US" sz="1040" dirty="0">
                <a:solidFill>
                  <a:srgbClr val="374151"/>
                </a:solidFill>
                <a:latin typeface="Aptos" pitchFamily="34" charset="0"/>
                <a:ea typeface="Aptos" pitchFamily="34" charset="-122"/>
                <a:cs typeface="Aptos" pitchFamily="34" charset="-120"/>
              </a:rPr>
              <a:t>• May not match the learner’s region or quota.</a:t>
            </a:r>
            <a:endParaRPr lang="en-US" sz="1040" dirty="0"/>
          </a:p>
        </p:txBody>
      </p:sp>
      <p:sp>
        <p:nvSpPr>
          <p:cNvPr id="14" name="Shape 11"/>
          <p:cNvSpPr/>
          <p:nvPr/>
        </p:nvSpPr>
        <p:spPr>
          <a:xfrm>
            <a:off x="7360920" y="1828800"/>
            <a:ext cx="4160520" cy="2971800"/>
          </a:xfrm>
          <a:prstGeom prst="roundRect">
            <a:avLst>
              <a:gd name="adj" fmla="val 923"/>
            </a:avLst>
          </a:prstGeom>
          <a:solidFill>
            <a:srgbClr val="FFFFFF"/>
          </a:solidFill>
          <a:ln w="13970">
            <a:solidFill>
              <a:srgbClr val="08A9C9"/>
            </a:solidFill>
            <a:prstDash val="solid"/>
          </a:ln>
        </p:spPr>
        <p:txBody>
          <a:bodyPr/>
          <a:lstStyle/>
          <a:p>
            <a:endParaRPr lang="en-US"/>
          </a:p>
        </p:txBody>
      </p:sp>
      <p:sp>
        <p:nvSpPr>
          <p:cNvPr id="15" name="Shape 12"/>
          <p:cNvSpPr/>
          <p:nvPr/>
        </p:nvSpPr>
        <p:spPr>
          <a:xfrm>
            <a:off x="7543800" y="2029968"/>
            <a:ext cx="228600" cy="228600"/>
          </a:xfrm>
          <a:prstGeom prst="ellipse">
            <a:avLst/>
          </a:prstGeom>
          <a:solidFill>
            <a:srgbClr val="08A9C9"/>
          </a:solidFill>
          <a:ln w="12700">
            <a:solidFill>
              <a:srgbClr val="08A9C9"/>
            </a:solidFill>
            <a:prstDash val="solid"/>
          </a:ln>
        </p:spPr>
        <p:txBody>
          <a:bodyPr/>
          <a:lstStyle/>
          <a:p>
            <a:endParaRPr lang="en-US"/>
          </a:p>
        </p:txBody>
      </p:sp>
      <p:sp>
        <p:nvSpPr>
          <p:cNvPr id="16" name="Text 13"/>
          <p:cNvSpPr/>
          <p:nvPr/>
        </p:nvSpPr>
        <p:spPr>
          <a:xfrm>
            <a:off x="7594092" y="2039112"/>
            <a:ext cx="91440" cy="73152"/>
          </a:xfrm>
          <a:prstGeom prst="rect">
            <a:avLst/>
          </a:prstGeom>
          <a:noFill/>
          <a:ln/>
        </p:spPr>
        <p:txBody>
          <a:bodyPr wrap="square" lIns="0" tIns="0" rIns="0" bIns="0" rtlCol="0" anchor="ctr"/>
          <a:lstStyle/>
          <a:p>
            <a:pPr marL="0" indent="0" algn="ctr">
              <a:buNone/>
            </a:pPr>
            <a:r>
              <a:rPr lang="en-US" sz="860" b="1" dirty="0">
                <a:solidFill>
                  <a:srgbClr val="FFFFFF"/>
                </a:solidFill>
                <a:latin typeface="Aptos" pitchFamily="34" charset="0"/>
                <a:ea typeface="Aptos" pitchFamily="34" charset="-122"/>
                <a:cs typeface="Aptos" pitchFamily="34" charset="-120"/>
              </a:rPr>
              <a:t>2</a:t>
            </a:r>
            <a:endParaRPr lang="en-US" sz="860" dirty="0"/>
          </a:p>
        </p:txBody>
      </p:sp>
      <p:sp>
        <p:nvSpPr>
          <p:cNvPr id="17" name="Text 14"/>
          <p:cNvSpPr/>
          <p:nvPr/>
        </p:nvSpPr>
        <p:spPr>
          <a:xfrm>
            <a:off x="7882128" y="1984248"/>
            <a:ext cx="3246120" cy="347472"/>
          </a:xfrm>
          <a:prstGeom prst="rect">
            <a:avLst/>
          </a:prstGeom>
          <a:noFill/>
          <a:ln/>
        </p:spPr>
        <p:txBody>
          <a:bodyPr wrap="square" lIns="0" tIns="0" rIns="0" bIns="0" rtlCol="0" anchor="ctr">
            <a:normAutofit lnSpcReduction="10000"/>
          </a:bodyPr>
          <a:lstStyle/>
          <a:p>
            <a:pPr marL="0" indent="0">
              <a:buNone/>
            </a:pPr>
            <a:r>
              <a:rPr lang="en-US" sz="1220" b="1" dirty="0">
                <a:solidFill>
                  <a:srgbClr val="1F2A37"/>
                </a:solidFill>
                <a:latin typeface="Aptos" pitchFamily="34" charset="0"/>
                <a:ea typeface="Aptos" pitchFamily="34" charset="-122"/>
                <a:cs typeface="Aptos" pitchFamily="34" charset="-120"/>
              </a:rPr>
              <a:t>Stronger course design</a:t>
            </a:r>
            <a:endParaRPr lang="en-US" sz="1220" dirty="0"/>
          </a:p>
          <a:p>
            <a:pPr marL="0" indent="0">
              <a:buNone/>
            </a:pPr>
            <a:r>
              <a:rPr lang="en-US" sz="1220" b="1" dirty="0">
                <a:solidFill>
                  <a:srgbClr val="1F2A37"/>
                </a:solidFill>
                <a:latin typeface="Aptos" pitchFamily="34" charset="0"/>
                <a:ea typeface="Aptos" pitchFamily="34" charset="-122"/>
                <a:cs typeface="Aptos" pitchFamily="34" charset="-120"/>
              </a:rPr>
              <a:t>Use an available suitable model</a:t>
            </a:r>
            <a:endParaRPr lang="en-US" sz="1220" dirty="0"/>
          </a:p>
        </p:txBody>
      </p:sp>
      <p:sp>
        <p:nvSpPr>
          <p:cNvPr id="18" name="Text 15"/>
          <p:cNvSpPr/>
          <p:nvPr/>
        </p:nvSpPr>
        <p:spPr>
          <a:xfrm>
            <a:off x="7635240" y="2542032"/>
            <a:ext cx="3566160" cy="1783080"/>
          </a:xfrm>
          <a:prstGeom prst="rect">
            <a:avLst/>
          </a:prstGeom>
          <a:noFill/>
          <a:ln/>
        </p:spPr>
        <p:txBody>
          <a:bodyPr wrap="square" lIns="254" tIns="254" rIns="254" bIns="254" rtlCol="0" anchor="ctr">
            <a:normAutofit/>
          </a:bodyPr>
          <a:lstStyle/>
          <a:p>
            <a:pPr marL="0" indent="0">
              <a:buNone/>
            </a:pPr>
            <a:r>
              <a:rPr lang="en-US" sz="1040" dirty="0">
                <a:solidFill>
                  <a:srgbClr val="374151"/>
                </a:solidFill>
                <a:latin typeface="Aptos" pitchFamily="34" charset="0"/>
                <a:ea typeface="Aptos" pitchFamily="34" charset="-122"/>
                <a:cs typeface="Aptos" pitchFamily="34" charset="-120"/>
              </a:rPr>
              <a:t>• Teaches model-selection criteria.</a:t>
            </a:r>
            <a:endParaRPr lang="en-US" sz="1040" dirty="0"/>
          </a:p>
          <a:p>
            <a:pPr marL="0" indent="0">
              <a:buNone/>
            </a:pPr>
            <a:r>
              <a:rPr lang="en-US" sz="1040" dirty="0">
                <a:solidFill>
                  <a:srgbClr val="374151"/>
                </a:solidFill>
                <a:latin typeface="Aptos" pitchFamily="34" charset="0"/>
                <a:ea typeface="Aptos" pitchFamily="34" charset="-122"/>
                <a:cs typeface="Aptos" pitchFamily="34" charset="-120"/>
              </a:rPr>
              <a:t>• Works across supported regions.</a:t>
            </a:r>
            <a:endParaRPr lang="en-US" sz="1040" dirty="0"/>
          </a:p>
          <a:p>
            <a:pPr marL="0" indent="0">
              <a:buNone/>
            </a:pPr>
            <a:r>
              <a:rPr lang="en-US" sz="1040" dirty="0">
                <a:solidFill>
                  <a:srgbClr val="374151"/>
                </a:solidFill>
                <a:latin typeface="Aptos" pitchFamily="34" charset="0"/>
                <a:ea typeface="Aptos" pitchFamily="34" charset="-122"/>
                <a:cs typeface="Aptos" pitchFamily="34" charset="-120"/>
              </a:rPr>
              <a:t>• Handles catalog evolution gracefully.</a:t>
            </a:r>
            <a:endParaRPr lang="en-US" sz="1040" dirty="0"/>
          </a:p>
          <a:p>
            <a:pPr marL="0" indent="0">
              <a:buNone/>
            </a:pPr>
            <a:r>
              <a:rPr lang="en-US" sz="1040" dirty="0">
                <a:solidFill>
                  <a:srgbClr val="374151"/>
                </a:solidFill>
                <a:latin typeface="Aptos" pitchFamily="34" charset="0"/>
                <a:ea typeface="Aptos" pitchFamily="34" charset="-122"/>
                <a:cs typeface="Aptos" pitchFamily="34" charset="-120"/>
              </a:rPr>
              <a:t>• Aligns with enterprise review habits.</a:t>
            </a:r>
            <a:endParaRPr lang="en-US" sz="1040" dirty="0"/>
          </a:p>
        </p:txBody>
      </p:sp>
      <p:sp>
        <p:nvSpPr>
          <p:cNvPr id="19" name="Shape 16"/>
          <p:cNvSpPr/>
          <p:nvPr/>
        </p:nvSpPr>
        <p:spPr>
          <a:xfrm>
            <a:off x="5047488" y="2852928"/>
            <a:ext cx="1901952" cy="731520"/>
          </a:xfrm>
          <a:prstGeom prst="chevron">
            <a:avLst/>
          </a:prstGeom>
          <a:solidFill>
            <a:srgbClr val="08A9C9"/>
          </a:solidFill>
          <a:ln w="12700">
            <a:solidFill>
              <a:srgbClr val="08A9C9"/>
            </a:solidFill>
            <a:prstDash val="solid"/>
          </a:ln>
        </p:spPr>
        <p:txBody>
          <a:bodyPr/>
          <a:lstStyle/>
          <a:p>
            <a:endParaRPr lang="en-US"/>
          </a:p>
        </p:txBody>
      </p:sp>
      <p:sp>
        <p:nvSpPr>
          <p:cNvPr id="20" name="Text 17"/>
          <p:cNvSpPr/>
          <p:nvPr/>
        </p:nvSpPr>
        <p:spPr>
          <a:xfrm>
            <a:off x="5285232" y="2971800"/>
            <a:ext cx="1325880" cy="347472"/>
          </a:xfrm>
          <a:prstGeom prst="rect">
            <a:avLst/>
          </a:prstGeom>
          <a:noFill/>
          <a:ln/>
        </p:spPr>
        <p:txBody>
          <a:bodyPr wrap="square" lIns="127" tIns="127" rIns="127" bIns="127" rtlCol="0" anchor="ctr">
            <a:normAutofit lnSpcReduction="10000"/>
          </a:bodyPr>
          <a:lstStyle/>
          <a:p>
            <a:pPr marL="0" indent="0" algn="ctr">
              <a:buNone/>
            </a:pPr>
            <a:r>
              <a:rPr lang="en-US" sz="1180" b="1" dirty="0">
                <a:solidFill>
                  <a:srgbClr val="FFFFFF"/>
                </a:solidFill>
                <a:latin typeface="Aptos" pitchFamily="34" charset="0"/>
                <a:ea typeface="Aptos" pitchFamily="34" charset="-122"/>
                <a:cs typeface="Aptos" pitchFamily="34" charset="-120"/>
              </a:rPr>
              <a:t>SELECT</a:t>
            </a:r>
            <a:endParaRPr lang="en-US" sz="1180" dirty="0"/>
          </a:p>
          <a:p>
            <a:pPr marL="0" indent="0" algn="ctr">
              <a:buNone/>
            </a:pPr>
            <a:r>
              <a:rPr lang="en-US" sz="1180" b="1" dirty="0">
                <a:solidFill>
                  <a:srgbClr val="FFFFFF"/>
                </a:solidFill>
                <a:latin typeface="Aptos" pitchFamily="34" charset="0"/>
                <a:ea typeface="Aptos" pitchFamily="34" charset="-122"/>
                <a:cs typeface="Aptos" pitchFamily="34" charset="-120"/>
              </a:rPr>
              <a:t>BY CRITERIA</a:t>
            </a:r>
            <a:endParaRPr lang="en-US" sz="11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10</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10</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Demo: Browse the Model Catalog</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Use the catalog walkthrough to apply the selection framework.</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Open the model catalog from the current Foundry portal.</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Filter or inspect models by task, provider, availability, and deployment options.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Select a model that fits the course scenario and workspace constraints.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Review deployment requirements before creating anything.</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Close by recording why the model is suitable for the lab.</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Demonstration</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This is a walkthrough of selection logic, not a race to deploy a model.</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11</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11</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Lecture Goal: Treat Deployments as Operational Assets</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A deployment is where model choice becomes a running dependency.</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92500"/>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Explain what a model deployment represents operationally.</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Connect deployments to regions, quotas, tokens, and rate limits.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Understand why deployment names matter.</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Review cost and budget controls before publishing agent behavior.</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Prepare for a portal demonstration of deployment and quota settings.</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Outcome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You can explain why deployments must be managed, not merely created.</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11</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11</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Manage Deployments, Quotas, Regions, and Cost</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A model deployment turns a catalog choice into an operational dependency.</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92500" lnSpcReduction="10000"/>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Deployment names should be meaningful and environment-aware.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Regional capacity and quota determine what learners and teams can run.</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Token allocation affects throughput, latency, and throttling behavior.</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Budgets and alerts reduce surprise cost exposure.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Lifecycle risk increases when model changes are not tracked.</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fontScale="85000" lnSpcReduction="10000"/>
          </a:bodyPr>
          <a:lstStyle/>
          <a:p>
            <a:pPr marL="0" indent="0">
              <a:buNone/>
            </a:pPr>
            <a:r>
              <a:rPr lang="en-US" sz="1150" b="1">
                <a:solidFill>
                  <a:srgbClr val="1F2A37"/>
                </a:solidFill>
                <a:latin typeface="Aptos" pitchFamily="34" charset="0"/>
                <a:ea typeface="Aptos" pitchFamily="34" charset="-122"/>
                <a:cs typeface="Aptos" pitchFamily="34" charset="-120"/>
              </a:rPr>
              <a:t>Demonstration attached</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fontScale="92500" lnSpcReduction="20000"/>
          </a:bodyPr>
          <a:lstStyle/>
          <a:p>
            <a:pPr marL="0" indent="0">
              <a:buNone/>
            </a:pPr>
            <a:r>
              <a:rPr lang="en-US" sz="1070">
                <a:solidFill>
                  <a:srgbClr val="374151"/>
                </a:solidFill>
                <a:latin typeface="Aptos" pitchFamily="34" charset="0"/>
                <a:ea typeface="Aptos" pitchFamily="34" charset="-122"/>
                <a:cs typeface="Aptos" pitchFamily="34" charset="-120"/>
              </a:rPr>
              <a:t>Review a model deployment, quota view, and cost-control considerations in Azure or Foundry.</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11</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11</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Model Deployment Operating Path</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Use this path to explain what happens after a model is selected.</a:t>
            </a:r>
            <a:endParaRPr lang="en-US" sz="1260" dirty="0"/>
          </a:p>
        </p:txBody>
      </p:sp>
      <p:sp>
        <p:nvSpPr>
          <p:cNvPr id="9" name="Shape 6"/>
          <p:cNvSpPr/>
          <p:nvPr/>
        </p:nvSpPr>
        <p:spPr>
          <a:xfrm>
            <a:off x="65836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10" name="Shape 7"/>
          <p:cNvSpPr/>
          <p:nvPr/>
        </p:nvSpPr>
        <p:spPr>
          <a:xfrm>
            <a:off x="82296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11" name="Text 8"/>
          <p:cNvSpPr/>
          <p:nvPr/>
        </p:nvSpPr>
        <p:spPr>
          <a:xfrm>
            <a:off x="897636" y="2343912"/>
            <a:ext cx="82296" cy="73152"/>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12" name="Text 9"/>
          <p:cNvSpPr/>
          <p:nvPr/>
        </p:nvSpPr>
        <p:spPr>
          <a:xfrm>
            <a:off x="115214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Select</a:t>
            </a:r>
            <a:endParaRPr lang="en-US" sz="1140" dirty="0"/>
          </a:p>
        </p:txBody>
      </p:sp>
      <p:sp>
        <p:nvSpPr>
          <p:cNvPr id="13" name="Text 10"/>
          <p:cNvSpPr/>
          <p:nvPr/>
        </p:nvSpPr>
        <p:spPr>
          <a:xfrm>
            <a:off x="84124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Choose a suitable model and region.</a:t>
            </a:r>
            <a:endParaRPr lang="en-US" sz="930" dirty="0"/>
          </a:p>
        </p:txBody>
      </p:sp>
      <p:sp>
        <p:nvSpPr>
          <p:cNvPr id="15" name="Shape 12"/>
          <p:cNvSpPr/>
          <p:nvPr/>
        </p:nvSpPr>
        <p:spPr>
          <a:xfrm>
            <a:off x="280720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16" name="Shape 13"/>
          <p:cNvSpPr/>
          <p:nvPr/>
        </p:nvSpPr>
        <p:spPr>
          <a:xfrm>
            <a:off x="297180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17" name="Text 14"/>
          <p:cNvSpPr/>
          <p:nvPr/>
        </p:nvSpPr>
        <p:spPr>
          <a:xfrm>
            <a:off x="3046476" y="2343912"/>
            <a:ext cx="82296" cy="73152"/>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8" name="Text 15"/>
          <p:cNvSpPr/>
          <p:nvPr/>
        </p:nvSpPr>
        <p:spPr>
          <a:xfrm>
            <a:off x="330098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Deploy</a:t>
            </a:r>
            <a:endParaRPr lang="en-US" sz="1140" dirty="0"/>
          </a:p>
        </p:txBody>
      </p:sp>
      <p:sp>
        <p:nvSpPr>
          <p:cNvPr id="19" name="Text 16"/>
          <p:cNvSpPr/>
          <p:nvPr/>
        </p:nvSpPr>
        <p:spPr>
          <a:xfrm>
            <a:off x="299008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Create a named deployment.</a:t>
            </a:r>
            <a:endParaRPr lang="en-US" sz="930" dirty="0"/>
          </a:p>
        </p:txBody>
      </p:sp>
      <p:sp>
        <p:nvSpPr>
          <p:cNvPr id="21" name="Shape 18"/>
          <p:cNvSpPr/>
          <p:nvPr/>
        </p:nvSpPr>
        <p:spPr>
          <a:xfrm>
            <a:off x="495604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22" name="Shape 19"/>
          <p:cNvSpPr/>
          <p:nvPr/>
        </p:nvSpPr>
        <p:spPr>
          <a:xfrm>
            <a:off x="512064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23" name="Text 20"/>
          <p:cNvSpPr/>
          <p:nvPr/>
        </p:nvSpPr>
        <p:spPr>
          <a:xfrm>
            <a:off x="5195316" y="2343912"/>
            <a:ext cx="82296" cy="73152"/>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24" name="Text 21"/>
          <p:cNvSpPr/>
          <p:nvPr/>
        </p:nvSpPr>
        <p:spPr>
          <a:xfrm>
            <a:off x="544982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Assign quota</a:t>
            </a:r>
            <a:endParaRPr lang="en-US" sz="1140" dirty="0"/>
          </a:p>
        </p:txBody>
      </p:sp>
      <p:sp>
        <p:nvSpPr>
          <p:cNvPr id="25" name="Text 22"/>
          <p:cNvSpPr/>
          <p:nvPr/>
        </p:nvSpPr>
        <p:spPr>
          <a:xfrm>
            <a:off x="513892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Confirm capacity and limits.</a:t>
            </a:r>
            <a:endParaRPr lang="en-US" sz="930" dirty="0"/>
          </a:p>
        </p:txBody>
      </p:sp>
      <p:sp>
        <p:nvSpPr>
          <p:cNvPr id="27" name="Shape 24"/>
          <p:cNvSpPr/>
          <p:nvPr/>
        </p:nvSpPr>
        <p:spPr>
          <a:xfrm>
            <a:off x="710488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28" name="Shape 25"/>
          <p:cNvSpPr/>
          <p:nvPr/>
        </p:nvSpPr>
        <p:spPr>
          <a:xfrm>
            <a:off x="726948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29" name="Text 26"/>
          <p:cNvSpPr/>
          <p:nvPr/>
        </p:nvSpPr>
        <p:spPr>
          <a:xfrm>
            <a:off x="7344156" y="2343912"/>
            <a:ext cx="82296" cy="73152"/>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4</a:t>
            </a:r>
            <a:endParaRPr lang="en-US" sz="2000" dirty="0"/>
          </a:p>
        </p:txBody>
      </p:sp>
      <p:sp>
        <p:nvSpPr>
          <p:cNvPr id="30" name="Text 27"/>
          <p:cNvSpPr/>
          <p:nvPr/>
        </p:nvSpPr>
        <p:spPr>
          <a:xfrm>
            <a:off x="759866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Test</a:t>
            </a:r>
            <a:endParaRPr lang="en-US" sz="1140" dirty="0"/>
          </a:p>
        </p:txBody>
      </p:sp>
      <p:sp>
        <p:nvSpPr>
          <p:cNvPr id="31" name="Text 28"/>
          <p:cNvSpPr/>
          <p:nvPr/>
        </p:nvSpPr>
        <p:spPr>
          <a:xfrm>
            <a:off x="728776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Validate with a controlled prompt.</a:t>
            </a:r>
            <a:endParaRPr lang="en-US" sz="930" dirty="0"/>
          </a:p>
        </p:txBody>
      </p:sp>
      <p:sp>
        <p:nvSpPr>
          <p:cNvPr id="33" name="Shape 30"/>
          <p:cNvSpPr/>
          <p:nvPr/>
        </p:nvSpPr>
        <p:spPr>
          <a:xfrm>
            <a:off x="925372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34" name="Shape 31"/>
          <p:cNvSpPr/>
          <p:nvPr/>
        </p:nvSpPr>
        <p:spPr>
          <a:xfrm>
            <a:off x="941832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35" name="Text 32"/>
          <p:cNvSpPr/>
          <p:nvPr/>
        </p:nvSpPr>
        <p:spPr>
          <a:xfrm>
            <a:off x="9492996" y="2343912"/>
            <a:ext cx="82296" cy="73152"/>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5</a:t>
            </a:r>
            <a:endParaRPr lang="en-US" sz="2000" dirty="0"/>
          </a:p>
        </p:txBody>
      </p:sp>
      <p:sp>
        <p:nvSpPr>
          <p:cNvPr id="36" name="Text 33"/>
          <p:cNvSpPr/>
          <p:nvPr/>
        </p:nvSpPr>
        <p:spPr>
          <a:xfrm>
            <a:off x="974750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Monitor</a:t>
            </a:r>
            <a:endParaRPr lang="en-US" sz="1140" dirty="0"/>
          </a:p>
        </p:txBody>
      </p:sp>
      <p:sp>
        <p:nvSpPr>
          <p:cNvPr id="37" name="Text 34"/>
          <p:cNvSpPr/>
          <p:nvPr/>
        </p:nvSpPr>
        <p:spPr>
          <a:xfrm>
            <a:off x="943660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Watch usage, cost, and failures.</a:t>
            </a:r>
            <a:endParaRPr lang="en-US" sz="930" dirty="0"/>
          </a:p>
        </p:txBody>
      </p:sp>
      <p:sp>
        <p:nvSpPr>
          <p:cNvPr id="14" name="Shape 11"/>
          <p:cNvSpPr/>
          <p:nvPr/>
        </p:nvSpPr>
        <p:spPr>
          <a:xfrm rot="5400000">
            <a:off x="2670048" y="2514600"/>
            <a:ext cx="228600" cy="228600"/>
          </a:xfrm>
          <a:prstGeom prst="triangle">
            <a:avLst/>
          </a:prstGeom>
          <a:solidFill>
            <a:srgbClr val="08A9C9"/>
          </a:solidFill>
          <a:ln w="12700">
            <a:solidFill>
              <a:srgbClr val="08A9C9"/>
            </a:solidFill>
            <a:prstDash val="solid"/>
          </a:ln>
        </p:spPr>
        <p:txBody>
          <a:bodyPr/>
          <a:lstStyle/>
          <a:p>
            <a:endParaRPr lang="en-US" dirty="0"/>
          </a:p>
        </p:txBody>
      </p:sp>
      <p:sp>
        <p:nvSpPr>
          <p:cNvPr id="20" name="Shape 17"/>
          <p:cNvSpPr/>
          <p:nvPr/>
        </p:nvSpPr>
        <p:spPr>
          <a:xfrm rot="5400000">
            <a:off x="4818888" y="2514600"/>
            <a:ext cx="228600" cy="228600"/>
          </a:xfrm>
          <a:prstGeom prst="triangle">
            <a:avLst/>
          </a:prstGeom>
          <a:solidFill>
            <a:srgbClr val="08A9C9"/>
          </a:solidFill>
          <a:ln w="12700">
            <a:solidFill>
              <a:srgbClr val="08A9C9"/>
            </a:solidFill>
            <a:prstDash val="solid"/>
          </a:ln>
        </p:spPr>
        <p:txBody>
          <a:bodyPr/>
          <a:lstStyle/>
          <a:p>
            <a:endParaRPr lang="en-US"/>
          </a:p>
        </p:txBody>
      </p:sp>
      <p:sp>
        <p:nvSpPr>
          <p:cNvPr id="26" name="Shape 23"/>
          <p:cNvSpPr/>
          <p:nvPr/>
        </p:nvSpPr>
        <p:spPr>
          <a:xfrm rot="5400000">
            <a:off x="6967728" y="2514600"/>
            <a:ext cx="228600" cy="228600"/>
          </a:xfrm>
          <a:prstGeom prst="triangle">
            <a:avLst/>
          </a:prstGeom>
          <a:solidFill>
            <a:srgbClr val="08A9C9"/>
          </a:solidFill>
          <a:ln w="12700">
            <a:solidFill>
              <a:srgbClr val="08A9C9"/>
            </a:solidFill>
            <a:prstDash val="solid"/>
          </a:ln>
        </p:spPr>
        <p:txBody>
          <a:bodyPr/>
          <a:lstStyle/>
          <a:p>
            <a:endParaRPr lang="en-US"/>
          </a:p>
        </p:txBody>
      </p:sp>
      <p:sp>
        <p:nvSpPr>
          <p:cNvPr id="32" name="Shape 29"/>
          <p:cNvSpPr/>
          <p:nvPr/>
        </p:nvSpPr>
        <p:spPr>
          <a:xfrm rot="5400000">
            <a:off x="9116568" y="2514600"/>
            <a:ext cx="228600" cy="228600"/>
          </a:xfrm>
          <a:prstGeom prst="triangle">
            <a:avLst/>
          </a:prstGeom>
          <a:solidFill>
            <a:srgbClr val="08A9C9"/>
          </a:solidFill>
          <a:ln w="12700">
            <a:solidFill>
              <a:srgbClr val="08A9C9"/>
            </a:solidFill>
            <a:prstDash val="solid"/>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5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5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fade">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500"/>
                                        <p:tgtEl>
                                          <p:spTgt spid="20"/>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5"/>
                                        </p:tgtEl>
                                        <p:attrNameLst>
                                          <p:attrName>style.visibility</p:attrName>
                                        </p:attrNameLst>
                                      </p:cBhvr>
                                      <p:to>
                                        <p:strVal val="visible"/>
                                      </p:to>
                                    </p:set>
                                    <p:animEffect transition="in" filter="fade">
                                      <p:cBhvr>
                                        <p:cTn id="50" dur="500"/>
                                        <p:tgtEl>
                                          <p:spTgt spid="25"/>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500"/>
                                        <p:tgtEl>
                                          <p:spTgt spid="24"/>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fade">
                                      <p:cBhvr>
                                        <p:cTn id="56" dur="500"/>
                                        <p:tgtEl>
                                          <p:spTgt spid="22"/>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5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5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5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5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6"/>
                                        </p:tgtEl>
                                        <p:attrNameLst>
                                          <p:attrName>style.visibility</p:attrName>
                                        </p:attrNameLst>
                                      </p:cBhvr>
                                      <p:to>
                                        <p:strVal val="visible"/>
                                      </p:to>
                                    </p:set>
                                    <p:animEffect transition="in" filter="fade">
                                      <p:cBhvr>
                                        <p:cTn id="76" dur="500"/>
                                        <p:tgtEl>
                                          <p:spTgt spid="2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fade">
                                      <p:cBhvr>
                                        <p:cTn id="79" dur="5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grpId="0" nodeType="click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500"/>
                                        <p:tgtEl>
                                          <p:spTgt spid="3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500"/>
                                        <p:tgtEl>
                                          <p:spTgt spid="34"/>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5"/>
                                        </p:tgtEl>
                                        <p:attrNameLst>
                                          <p:attrName>style.visibility</p:attrName>
                                        </p:attrNameLst>
                                      </p:cBhvr>
                                      <p:to>
                                        <p:strVal val="visible"/>
                                      </p:to>
                                    </p:set>
                                    <p:animEffect transition="in" filter="fade">
                                      <p:cBhvr>
                                        <p:cTn id="90" dur="500"/>
                                        <p:tgtEl>
                                          <p:spTgt spid="35"/>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6"/>
                                        </p:tgtEl>
                                        <p:attrNameLst>
                                          <p:attrName>style.visibility</p:attrName>
                                        </p:attrNameLst>
                                      </p:cBhvr>
                                      <p:to>
                                        <p:strVal val="visible"/>
                                      </p:to>
                                    </p:set>
                                    <p:animEffect transition="in" filter="fade">
                                      <p:cBhvr>
                                        <p:cTn id="93" dur="500"/>
                                        <p:tgtEl>
                                          <p:spTgt spid="36"/>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7"/>
                                        </p:tgtEl>
                                        <p:attrNameLst>
                                          <p:attrName>style.visibility</p:attrName>
                                        </p:attrNameLst>
                                      </p:cBhvr>
                                      <p:to>
                                        <p:strVal val="visible"/>
                                      </p:to>
                                    </p:set>
                                    <p:animEffect transition="in" filter="fade">
                                      <p:cBhvr>
                                        <p:cTn id="96" dur="500"/>
                                        <p:tgtEl>
                                          <p:spTgt spid="37"/>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3" grpId="0" animBg="1"/>
      <p:bldP spid="24" grpId="0" animBg="1"/>
      <p:bldP spid="25"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14" grpId="0" animBg="1"/>
      <p:bldP spid="20" grpId="0" animBg="1"/>
      <p:bldP spid="26" grpId="0" animBg="1"/>
      <p:bldP spid="3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11</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11</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Quota, Tokens, Rate Limits, and Cost</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These terms are related, but they answer different operating questions.</a:t>
            </a:r>
            <a:endParaRPr lang="en-US" sz="1260" dirty="0"/>
          </a:p>
        </p:txBody>
      </p:sp>
      <p:sp>
        <p:nvSpPr>
          <p:cNvPr id="9" name="Shape 6"/>
          <p:cNvSpPr/>
          <p:nvPr/>
        </p:nvSpPr>
        <p:spPr>
          <a:xfrm>
            <a:off x="502920" y="1700784"/>
            <a:ext cx="8372856" cy="3700272"/>
          </a:xfrm>
          <a:prstGeom prst="rect">
            <a:avLst/>
          </a:prstGeom>
          <a:solidFill>
            <a:srgbClr val="FFFFFF"/>
          </a:solidFill>
          <a:ln w="12700">
            <a:solidFill>
              <a:srgbClr val="C9D5DA"/>
            </a:solidFill>
            <a:prstDash val="solid"/>
          </a:ln>
        </p:spPr>
        <p:txBody>
          <a:bodyPr/>
          <a:lstStyle/>
          <a:p>
            <a:endParaRPr lang="en-US"/>
          </a:p>
        </p:txBody>
      </p:sp>
      <p:sp>
        <p:nvSpPr>
          <p:cNvPr id="10" name="Shape 7"/>
          <p:cNvSpPr/>
          <p:nvPr/>
        </p:nvSpPr>
        <p:spPr>
          <a:xfrm>
            <a:off x="658368" y="1874520"/>
            <a:ext cx="1965960" cy="402336"/>
          </a:xfrm>
          <a:prstGeom prst="rect">
            <a:avLst/>
          </a:prstGeom>
          <a:solidFill>
            <a:srgbClr val="08A9C9"/>
          </a:solidFill>
          <a:ln w="12700">
            <a:solidFill>
              <a:srgbClr val="08A9C9"/>
            </a:solidFill>
            <a:prstDash val="solid"/>
          </a:ln>
        </p:spPr>
        <p:txBody>
          <a:bodyPr/>
          <a:lstStyle/>
          <a:p>
            <a:endParaRPr lang="en-US"/>
          </a:p>
        </p:txBody>
      </p:sp>
      <p:sp>
        <p:nvSpPr>
          <p:cNvPr id="11" name="Text 8"/>
          <p:cNvSpPr/>
          <p:nvPr/>
        </p:nvSpPr>
        <p:spPr>
          <a:xfrm>
            <a:off x="713232" y="1984248"/>
            <a:ext cx="1856232" cy="109728"/>
          </a:xfrm>
          <a:prstGeom prst="rect">
            <a:avLst/>
          </a:prstGeom>
          <a:noFill/>
          <a:ln/>
        </p:spPr>
        <p:txBody>
          <a:bodyPr wrap="square" lIns="0" tIns="0" rIns="0" bIns="0" rtlCol="0" anchor="ctr">
            <a:noAutofit/>
          </a:bodyPr>
          <a:lstStyle/>
          <a:p>
            <a:pPr marL="0" indent="0">
              <a:buNone/>
            </a:pPr>
            <a:r>
              <a:rPr lang="en-US" sz="1100" b="1" dirty="0">
                <a:solidFill>
                  <a:srgbClr val="FFFFFF"/>
                </a:solidFill>
                <a:latin typeface="Aptos" pitchFamily="34" charset="0"/>
                <a:ea typeface="Aptos" pitchFamily="34" charset="-122"/>
                <a:cs typeface="Aptos" pitchFamily="34" charset="-120"/>
              </a:rPr>
              <a:t>Concern</a:t>
            </a:r>
            <a:endParaRPr lang="en-US" sz="1100" dirty="0"/>
          </a:p>
        </p:txBody>
      </p:sp>
      <p:sp>
        <p:nvSpPr>
          <p:cNvPr id="12" name="Shape 9"/>
          <p:cNvSpPr/>
          <p:nvPr/>
        </p:nvSpPr>
        <p:spPr>
          <a:xfrm>
            <a:off x="2624328" y="1874520"/>
            <a:ext cx="2011680" cy="402336"/>
          </a:xfrm>
          <a:prstGeom prst="rect">
            <a:avLst/>
          </a:prstGeom>
          <a:solidFill>
            <a:srgbClr val="08A9C9"/>
          </a:solidFill>
          <a:ln w="12700">
            <a:solidFill>
              <a:srgbClr val="08A9C9"/>
            </a:solidFill>
            <a:prstDash val="solid"/>
          </a:ln>
        </p:spPr>
        <p:txBody>
          <a:bodyPr/>
          <a:lstStyle/>
          <a:p>
            <a:endParaRPr lang="en-US"/>
          </a:p>
        </p:txBody>
      </p:sp>
      <p:sp>
        <p:nvSpPr>
          <p:cNvPr id="13" name="Text 10"/>
          <p:cNvSpPr/>
          <p:nvPr/>
        </p:nvSpPr>
        <p:spPr>
          <a:xfrm>
            <a:off x="2679192" y="1984248"/>
            <a:ext cx="1901952" cy="109728"/>
          </a:xfrm>
          <a:prstGeom prst="rect">
            <a:avLst/>
          </a:prstGeom>
          <a:noFill/>
          <a:ln/>
        </p:spPr>
        <p:txBody>
          <a:bodyPr wrap="square" lIns="0" tIns="0" rIns="0" bIns="0" rtlCol="0" anchor="ctr">
            <a:noAutofit/>
          </a:bodyPr>
          <a:lstStyle/>
          <a:p>
            <a:pPr marL="0" indent="0">
              <a:buNone/>
            </a:pPr>
            <a:r>
              <a:rPr lang="en-US" sz="1100" b="1" dirty="0">
                <a:solidFill>
                  <a:srgbClr val="FFFFFF"/>
                </a:solidFill>
                <a:latin typeface="Aptos" pitchFamily="34" charset="0"/>
                <a:ea typeface="Aptos" pitchFamily="34" charset="-122"/>
                <a:cs typeface="Aptos" pitchFamily="34" charset="-120"/>
              </a:rPr>
              <a:t>What it answers</a:t>
            </a:r>
            <a:endParaRPr lang="en-US" sz="1100" dirty="0"/>
          </a:p>
        </p:txBody>
      </p:sp>
      <p:sp>
        <p:nvSpPr>
          <p:cNvPr id="14" name="Shape 11"/>
          <p:cNvSpPr/>
          <p:nvPr/>
        </p:nvSpPr>
        <p:spPr>
          <a:xfrm>
            <a:off x="4636008" y="1874520"/>
            <a:ext cx="2057400" cy="402336"/>
          </a:xfrm>
          <a:prstGeom prst="rect">
            <a:avLst/>
          </a:prstGeom>
          <a:solidFill>
            <a:srgbClr val="08A9C9"/>
          </a:solidFill>
          <a:ln w="12700">
            <a:solidFill>
              <a:srgbClr val="08A9C9"/>
            </a:solidFill>
            <a:prstDash val="solid"/>
          </a:ln>
        </p:spPr>
        <p:txBody>
          <a:bodyPr/>
          <a:lstStyle/>
          <a:p>
            <a:endParaRPr lang="en-US"/>
          </a:p>
        </p:txBody>
      </p:sp>
      <p:sp>
        <p:nvSpPr>
          <p:cNvPr id="15" name="Text 12"/>
          <p:cNvSpPr/>
          <p:nvPr/>
        </p:nvSpPr>
        <p:spPr>
          <a:xfrm>
            <a:off x="4690872" y="1984248"/>
            <a:ext cx="1947672" cy="109728"/>
          </a:xfrm>
          <a:prstGeom prst="rect">
            <a:avLst/>
          </a:prstGeom>
          <a:noFill/>
          <a:ln/>
        </p:spPr>
        <p:txBody>
          <a:bodyPr wrap="square" lIns="0" tIns="0" rIns="0" bIns="0" rtlCol="0" anchor="ctr">
            <a:noAutofit/>
          </a:bodyPr>
          <a:lstStyle/>
          <a:p>
            <a:pPr marL="0" indent="0">
              <a:buNone/>
            </a:pPr>
            <a:r>
              <a:rPr lang="en-US" sz="1100" b="1" dirty="0">
                <a:solidFill>
                  <a:srgbClr val="FFFFFF"/>
                </a:solidFill>
                <a:latin typeface="Aptos" pitchFamily="34" charset="0"/>
                <a:ea typeface="Aptos" pitchFamily="34" charset="-122"/>
                <a:cs typeface="Aptos" pitchFamily="34" charset="-120"/>
              </a:rPr>
              <a:t>Where it matters</a:t>
            </a:r>
            <a:endParaRPr lang="en-US" sz="1100" dirty="0"/>
          </a:p>
        </p:txBody>
      </p:sp>
      <p:sp>
        <p:nvSpPr>
          <p:cNvPr id="16" name="Shape 13"/>
          <p:cNvSpPr/>
          <p:nvPr/>
        </p:nvSpPr>
        <p:spPr>
          <a:xfrm>
            <a:off x="6693408" y="1874520"/>
            <a:ext cx="2011680" cy="402336"/>
          </a:xfrm>
          <a:prstGeom prst="rect">
            <a:avLst/>
          </a:prstGeom>
          <a:solidFill>
            <a:srgbClr val="08A9C9"/>
          </a:solidFill>
          <a:ln w="12700">
            <a:solidFill>
              <a:srgbClr val="08A9C9"/>
            </a:solidFill>
            <a:prstDash val="solid"/>
          </a:ln>
        </p:spPr>
        <p:txBody>
          <a:bodyPr/>
          <a:lstStyle/>
          <a:p>
            <a:endParaRPr lang="en-US"/>
          </a:p>
        </p:txBody>
      </p:sp>
      <p:sp>
        <p:nvSpPr>
          <p:cNvPr id="17" name="Text 14"/>
          <p:cNvSpPr/>
          <p:nvPr/>
        </p:nvSpPr>
        <p:spPr>
          <a:xfrm>
            <a:off x="6748272" y="1984248"/>
            <a:ext cx="1901952" cy="109728"/>
          </a:xfrm>
          <a:prstGeom prst="rect">
            <a:avLst/>
          </a:prstGeom>
          <a:noFill/>
          <a:ln/>
        </p:spPr>
        <p:txBody>
          <a:bodyPr wrap="square" lIns="0" tIns="0" rIns="0" bIns="0" rtlCol="0" anchor="ctr">
            <a:noAutofit/>
          </a:bodyPr>
          <a:lstStyle/>
          <a:p>
            <a:pPr marL="0" indent="0">
              <a:buNone/>
            </a:pPr>
            <a:r>
              <a:rPr lang="en-US" sz="1100" b="1" dirty="0">
                <a:solidFill>
                  <a:srgbClr val="FFFFFF"/>
                </a:solidFill>
                <a:latin typeface="Aptos" pitchFamily="34" charset="0"/>
                <a:ea typeface="Aptos" pitchFamily="34" charset="-122"/>
                <a:cs typeface="Aptos" pitchFamily="34" charset="-120"/>
              </a:rPr>
              <a:t>Common mistake</a:t>
            </a:r>
            <a:endParaRPr lang="en-US" sz="1100" dirty="0"/>
          </a:p>
        </p:txBody>
      </p:sp>
      <p:sp>
        <p:nvSpPr>
          <p:cNvPr id="18" name="Shape 15"/>
          <p:cNvSpPr/>
          <p:nvPr/>
        </p:nvSpPr>
        <p:spPr>
          <a:xfrm>
            <a:off x="658368" y="2276856"/>
            <a:ext cx="1965960" cy="603504"/>
          </a:xfrm>
          <a:prstGeom prst="rect">
            <a:avLst/>
          </a:prstGeom>
          <a:solidFill>
            <a:srgbClr val="F8FAFB"/>
          </a:solidFill>
          <a:ln w="6350">
            <a:solidFill>
              <a:srgbClr val="C9D5DA"/>
            </a:solidFill>
            <a:prstDash val="solid"/>
          </a:ln>
        </p:spPr>
        <p:txBody>
          <a:bodyPr/>
          <a:lstStyle/>
          <a:p>
            <a:endParaRPr lang="en-US"/>
          </a:p>
        </p:txBody>
      </p:sp>
      <p:sp>
        <p:nvSpPr>
          <p:cNvPr id="19" name="Text 16"/>
          <p:cNvSpPr/>
          <p:nvPr/>
        </p:nvSpPr>
        <p:spPr>
          <a:xfrm>
            <a:off x="722376" y="2350008"/>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Quota</a:t>
            </a:r>
            <a:endParaRPr lang="en-US" sz="920" dirty="0"/>
          </a:p>
        </p:txBody>
      </p:sp>
      <p:sp>
        <p:nvSpPr>
          <p:cNvPr id="20" name="Shape 17"/>
          <p:cNvSpPr/>
          <p:nvPr/>
        </p:nvSpPr>
        <p:spPr>
          <a:xfrm>
            <a:off x="2624328" y="2276856"/>
            <a:ext cx="2011680" cy="603504"/>
          </a:xfrm>
          <a:prstGeom prst="rect">
            <a:avLst/>
          </a:prstGeom>
          <a:solidFill>
            <a:srgbClr val="F8FAFB"/>
          </a:solidFill>
          <a:ln w="6350">
            <a:solidFill>
              <a:srgbClr val="C9D5DA"/>
            </a:solidFill>
            <a:prstDash val="solid"/>
          </a:ln>
        </p:spPr>
        <p:txBody>
          <a:bodyPr/>
          <a:lstStyle/>
          <a:p>
            <a:endParaRPr lang="en-US"/>
          </a:p>
        </p:txBody>
      </p:sp>
      <p:sp>
        <p:nvSpPr>
          <p:cNvPr id="21" name="Text 18"/>
          <p:cNvSpPr/>
          <p:nvPr/>
        </p:nvSpPr>
        <p:spPr>
          <a:xfrm>
            <a:off x="2688336" y="2350008"/>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How much capacity is available?</a:t>
            </a:r>
            <a:endParaRPr lang="en-US" sz="920" dirty="0"/>
          </a:p>
        </p:txBody>
      </p:sp>
      <p:sp>
        <p:nvSpPr>
          <p:cNvPr id="22" name="Shape 19"/>
          <p:cNvSpPr/>
          <p:nvPr/>
        </p:nvSpPr>
        <p:spPr>
          <a:xfrm>
            <a:off x="4636008" y="2276856"/>
            <a:ext cx="2057400" cy="603504"/>
          </a:xfrm>
          <a:prstGeom prst="rect">
            <a:avLst/>
          </a:prstGeom>
          <a:solidFill>
            <a:srgbClr val="F8FAFB"/>
          </a:solidFill>
          <a:ln w="6350">
            <a:solidFill>
              <a:srgbClr val="C9D5DA"/>
            </a:solidFill>
            <a:prstDash val="solid"/>
          </a:ln>
        </p:spPr>
        <p:txBody>
          <a:bodyPr/>
          <a:lstStyle/>
          <a:p>
            <a:endParaRPr lang="en-US"/>
          </a:p>
        </p:txBody>
      </p:sp>
      <p:sp>
        <p:nvSpPr>
          <p:cNvPr id="23" name="Text 20"/>
          <p:cNvSpPr/>
          <p:nvPr/>
        </p:nvSpPr>
        <p:spPr>
          <a:xfrm>
            <a:off x="4700016" y="2350008"/>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Region and model planning</a:t>
            </a:r>
            <a:endParaRPr lang="en-US" sz="920" dirty="0"/>
          </a:p>
        </p:txBody>
      </p:sp>
      <p:sp>
        <p:nvSpPr>
          <p:cNvPr id="24" name="Shape 21"/>
          <p:cNvSpPr/>
          <p:nvPr/>
        </p:nvSpPr>
        <p:spPr>
          <a:xfrm>
            <a:off x="6693408" y="2276856"/>
            <a:ext cx="2011680" cy="603504"/>
          </a:xfrm>
          <a:prstGeom prst="rect">
            <a:avLst/>
          </a:prstGeom>
          <a:solidFill>
            <a:srgbClr val="F8FAFB"/>
          </a:solidFill>
          <a:ln w="6350">
            <a:solidFill>
              <a:srgbClr val="C9D5DA"/>
            </a:solidFill>
            <a:prstDash val="solid"/>
          </a:ln>
        </p:spPr>
        <p:txBody>
          <a:bodyPr/>
          <a:lstStyle/>
          <a:p>
            <a:endParaRPr lang="en-US"/>
          </a:p>
        </p:txBody>
      </p:sp>
      <p:sp>
        <p:nvSpPr>
          <p:cNvPr id="25" name="Text 22"/>
          <p:cNvSpPr/>
          <p:nvPr/>
        </p:nvSpPr>
        <p:spPr>
          <a:xfrm>
            <a:off x="6757416" y="2350008"/>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Assuming every region has capacity</a:t>
            </a:r>
            <a:endParaRPr lang="en-US" sz="920" dirty="0"/>
          </a:p>
        </p:txBody>
      </p:sp>
      <p:sp>
        <p:nvSpPr>
          <p:cNvPr id="26" name="Shape 23"/>
          <p:cNvSpPr/>
          <p:nvPr/>
        </p:nvSpPr>
        <p:spPr>
          <a:xfrm>
            <a:off x="658368" y="2880360"/>
            <a:ext cx="1965960" cy="603504"/>
          </a:xfrm>
          <a:prstGeom prst="rect">
            <a:avLst/>
          </a:prstGeom>
          <a:solidFill>
            <a:srgbClr val="FFFFFF"/>
          </a:solidFill>
          <a:ln w="6350">
            <a:solidFill>
              <a:srgbClr val="C9D5DA"/>
            </a:solidFill>
            <a:prstDash val="solid"/>
          </a:ln>
        </p:spPr>
        <p:txBody>
          <a:bodyPr/>
          <a:lstStyle/>
          <a:p>
            <a:endParaRPr lang="en-US"/>
          </a:p>
        </p:txBody>
      </p:sp>
      <p:sp>
        <p:nvSpPr>
          <p:cNvPr id="27" name="Text 24"/>
          <p:cNvSpPr/>
          <p:nvPr/>
        </p:nvSpPr>
        <p:spPr>
          <a:xfrm>
            <a:off x="722376" y="2953512"/>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Tokens</a:t>
            </a:r>
            <a:endParaRPr lang="en-US" sz="920" dirty="0"/>
          </a:p>
        </p:txBody>
      </p:sp>
      <p:sp>
        <p:nvSpPr>
          <p:cNvPr id="28" name="Shape 25"/>
          <p:cNvSpPr/>
          <p:nvPr/>
        </p:nvSpPr>
        <p:spPr>
          <a:xfrm>
            <a:off x="2624328" y="2880360"/>
            <a:ext cx="2011680" cy="603504"/>
          </a:xfrm>
          <a:prstGeom prst="rect">
            <a:avLst/>
          </a:prstGeom>
          <a:solidFill>
            <a:srgbClr val="FFFFFF"/>
          </a:solidFill>
          <a:ln w="6350">
            <a:solidFill>
              <a:srgbClr val="C9D5DA"/>
            </a:solidFill>
            <a:prstDash val="solid"/>
          </a:ln>
        </p:spPr>
        <p:txBody>
          <a:bodyPr/>
          <a:lstStyle/>
          <a:p>
            <a:endParaRPr lang="en-US"/>
          </a:p>
        </p:txBody>
      </p:sp>
      <p:sp>
        <p:nvSpPr>
          <p:cNvPr id="29" name="Text 26"/>
          <p:cNvSpPr/>
          <p:nvPr/>
        </p:nvSpPr>
        <p:spPr>
          <a:xfrm>
            <a:off x="2688336" y="2953512"/>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How much text is processed?</a:t>
            </a:r>
            <a:endParaRPr lang="en-US" sz="920" dirty="0"/>
          </a:p>
        </p:txBody>
      </p:sp>
      <p:sp>
        <p:nvSpPr>
          <p:cNvPr id="30" name="Shape 27"/>
          <p:cNvSpPr/>
          <p:nvPr/>
        </p:nvSpPr>
        <p:spPr>
          <a:xfrm>
            <a:off x="4636008" y="2880360"/>
            <a:ext cx="2057400" cy="603504"/>
          </a:xfrm>
          <a:prstGeom prst="rect">
            <a:avLst/>
          </a:prstGeom>
          <a:solidFill>
            <a:srgbClr val="FFFFFF"/>
          </a:solidFill>
          <a:ln w="6350">
            <a:solidFill>
              <a:srgbClr val="C9D5DA"/>
            </a:solidFill>
            <a:prstDash val="solid"/>
          </a:ln>
        </p:spPr>
        <p:txBody>
          <a:bodyPr/>
          <a:lstStyle/>
          <a:p>
            <a:endParaRPr lang="en-US"/>
          </a:p>
        </p:txBody>
      </p:sp>
      <p:sp>
        <p:nvSpPr>
          <p:cNvPr id="31" name="Text 28"/>
          <p:cNvSpPr/>
          <p:nvPr/>
        </p:nvSpPr>
        <p:spPr>
          <a:xfrm>
            <a:off x="4700016" y="2953512"/>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Prompt, retrieval, and output design</a:t>
            </a:r>
            <a:endParaRPr lang="en-US" sz="920" dirty="0"/>
          </a:p>
        </p:txBody>
      </p:sp>
      <p:sp>
        <p:nvSpPr>
          <p:cNvPr id="32" name="Shape 29"/>
          <p:cNvSpPr/>
          <p:nvPr/>
        </p:nvSpPr>
        <p:spPr>
          <a:xfrm>
            <a:off x="6693408" y="2880360"/>
            <a:ext cx="2011680" cy="603504"/>
          </a:xfrm>
          <a:prstGeom prst="rect">
            <a:avLst/>
          </a:prstGeom>
          <a:solidFill>
            <a:srgbClr val="FFFFFF"/>
          </a:solidFill>
          <a:ln w="6350">
            <a:solidFill>
              <a:srgbClr val="C9D5DA"/>
            </a:solidFill>
            <a:prstDash val="solid"/>
          </a:ln>
        </p:spPr>
        <p:txBody>
          <a:bodyPr/>
          <a:lstStyle/>
          <a:p>
            <a:endParaRPr lang="en-US"/>
          </a:p>
        </p:txBody>
      </p:sp>
      <p:sp>
        <p:nvSpPr>
          <p:cNvPr id="33" name="Text 30"/>
          <p:cNvSpPr/>
          <p:nvPr/>
        </p:nvSpPr>
        <p:spPr>
          <a:xfrm>
            <a:off x="6757416" y="2953512"/>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Ignoring long context and citations</a:t>
            </a:r>
            <a:endParaRPr lang="en-US" sz="920" dirty="0"/>
          </a:p>
        </p:txBody>
      </p:sp>
      <p:sp>
        <p:nvSpPr>
          <p:cNvPr id="34" name="Shape 31"/>
          <p:cNvSpPr/>
          <p:nvPr/>
        </p:nvSpPr>
        <p:spPr>
          <a:xfrm>
            <a:off x="658368" y="3483864"/>
            <a:ext cx="1965960" cy="603504"/>
          </a:xfrm>
          <a:prstGeom prst="rect">
            <a:avLst/>
          </a:prstGeom>
          <a:solidFill>
            <a:srgbClr val="F8FAFB"/>
          </a:solidFill>
          <a:ln w="6350">
            <a:solidFill>
              <a:srgbClr val="C9D5DA"/>
            </a:solidFill>
            <a:prstDash val="solid"/>
          </a:ln>
        </p:spPr>
        <p:txBody>
          <a:bodyPr/>
          <a:lstStyle/>
          <a:p>
            <a:endParaRPr lang="en-US"/>
          </a:p>
        </p:txBody>
      </p:sp>
      <p:sp>
        <p:nvSpPr>
          <p:cNvPr id="35" name="Text 32"/>
          <p:cNvSpPr/>
          <p:nvPr/>
        </p:nvSpPr>
        <p:spPr>
          <a:xfrm>
            <a:off x="722376" y="3557016"/>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Rate limits</a:t>
            </a:r>
            <a:endParaRPr lang="en-US" sz="920" dirty="0"/>
          </a:p>
        </p:txBody>
      </p:sp>
      <p:sp>
        <p:nvSpPr>
          <p:cNvPr id="36" name="Shape 33"/>
          <p:cNvSpPr/>
          <p:nvPr/>
        </p:nvSpPr>
        <p:spPr>
          <a:xfrm>
            <a:off x="2624328" y="3483864"/>
            <a:ext cx="2011680" cy="603504"/>
          </a:xfrm>
          <a:prstGeom prst="rect">
            <a:avLst/>
          </a:prstGeom>
          <a:solidFill>
            <a:srgbClr val="F8FAFB"/>
          </a:solidFill>
          <a:ln w="6350">
            <a:solidFill>
              <a:srgbClr val="C9D5DA"/>
            </a:solidFill>
            <a:prstDash val="solid"/>
          </a:ln>
        </p:spPr>
        <p:txBody>
          <a:bodyPr/>
          <a:lstStyle/>
          <a:p>
            <a:endParaRPr lang="en-US"/>
          </a:p>
        </p:txBody>
      </p:sp>
      <p:sp>
        <p:nvSpPr>
          <p:cNvPr id="37" name="Text 34"/>
          <p:cNvSpPr/>
          <p:nvPr/>
        </p:nvSpPr>
        <p:spPr>
          <a:xfrm>
            <a:off x="2688336" y="3557016"/>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How fast can requests run?</a:t>
            </a:r>
            <a:endParaRPr lang="en-US" sz="920" dirty="0"/>
          </a:p>
        </p:txBody>
      </p:sp>
      <p:sp>
        <p:nvSpPr>
          <p:cNvPr id="38" name="Shape 35"/>
          <p:cNvSpPr/>
          <p:nvPr/>
        </p:nvSpPr>
        <p:spPr>
          <a:xfrm>
            <a:off x="4636008" y="3483864"/>
            <a:ext cx="2057400" cy="603504"/>
          </a:xfrm>
          <a:prstGeom prst="rect">
            <a:avLst/>
          </a:prstGeom>
          <a:solidFill>
            <a:srgbClr val="F8FAFB"/>
          </a:solidFill>
          <a:ln w="6350">
            <a:solidFill>
              <a:srgbClr val="C9D5DA"/>
            </a:solidFill>
            <a:prstDash val="solid"/>
          </a:ln>
        </p:spPr>
        <p:txBody>
          <a:bodyPr/>
          <a:lstStyle/>
          <a:p>
            <a:endParaRPr lang="en-US"/>
          </a:p>
        </p:txBody>
      </p:sp>
      <p:sp>
        <p:nvSpPr>
          <p:cNvPr id="39" name="Text 36"/>
          <p:cNvSpPr/>
          <p:nvPr/>
        </p:nvSpPr>
        <p:spPr>
          <a:xfrm>
            <a:off x="4700016" y="3557016"/>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Peak usage and throttling</a:t>
            </a:r>
            <a:endParaRPr lang="en-US" sz="920" dirty="0"/>
          </a:p>
        </p:txBody>
      </p:sp>
      <p:sp>
        <p:nvSpPr>
          <p:cNvPr id="40" name="Shape 37"/>
          <p:cNvSpPr/>
          <p:nvPr/>
        </p:nvSpPr>
        <p:spPr>
          <a:xfrm>
            <a:off x="6693408" y="3483864"/>
            <a:ext cx="2011680" cy="603504"/>
          </a:xfrm>
          <a:prstGeom prst="rect">
            <a:avLst/>
          </a:prstGeom>
          <a:solidFill>
            <a:srgbClr val="F8FAFB"/>
          </a:solidFill>
          <a:ln w="6350">
            <a:solidFill>
              <a:srgbClr val="C9D5DA"/>
            </a:solidFill>
            <a:prstDash val="solid"/>
          </a:ln>
        </p:spPr>
        <p:txBody>
          <a:bodyPr/>
          <a:lstStyle/>
          <a:p>
            <a:endParaRPr lang="en-US"/>
          </a:p>
        </p:txBody>
      </p:sp>
      <p:sp>
        <p:nvSpPr>
          <p:cNvPr id="41" name="Text 38"/>
          <p:cNvSpPr/>
          <p:nvPr/>
        </p:nvSpPr>
        <p:spPr>
          <a:xfrm>
            <a:off x="6757416" y="3557016"/>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Testing only one manual request</a:t>
            </a:r>
            <a:endParaRPr lang="en-US" sz="920" dirty="0"/>
          </a:p>
        </p:txBody>
      </p:sp>
      <p:sp>
        <p:nvSpPr>
          <p:cNvPr id="42" name="Shape 39"/>
          <p:cNvSpPr/>
          <p:nvPr/>
        </p:nvSpPr>
        <p:spPr>
          <a:xfrm>
            <a:off x="658368" y="4087368"/>
            <a:ext cx="1965960" cy="603504"/>
          </a:xfrm>
          <a:prstGeom prst="rect">
            <a:avLst/>
          </a:prstGeom>
          <a:solidFill>
            <a:srgbClr val="FFFFFF"/>
          </a:solidFill>
          <a:ln w="6350">
            <a:solidFill>
              <a:srgbClr val="C9D5DA"/>
            </a:solidFill>
            <a:prstDash val="solid"/>
          </a:ln>
        </p:spPr>
        <p:txBody>
          <a:bodyPr/>
          <a:lstStyle/>
          <a:p>
            <a:endParaRPr lang="en-US"/>
          </a:p>
        </p:txBody>
      </p:sp>
      <p:sp>
        <p:nvSpPr>
          <p:cNvPr id="43" name="Text 40"/>
          <p:cNvSpPr/>
          <p:nvPr/>
        </p:nvSpPr>
        <p:spPr>
          <a:xfrm>
            <a:off x="722376" y="4160520"/>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Cost</a:t>
            </a:r>
            <a:endParaRPr lang="en-US" sz="920" dirty="0"/>
          </a:p>
        </p:txBody>
      </p:sp>
      <p:sp>
        <p:nvSpPr>
          <p:cNvPr id="44" name="Shape 41"/>
          <p:cNvSpPr/>
          <p:nvPr/>
        </p:nvSpPr>
        <p:spPr>
          <a:xfrm>
            <a:off x="2624328" y="4087368"/>
            <a:ext cx="2011680" cy="603504"/>
          </a:xfrm>
          <a:prstGeom prst="rect">
            <a:avLst/>
          </a:prstGeom>
          <a:solidFill>
            <a:srgbClr val="FFFFFF"/>
          </a:solidFill>
          <a:ln w="6350">
            <a:solidFill>
              <a:srgbClr val="C9D5DA"/>
            </a:solidFill>
            <a:prstDash val="solid"/>
          </a:ln>
        </p:spPr>
        <p:txBody>
          <a:bodyPr/>
          <a:lstStyle/>
          <a:p>
            <a:endParaRPr lang="en-US"/>
          </a:p>
        </p:txBody>
      </p:sp>
      <p:sp>
        <p:nvSpPr>
          <p:cNvPr id="45" name="Text 42"/>
          <p:cNvSpPr/>
          <p:nvPr/>
        </p:nvSpPr>
        <p:spPr>
          <a:xfrm>
            <a:off x="2688336" y="4160520"/>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What does usage consume?</a:t>
            </a:r>
            <a:endParaRPr lang="en-US" sz="920" dirty="0"/>
          </a:p>
        </p:txBody>
      </p:sp>
      <p:sp>
        <p:nvSpPr>
          <p:cNvPr id="46" name="Shape 43"/>
          <p:cNvSpPr/>
          <p:nvPr/>
        </p:nvSpPr>
        <p:spPr>
          <a:xfrm>
            <a:off x="4636008" y="4087368"/>
            <a:ext cx="2057400" cy="603504"/>
          </a:xfrm>
          <a:prstGeom prst="rect">
            <a:avLst/>
          </a:prstGeom>
          <a:solidFill>
            <a:srgbClr val="FFFFFF"/>
          </a:solidFill>
          <a:ln w="6350">
            <a:solidFill>
              <a:srgbClr val="C9D5DA"/>
            </a:solidFill>
            <a:prstDash val="solid"/>
          </a:ln>
        </p:spPr>
        <p:txBody>
          <a:bodyPr/>
          <a:lstStyle/>
          <a:p>
            <a:endParaRPr lang="en-US"/>
          </a:p>
        </p:txBody>
      </p:sp>
      <p:sp>
        <p:nvSpPr>
          <p:cNvPr id="47" name="Text 44"/>
          <p:cNvSpPr/>
          <p:nvPr/>
        </p:nvSpPr>
        <p:spPr>
          <a:xfrm>
            <a:off x="4700016" y="4160520"/>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Budgets and chargeback</a:t>
            </a:r>
            <a:endParaRPr lang="en-US" sz="920" dirty="0"/>
          </a:p>
        </p:txBody>
      </p:sp>
      <p:sp>
        <p:nvSpPr>
          <p:cNvPr id="48" name="Shape 45"/>
          <p:cNvSpPr/>
          <p:nvPr/>
        </p:nvSpPr>
        <p:spPr>
          <a:xfrm>
            <a:off x="6693408" y="4087368"/>
            <a:ext cx="2011680" cy="603504"/>
          </a:xfrm>
          <a:prstGeom prst="rect">
            <a:avLst/>
          </a:prstGeom>
          <a:solidFill>
            <a:srgbClr val="FFFFFF"/>
          </a:solidFill>
          <a:ln w="6350">
            <a:solidFill>
              <a:srgbClr val="C9D5DA"/>
            </a:solidFill>
            <a:prstDash val="solid"/>
          </a:ln>
        </p:spPr>
        <p:txBody>
          <a:bodyPr/>
          <a:lstStyle/>
          <a:p>
            <a:endParaRPr lang="en-US"/>
          </a:p>
        </p:txBody>
      </p:sp>
      <p:sp>
        <p:nvSpPr>
          <p:cNvPr id="49" name="Text 46"/>
          <p:cNvSpPr/>
          <p:nvPr/>
        </p:nvSpPr>
        <p:spPr>
          <a:xfrm>
            <a:off x="6757416" y="4160520"/>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Estimating by token price alone</a:t>
            </a:r>
            <a:endParaRPr lang="en-US" sz="920" dirty="0"/>
          </a:p>
        </p:txBody>
      </p:sp>
      <p:sp>
        <p:nvSpPr>
          <p:cNvPr id="50" name="Shape 47"/>
          <p:cNvSpPr/>
          <p:nvPr/>
        </p:nvSpPr>
        <p:spPr>
          <a:xfrm>
            <a:off x="658368" y="4690872"/>
            <a:ext cx="1965960" cy="603504"/>
          </a:xfrm>
          <a:prstGeom prst="rect">
            <a:avLst/>
          </a:prstGeom>
          <a:solidFill>
            <a:srgbClr val="F8FAFB"/>
          </a:solidFill>
          <a:ln w="6350">
            <a:solidFill>
              <a:srgbClr val="C9D5DA"/>
            </a:solidFill>
            <a:prstDash val="solid"/>
          </a:ln>
        </p:spPr>
        <p:txBody>
          <a:bodyPr/>
          <a:lstStyle/>
          <a:p>
            <a:endParaRPr lang="en-US"/>
          </a:p>
        </p:txBody>
      </p:sp>
      <p:sp>
        <p:nvSpPr>
          <p:cNvPr id="51" name="Text 48"/>
          <p:cNvSpPr/>
          <p:nvPr/>
        </p:nvSpPr>
        <p:spPr>
          <a:xfrm>
            <a:off x="722376" y="4764024"/>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Alerts</a:t>
            </a:r>
            <a:endParaRPr lang="en-US" sz="920" dirty="0"/>
          </a:p>
        </p:txBody>
      </p:sp>
      <p:sp>
        <p:nvSpPr>
          <p:cNvPr id="52" name="Shape 49"/>
          <p:cNvSpPr/>
          <p:nvPr/>
        </p:nvSpPr>
        <p:spPr>
          <a:xfrm>
            <a:off x="2624328" y="4690872"/>
            <a:ext cx="2011680" cy="603504"/>
          </a:xfrm>
          <a:prstGeom prst="rect">
            <a:avLst/>
          </a:prstGeom>
          <a:solidFill>
            <a:srgbClr val="F8FAFB"/>
          </a:solidFill>
          <a:ln w="6350">
            <a:solidFill>
              <a:srgbClr val="C9D5DA"/>
            </a:solidFill>
            <a:prstDash val="solid"/>
          </a:ln>
        </p:spPr>
        <p:txBody>
          <a:bodyPr/>
          <a:lstStyle/>
          <a:p>
            <a:endParaRPr lang="en-US"/>
          </a:p>
        </p:txBody>
      </p:sp>
      <p:sp>
        <p:nvSpPr>
          <p:cNvPr id="53" name="Text 50"/>
          <p:cNvSpPr/>
          <p:nvPr/>
        </p:nvSpPr>
        <p:spPr>
          <a:xfrm>
            <a:off x="2688336" y="4764024"/>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When should teams react?</a:t>
            </a:r>
            <a:endParaRPr lang="en-US" sz="920" dirty="0"/>
          </a:p>
        </p:txBody>
      </p:sp>
      <p:sp>
        <p:nvSpPr>
          <p:cNvPr id="54" name="Shape 51"/>
          <p:cNvSpPr/>
          <p:nvPr/>
        </p:nvSpPr>
        <p:spPr>
          <a:xfrm>
            <a:off x="4636008" y="4690872"/>
            <a:ext cx="2057400" cy="603504"/>
          </a:xfrm>
          <a:prstGeom prst="rect">
            <a:avLst/>
          </a:prstGeom>
          <a:solidFill>
            <a:srgbClr val="F8FAFB"/>
          </a:solidFill>
          <a:ln w="6350">
            <a:solidFill>
              <a:srgbClr val="C9D5DA"/>
            </a:solidFill>
            <a:prstDash val="solid"/>
          </a:ln>
        </p:spPr>
        <p:txBody>
          <a:bodyPr/>
          <a:lstStyle/>
          <a:p>
            <a:endParaRPr lang="en-US"/>
          </a:p>
        </p:txBody>
      </p:sp>
      <p:sp>
        <p:nvSpPr>
          <p:cNvPr id="55" name="Text 52"/>
          <p:cNvSpPr/>
          <p:nvPr/>
        </p:nvSpPr>
        <p:spPr>
          <a:xfrm>
            <a:off x="4700016" y="4764024"/>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Operations and governance</a:t>
            </a:r>
            <a:endParaRPr lang="en-US" sz="920" dirty="0"/>
          </a:p>
        </p:txBody>
      </p:sp>
      <p:sp>
        <p:nvSpPr>
          <p:cNvPr id="56" name="Shape 53"/>
          <p:cNvSpPr/>
          <p:nvPr/>
        </p:nvSpPr>
        <p:spPr>
          <a:xfrm>
            <a:off x="6693408" y="4690872"/>
            <a:ext cx="2011680" cy="603504"/>
          </a:xfrm>
          <a:prstGeom prst="rect">
            <a:avLst/>
          </a:prstGeom>
          <a:solidFill>
            <a:srgbClr val="F8FAFB"/>
          </a:solidFill>
          <a:ln w="6350">
            <a:solidFill>
              <a:srgbClr val="C9D5DA"/>
            </a:solidFill>
            <a:prstDash val="solid"/>
          </a:ln>
        </p:spPr>
        <p:txBody>
          <a:bodyPr/>
          <a:lstStyle/>
          <a:p>
            <a:endParaRPr lang="en-US"/>
          </a:p>
        </p:txBody>
      </p:sp>
      <p:sp>
        <p:nvSpPr>
          <p:cNvPr id="57" name="Text 54"/>
          <p:cNvSpPr/>
          <p:nvPr/>
        </p:nvSpPr>
        <p:spPr>
          <a:xfrm>
            <a:off x="6757416" y="4764024"/>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No owner for cost exceptions</a:t>
            </a:r>
            <a:endParaRPr lang="en-US" sz="920" dirty="0"/>
          </a:p>
        </p:txBody>
      </p:sp>
      <p:sp>
        <p:nvSpPr>
          <p:cNvPr id="58" name="Shape 55"/>
          <p:cNvSpPr/>
          <p:nvPr/>
        </p:nvSpPr>
        <p:spPr>
          <a:xfrm>
            <a:off x="9464040" y="2057400"/>
            <a:ext cx="1965960" cy="1097280"/>
          </a:xfrm>
          <a:prstGeom prst="roundRect">
            <a:avLst>
              <a:gd name="adj" fmla="val 2500"/>
            </a:avLst>
          </a:prstGeom>
          <a:solidFill>
            <a:srgbClr val="FFFFFF"/>
          </a:solidFill>
          <a:ln w="12700">
            <a:solidFill>
              <a:srgbClr val="C9D5DA"/>
            </a:solidFill>
            <a:prstDash val="solid"/>
          </a:ln>
        </p:spPr>
        <p:txBody>
          <a:bodyPr/>
          <a:lstStyle/>
          <a:p>
            <a:endParaRPr lang="en-US"/>
          </a:p>
        </p:txBody>
      </p:sp>
      <p:sp>
        <p:nvSpPr>
          <p:cNvPr id="59" name="Shape 56"/>
          <p:cNvSpPr/>
          <p:nvPr/>
        </p:nvSpPr>
        <p:spPr>
          <a:xfrm>
            <a:off x="9646920" y="2203704"/>
            <a:ext cx="164592" cy="164592"/>
          </a:xfrm>
          <a:prstGeom prst="ellipse">
            <a:avLst/>
          </a:prstGeom>
          <a:solidFill>
            <a:srgbClr val="08A9C9"/>
          </a:solidFill>
          <a:ln w="12700">
            <a:solidFill>
              <a:srgbClr val="08A9C9"/>
            </a:solidFill>
            <a:prstDash val="solid"/>
          </a:ln>
        </p:spPr>
        <p:txBody>
          <a:bodyPr/>
          <a:lstStyle/>
          <a:p>
            <a:endParaRPr lang="en-US"/>
          </a:p>
        </p:txBody>
      </p:sp>
      <p:sp>
        <p:nvSpPr>
          <p:cNvPr id="60" name="Text 57"/>
          <p:cNvSpPr/>
          <p:nvPr/>
        </p:nvSpPr>
        <p:spPr>
          <a:xfrm>
            <a:off x="9678924" y="2201875"/>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61" name="Text 58"/>
          <p:cNvSpPr/>
          <p:nvPr/>
        </p:nvSpPr>
        <p:spPr>
          <a:xfrm>
            <a:off x="9902952" y="2194560"/>
            <a:ext cx="1417320" cy="182880"/>
          </a:xfrm>
          <a:prstGeom prst="rect">
            <a:avLst/>
          </a:prstGeom>
          <a:noFill/>
          <a:ln/>
        </p:spPr>
        <p:txBody>
          <a:bodyPr wrap="square" lIns="0" tIns="0" rIns="0" bIns="0" rtlCol="0" anchor="ctr">
            <a:normAutofit/>
          </a:bodyPr>
          <a:lstStyle/>
          <a:p>
            <a:pPr marL="0" indent="0">
              <a:buNone/>
            </a:pPr>
            <a:r>
              <a:rPr lang="en-US" sz="1150" b="1" dirty="0">
                <a:solidFill>
                  <a:srgbClr val="1F2A37"/>
                </a:solidFill>
                <a:latin typeface="Aptos" pitchFamily="34" charset="0"/>
                <a:ea typeface="Aptos" pitchFamily="34" charset="-122"/>
                <a:cs typeface="Aptos" pitchFamily="34" charset="-120"/>
              </a:rPr>
              <a:t>Planning habit</a:t>
            </a:r>
            <a:endParaRPr lang="en-US" sz="1150" dirty="0"/>
          </a:p>
        </p:txBody>
      </p:sp>
      <p:sp>
        <p:nvSpPr>
          <p:cNvPr id="62" name="Text 59"/>
          <p:cNvSpPr/>
          <p:nvPr/>
        </p:nvSpPr>
        <p:spPr>
          <a:xfrm>
            <a:off x="9738360" y="2496312"/>
            <a:ext cx="1463040" cy="521208"/>
          </a:xfrm>
          <a:prstGeom prst="rect">
            <a:avLst/>
          </a:prstGeom>
          <a:noFill/>
          <a:ln/>
        </p:spPr>
        <p:txBody>
          <a:bodyPr wrap="square" lIns="127" tIns="127" rIns="127" bIns="127" rtlCol="0" anchor="ctr">
            <a:normAutofit/>
          </a:bodyPr>
          <a:lstStyle/>
          <a:p>
            <a:pPr marL="0" indent="0">
              <a:buNone/>
            </a:pPr>
            <a:r>
              <a:rPr lang="en-US" sz="1070" dirty="0">
                <a:solidFill>
                  <a:srgbClr val="374151"/>
                </a:solidFill>
                <a:latin typeface="Aptos" pitchFamily="34" charset="0"/>
                <a:ea typeface="Aptos" pitchFamily="34" charset="-122"/>
                <a:cs typeface="Aptos" pitchFamily="34" charset="-120"/>
              </a:rPr>
              <a:t>Ask operating questions before release.</a:t>
            </a:r>
            <a:endParaRPr lang="en-US" sz="107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11</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11</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Cost and Quota Questions to Ask</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Before a model is used by an agent, teams should answer operating questions.</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What is the expected request volume and peak usage window?</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Which users or systems are allowed to consume the deployment?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What happens when the deployment is throttled or unavailable?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How will model consumption be monitored after publishing?</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Who approves quota increases and cost exceptions?</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Review frame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Enterprise agents fail operationally when quota and cost are treated as afterthoughts.</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11</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11</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Demo: Review Deployment, Quota, and Cost Signals</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This walkthrough shows the operating details learners should inspect before a lab or release.</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92500"/>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Open the model deployment area for the current project.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Review deployment name, model, region, and deployment type.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Locate quota or capacity information available in the portal.</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Explain where cost management and budget review happen in Azure.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End with the exact values learners need to capture during the lab.</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Demonstration</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Use this demo to teach inspection and validation, not advanced administration.</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12</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12</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Lecture Goal: Secure Foundry Before Agents Use It</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Identity and network boundaries should be understood before capability expands.</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92500"/>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Explain why Microsoft Entra ID is preferred for granular access control.</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Apply least-privilege thinking to Foundry resources and projects.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Distinguish control-plane access from data or inference access.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Recognize when private networking or managed networks matter.</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Prepare for a portal demonstration of access and boundary review.</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Outcome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You can explain the minimum security questions before publishing agents.</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12</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12</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Secure Foundry with Entra ID and RBAC</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Use identity-first access control before agents reach enterprise data or tools.</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Use Microsoft Entra ID for user and workload identity.</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Apply least-privilege roles at the correct resource or project scope.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Prefer managed identity and keyless access where practical.</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Use private networking controls for sensitive production environments.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Review both control-plane and data-plane permissions.</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fontScale="85000" lnSpcReduction="10000"/>
          </a:bodyPr>
          <a:lstStyle/>
          <a:p>
            <a:pPr marL="0" indent="0">
              <a:buNone/>
            </a:pPr>
            <a:r>
              <a:rPr lang="en-US" sz="1150" b="1">
                <a:solidFill>
                  <a:srgbClr val="1F2A37"/>
                </a:solidFill>
                <a:latin typeface="Aptos" pitchFamily="34" charset="0"/>
                <a:ea typeface="Aptos" pitchFamily="34" charset="-122"/>
                <a:cs typeface="Aptos" pitchFamily="34" charset="-120"/>
              </a:rPr>
              <a:t>Demonstration attached</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Inspect role assignments, project permissions, and secure access boundaries.</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12</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12</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Foundry Access Review Model</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Access decisions should be mapped to the job a person or workload performs.</a:t>
            </a:r>
            <a:endParaRPr lang="en-US" sz="1260" dirty="0"/>
          </a:p>
        </p:txBody>
      </p:sp>
      <p:sp>
        <p:nvSpPr>
          <p:cNvPr id="9" name="Shape 6"/>
          <p:cNvSpPr/>
          <p:nvPr/>
        </p:nvSpPr>
        <p:spPr>
          <a:xfrm>
            <a:off x="335280" y="1621536"/>
            <a:ext cx="8735568" cy="3883152"/>
          </a:xfrm>
          <a:prstGeom prst="rect">
            <a:avLst/>
          </a:prstGeom>
          <a:solidFill>
            <a:srgbClr val="FFFFFF"/>
          </a:solidFill>
          <a:ln w="12700">
            <a:solidFill>
              <a:srgbClr val="C9D5DA"/>
            </a:solidFill>
            <a:prstDash val="solid"/>
          </a:ln>
        </p:spPr>
        <p:txBody>
          <a:bodyPr/>
          <a:lstStyle/>
          <a:p>
            <a:endParaRPr lang="en-US"/>
          </a:p>
        </p:txBody>
      </p:sp>
      <p:sp>
        <p:nvSpPr>
          <p:cNvPr id="10" name="Shape 7"/>
          <p:cNvSpPr/>
          <p:nvPr/>
        </p:nvSpPr>
        <p:spPr>
          <a:xfrm>
            <a:off x="658368" y="1874520"/>
            <a:ext cx="1965960" cy="402336"/>
          </a:xfrm>
          <a:prstGeom prst="rect">
            <a:avLst/>
          </a:prstGeom>
          <a:solidFill>
            <a:srgbClr val="08A9C9"/>
          </a:solidFill>
          <a:ln w="12700">
            <a:solidFill>
              <a:srgbClr val="08A9C9"/>
            </a:solidFill>
            <a:prstDash val="solid"/>
          </a:ln>
        </p:spPr>
        <p:txBody>
          <a:bodyPr/>
          <a:lstStyle/>
          <a:p>
            <a:endParaRPr lang="en-US"/>
          </a:p>
        </p:txBody>
      </p:sp>
      <p:sp>
        <p:nvSpPr>
          <p:cNvPr id="11" name="Text 8"/>
          <p:cNvSpPr/>
          <p:nvPr/>
        </p:nvSpPr>
        <p:spPr>
          <a:xfrm>
            <a:off x="713232" y="1984248"/>
            <a:ext cx="1856232" cy="109728"/>
          </a:xfrm>
          <a:prstGeom prst="rect">
            <a:avLst/>
          </a:prstGeom>
          <a:noFill/>
          <a:ln/>
        </p:spPr>
        <p:txBody>
          <a:bodyPr wrap="square" lIns="0" tIns="0" rIns="0" bIns="0" rtlCol="0" anchor="ctr">
            <a:noAutofit/>
          </a:bodyPr>
          <a:lstStyle/>
          <a:p>
            <a:pPr marL="0" indent="0">
              <a:buNone/>
            </a:pPr>
            <a:r>
              <a:rPr lang="en-US" sz="1050" b="1" dirty="0">
                <a:solidFill>
                  <a:srgbClr val="FFFFFF"/>
                </a:solidFill>
                <a:latin typeface="Aptos" pitchFamily="34" charset="0"/>
                <a:ea typeface="Aptos" pitchFamily="34" charset="-122"/>
                <a:cs typeface="Aptos" pitchFamily="34" charset="-120"/>
              </a:rPr>
              <a:t>Question</a:t>
            </a:r>
            <a:endParaRPr lang="en-US" sz="1050" dirty="0"/>
          </a:p>
        </p:txBody>
      </p:sp>
      <p:sp>
        <p:nvSpPr>
          <p:cNvPr id="12" name="Shape 9"/>
          <p:cNvSpPr/>
          <p:nvPr/>
        </p:nvSpPr>
        <p:spPr>
          <a:xfrm>
            <a:off x="2624328" y="1874520"/>
            <a:ext cx="2011680" cy="402336"/>
          </a:xfrm>
          <a:prstGeom prst="rect">
            <a:avLst/>
          </a:prstGeom>
          <a:solidFill>
            <a:srgbClr val="08A9C9"/>
          </a:solidFill>
          <a:ln w="12700">
            <a:solidFill>
              <a:srgbClr val="08A9C9"/>
            </a:solidFill>
            <a:prstDash val="solid"/>
          </a:ln>
        </p:spPr>
        <p:txBody>
          <a:bodyPr/>
          <a:lstStyle/>
          <a:p>
            <a:endParaRPr lang="en-US"/>
          </a:p>
        </p:txBody>
      </p:sp>
      <p:sp>
        <p:nvSpPr>
          <p:cNvPr id="13" name="Text 10"/>
          <p:cNvSpPr/>
          <p:nvPr/>
        </p:nvSpPr>
        <p:spPr>
          <a:xfrm>
            <a:off x="2679192" y="1984248"/>
            <a:ext cx="1901952" cy="109728"/>
          </a:xfrm>
          <a:prstGeom prst="rect">
            <a:avLst/>
          </a:prstGeom>
          <a:noFill/>
          <a:ln/>
        </p:spPr>
        <p:txBody>
          <a:bodyPr wrap="square" lIns="0" tIns="0" rIns="0" bIns="0" rtlCol="0" anchor="ctr">
            <a:noAutofit/>
          </a:bodyPr>
          <a:lstStyle/>
          <a:p>
            <a:pPr marL="0" indent="0">
              <a:buNone/>
            </a:pPr>
            <a:r>
              <a:rPr lang="en-US" sz="1050" b="1" dirty="0">
                <a:solidFill>
                  <a:srgbClr val="FFFFFF"/>
                </a:solidFill>
                <a:latin typeface="Aptos" pitchFamily="34" charset="0"/>
                <a:ea typeface="Aptos" pitchFamily="34" charset="-122"/>
                <a:cs typeface="Aptos" pitchFamily="34" charset="-120"/>
              </a:rPr>
              <a:t>Typical scope</a:t>
            </a:r>
            <a:endParaRPr lang="en-US" sz="1050" dirty="0"/>
          </a:p>
        </p:txBody>
      </p:sp>
      <p:sp>
        <p:nvSpPr>
          <p:cNvPr id="14" name="Shape 11"/>
          <p:cNvSpPr/>
          <p:nvPr/>
        </p:nvSpPr>
        <p:spPr>
          <a:xfrm>
            <a:off x="4636008" y="1874520"/>
            <a:ext cx="2057400" cy="402336"/>
          </a:xfrm>
          <a:prstGeom prst="rect">
            <a:avLst/>
          </a:prstGeom>
          <a:solidFill>
            <a:srgbClr val="08A9C9"/>
          </a:solidFill>
          <a:ln w="12700">
            <a:solidFill>
              <a:srgbClr val="08A9C9"/>
            </a:solidFill>
            <a:prstDash val="solid"/>
          </a:ln>
        </p:spPr>
        <p:txBody>
          <a:bodyPr/>
          <a:lstStyle/>
          <a:p>
            <a:endParaRPr lang="en-US"/>
          </a:p>
        </p:txBody>
      </p:sp>
      <p:sp>
        <p:nvSpPr>
          <p:cNvPr id="15" name="Text 12"/>
          <p:cNvSpPr/>
          <p:nvPr/>
        </p:nvSpPr>
        <p:spPr>
          <a:xfrm>
            <a:off x="4690872" y="1984248"/>
            <a:ext cx="1947672" cy="109728"/>
          </a:xfrm>
          <a:prstGeom prst="rect">
            <a:avLst/>
          </a:prstGeom>
          <a:noFill/>
          <a:ln/>
        </p:spPr>
        <p:txBody>
          <a:bodyPr wrap="square" lIns="0" tIns="0" rIns="0" bIns="0" rtlCol="0" anchor="ctr">
            <a:noAutofit/>
          </a:bodyPr>
          <a:lstStyle/>
          <a:p>
            <a:pPr marL="0" indent="0">
              <a:buNone/>
            </a:pPr>
            <a:r>
              <a:rPr lang="en-US" sz="1050" b="1" dirty="0">
                <a:solidFill>
                  <a:srgbClr val="FFFFFF"/>
                </a:solidFill>
                <a:latin typeface="Aptos" pitchFamily="34" charset="0"/>
                <a:ea typeface="Aptos" pitchFamily="34" charset="-122"/>
                <a:cs typeface="Aptos" pitchFamily="34" charset="-120"/>
              </a:rPr>
              <a:t>Reviewer concern</a:t>
            </a:r>
            <a:endParaRPr lang="en-US" sz="1050" dirty="0"/>
          </a:p>
        </p:txBody>
      </p:sp>
      <p:sp>
        <p:nvSpPr>
          <p:cNvPr id="16" name="Shape 13"/>
          <p:cNvSpPr/>
          <p:nvPr/>
        </p:nvSpPr>
        <p:spPr>
          <a:xfrm>
            <a:off x="6693408" y="1874520"/>
            <a:ext cx="2011680" cy="402336"/>
          </a:xfrm>
          <a:prstGeom prst="rect">
            <a:avLst/>
          </a:prstGeom>
          <a:solidFill>
            <a:srgbClr val="08A9C9"/>
          </a:solidFill>
          <a:ln w="12700">
            <a:solidFill>
              <a:srgbClr val="08A9C9"/>
            </a:solidFill>
            <a:prstDash val="solid"/>
          </a:ln>
        </p:spPr>
        <p:txBody>
          <a:bodyPr/>
          <a:lstStyle/>
          <a:p>
            <a:endParaRPr lang="en-US"/>
          </a:p>
        </p:txBody>
      </p:sp>
      <p:sp>
        <p:nvSpPr>
          <p:cNvPr id="17" name="Text 14"/>
          <p:cNvSpPr/>
          <p:nvPr/>
        </p:nvSpPr>
        <p:spPr>
          <a:xfrm>
            <a:off x="6748272" y="1984248"/>
            <a:ext cx="1901952" cy="109728"/>
          </a:xfrm>
          <a:prstGeom prst="rect">
            <a:avLst/>
          </a:prstGeom>
          <a:noFill/>
          <a:ln/>
        </p:spPr>
        <p:txBody>
          <a:bodyPr wrap="square" lIns="0" tIns="0" rIns="0" bIns="0" rtlCol="0" anchor="ctr">
            <a:noAutofit/>
          </a:bodyPr>
          <a:lstStyle/>
          <a:p>
            <a:pPr marL="0" indent="0">
              <a:buNone/>
            </a:pPr>
            <a:r>
              <a:rPr lang="en-US" sz="1050" b="1" dirty="0">
                <a:solidFill>
                  <a:srgbClr val="FFFFFF"/>
                </a:solidFill>
                <a:latin typeface="Aptos" pitchFamily="34" charset="0"/>
                <a:ea typeface="Aptos" pitchFamily="34" charset="-122"/>
                <a:cs typeface="Aptos" pitchFamily="34" charset="-120"/>
              </a:rPr>
              <a:t>Risk if ignored</a:t>
            </a:r>
            <a:endParaRPr lang="en-US" sz="1050" dirty="0"/>
          </a:p>
        </p:txBody>
      </p:sp>
      <p:sp>
        <p:nvSpPr>
          <p:cNvPr id="18" name="Shape 15"/>
          <p:cNvSpPr/>
          <p:nvPr/>
        </p:nvSpPr>
        <p:spPr>
          <a:xfrm>
            <a:off x="658368" y="2276856"/>
            <a:ext cx="1965960" cy="603504"/>
          </a:xfrm>
          <a:prstGeom prst="rect">
            <a:avLst/>
          </a:prstGeom>
          <a:solidFill>
            <a:srgbClr val="F8FAFB"/>
          </a:solidFill>
          <a:ln w="6350">
            <a:solidFill>
              <a:srgbClr val="C9D5DA"/>
            </a:solidFill>
            <a:prstDash val="solid"/>
          </a:ln>
        </p:spPr>
        <p:txBody>
          <a:bodyPr/>
          <a:lstStyle/>
          <a:p>
            <a:endParaRPr lang="en-US"/>
          </a:p>
        </p:txBody>
      </p:sp>
      <p:sp>
        <p:nvSpPr>
          <p:cNvPr id="19" name="Text 16"/>
          <p:cNvSpPr/>
          <p:nvPr/>
        </p:nvSpPr>
        <p:spPr>
          <a:xfrm>
            <a:off x="722376" y="2350008"/>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Who creates resources?</a:t>
            </a:r>
            <a:endParaRPr lang="en-US" sz="920" dirty="0"/>
          </a:p>
        </p:txBody>
      </p:sp>
      <p:sp>
        <p:nvSpPr>
          <p:cNvPr id="20" name="Shape 17"/>
          <p:cNvSpPr/>
          <p:nvPr/>
        </p:nvSpPr>
        <p:spPr>
          <a:xfrm>
            <a:off x="2624328" y="2276856"/>
            <a:ext cx="2011680" cy="603504"/>
          </a:xfrm>
          <a:prstGeom prst="rect">
            <a:avLst/>
          </a:prstGeom>
          <a:solidFill>
            <a:srgbClr val="F8FAFB"/>
          </a:solidFill>
          <a:ln w="6350">
            <a:solidFill>
              <a:srgbClr val="C9D5DA"/>
            </a:solidFill>
            <a:prstDash val="solid"/>
          </a:ln>
        </p:spPr>
        <p:txBody>
          <a:bodyPr/>
          <a:lstStyle/>
          <a:p>
            <a:endParaRPr lang="en-US"/>
          </a:p>
        </p:txBody>
      </p:sp>
      <p:sp>
        <p:nvSpPr>
          <p:cNvPr id="21" name="Text 18"/>
          <p:cNvSpPr/>
          <p:nvPr/>
        </p:nvSpPr>
        <p:spPr>
          <a:xfrm>
            <a:off x="2688336" y="2350008"/>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Subscription or resource group</a:t>
            </a:r>
            <a:endParaRPr lang="en-US" sz="920" dirty="0"/>
          </a:p>
        </p:txBody>
      </p:sp>
      <p:sp>
        <p:nvSpPr>
          <p:cNvPr id="22" name="Shape 19"/>
          <p:cNvSpPr/>
          <p:nvPr/>
        </p:nvSpPr>
        <p:spPr>
          <a:xfrm>
            <a:off x="4636008" y="2276856"/>
            <a:ext cx="2057400" cy="603504"/>
          </a:xfrm>
          <a:prstGeom prst="rect">
            <a:avLst/>
          </a:prstGeom>
          <a:solidFill>
            <a:srgbClr val="F8FAFB"/>
          </a:solidFill>
          <a:ln w="6350">
            <a:solidFill>
              <a:srgbClr val="C9D5DA"/>
            </a:solidFill>
            <a:prstDash val="solid"/>
          </a:ln>
        </p:spPr>
        <p:txBody>
          <a:bodyPr/>
          <a:lstStyle/>
          <a:p>
            <a:endParaRPr lang="en-US"/>
          </a:p>
        </p:txBody>
      </p:sp>
      <p:sp>
        <p:nvSpPr>
          <p:cNvPr id="23" name="Text 20"/>
          <p:cNvSpPr/>
          <p:nvPr/>
        </p:nvSpPr>
        <p:spPr>
          <a:xfrm>
            <a:off x="4700016" y="2350008"/>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Administrative rights and policy</a:t>
            </a:r>
            <a:endParaRPr lang="en-US" sz="920" dirty="0"/>
          </a:p>
        </p:txBody>
      </p:sp>
      <p:sp>
        <p:nvSpPr>
          <p:cNvPr id="24" name="Shape 21"/>
          <p:cNvSpPr/>
          <p:nvPr/>
        </p:nvSpPr>
        <p:spPr>
          <a:xfrm>
            <a:off x="6693408" y="2276856"/>
            <a:ext cx="2011680" cy="603504"/>
          </a:xfrm>
          <a:prstGeom prst="rect">
            <a:avLst/>
          </a:prstGeom>
          <a:solidFill>
            <a:srgbClr val="F8FAFB"/>
          </a:solidFill>
          <a:ln w="6350">
            <a:solidFill>
              <a:srgbClr val="C9D5DA"/>
            </a:solidFill>
            <a:prstDash val="solid"/>
          </a:ln>
        </p:spPr>
        <p:txBody>
          <a:bodyPr/>
          <a:lstStyle/>
          <a:p>
            <a:endParaRPr lang="en-US"/>
          </a:p>
        </p:txBody>
      </p:sp>
      <p:sp>
        <p:nvSpPr>
          <p:cNvPr id="25" name="Text 22"/>
          <p:cNvSpPr/>
          <p:nvPr/>
        </p:nvSpPr>
        <p:spPr>
          <a:xfrm>
            <a:off x="6757416" y="2350008"/>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Uncontrolled platform sprawl</a:t>
            </a:r>
            <a:endParaRPr lang="en-US" sz="920" dirty="0"/>
          </a:p>
        </p:txBody>
      </p:sp>
      <p:sp>
        <p:nvSpPr>
          <p:cNvPr id="26" name="Shape 23"/>
          <p:cNvSpPr/>
          <p:nvPr/>
        </p:nvSpPr>
        <p:spPr>
          <a:xfrm>
            <a:off x="658368" y="2880360"/>
            <a:ext cx="1965960" cy="603504"/>
          </a:xfrm>
          <a:prstGeom prst="rect">
            <a:avLst/>
          </a:prstGeom>
          <a:solidFill>
            <a:srgbClr val="FFFFFF"/>
          </a:solidFill>
          <a:ln w="6350">
            <a:solidFill>
              <a:srgbClr val="C9D5DA"/>
            </a:solidFill>
            <a:prstDash val="solid"/>
          </a:ln>
        </p:spPr>
        <p:txBody>
          <a:bodyPr/>
          <a:lstStyle/>
          <a:p>
            <a:endParaRPr lang="en-US"/>
          </a:p>
        </p:txBody>
      </p:sp>
      <p:sp>
        <p:nvSpPr>
          <p:cNvPr id="27" name="Text 24"/>
          <p:cNvSpPr/>
          <p:nvPr/>
        </p:nvSpPr>
        <p:spPr>
          <a:xfrm>
            <a:off x="722376" y="2953512"/>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Who manages projects?</a:t>
            </a:r>
            <a:endParaRPr lang="en-US" sz="920" dirty="0"/>
          </a:p>
        </p:txBody>
      </p:sp>
      <p:sp>
        <p:nvSpPr>
          <p:cNvPr id="28" name="Shape 25"/>
          <p:cNvSpPr/>
          <p:nvPr/>
        </p:nvSpPr>
        <p:spPr>
          <a:xfrm>
            <a:off x="2624328" y="2880360"/>
            <a:ext cx="2011680" cy="603504"/>
          </a:xfrm>
          <a:prstGeom prst="rect">
            <a:avLst/>
          </a:prstGeom>
          <a:solidFill>
            <a:srgbClr val="FFFFFF"/>
          </a:solidFill>
          <a:ln w="6350">
            <a:solidFill>
              <a:srgbClr val="C9D5DA"/>
            </a:solidFill>
            <a:prstDash val="solid"/>
          </a:ln>
        </p:spPr>
        <p:txBody>
          <a:bodyPr/>
          <a:lstStyle/>
          <a:p>
            <a:endParaRPr lang="en-US"/>
          </a:p>
        </p:txBody>
      </p:sp>
      <p:sp>
        <p:nvSpPr>
          <p:cNvPr id="29" name="Text 26"/>
          <p:cNvSpPr/>
          <p:nvPr/>
        </p:nvSpPr>
        <p:spPr>
          <a:xfrm>
            <a:off x="2688336" y="2953512"/>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Foundry resource or project</a:t>
            </a:r>
            <a:endParaRPr lang="en-US" sz="920" dirty="0"/>
          </a:p>
        </p:txBody>
      </p:sp>
      <p:sp>
        <p:nvSpPr>
          <p:cNvPr id="30" name="Shape 27"/>
          <p:cNvSpPr/>
          <p:nvPr/>
        </p:nvSpPr>
        <p:spPr>
          <a:xfrm>
            <a:off x="4636008" y="2880360"/>
            <a:ext cx="2057400" cy="603504"/>
          </a:xfrm>
          <a:prstGeom prst="rect">
            <a:avLst/>
          </a:prstGeom>
          <a:solidFill>
            <a:srgbClr val="FFFFFF"/>
          </a:solidFill>
          <a:ln w="6350">
            <a:solidFill>
              <a:srgbClr val="C9D5DA"/>
            </a:solidFill>
            <a:prstDash val="solid"/>
          </a:ln>
        </p:spPr>
        <p:txBody>
          <a:bodyPr/>
          <a:lstStyle/>
          <a:p>
            <a:endParaRPr lang="en-US"/>
          </a:p>
        </p:txBody>
      </p:sp>
      <p:sp>
        <p:nvSpPr>
          <p:cNvPr id="31" name="Text 28"/>
          <p:cNvSpPr/>
          <p:nvPr/>
        </p:nvSpPr>
        <p:spPr>
          <a:xfrm>
            <a:off x="4700016" y="2953512"/>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Project ownership and release control</a:t>
            </a:r>
            <a:endParaRPr lang="en-US" sz="920" dirty="0"/>
          </a:p>
        </p:txBody>
      </p:sp>
      <p:sp>
        <p:nvSpPr>
          <p:cNvPr id="32" name="Shape 29"/>
          <p:cNvSpPr/>
          <p:nvPr/>
        </p:nvSpPr>
        <p:spPr>
          <a:xfrm>
            <a:off x="6693408" y="2880360"/>
            <a:ext cx="2011680" cy="603504"/>
          </a:xfrm>
          <a:prstGeom prst="rect">
            <a:avLst/>
          </a:prstGeom>
          <a:solidFill>
            <a:srgbClr val="FFFFFF"/>
          </a:solidFill>
          <a:ln w="6350">
            <a:solidFill>
              <a:srgbClr val="C9D5DA"/>
            </a:solidFill>
            <a:prstDash val="solid"/>
          </a:ln>
        </p:spPr>
        <p:txBody>
          <a:bodyPr/>
          <a:lstStyle/>
          <a:p>
            <a:endParaRPr lang="en-US"/>
          </a:p>
        </p:txBody>
      </p:sp>
      <p:sp>
        <p:nvSpPr>
          <p:cNvPr id="33" name="Text 30"/>
          <p:cNvSpPr/>
          <p:nvPr/>
        </p:nvSpPr>
        <p:spPr>
          <a:xfrm>
            <a:off x="6757416" y="2953512"/>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Unapproved asset changes</a:t>
            </a:r>
            <a:endParaRPr lang="en-US" sz="920" dirty="0"/>
          </a:p>
        </p:txBody>
      </p:sp>
      <p:sp>
        <p:nvSpPr>
          <p:cNvPr id="34" name="Shape 31"/>
          <p:cNvSpPr/>
          <p:nvPr/>
        </p:nvSpPr>
        <p:spPr>
          <a:xfrm>
            <a:off x="658368" y="3483864"/>
            <a:ext cx="1965960" cy="603504"/>
          </a:xfrm>
          <a:prstGeom prst="rect">
            <a:avLst/>
          </a:prstGeom>
          <a:solidFill>
            <a:srgbClr val="F8FAFB"/>
          </a:solidFill>
          <a:ln w="6350">
            <a:solidFill>
              <a:srgbClr val="C9D5DA"/>
            </a:solidFill>
            <a:prstDash val="solid"/>
          </a:ln>
        </p:spPr>
        <p:txBody>
          <a:bodyPr/>
          <a:lstStyle/>
          <a:p>
            <a:endParaRPr lang="en-US"/>
          </a:p>
        </p:txBody>
      </p:sp>
      <p:sp>
        <p:nvSpPr>
          <p:cNvPr id="35" name="Text 32"/>
          <p:cNvSpPr/>
          <p:nvPr/>
        </p:nvSpPr>
        <p:spPr>
          <a:xfrm>
            <a:off x="722376" y="3557016"/>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Who deploys models?</a:t>
            </a:r>
            <a:endParaRPr lang="en-US" sz="920" dirty="0"/>
          </a:p>
        </p:txBody>
      </p:sp>
      <p:sp>
        <p:nvSpPr>
          <p:cNvPr id="36" name="Shape 33"/>
          <p:cNvSpPr/>
          <p:nvPr/>
        </p:nvSpPr>
        <p:spPr>
          <a:xfrm>
            <a:off x="2624328" y="3483864"/>
            <a:ext cx="2011680" cy="603504"/>
          </a:xfrm>
          <a:prstGeom prst="rect">
            <a:avLst/>
          </a:prstGeom>
          <a:solidFill>
            <a:srgbClr val="F8FAFB"/>
          </a:solidFill>
          <a:ln w="6350">
            <a:solidFill>
              <a:srgbClr val="C9D5DA"/>
            </a:solidFill>
            <a:prstDash val="solid"/>
          </a:ln>
        </p:spPr>
        <p:txBody>
          <a:bodyPr/>
          <a:lstStyle/>
          <a:p>
            <a:endParaRPr lang="en-US"/>
          </a:p>
        </p:txBody>
      </p:sp>
      <p:sp>
        <p:nvSpPr>
          <p:cNvPr id="37" name="Text 34"/>
          <p:cNvSpPr/>
          <p:nvPr/>
        </p:nvSpPr>
        <p:spPr>
          <a:xfrm>
            <a:off x="2688336" y="3557016"/>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Resource or project permission</a:t>
            </a:r>
            <a:endParaRPr lang="en-US" sz="920" dirty="0"/>
          </a:p>
        </p:txBody>
      </p:sp>
      <p:sp>
        <p:nvSpPr>
          <p:cNvPr id="38" name="Shape 35"/>
          <p:cNvSpPr/>
          <p:nvPr/>
        </p:nvSpPr>
        <p:spPr>
          <a:xfrm>
            <a:off x="4636008" y="3483864"/>
            <a:ext cx="2057400" cy="603504"/>
          </a:xfrm>
          <a:prstGeom prst="rect">
            <a:avLst/>
          </a:prstGeom>
          <a:solidFill>
            <a:srgbClr val="F8FAFB"/>
          </a:solidFill>
          <a:ln w="6350">
            <a:solidFill>
              <a:srgbClr val="C9D5DA"/>
            </a:solidFill>
            <a:prstDash val="solid"/>
          </a:ln>
        </p:spPr>
        <p:txBody>
          <a:bodyPr/>
          <a:lstStyle/>
          <a:p>
            <a:endParaRPr lang="en-US"/>
          </a:p>
        </p:txBody>
      </p:sp>
      <p:sp>
        <p:nvSpPr>
          <p:cNvPr id="39" name="Text 36"/>
          <p:cNvSpPr/>
          <p:nvPr/>
        </p:nvSpPr>
        <p:spPr>
          <a:xfrm>
            <a:off x="4700016" y="3557016"/>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Quota, cost, and model lifecycle</a:t>
            </a:r>
            <a:endParaRPr lang="en-US" sz="920" dirty="0"/>
          </a:p>
        </p:txBody>
      </p:sp>
      <p:sp>
        <p:nvSpPr>
          <p:cNvPr id="40" name="Shape 37"/>
          <p:cNvSpPr/>
          <p:nvPr/>
        </p:nvSpPr>
        <p:spPr>
          <a:xfrm>
            <a:off x="6693408" y="3483864"/>
            <a:ext cx="2011680" cy="603504"/>
          </a:xfrm>
          <a:prstGeom prst="rect">
            <a:avLst/>
          </a:prstGeom>
          <a:solidFill>
            <a:srgbClr val="F8FAFB"/>
          </a:solidFill>
          <a:ln w="6350">
            <a:solidFill>
              <a:srgbClr val="C9D5DA"/>
            </a:solidFill>
            <a:prstDash val="solid"/>
          </a:ln>
        </p:spPr>
        <p:txBody>
          <a:bodyPr/>
          <a:lstStyle/>
          <a:p>
            <a:endParaRPr lang="en-US"/>
          </a:p>
        </p:txBody>
      </p:sp>
      <p:sp>
        <p:nvSpPr>
          <p:cNvPr id="41" name="Text 38"/>
          <p:cNvSpPr/>
          <p:nvPr/>
        </p:nvSpPr>
        <p:spPr>
          <a:xfrm>
            <a:off x="6757416" y="3557016"/>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Unexpected cost or unsupported models</a:t>
            </a:r>
            <a:endParaRPr lang="en-US" sz="920" dirty="0"/>
          </a:p>
        </p:txBody>
      </p:sp>
      <p:sp>
        <p:nvSpPr>
          <p:cNvPr id="42" name="Shape 39"/>
          <p:cNvSpPr/>
          <p:nvPr/>
        </p:nvSpPr>
        <p:spPr>
          <a:xfrm>
            <a:off x="658368" y="4087368"/>
            <a:ext cx="1965960" cy="603504"/>
          </a:xfrm>
          <a:prstGeom prst="rect">
            <a:avLst/>
          </a:prstGeom>
          <a:solidFill>
            <a:srgbClr val="FFFFFF"/>
          </a:solidFill>
          <a:ln w="6350">
            <a:solidFill>
              <a:srgbClr val="C9D5DA"/>
            </a:solidFill>
            <a:prstDash val="solid"/>
          </a:ln>
        </p:spPr>
        <p:txBody>
          <a:bodyPr/>
          <a:lstStyle/>
          <a:p>
            <a:endParaRPr lang="en-US"/>
          </a:p>
        </p:txBody>
      </p:sp>
      <p:sp>
        <p:nvSpPr>
          <p:cNvPr id="43" name="Text 40"/>
          <p:cNvSpPr/>
          <p:nvPr/>
        </p:nvSpPr>
        <p:spPr>
          <a:xfrm>
            <a:off x="722376" y="4160520"/>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Who invokes agents?</a:t>
            </a:r>
            <a:endParaRPr lang="en-US" sz="920" dirty="0"/>
          </a:p>
        </p:txBody>
      </p:sp>
      <p:sp>
        <p:nvSpPr>
          <p:cNvPr id="44" name="Shape 41"/>
          <p:cNvSpPr/>
          <p:nvPr/>
        </p:nvSpPr>
        <p:spPr>
          <a:xfrm>
            <a:off x="2624328" y="4087368"/>
            <a:ext cx="2011680" cy="603504"/>
          </a:xfrm>
          <a:prstGeom prst="rect">
            <a:avLst/>
          </a:prstGeom>
          <a:solidFill>
            <a:srgbClr val="FFFFFF"/>
          </a:solidFill>
          <a:ln w="6350">
            <a:solidFill>
              <a:srgbClr val="C9D5DA"/>
            </a:solidFill>
            <a:prstDash val="solid"/>
          </a:ln>
        </p:spPr>
        <p:txBody>
          <a:bodyPr/>
          <a:lstStyle/>
          <a:p>
            <a:endParaRPr lang="en-US"/>
          </a:p>
        </p:txBody>
      </p:sp>
      <p:sp>
        <p:nvSpPr>
          <p:cNvPr id="45" name="Text 42"/>
          <p:cNvSpPr/>
          <p:nvPr/>
        </p:nvSpPr>
        <p:spPr>
          <a:xfrm>
            <a:off x="2688336" y="4160520"/>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Agent endpoint or app access</a:t>
            </a:r>
            <a:endParaRPr lang="en-US" sz="920" dirty="0"/>
          </a:p>
        </p:txBody>
      </p:sp>
      <p:sp>
        <p:nvSpPr>
          <p:cNvPr id="46" name="Shape 43"/>
          <p:cNvSpPr/>
          <p:nvPr/>
        </p:nvSpPr>
        <p:spPr>
          <a:xfrm>
            <a:off x="4636008" y="4087368"/>
            <a:ext cx="2057400" cy="603504"/>
          </a:xfrm>
          <a:prstGeom prst="rect">
            <a:avLst/>
          </a:prstGeom>
          <a:solidFill>
            <a:srgbClr val="FFFFFF"/>
          </a:solidFill>
          <a:ln w="6350">
            <a:solidFill>
              <a:srgbClr val="C9D5DA"/>
            </a:solidFill>
            <a:prstDash val="solid"/>
          </a:ln>
        </p:spPr>
        <p:txBody>
          <a:bodyPr/>
          <a:lstStyle/>
          <a:p>
            <a:endParaRPr lang="en-US"/>
          </a:p>
        </p:txBody>
      </p:sp>
      <p:sp>
        <p:nvSpPr>
          <p:cNvPr id="47" name="Text 44"/>
          <p:cNvSpPr/>
          <p:nvPr/>
        </p:nvSpPr>
        <p:spPr>
          <a:xfrm>
            <a:off x="4700016" y="4160520"/>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Least privilege and traceability</a:t>
            </a:r>
            <a:endParaRPr lang="en-US" sz="920" dirty="0"/>
          </a:p>
        </p:txBody>
      </p:sp>
      <p:sp>
        <p:nvSpPr>
          <p:cNvPr id="48" name="Shape 45"/>
          <p:cNvSpPr/>
          <p:nvPr/>
        </p:nvSpPr>
        <p:spPr>
          <a:xfrm>
            <a:off x="6693408" y="4087368"/>
            <a:ext cx="2011680" cy="603504"/>
          </a:xfrm>
          <a:prstGeom prst="rect">
            <a:avLst/>
          </a:prstGeom>
          <a:solidFill>
            <a:srgbClr val="FFFFFF"/>
          </a:solidFill>
          <a:ln w="6350">
            <a:solidFill>
              <a:srgbClr val="C9D5DA"/>
            </a:solidFill>
            <a:prstDash val="solid"/>
          </a:ln>
        </p:spPr>
        <p:txBody>
          <a:bodyPr/>
          <a:lstStyle/>
          <a:p>
            <a:endParaRPr lang="en-US"/>
          </a:p>
        </p:txBody>
      </p:sp>
      <p:sp>
        <p:nvSpPr>
          <p:cNvPr id="49" name="Text 46"/>
          <p:cNvSpPr/>
          <p:nvPr/>
        </p:nvSpPr>
        <p:spPr>
          <a:xfrm>
            <a:off x="6757416" y="4160520"/>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Overbroad user access</a:t>
            </a:r>
            <a:endParaRPr lang="en-US" sz="920" dirty="0"/>
          </a:p>
        </p:txBody>
      </p:sp>
      <p:sp>
        <p:nvSpPr>
          <p:cNvPr id="50" name="Shape 47"/>
          <p:cNvSpPr/>
          <p:nvPr/>
        </p:nvSpPr>
        <p:spPr>
          <a:xfrm>
            <a:off x="658368" y="4690872"/>
            <a:ext cx="1965960" cy="603504"/>
          </a:xfrm>
          <a:prstGeom prst="rect">
            <a:avLst/>
          </a:prstGeom>
          <a:solidFill>
            <a:srgbClr val="F8FAFB"/>
          </a:solidFill>
          <a:ln w="6350">
            <a:solidFill>
              <a:srgbClr val="C9D5DA"/>
            </a:solidFill>
            <a:prstDash val="solid"/>
          </a:ln>
        </p:spPr>
        <p:txBody>
          <a:bodyPr/>
          <a:lstStyle/>
          <a:p>
            <a:endParaRPr lang="en-US"/>
          </a:p>
        </p:txBody>
      </p:sp>
      <p:sp>
        <p:nvSpPr>
          <p:cNvPr id="51" name="Text 48"/>
          <p:cNvSpPr/>
          <p:nvPr/>
        </p:nvSpPr>
        <p:spPr>
          <a:xfrm>
            <a:off x="722376" y="4764024"/>
            <a:ext cx="183794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Who manages connections?</a:t>
            </a:r>
            <a:endParaRPr lang="en-US" sz="920" dirty="0"/>
          </a:p>
        </p:txBody>
      </p:sp>
      <p:sp>
        <p:nvSpPr>
          <p:cNvPr id="52" name="Shape 49"/>
          <p:cNvSpPr/>
          <p:nvPr/>
        </p:nvSpPr>
        <p:spPr>
          <a:xfrm>
            <a:off x="2624328" y="4690872"/>
            <a:ext cx="2011680" cy="603504"/>
          </a:xfrm>
          <a:prstGeom prst="rect">
            <a:avLst/>
          </a:prstGeom>
          <a:solidFill>
            <a:srgbClr val="F8FAFB"/>
          </a:solidFill>
          <a:ln w="6350">
            <a:solidFill>
              <a:srgbClr val="C9D5DA"/>
            </a:solidFill>
            <a:prstDash val="solid"/>
          </a:ln>
        </p:spPr>
        <p:txBody>
          <a:bodyPr/>
          <a:lstStyle/>
          <a:p>
            <a:endParaRPr lang="en-US"/>
          </a:p>
        </p:txBody>
      </p:sp>
      <p:sp>
        <p:nvSpPr>
          <p:cNvPr id="53" name="Text 50"/>
          <p:cNvSpPr/>
          <p:nvPr/>
        </p:nvSpPr>
        <p:spPr>
          <a:xfrm>
            <a:off x="2688336" y="4764024"/>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Project and connected service</a:t>
            </a:r>
            <a:endParaRPr lang="en-US" sz="920" dirty="0"/>
          </a:p>
        </p:txBody>
      </p:sp>
      <p:sp>
        <p:nvSpPr>
          <p:cNvPr id="54" name="Shape 51"/>
          <p:cNvSpPr/>
          <p:nvPr/>
        </p:nvSpPr>
        <p:spPr>
          <a:xfrm>
            <a:off x="4636008" y="4690872"/>
            <a:ext cx="2057400" cy="603504"/>
          </a:xfrm>
          <a:prstGeom prst="rect">
            <a:avLst/>
          </a:prstGeom>
          <a:solidFill>
            <a:srgbClr val="F8FAFB"/>
          </a:solidFill>
          <a:ln w="6350">
            <a:solidFill>
              <a:srgbClr val="C9D5DA"/>
            </a:solidFill>
            <a:prstDash val="solid"/>
          </a:ln>
        </p:spPr>
        <p:txBody>
          <a:bodyPr/>
          <a:lstStyle/>
          <a:p>
            <a:endParaRPr lang="en-US"/>
          </a:p>
        </p:txBody>
      </p:sp>
      <p:sp>
        <p:nvSpPr>
          <p:cNvPr id="55" name="Text 52"/>
          <p:cNvSpPr/>
          <p:nvPr/>
        </p:nvSpPr>
        <p:spPr>
          <a:xfrm>
            <a:off x="4700016" y="4764024"/>
            <a:ext cx="192938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Data reach and tool reach</a:t>
            </a:r>
            <a:endParaRPr lang="en-US" sz="920" dirty="0"/>
          </a:p>
        </p:txBody>
      </p:sp>
      <p:sp>
        <p:nvSpPr>
          <p:cNvPr id="56" name="Shape 53"/>
          <p:cNvSpPr/>
          <p:nvPr/>
        </p:nvSpPr>
        <p:spPr>
          <a:xfrm>
            <a:off x="6693408" y="4690872"/>
            <a:ext cx="2011680" cy="603504"/>
          </a:xfrm>
          <a:prstGeom prst="rect">
            <a:avLst/>
          </a:prstGeom>
          <a:solidFill>
            <a:srgbClr val="F8FAFB"/>
          </a:solidFill>
          <a:ln w="6350">
            <a:solidFill>
              <a:srgbClr val="C9D5DA"/>
            </a:solidFill>
            <a:prstDash val="solid"/>
          </a:ln>
        </p:spPr>
        <p:txBody>
          <a:bodyPr/>
          <a:lstStyle/>
          <a:p>
            <a:endParaRPr lang="en-US"/>
          </a:p>
        </p:txBody>
      </p:sp>
      <p:sp>
        <p:nvSpPr>
          <p:cNvPr id="57" name="Text 54"/>
          <p:cNvSpPr/>
          <p:nvPr/>
        </p:nvSpPr>
        <p:spPr>
          <a:xfrm>
            <a:off x="6757416" y="4764024"/>
            <a:ext cx="1883664" cy="420624"/>
          </a:xfrm>
          <a:prstGeom prst="rect">
            <a:avLst/>
          </a:prstGeom>
          <a:noFill/>
          <a:ln/>
        </p:spPr>
        <p:txBody>
          <a:bodyPr wrap="square" lIns="127" tIns="127" rIns="127" bIns="127" rtlCol="0" anchor="ctr">
            <a:normAutofit/>
          </a:bodyPr>
          <a:lstStyle/>
          <a:p>
            <a:pPr marL="0" indent="0">
              <a:buNone/>
            </a:pPr>
            <a:r>
              <a:rPr lang="en-US" sz="920" dirty="0">
                <a:solidFill>
                  <a:srgbClr val="374151"/>
                </a:solidFill>
                <a:latin typeface="Aptos" pitchFamily="34" charset="0"/>
                <a:ea typeface="Aptos" pitchFamily="34" charset="-122"/>
                <a:cs typeface="Aptos" pitchFamily="34" charset="-120"/>
              </a:rPr>
              <a:t>Unauthorized data or tool exposure</a:t>
            </a:r>
            <a:endParaRPr lang="en-US" sz="920" dirty="0"/>
          </a:p>
        </p:txBody>
      </p:sp>
      <p:sp>
        <p:nvSpPr>
          <p:cNvPr id="58" name="Shape 55"/>
          <p:cNvSpPr/>
          <p:nvPr/>
        </p:nvSpPr>
        <p:spPr>
          <a:xfrm>
            <a:off x="9464040" y="2057400"/>
            <a:ext cx="1965960" cy="1097280"/>
          </a:xfrm>
          <a:prstGeom prst="roundRect">
            <a:avLst>
              <a:gd name="adj" fmla="val 2500"/>
            </a:avLst>
          </a:prstGeom>
          <a:solidFill>
            <a:srgbClr val="FFFFFF"/>
          </a:solidFill>
          <a:ln w="12700">
            <a:solidFill>
              <a:srgbClr val="C9D5DA"/>
            </a:solidFill>
            <a:prstDash val="solid"/>
          </a:ln>
        </p:spPr>
        <p:txBody>
          <a:bodyPr/>
          <a:lstStyle/>
          <a:p>
            <a:endParaRPr lang="en-US"/>
          </a:p>
        </p:txBody>
      </p:sp>
      <p:sp>
        <p:nvSpPr>
          <p:cNvPr id="59" name="Shape 56"/>
          <p:cNvSpPr/>
          <p:nvPr/>
        </p:nvSpPr>
        <p:spPr>
          <a:xfrm>
            <a:off x="9646920" y="2203704"/>
            <a:ext cx="164592" cy="164592"/>
          </a:xfrm>
          <a:prstGeom prst="ellipse">
            <a:avLst/>
          </a:prstGeom>
          <a:solidFill>
            <a:srgbClr val="08A9C9"/>
          </a:solidFill>
          <a:ln w="12700">
            <a:solidFill>
              <a:srgbClr val="08A9C9"/>
            </a:solidFill>
            <a:prstDash val="solid"/>
          </a:ln>
        </p:spPr>
        <p:txBody>
          <a:bodyPr/>
          <a:lstStyle/>
          <a:p>
            <a:endParaRPr lang="en-US"/>
          </a:p>
        </p:txBody>
      </p:sp>
      <p:sp>
        <p:nvSpPr>
          <p:cNvPr id="60" name="Text 57"/>
          <p:cNvSpPr/>
          <p:nvPr/>
        </p:nvSpPr>
        <p:spPr>
          <a:xfrm>
            <a:off x="9678924" y="2201875"/>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61" name="Text 58"/>
          <p:cNvSpPr/>
          <p:nvPr/>
        </p:nvSpPr>
        <p:spPr>
          <a:xfrm>
            <a:off x="9902952" y="2194560"/>
            <a:ext cx="1417320" cy="182880"/>
          </a:xfrm>
          <a:prstGeom prst="rect">
            <a:avLst/>
          </a:prstGeom>
          <a:noFill/>
          <a:ln/>
        </p:spPr>
        <p:txBody>
          <a:bodyPr wrap="square" lIns="0" tIns="0" rIns="0" bIns="0" rtlCol="0" anchor="ctr">
            <a:normAutofit/>
          </a:bodyPr>
          <a:lstStyle/>
          <a:p>
            <a:pPr marL="0" indent="0">
              <a:buNone/>
            </a:pPr>
            <a:r>
              <a:rPr lang="en-US" sz="1150" b="1" dirty="0">
                <a:solidFill>
                  <a:srgbClr val="1F2A37"/>
                </a:solidFill>
                <a:latin typeface="Aptos" pitchFamily="34" charset="0"/>
                <a:ea typeface="Aptos" pitchFamily="34" charset="-122"/>
                <a:cs typeface="Aptos" pitchFamily="34" charset="-120"/>
              </a:rPr>
              <a:t>Least privilege</a:t>
            </a:r>
            <a:endParaRPr lang="en-US" sz="1150" dirty="0"/>
          </a:p>
        </p:txBody>
      </p:sp>
      <p:sp>
        <p:nvSpPr>
          <p:cNvPr id="62" name="Text 59"/>
          <p:cNvSpPr/>
          <p:nvPr/>
        </p:nvSpPr>
        <p:spPr>
          <a:xfrm>
            <a:off x="9738360" y="2496312"/>
            <a:ext cx="1463040" cy="521208"/>
          </a:xfrm>
          <a:prstGeom prst="rect">
            <a:avLst/>
          </a:prstGeom>
          <a:noFill/>
          <a:ln/>
        </p:spPr>
        <p:txBody>
          <a:bodyPr wrap="square" lIns="127" tIns="127" rIns="127" bIns="127" rtlCol="0" anchor="ctr">
            <a:normAutofit/>
          </a:bodyPr>
          <a:lstStyle/>
          <a:p>
            <a:pPr marL="0" indent="0">
              <a:buNone/>
            </a:pPr>
            <a:r>
              <a:rPr lang="en-US" sz="1070" dirty="0">
                <a:solidFill>
                  <a:srgbClr val="374151"/>
                </a:solidFill>
                <a:latin typeface="Aptos" pitchFamily="34" charset="0"/>
                <a:ea typeface="Aptos" pitchFamily="34" charset="-122"/>
                <a:cs typeface="Aptos" pitchFamily="34" charset="-120"/>
              </a:rPr>
              <a:t>Give access by responsibility, not convenience.</a:t>
            </a:r>
            <a:endParaRPr lang="en-US" sz="107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12</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12</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Private Networking and Managed Network Options</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Network controls matter when agents touch sensitive data, tools, or private services.</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fontScale="85000" lnSpcReduction="10000"/>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Private endpoints can secure access to Foundry resources and projects.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Managed virtual network options help secure agent-service traffic boundaries.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Connected Azure resources may require their own network rules.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Network isolation choices depend on environment, region, and security requirements.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Course labs may use simpler networking than production environments.</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Production note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Do not confuse a learning lab network with a production network design.</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12</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12</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Security Boundary Checklist</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Use this as a pre-lab review before provisioning live resources.</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Who can create and manage Foundry resources?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Who can deploy models and consume model endpoints?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Which connections can agents use?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Which networks are allowed to reach the project?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Which actions require approval or audit evidence?</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Security rule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Do not treat agent access as ordinary application access; agent actions need explicit boundaries.</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12</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12</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Demo: Inspect Identity and Boundary Settings</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This walkthrough shows where access review begins in the current environment.</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Open Azure or Foundry access-control views for the resource or project.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Inspect role assignments and the scope where they apply.</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Review whether Entra-based access is being used.</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Locate project-level settings that affect resource or connection reach.</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Close by identifying the minimum access needed for the lab.</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Demonstration</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Keep the demo focused on inspection and review, not full enterprise identity design.</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13</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13</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Lab: Provision a Foundry Project and Deploy a Model</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This lab creates the working platform foundation for the rest of the course.</a:t>
            </a:r>
            <a:endParaRPr lang="en-US" sz="1260"/>
          </a:p>
        </p:txBody>
      </p:sp>
      <p:sp>
        <p:nvSpPr>
          <p:cNvPr id="9" name="Text 6"/>
          <p:cNvSpPr/>
          <p:nvPr/>
        </p:nvSpPr>
        <p:spPr>
          <a:xfrm>
            <a:off x="749808" y="1920240"/>
            <a:ext cx="676656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Create the Foundry resource and project.</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Select a regionally available enterprise model.</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Create the deployment and confirm it is usable.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Verify identity, role, quota, and cost settings.</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Clean up resources when the workspace session ends.</a:t>
            </a:r>
            <a:endParaRPr lang="en-US" sz="2000" dirty="0"/>
          </a:p>
        </p:txBody>
      </p:sp>
      <p:sp>
        <p:nvSpPr>
          <p:cNvPr id="10" name="Shape 7"/>
          <p:cNvSpPr/>
          <p:nvPr/>
        </p:nvSpPr>
        <p:spPr>
          <a:xfrm>
            <a:off x="8183880" y="1874520"/>
            <a:ext cx="2788920" cy="2606040"/>
          </a:xfrm>
          <a:prstGeom prst="roundRect">
            <a:avLst>
              <a:gd name="adj" fmla="val 1053"/>
            </a:avLst>
          </a:prstGeom>
          <a:solidFill>
            <a:srgbClr val="FFFFFF"/>
          </a:solidFill>
          <a:ln w="13970">
            <a:solidFill>
              <a:srgbClr val="C9D5DA"/>
            </a:solidFill>
            <a:prstDash val="solid"/>
          </a:ln>
        </p:spPr>
        <p:txBody>
          <a:bodyPr/>
          <a:lstStyle/>
          <a:p>
            <a:endParaRPr lang="en-US"/>
          </a:p>
        </p:txBody>
      </p:sp>
      <p:sp>
        <p:nvSpPr>
          <p:cNvPr id="11" name="Text 8"/>
          <p:cNvSpPr/>
          <p:nvPr/>
        </p:nvSpPr>
        <p:spPr>
          <a:xfrm>
            <a:off x="8412480" y="2103120"/>
            <a:ext cx="2331720" cy="228600"/>
          </a:xfrm>
          <a:prstGeom prst="rect">
            <a:avLst/>
          </a:prstGeom>
          <a:noFill/>
          <a:ln/>
        </p:spPr>
        <p:txBody>
          <a:bodyPr wrap="square" lIns="0" tIns="0" rIns="0" bIns="0" rtlCol="0" anchor="ctr">
            <a:normAutofit/>
          </a:bodyPr>
          <a:lstStyle/>
          <a:p>
            <a:pPr marL="0" indent="0">
              <a:buNone/>
            </a:pPr>
            <a:r>
              <a:rPr lang="en-US" sz="1280" b="1">
                <a:solidFill>
                  <a:srgbClr val="1F2A37"/>
                </a:solidFill>
                <a:latin typeface="Aptos" pitchFamily="34" charset="0"/>
                <a:ea typeface="Aptos" pitchFamily="34" charset="-122"/>
                <a:cs typeface="Aptos" pitchFamily="34" charset="-120"/>
              </a:rPr>
              <a:t>Lab outcome</a:t>
            </a:r>
            <a:endParaRPr lang="en-US" sz="1280"/>
          </a:p>
        </p:txBody>
      </p:sp>
      <p:sp>
        <p:nvSpPr>
          <p:cNvPr id="12" name="Text 9"/>
          <p:cNvSpPr/>
          <p:nvPr/>
        </p:nvSpPr>
        <p:spPr>
          <a:xfrm>
            <a:off x="8412480" y="2514600"/>
            <a:ext cx="2331720" cy="1298448"/>
          </a:xfrm>
          <a:prstGeom prst="rect">
            <a:avLst/>
          </a:prstGeom>
          <a:noFill/>
          <a:ln/>
        </p:spPr>
        <p:txBody>
          <a:bodyPr wrap="square" lIns="127" tIns="127" rIns="127" bIns="127" rtlCol="0" anchor="ctr">
            <a:normAutofit/>
          </a:bodyPr>
          <a:lstStyle/>
          <a:p>
            <a:pPr marL="0" indent="0">
              <a:buNone/>
            </a:pPr>
            <a:r>
              <a:rPr lang="en-US" sz="1150">
                <a:solidFill>
                  <a:srgbClr val="374151"/>
                </a:solidFill>
                <a:latin typeface="Aptos" pitchFamily="34" charset="0"/>
                <a:ea typeface="Aptos" pitchFamily="34" charset="-122"/>
                <a:cs typeface="Aptos" pitchFamily="34" charset="-120"/>
              </a:rPr>
              <a:t>A working Foundry project with a model deployment that can be tested in the playground.</a:t>
            </a:r>
            <a:endParaRPr lang="en-US" sz="1150"/>
          </a:p>
        </p:txBody>
      </p:sp>
      <p:sp>
        <p:nvSpPr>
          <p:cNvPr id="13" name="Shape 10"/>
          <p:cNvSpPr/>
          <p:nvPr/>
        </p:nvSpPr>
        <p:spPr>
          <a:xfrm>
            <a:off x="8412480" y="3977640"/>
            <a:ext cx="1920240" cy="64008"/>
          </a:xfrm>
          <a:prstGeom prst="rect">
            <a:avLst/>
          </a:prstGeom>
          <a:solidFill>
            <a:srgbClr val="08A9C9"/>
          </a:solidFill>
          <a:ln w="12700">
            <a:solidFill>
              <a:srgbClr val="08A9C9"/>
            </a:solidFill>
            <a:prstDash val="solid"/>
          </a:ln>
        </p:spPr>
        <p:txBody>
          <a:bodyPr/>
          <a:lstStyle/>
          <a:p>
            <a:endParaRPr lang="en-US"/>
          </a:p>
        </p:txBody>
      </p:sp>
      <p:sp>
        <p:nvSpPr>
          <p:cNvPr id="14" name="Text 11"/>
          <p:cNvSpPr/>
          <p:nvPr/>
        </p:nvSpPr>
        <p:spPr>
          <a:xfrm>
            <a:off x="8412480" y="4160520"/>
            <a:ext cx="1645920" cy="182880"/>
          </a:xfrm>
          <a:prstGeom prst="rect">
            <a:avLst/>
          </a:prstGeom>
          <a:noFill/>
          <a:ln/>
        </p:spPr>
        <p:txBody>
          <a:bodyPr wrap="square" lIns="0" tIns="0" rIns="0" bIns="0" rtlCol="0" anchor="ctr"/>
          <a:lstStyle/>
          <a:p>
            <a:pPr marL="0" indent="0">
              <a:buNone/>
            </a:pPr>
            <a:r>
              <a:rPr lang="en-US" sz="1070">
                <a:solidFill>
                  <a:srgbClr val="374151"/>
                </a:solidFill>
                <a:latin typeface="Aptos" pitchFamily="34" charset="0"/>
                <a:ea typeface="Aptos" pitchFamily="34" charset="-122"/>
                <a:cs typeface="Aptos" pitchFamily="34" charset="-120"/>
              </a:rPr>
              <a:t>Workspace: Azure</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 Lecture 13</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 Lecture 13</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Lab Task Flow</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The lab sequence follows the same operating path taught in the section.</a:t>
            </a:r>
            <a:endParaRPr lang="en-US" sz="1260" dirty="0"/>
          </a:p>
        </p:txBody>
      </p:sp>
      <p:sp>
        <p:nvSpPr>
          <p:cNvPr id="9" name="Shape 6"/>
          <p:cNvSpPr/>
          <p:nvPr/>
        </p:nvSpPr>
        <p:spPr>
          <a:xfrm>
            <a:off x="65836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10" name="Shape 7"/>
          <p:cNvSpPr/>
          <p:nvPr/>
        </p:nvSpPr>
        <p:spPr>
          <a:xfrm>
            <a:off x="82296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11" name="Text 8"/>
          <p:cNvSpPr/>
          <p:nvPr/>
        </p:nvSpPr>
        <p:spPr>
          <a:xfrm>
            <a:off x="873252" y="2276856"/>
            <a:ext cx="82296"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1</a:t>
            </a:r>
            <a:endParaRPr lang="en-US" sz="850" dirty="0"/>
          </a:p>
        </p:txBody>
      </p:sp>
      <p:sp>
        <p:nvSpPr>
          <p:cNvPr id="12" name="Text 9"/>
          <p:cNvSpPr/>
          <p:nvPr/>
        </p:nvSpPr>
        <p:spPr>
          <a:xfrm>
            <a:off x="115214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Create resource</a:t>
            </a:r>
            <a:endParaRPr lang="en-US" sz="1140" dirty="0"/>
          </a:p>
        </p:txBody>
      </p:sp>
      <p:sp>
        <p:nvSpPr>
          <p:cNvPr id="13" name="Text 10"/>
          <p:cNvSpPr/>
          <p:nvPr/>
        </p:nvSpPr>
        <p:spPr>
          <a:xfrm>
            <a:off x="84124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Provision the platform boundary.</a:t>
            </a:r>
            <a:endParaRPr lang="en-US" sz="930" dirty="0"/>
          </a:p>
        </p:txBody>
      </p:sp>
      <p:sp>
        <p:nvSpPr>
          <p:cNvPr id="14" name="Shape 11"/>
          <p:cNvSpPr/>
          <p:nvPr/>
        </p:nvSpPr>
        <p:spPr>
          <a:xfrm rot="5400000">
            <a:off x="2670048" y="2514600"/>
            <a:ext cx="228600" cy="228600"/>
          </a:xfrm>
          <a:prstGeom prst="triangle">
            <a:avLst/>
          </a:prstGeom>
          <a:solidFill>
            <a:srgbClr val="08A9C9"/>
          </a:solidFill>
          <a:ln w="12700">
            <a:solidFill>
              <a:srgbClr val="08A9C9"/>
            </a:solidFill>
            <a:prstDash val="solid"/>
          </a:ln>
        </p:spPr>
        <p:txBody>
          <a:bodyPr/>
          <a:lstStyle/>
          <a:p>
            <a:endParaRPr lang="en-US"/>
          </a:p>
        </p:txBody>
      </p:sp>
      <p:sp>
        <p:nvSpPr>
          <p:cNvPr id="15" name="Shape 12"/>
          <p:cNvSpPr/>
          <p:nvPr/>
        </p:nvSpPr>
        <p:spPr>
          <a:xfrm>
            <a:off x="280720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16" name="Shape 13"/>
          <p:cNvSpPr/>
          <p:nvPr/>
        </p:nvSpPr>
        <p:spPr>
          <a:xfrm>
            <a:off x="297180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17" name="Text 14"/>
          <p:cNvSpPr/>
          <p:nvPr/>
        </p:nvSpPr>
        <p:spPr>
          <a:xfrm>
            <a:off x="3022092" y="2276856"/>
            <a:ext cx="82296"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2</a:t>
            </a:r>
            <a:endParaRPr lang="en-US" sz="850" dirty="0"/>
          </a:p>
        </p:txBody>
      </p:sp>
      <p:sp>
        <p:nvSpPr>
          <p:cNvPr id="18" name="Text 15"/>
          <p:cNvSpPr/>
          <p:nvPr/>
        </p:nvSpPr>
        <p:spPr>
          <a:xfrm>
            <a:off x="330098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Create project</a:t>
            </a:r>
            <a:endParaRPr lang="en-US" sz="1140" dirty="0"/>
          </a:p>
        </p:txBody>
      </p:sp>
      <p:sp>
        <p:nvSpPr>
          <p:cNvPr id="19" name="Text 16"/>
          <p:cNvSpPr/>
          <p:nvPr/>
        </p:nvSpPr>
        <p:spPr>
          <a:xfrm>
            <a:off x="299008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Isolate the course scenario.</a:t>
            </a:r>
            <a:endParaRPr lang="en-US" sz="930" dirty="0"/>
          </a:p>
        </p:txBody>
      </p:sp>
      <p:sp>
        <p:nvSpPr>
          <p:cNvPr id="20" name="Shape 17"/>
          <p:cNvSpPr/>
          <p:nvPr/>
        </p:nvSpPr>
        <p:spPr>
          <a:xfrm rot="5400000">
            <a:off x="4818888" y="2514600"/>
            <a:ext cx="228600" cy="228600"/>
          </a:xfrm>
          <a:prstGeom prst="triangle">
            <a:avLst/>
          </a:prstGeom>
          <a:solidFill>
            <a:srgbClr val="08A9C9"/>
          </a:solidFill>
          <a:ln w="12700">
            <a:solidFill>
              <a:srgbClr val="08A9C9"/>
            </a:solidFill>
            <a:prstDash val="solid"/>
          </a:ln>
        </p:spPr>
        <p:txBody>
          <a:bodyPr/>
          <a:lstStyle/>
          <a:p>
            <a:endParaRPr lang="en-US"/>
          </a:p>
        </p:txBody>
      </p:sp>
      <p:sp>
        <p:nvSpPr>
          <p:cNvPr id="21" name="Shape 18"/>
          <p:cNvSpPr/>
          <p:nvPr/>
        </p:nvSpPr>
        <p:spPr>
          <a:xfrm>
            <a:off x="495604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22" name="Shape 19"/>
          <p:cNvSpPr/>
          <p:nvPr/>
        </p:nvSpPr>
        <p:spPr>
          <a:xfrm>
            <a:off x="512064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23" name="Text 20"/>
          <p:cNvSpPr/>
          <p:nvPr/>
        </p:nvSpPr>
        <p:spPr>
          <a:xfrm>
            <a:off x="5170932" y="2276856"/>
            <a:ext cx="82296"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3</a:t>
            </a:r>
            <a:endParaRPr lang="en-US" sz="850" dirty="0"/>
          </a:p>
        </p:txBody>
      </p:sp>
      <p:sp>
        <p:nvSpPr>
          <p:cNvPr id="24" name="Text 21"/>
          <p:cNvSpPr/>
          <p:nvPr/>
        </p:nvSpPr>
        <p:spPr>
          <a:xfrm>
            <a:off x="544982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Deploy model</a:t>
            </a:r>
            <a:endParaRPr lang="en-US" sz="1140" dirty="0"/>
          </a:p>
        </p:txBody>
      </p:sp>
      <p:sp>
        <p:nvSpPr>
          <p:cNvPr id="25" name="Text 22"/>
          <p:cNvSpPr/>
          <p:nvPr/>
        </p:nvSpPr>
        <p:spPr>
          <a:xfrm>
            <a:off x="513892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Select and deploy a suitable model.</a:t>
            </a:r>
            <a:endParaRPr lang="en-US" sz="930" dirty="0"/>
          </a:p>
        </p:txBody>
      </p:sp>
      <p:sp>
        <p:nvSpPr>
          <p:cNvPr id="26" name="Shape 23"/>
          <p:cNvSpPr/>
          <p:nvPr/>
        </p:nvSpPr>
        <p:spPr>
          <a:xfrm rot="5400000">
            <a:off x="6967728" y="2514600"/>
            <a:ext cx="228600" cy="228600"/>
          </a:xfrm>
          <a:prstGeom prst="triangle">
            <a:avLst/>
          </a:prstGeom>
          <a:solidFill>
            <a:srgbClr val="08A9C9"/>
          </a:solidFill>
          <a:ln w="12700">
            <a:solidFill>
              <a:srgbClr val="08A9C9"/>
            </a:solidFill>
            <a:prstDash val="solid"/>
          </a:ln>
        </p:spPr>
        <p:txBody>
          <a:bodyPr/>
          <a:lstStyle/>
          <a:p>
            <a:endParaRPr lang="en-US"/>
          </a:p>
        </p:txBody>
      </p:sp>
      <p:sp>
        <p:nvSpPr>
          <p:cNvPr id="27" name="Shape 24"/>
          <p:cNvSpPr/>
          <p:nvPr/>
        </p:nvSpPr>
        <p:spPr>
          <a:xfrm>
            <a:off x="710488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28" name="Shape 25"/>
          <p:cNvSpPr/>
          <p:nvPr/>
        </p:nvSpPr>
        <p:spPr>
          <a:xfrm>
            <a:off x="726948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29" name="Text 26"/>
          <p:cNvSpPr/>
          <p:nvPr/>
        </p:nvSpPr>
        <p:spPr>
          <a:xfrm>
            <a:off x="7319772" y="2276856"/>
            <a:ext cx="82296"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4</a:t>
            </a:r>
            <a:endParaRPr lang="en-US" sz="850" dirty="0"/>
          </a:p>
        </p:txBody>
      </p:sp>
      <p:sp>
        <p:nvSpPr>
          <p:cNvPr id="30" name="Text 27"/>
          <p:cNvSpPr/>
          <p:nvPr/>
        </p:nvSpPr>
        <p:spPr>
          <a:xfrm>
            <a:off x="759866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Test prompt</a:t>
            </a:r>
            <a:endParaRPr lang="en-US" sz="1140" dirty="0"/>
          </a:p>
        </p:txBody>
      </p:sp>
      <p:sp>
        <p:nvSpPr>
          <p:cNvPr id="31" name="Text 28"/>
          <p:cNvSpPr/>
          <p:nvPr/>
        </p:nvSpPr>
        <p:spPr>
          <a:xfrm>
            <a:off x="728776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Validate in the playground.</a:t>
            </a:r>
            <a:endParaRPr lang="en-US" sz="930" dirty="0"/>
          </a:p>
        </p:txBody>
      </p:sp>
      <p:sp>
        <p:nvSpPr>
          <p:cNvPr id="32" name="Shape 29"/>
          <p:cNvSpPr/>
          <p:nvPr/>
        </p:nvSpPr>
        <p:spPr>
          <a:xfrm rot="5400000">
            <a:off x="9116568" y="2514600"/>
            <a:ext cx="228600" cy="228600"/>
          </a:xfrm>
          <a:prstGeom prst="triangle">
            <a:avLst/>
          </a:prstGeom>
          <a:solidFill>
            <a:srgbClr val="08A9C9"/>
          </a:solidFill>
          <a:ln w="12700">
            <a:solidFill>
              <a:srgbClr val="08A9C9"/>
            </a:solidFill>
            <a:prstDash val="solid"/>
          </a:ln>
        </p:spPr>
        <p:txBody>
          <a:bodyPr/>
          <a:lstStyle/>
          <a:p>
            <a:endParaRPr lang="en-US"/>
          </a:p>
        </p:txBody>
      </p:sp>
      <p:sp>
        <p:nvSpPr>
          <p:cNvPr id="33" name="Shape 30"/>
          <p:cNvSpPr/>
          <p:nvPr/>
        </p:nvSpPr>
        <p:spPr>
          <a:xfrm>
            <a:off x="9253728" y="2103120"/>
            <a:ext cx="1965960" cy="1078992"/>
          </a:xfrm>
          <a:prstGeom prst="roundRect">
            <a:avLst>
              <a:gd name="adj" fmla="val 2542"/>
            </a:avLst>
          </a:prstGeom>
          <a:solidFill>
            <a:srgbClr val="FFFFFF"/>
          </a:solidFill>
          <a:ln w="13970">
            <a:solidFill>
              <a:srgbClr val="C9D5DA"/>
            </a:solidFill>
            <a:prstDash val="solid"/>
          </a:ln>
        </p:spPr>
        <p:txBody>
          <a:bodyPr/>
          <a:lstStyle/>
          <a:p>
            <a:endParaRPr lang="en-US"/>
          </a:p>
        </p:txBody>
      </p:sp>
      <p:sp>
        <p:nvSpPr>
          <p:cNvPr id="34" name="Shape 31"/>
          <p:cNvSpPr/>
          <p:nvPr/>
        </p:nvSpPr>
        <p:spPr>
          <a:xfrm>
            <a:off x="9418320" y="2258568"/>
            <a:ext cx="237744" cy="237744"/>
          </a:xfrm>
          <a:prstGeom prst="ellipse">
            <a:avLst/>
          </a:prstGeom>
          <a:solidFill>
            <a:srgbClr val="08A9C9"/>
          </a:solidFill>
          <a:ln w="12700">
            <a:solidFill>
              <a:srgbClr val="08A9C9"/>
            </a:solidFill>
            <a:prstDash val="solid"/>
          </a:ln>
        </p:spPr>
        <p:txBody>
          <a:bodyPr/>
          <a:lstStyle/>
          <a:p>
            <a:endParaRPr lang="en-US"/>
          </a:p>
        </p:txBody>
      </p:sp>
      <p:sp>
        <p:nvSpPr>
          <p:cNvPr id="35" name="Text 32"/>
          <p:cNvSpPr/>
          <p:nvPr/>
        </p:nvSpPr>
        <p:spPr>
          <a:xfrm>
            <a:off x="9468612" y="2276856"/>
            <a:ext cx="82296"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5</a:t>
            </a:r>
            <a:endParaRPr lang="en-US" sz="850" dirty="0"/>
          </a:p>
        </p:txBody>
      </p:sp>
      <p:sp>
        <p:nvSpPr>
          <p:cNvPr id="36" name="Text 33"/>
          <p:cNvSpPr/>
          <p:nvPr/>
        </p:nvSpPr>
        <p:spPr>
          <a:xfrm>
            <a:off x="9747504" y="2240280"/>
            <a:ext cx="1280160" cy="274320"/>
          </a:xfrm>
          <a:prstGeom prst="rect">
            <a:avLst/>
          </a:prstGeom>
          <a:noFill/>
          <a:ln/>
        </p:spPr>
        <p:txBody>
          <a:bodyPr wrap="square" lIns="127" tIns="127" rIns="127" bIns="127" rtlCol="0" anchor="ctr">
            <a:normAutofit/>
          </a:bodyPr>
          <a:lstStyle/>
          <a:p>
            <a:pPr marL="0" indent="0">
              <a:buNone/>
            </a:pPr>
            <a:r>
              <a:rPr lang="en-US" sz="1140" b="1" dirty="0">
                <a:solidFill>
                  <a:srgbClr val="1F2A37"/>
                </a:solidFill>
                <a:latin typeface="Aptos" pitchFamily="34" charset="0"/>
                <a:ea typeface="Aptos" pitchFamily="34" charset="-122"/>
                <a:cs typeface="Aptos" pitchFamily="34" charset="-120"/>
              </a:rPr>
              <a:t>Review controls</a:t>
            </a:r>
            <a:endParaRPr lang="en-US" sz="1140" dirty="0"/>
          </a:p>
        </p:txBody>
      </p:sp>
      <p:sp>
        <p:nvSpPr>
          <p:cNvPr id="37" name="Text 34"/>
          <p:cNvSpPr/>
          <p:nvPr/>
        </p:nvSpPr>
        <p:spPr>
          <a:xfrm>
            <a:off x="9436608" y="2633472"/>
            <a:ext cx="1600200" cy="329184"/>
          </a:xfrm>
          <a:prstGeom prst="rect">
            <a:avLst/>
          </a:prstGeom>
          <a:noFill/>
          <a:ln/>
        </p:spPr>
        <p:txBody>
          <a:bodyPr wrap="square" lIns="127" tIns="127" rIns="127" bIns="127" rtlCol="0" anchor="ctr">
            <a:normAutofit/>
          </a:bodyPr>
          <a:lstStyle/>
          <a:p>
            <a:pPr marL="0" indent="0" algn="ctr">
              <a:buNone/>
            </a:pPr>
            <a:r>
              <a:rPr lang="en-US" sz="930" dirty="0">
                <a:solidFill>
                  <a:srgbClr val="374151"/>
                </a:solidFill>
                <a:latin typeface="Aptos" pitchFamily="34" charset="0"/>
                <a:ea typeface="Aptos" pitchFamily="34" charset="-122"/>
                <a:cs typeface="Aptos" pitchFamily="34" charset="-120"/>
              </a:rPr>
              <a:t>Check identity, quota, and cost.</a:t>
            </a:r>
            <a:endParaRPr lang="en-US" sz="930" dirty="0"/>
          </a:p>
        </p:txBody>
      </p:sp>
      <p:sp>
        <p:nvSpPr>
          <p:cNvPr id="38" name="Shape 35"/>
          <p:cNvSpPr/>
          <p:nvPr/>
        </p:nvSpPr>
        <p:spPr>
          <a:xfrm>
            <a:off x="8887968" y="4526280"/>
            <a:ext cx="2103120" cy="960120"/>
          </a:xfrm>
          <a:prstGeom prst="roundRect">
            <a:avLst>
              <a:gd name="adj" fmla="val 2857"/>
            </a:avLst>
          </a:prstGeom>
          <a:solidFill>
            <a:srgbClr val="FFFFFF"/>
          </a:solidFill>
          <a:ln w="12700">
            <a:solidFill>
              <a:srgbClr val="C9D5DA"/>
            </a:solidFill>
            <a:prstDash val="solid"/>
          </a:ln>
        </p:spPr>
        <p:txBody>
          <a:bodyPr/>
          <a:lstStyle/>
          <a:p>
            <a:endParaRPr lang="en-US"/>
          </a:p>
        </p:txBody>
      </p:sp>
      <p:sp>
        <p:nvSpPr>
          <p:cNvPr id="39" name="Shape 36"/>
          <p:cNvSpPr/>
          <p:nvPr/>
        </p:nvSpPr>
        <p:spPr>
          <a:xfrm>
            <a:off x="9070848" y="4672584"/>
            <a:ext cx="164592" cy="164592"/>
          </a:xfrm>
          <a:prstGeom prst="ellipse">
            <a:avLst/>
          </a:prstGeom>
          <a:solidFill>
            <a:srgbClr val="08A9C9"/>
          </a:solidFill>
          <a:ln w="12700">
            <a:solidFill>
              <a:srgbClr val="08A9C9"/>
            </a:solidFill>
            <a:prstDash val="solid"/>
          </a:ln>
        </p:spPr>
        <p:txBody>
          <a:bodyPr/>
          <a:lstStyle/>
          <a:p>
            <a:endParaRPr lang="en-US"/>
          </a:p>
        </p:txBody>
      </p:sp>
      <p:sp>
        <p:nvSpPr>
          <p:cNvPr id="40" name="Text 37"/>
          <p:cNvSpPr/>
          <p:nvPr/>
        </p:nvSpPr>
        <p:spPr>
          <a:xfrm>
            <a:off x="9102852" y="4670755"/>
            <a:ext cx="73152" cy="73152"/>
          </a:xfrm>
          <a:prstGeom prst="rect">
            <a:avLst/>
          </a:prstGeom>
          <a:noFill/>
          <a:ln/>
        </p:spPr>
        <p:txBody>
          <a:bodyPr wrap="square" lIns="0" tIns="0" rIns="0" bIns="0" rtlCol="0" anchor="ctr"/>
          <a:lstStyle/>
          <a:p>
            <a:pPr marL="0" indent="0" algn="ctr">
              <a:buNone/>
            </a:pPr>
            <a:r>
              <a:rPr lang="en-US" sz="850" b="1" dirty="0">
                <a:solidFill>
                  <a:srgbClr val="FFFFFF"/>
                </a:solidFill>
                <a:latin typeface="Aptos" pitchFamily="34" charset="0"/>
                <a:ea typeface="Aptos" pitchFamily="34" charset="-122"/>
                <a:cs typeface="Aptos" pitchFamily="34" charset="-120"/>
              </a:rPr>
              <a:t>i</a:t>
            </a:r>
            <a:endParaRPr lang="en-US" sz="850" dirty="0"/>
          </a:p>
        </p:txBody>
      </p:sp>
      <p:sp>
        <p:nvSpPr>
          <p:cNvPr id="41" name="Text 38"/>
          <p:cNvSpPr/>
          <p:nvPr/>
        </p:nvSpPr>
        <p:spPr>
          <a:xfrm>
            <a:off x="9326880" y="4663440"/>
            <a:ext cx="1554480" cy="182880"/>
          </a:xfrm>
          <a:prstGeom prst="rect">
            <a:avLst/>
          </a:prstGeom>
          <a:noFill/>
          <a:ln/>
        </p:spPr>
        <p:txBody>
          <a:bodyPr wrap="square" lIns="0" tIns="0" rIns="0" bIns="0" rtlCol="0" anchor="ctr">
            <a:normAutofit/>
          </a:bodyPr>
          <a:lstStyle/>
          <a:p>
            <a:pPr marL="0" indent="0">
              <a:buNone/>
            </a:pPr>
            <a:r>
              <a:rPr lang="en-US" sz="1150" b="1" dirty="0">
                <a:solidFill>
                  <a:srgbClr val="1F2A37"/>
                </a:solidFill>
                <a:latin typeface="Aptos" pitchFamily="34" charset="0"/>
                <a:ea typeface="Aptos" pitchFamily="34" charset="-122"/>
                <a:cs typeface="Aptos" pitchFamily="34" charset="-120"/>
              </a:rPr>
              <a:t>Lab discipline</a:t>
            </a:r>
            <a:endParaRPr lang="en-US" sz="1150" dirty="0"/>
          </a:p>
        </p:txBody>
      </p:sp>
      <p:sp>
        <p:nvSpPr>
          <p:cNvPr id="42" name="Text 39"/>
          <p:cNvSpPr/>
          <p:nvPr/>
        </p:nvSpPr>
        <p:spPr>
          <a:xfrm>
            <a:off x="9162288" y="4965192"/>
            <a:ext cx="1600200" cy="384048"/>
          </a:xfrm>
          <a:prstGeom prst="rect">
            <a:avLst/>
          </a:prstGeom>
          <a:noFill/>
          <a:ln/>
        </p:spPr>
        <p:txBody>
          <a:bodyPr wrap="square" lIns="127" tIns="127" rIns="127" bIns="127" rtlCol="0" anchor="ctr">
            <a:normAutofit fontScale="92500"/>
          </a:bodyPr>
          <a:lstStyle/>
          <a:p>
            <a:pPr marL="0" indent="0">
              <a:buNone/>
            </a:pPr>
            <a:r>
              <a:rPr lang="en-US" sz="1070" dirty="0">
                <a:solidFill>
                  <a:srgbClr val="374151"/>
                </a:solidFill>
                <a:latin typeface="Aptos" pitchFamily="34" charset="0"/>
                <a:ea typeface="Aptos" pitchFamily="34" charset="-122"/>
                <a:cs typeface="Aptos" pitchFamily="34" charset="-120"/>
              </a:rPr>
              <a:t>Do not continue until the validation prompt succeeds.</a:t>
            </a:r>
            <a:endParaRPr lang="en-US" sz="107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13</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13</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Lab Validation Checklist</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Use validation checkpoints instead of assuming the lab worked.</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The project appears in the current Foundry portal.</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The model deployment is available and named clearly.</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 test prompt succeeds in the playground.</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Access is granted only to the expected identity or role.</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Quota and cost settings are visible before moving on.</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Lab outcome</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Learners should capture the deployment name and project details for later labs.</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a:solidFill>
                  <a:srgbClr val="1F2A37"/>
                </a:solidFill>
                <a:latin typeface="Aptos" pitchFamily="34" charset="0"/>
                <a:ea typeface="Aptos" pitchFamily="34" charset="-122"/>
                <a:cs typeface="Aptos" pitchFamily="34" charset="-120"/>
              </a:rPr>
              <a:t>Section 3 · Lecture 13</a:t>
            </a:r>
            <a:endParaRPr lang="en-US" sz="78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a:solidFill>
                  <a:srgbClr val="374151"/>
                </a:solidFill>
                <a:latin typeface="Aptos" pitchFamily="34" charset="0"/>
                <a:ea typeface="Aptos" pitchFamily="34" charset="-122"/>
                <a:cs typeface="Aptos" pitchFamily="34" charset="-120"/>
              </a:rPr>
              <a:t>Section 3 · Lecture 13</a:t>
            </a:r>
            <a:endParaRPr lang="en-US" sz="125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a:solidFill>
                  <a:srgbClr val="08A9C9"/>
                </a:solidFill>
                <a:latin typeface="Aptos Display" pitchFamily="34" charset="0"/>
                <a:ea typeface="Aptos Display" pitchFamily="34" charset="-122"/>
                <a:cs typeface="Aptos Display" pitchFamily="34" charset="-120"/>
              </a:rPr>
              <a:t>Cleanup and Troubleshooting</a:t>
            </a:r>
            <a:endParaRPr lang="en-US" sz="258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a:solidFill>
                  <a:srgbClr val="374151"/>
                </a:solidFill>
                <a:latin typeface="Aptos" pitchFamily="34" charset="0"/>
                <a:ea typeface="Aptos" pitchFamily="34" charset="-122"/>
                <a:cs typeface="Aptos" pitchFamily="34" charset="-120"/>
              </a:rPr>
              <a:t>A good lab also teaches learners how to avoid cost and configuration confusion.</a:t>
            </a:r>
            <a:endParaRPr lang="en-US" sz="1260"/>
          </a:p>
        </p:txBody>
      </p:sp>
      <p:sp>
        <p:nvSpPr>
          <p:cNvPr id="9" name="Text 6"/>
          <p:cNvSpPr/>
          <p:nvPr/>
        </p:nvSpPr>
        <p:spPr>
          <a:xfrm>
            <a:off x="749808" y="1984248"/>
            <a:ext cx="7132320" cy="3337560"/>
          </a:xfrm>
          <a:prstGeom prst="rect">
            <a:avLst/>
          </a:prstGeom>
          <a:noFill/>
          <a:ln/>
        </p:spPr>
        <p:txBody>
          <a:bodyPr wrap="square" lIns="254" tIns="254" rIns="254" bIns="254" rtlCol="0" anchor="t">
            <a:normAutofit/>
          </a:bodyPr>
          <a:lstStyle/>
          <a:p>
            <a:pPr marL="0" indent="0">
              <a:lnSpc>
                <a:spcPct val="150000"/>
              </a:lnSpc>
              <a:buNone/>
            </a:pPr>
            <a:r>
              <a:rPr lang="en-US" sz="2000" dirty="0">
                <a:solidFill>
                  <a:srgbClr val="374151"/>
                </a:solidFill>
                <a:latin typeface="Aptos" pitchFamily="34" charset="0"/>
                <a:ea typeface="Aptos" pitchFamily="34" charset="-122"/>
                <a:cs typeface="Aptos" pitchFamily="34" charset="-120"/>
              </a:rPr>
              <a:t>▸ Delete or stop resources when the lab environment requires cleanup.</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Confirm whether the Udemy workspace resets automatically.</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Use clear deployment names so troubleshooting is easier.</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If deployment fails, check region, quota, permissions, and model availability.</a:t>
            </a:r>
            <a:endParaRPr lang="en-US" sz="2000" dirty="0"/>
          </a:p>
          <a:p>
            <a:pPr marL="0" indent="0">
              <a:lnSpc>
                <a:spcPct val="150000"/>
              </a:lnSpc>
              <a:buNone/>
            </a:pPr>
            <a:r>
              <a:rPr lang="en-US" sz="2000" dirty="0">
                <a:solidFill>
                  <a:srgbClr val="374151"/>
                </a:solidFill>
                <a:latin typeface="Aptos" pitchFamily="34" charset="0"/>
                <a:ea typeface="Aptos" pitchFamily="34" charset="-122"/>
                <a:cs typeface="Aptos" pitchFamily="34" charset="-120"/>
              </a:rPr>
              <a:t>▸ Record unresolved issues before moving into the next section.</a:t>
            </a:r>
            <a:endParaRPr lang="en-US" sz="2000" dirty="0"/>
          </a:p>
        </p:txBody>
      </p:sp>
      <p:sp>
        <p:nvSpPr>
          <p:cNvPr id="10" name="Shape 7"/>
          <p:cNvSpPr/>
          <p:nvPr/>
        </p:nvSpPr>
        <p:spPr>
          <a:xfrm>
            <a:off x="8869680" y="1874520"/>
            <a:ext cx="2057400" cy="1234440"/>
          </a:xfrm>
          <a:prstGeom prst="roundRect">
            <a:avLst>
              <a:gd name="adj" fmla="val 2222"/>
            </a:avLst>
          </a:prstGeom>
          <a:solidFill>
            <a:srgbClr val="FFFFFF"/>
          </a:solidFill>
          <a:ln w="12700">
            <a:solidFill>
              <a:srgbClr val="C9D5DA"/>
            </a:solidFill>
            <a:prstDash val="solid"/>
          </a:ln>
        </p:spPr>
        <p:txBody>
          <a:bodyPr/>
          <a:lstStyle/>
          <a:p>
            <a:endParaRPr lang="en-US"/>
          </a:p>
        </p:txBody>
      </p:sp>
      <p:sp>
        <p:nvSpPr>
          <p:cNvPr id="11" name="Shape 8"/>
          <p:cNvSpPr/>
          <p:nvPr/>
        </p:nvSpPr>
        <p:spPr>
          <a:xfrm>
            <a:off x="9052560" y="2020824"/>
            <a:ext cx="164592" cy="164592"/>
          </a:xfrm>
          <a:prstGeom prst="ellipse">
            <a:avLst/>
          </a:prstGeom>
          <a:solidFill>
            <a:srgbClr val="08A9C9"/>
          </a:solidFill>
          <a:ln w="12700">
            <a:solidFill>
              <a:srgbClr val="08A9C9"/>
            </a:solidFill>
            <a:prstDash val="solid"/>
          </a:ln>
        </p:spPr>
        <p:txBody>
          <a:bodyPr/>
          <a:lstStyle/>
          <a:p>
            <a:endParaRPr lang="en-US"/>
          </a:p>
        </p:txBody>
      </p:sp>
      <p:sp>
        <p:nvSpPr>
          <p:cNvPr id="12" name="Text 9"/>
          <p:cNvSpPr/>
          <p:nvPr/>
        </p:nvSpPr>
        <p:spPr>
          <a:xfrm>
            <a:off x="9084564" y="2018995"/>
            <a:ext cx="73152" cy="73152"/>
          </a:xfrm>
          <a:prstGeom prst="rect">
            <a:avLst/>
          </a:prstGeom>
          <a:noFill/>
          <a:ln/>
        </p:spPr>
        <p:txBody>
          <a:bodyPr wrap="square" lIns="0" tIns="0" rIns="0" bIns="0" rtlCol="0" anchor="ctr"/>
          <a:lstStyle/>
          <a:p>
            <a:pPr marL="0" indent="0" algn="ctr">
              <a:buNone/>
            </a:pPr>
            <a:r>
              <a:rPr lang="en-US" sz="850" b="1">
                <a:solidFill>
                  <a:srgbClr val="FFFFFF"/>
                </a:solidFill>
                <a:latin typeface="Aptos" pitchFamily="34" charset="0"/>
                <a:ea typeface="Aptos" pitchFamily="34" charset="-122"/>
                <a:cs typeface="Aptos" pitchFamily="34" charset="-120"/>
              </a:rPr>
              <a:t>i</a:t>
            </a:r>
            <a:endParaRPr lang="en-US" sz="850"/>
          </a:p>
        </p:txBody>
      </p:sp>
      <p:sp>
        <p:nvSpPr>
          <p:cNvPr id="13" name="Text 10"/>
          <p:cNvSpPr/>
          <p:nvPr/>
        </p:nvSpPr>
        <p:spPr>
          <a:xfrm>
            <a:off x="9308592" y="2011680"/>
            <a:ext cx="1508760" cy="182880"/>
          </a:xfrm>
          <a:prstGeom prst="rect">
            <a:avLst/>
          </a:prstGeom>
          <a:noFill/>
          <a:ln/>
        </p:spPr>
        <p:txBody>
          <a:bodyPr wrap="square" lIns="0" tIns="0" rIns="0" bIns="0" rtlCol="0" anchor="ctr">
            <a:normAutofit/>
          </a:bodyPr>
          <a:lstStyle/>
          <a:p>
            <a:pPr marL="0" indent="0">
              <a:buNone/>
            </a:pPr>
            <a:r>
              <a:rPr lang="en-US" sz="1150" b="1">
                <a:solidFill>
                  <a:srgbClr val="1F2A37"/>
                </a:solidFill>
                <a:latin typeface="Aptos" pitchFamily="34" charset="0"/>
                <a:ea typeface="Aptos" pitchFamily="34" charset="-122"/>
                <a:cs typeface="Aptos" pitchFamily="34" charset="-120"/>
              </a:rPr>
              <a:t>Lab habit</a:t>
            </a:r>
            <a:endParaRPr lang="en-US" sz="1150"/>
          </a:p>
        </p:txBody>
      </p:sp>
      <p:sp>
        <p:nvSpPr>
          <p:cNvPr id="14" name="Text 11"/>
          <p:cNvSpPr/>
          <p:nvPr/>
        </p:nvSpPr>
        <p:spPr>
          <a:xfrm>
            <a:off x="9144000" y="2313432"/>
            <a:ext cx="1554480" cy="658368"/>
          </a:xfrm>
          <a:prstGeom prst="rect">
            <a:avLst/>
          </a:prstGeom>
          <a:noFill/>
          <a:ln/>
        </p:spPr>
        <p:txBody>
          <a:bodyPr wrap="square" lIns="127" tIns="127" rIns="127" bIns="127" rtlCol="0" anchor="ctr">
            <a:normAutofit/>
          </a:bodyPr>
          <a:lstStyle/>
          <a:p>
            <a:pPr marL="0" indent="0">
              <a:buNone/>
            </a:pPr>
            <a:r>
              <a:rPr lang="en-US" sz="1070">
                <a:solidFill>
                  <a:srgbClr val="374151"/>
                </a:solidFill>
                <a:latin typeface="Aptos" pitchFamily="34" charset="0"/>
                <a:ea typeface="Aptos" pitchFamily="34" charset="-122"/>
                <a:cs typeface="Aptos" pitchFamily="34" charset="-120"/>
              </a:rPr>
              <a:t>Cleanup is part of the learning outcome, not an afterthought.</a:t>
            </a:r>
            <a:endParaRPr lang="en-US" sz="107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fade">
                                      <p:cBhvr>
                                        <p:cTn id="35" dur="500"/>
                                        <p:tgtEl>
                                          <p:spTgt spid="1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fade">
                                      <p:cBhvr>
                                        <p:cTn id="41" dur="500"/>
                                        <p:tgtEl>
                                          <p:spTgt spid="1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7F8"/>
        </a:solid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8A9C9"/>
          </a:solidFill>
          <a:ln w="12700">
            <a:solidFill>
              <a:srgbClr val="08A9C9"/>
            </a:solidFill>
            <a:prstDash val="solid"/>
          </a:ln>
        </p:spPr>
        <p:txBody>
          <a:bodyPr/>
          <a:lstStyle/>
          <a:p>
            <a:endParaRPr lang="en-US"/>
          </a:p>
        </p:txBody>
      </p:sp>
      <p:sp>
        <p:nvSpPr>
          <p:cNvPr id="3" name="Shape 1"/>
          <p:cNvSpPr/>
          <p:nvPr/>
        </p:nvSpPr>
        <p:spPr>
          <a:xfrm>
            <a:off x="11850624" y="6492240"/>
            <a:ext cx="292608" cy="292608"/>
          </a:xfrm>
          <a:prstGeom prst="rtTriangle">
            <a:avLst/>
          </a:prstGeom>
          <a:solidFill>
            <a:srgbClr val="08A9C9"/>
          </a:solidFill>
          <a:ln w="12700">
            <a:solidFill>
              <a:srgbClr val="08A9C9"/>
            </a:solidFill>
            <a:prstDash val="solid"/>
          </a:ln>
        </p:spPr>
        <p:txBody>
          <a:bodyPr/>
          <a:lstStyle/>
          <a:p>
            <a:endParaRPr lang="en-US"/>
          </a:p>
        </p:txBody>
      </p:sp>
      <p:sp>
        <p:nvSpPr>
          <p:cNvPr id="4" name="Text 2"/>
          <p:cNvSpPr/>
          <p:nvPr/>
        </p:nvSpPr>
        <p:spPr>
          <a:xfrm>
            <a:off x="502920" y="6455664"/>
            <a:ext cx="2926080" cy="164592"/>
          </a:xfrm>
          <a:prstGeom prst="rect">
            <a:avLst/>
          </a:prstGeom>
          <a:noFill/>
          <a:ln/>
        </p:spPr>
        <p:txBody>
          <a:bodyPr wrap="square" lIns="0" tIns="0" rIns="0" bIns="0" rtlCol="0" anchor="ctr"/>
          <a:lstStyle/>
          <a:p>
            <a:pPr marL="0" indent="0">
              <a:buNone/>
            </a:pPr>
            <a:r>
              <a:rPr lang="en-US" sz="780" dirty="0">
                <a:solidFill>
                  <a:srgbClr val="1F2A37"/>
                </a:solidFill>
                <a:latin typeface="Aptos" pitchFamily="34" charset="0"/>
                <a:ea typeface="Aptos" pitchFamily="34" charset="-122"/>
                <a:cs typeface="Aptos" pitchFamily="34" charset="-120"/>
              </a:rPr>
              <a:t>Section 3 Review</a:t>
            </a:r>
            <a:endParaRPr lang="en-US" sz="780" dirty="0"/>
          </a:p>
        </p:txBody>
      </p:sp>
      <p:sp>
        <p:nvSpPr>
          <p:cNvPr id="6" name="Text 3"/>
          <p:cNvSpPr/>
          <p:nvPr/>
        </p:nvSpPr>
        <p:spPr>
          <a:xfrm>
            <a:off x="502920" y="411480"/>
            <a:ext cx="2926080" cy="210312"/>
          </a:xfrm>
          <a:prstGeom prst="rect">
            <a:avLst/>
          </a:prstGeom>
          <a:noFill/>
          <a:ln/>
        </p:spPr>
        <p:txBody>
          <a:bodyPr wrap="square" lIns="0" tIns="0" rIns="0" bIns="0" rtlCol="0" anchor="ctr"/>
          <a:lstStyle/>
          <a:p>
            <a:pPr marL="0" indent="0">
              <a:buNone/>
            </a:pPr>
            <a:r>
              <a:rPr lang="en-US" sz="1250" dirty="0">
                <a:solidFill>
                  <a:srgbClr val="374151"/>
                </a:solidFill>
                <a:latin typeface="Aptos" pitchFamily="34" charset="0"/>
                <a:ea typeface="Aptos" pitchFamily="34" charset="-122"/>
                <a:cs typeface="Aptos" pitchFamily="34" charset="-120"/>
              </a:rPr>
              <a:t>Section 3 Review</a:t>
            </a:r>
            <a:endParaRPr lang="en-US" sz="1250" dirty="0"/>
          </a:p>
        </p:txBody>
      </p:sp>
      <p:sp>
        <p:nvSpPr>
          <p:cNvPr id="7" name="Text 4"/>
          <p:cNvSpPr/>
          <p:nvPr/>
        </p:nvSpPr>
        <p:spPr>
          <a:xfrm>
            <a:off x="502920" y="749808"/>
            <a:ext cx="7772400" cy="365760"/>
          </a:xfrm>
          <a:prstGeom prst="rect">
            <a:avLst/>
          </a:prstGeom>
          <a:noFill/>
          <a:ln/>
        </p:spPr>
        <p:txBody>
          <a:bodyPr wrap="square" lIns="0" tIns="0" rIns="0" bIns="0" rtlCol="0" anchor="ctr"/>
          <a:lstStyle/>
          <a:p>
            <a:pPr marL="0" indent="0">
              <a:buNone/>
            </a:pPr>
            <a:r>
              <a:rPr lang="en-US" sz="2580" dirty="0">
                <a:solidFill>
                  <a:srgbClr val="08A9C9"/>
                </a:solidFill>
                <a:latin typeface="Aptos Display" pitchFamily="34" charset="0"/>
                <a:ea typeface="Aptos Display" pitchFamily="34" charset="-122"/>
                <a:cs typeface="Aptos Display" pitchFamily="34" charset="-120"/>
              </a:rPr>
              <a:t>Section 3 — Key Takeaways</a:t>
            </a:r>
            <a:endParaRPr lang="en-US" sz="2580" dirty="0"/>
          </a:p>
        </p:txBody>
      </p:sp>
      <p:sp>
        <p:nvSpPr>
          <p:cNvPr id="8" name="Text 5"/>
          <p:cNvSpPr/>
          <p:nvPr/>
        </p:nvSpPr>
        <p:spPr>
          <a:xfrm>
            <a:off x="502920" y="1243584"/>
            <a:ext cx="8321040" cy="329184"/>
          </a:xfrm>
          <a:prstGeom prst="rect">
            <a:avLst/>
          </a:prstGeom>
          <a:noFill/>
          <a:ln/>
        </p:spPr>
        <p:txBody>
          <a:bodyPr wrap="square" lIns="254" tIns="254" rIns="254" bIns="254" rtlCol="0" anchor="ctr">
            <a:normAutofit/>
          </a:bodyPr>
          <a:lstStyle/>
          <a:p>
            <a:pPr marL="0" indent="0">
              <a:buNone/>
            </a:pPr>
            <a:r>
              <a:rPr lang="en-US" sz="1260" dirty="0">
                <a:solidFill>
                  <a:srgbClr val="374151"/>
                </a:solidFill>
                <a:latin typeface="Aptos" pitchFamily="34" charset="0"/>
                <a:ea typeface="Aptos" pitchFamily="34" charset="-122"/>
                <a:cs typeface="Aptos" pitchFamily="34" charset="-120"/>
              </a:rPr>
              <a:t>Use these points to transition from core environment setup into governed agent creation.</a:t>
            </a:r>
            <a:endParaRPr lang="en-US" sz="1260" dirty="0"/>
          </a:p>
        </p:txBody>
      </p:sp>
      <p:sp>
        <p:nvSpPr>
          <p:cNvPr id="9" name="Shape 6"/>
          <p:cNvSpPr/>
          <p:nvPr/>
        </p:nvSpPr>
        <p:spPr>
          <a:xfrm>
            <a:off x="777240" y="1874520"/>
            <a:ext cx="2423160" cy="960120"/>
          </a:xfrm>
          <a:prstGeom prst="roundRect">
            <a:avLst>
              <a:gd name="adj" fmla="val 2857"/>
            </a:avLst>
          </a:prstGeom>
          <a:solidFill>
            <a:srgbClr val="FFFFFF"/>
          </a:solidFill>
          <a:ln w="12700">
            <a:solidFill>
              <a:srgbClr val="C9D5DA"/>
            </a:solidFill>
            <a:prstDash val="solid"/>
          </a:ln>
        </p:spPr>
        <p:txBody>
          <a:bodyPr/>
          <a:lstStyle/>
          <a:p>
            <a:endParaRPr lang="en-US"/>
          </a:p>
        </p:txBody>
      </p:sp>
      <p:sp>
        <p:nvSpPr>
          <p:cNvPr id="10" name="Text 7"/>
          <p:cNvSpPr/>
          <p:nvPr/>
        </p:nvSpPr>
        <p:spPr>
          <a:xfrm>
            <a:off x="941832" y="2011680"/>
            <a:ext cx="2057400" cy="164592"/>
          </a:xfrm>
          <a:prstGeom prst="rect">
            <a:avLst/>
          </a:prstGeom>
          <a:noFill/>
          <a:ln/>
        </p:spPr>
        <p:txBody>
          <a:bodyPr wrap="square" lIns="0" tIns="0" rIns="0" bIns="0" rtlCol="0" anchor="ctr"/>
          <a:lstStyle/>
          <a:p>
            <a:pPr marL="0" indent="0">
              <a:buNone/>
            </a:pPr>
            <a:r>
              <a:rPr lang="en-US" sz="1180" b="1" dirty="0">
                <a:solidFill>
                  <a:srgbClr val="1F2A37"/>
                </a:solidFill>
                <a:latin typeface="Aptos" pitchFamily="34" charset="0"/>
                <a:ea typeface="Aptos" pitchFamily="34" charset="-122"/>
                <a:cs typeface="Aptos" pitchFamily="34" charset="-120"/>
              </a:rPr>
              <a:t>Takeaway 1</a:t>
            </a:r>
            <a:endParaRPr lang="en-US" sz="1180" dirty="0"/>
          </a:p>
        </p:txBody>
      </p:sp>
      <p:sp>
        <p:nvSpPr>
          <p:cNvPr id="11" name="Text 8"/>
          <p:cNvSpPr/>
          <p:nvPr/>
        </p:nvSpPr>
        <p:spPr>
          <a:xfrm>
            <a:off x="941832" y="2267712"/>
            <a:ext cx="2057400" cy="384048"/>
          </a:xfrm>
          <a:prstGeom prst="rect">
            <a:avLst/>
          </a:prstGeom>
          <a:noFill/>
          <a:ln/>
        </p:spPr>
        <p:txBody>
          <a:bodyPr wrap="square" lIns="127" tIns="127" rIns="127" bIns="127" rtlCol="0" anchor="ctr">
            <a:normAutofit fontScale="92500" lnSpcReduction="10000"/>
          </a:bodyPr>
          <a:lstStyle/>
          <a:p>
            <a:pPr marL="0" indent="0">
              <a:buNone/>
            </a:pPr>
            <a:r>
              <a:rPr lang="en-US" sz="980" dirty="0">
                <a:solidFill>
                  <a:srgbClr val="374151"/>
                </a:solidFill>
                <a:latin typeface="Aptos" pitchFamily="34" charset="0"/>
                <a:ea typeface="Aptos" pitchFamily="34" charset="-122"/>
                <a:cs typeface="Aptos" pitchFamily="34" charset="-120"/>
              </a:rPr>
              <a:t>Foundry resources and projects define ownership, isolation, governance, and release boundaries.</a:t>
            </a:r>
            <a:endParaRPr lang="en-US" sz="980" dirty="0"/>
          </a:p>
        </p:txBody>
      </p:sp>
      <p:sp>
        <p:nvSpPr>
          <p:cNvPr id="12" name="Shape 9"/>
          <p:cNvSpPr/>
          <p:nvPr/>
        </p:nvSpPr>
        <p:spPr>
          <a:xfrm>
            <a:off x="3611880" y="1874520"/>
            <a:ext cx="2423160" cy="960120"/>
          </a:xfrm>
          <a:prstGeom prst="roundRect">
            <a:avLst>
              <a:gd name="adj" fmla="val 2857"/>
            </a:avLst>
          </a:prstGeom>
          <a:solidFill>
            <a:srgbClr val="FFFFFF"/>
          </a:solidFill>
          <a:ln w="12700">
            <a:solidFill>
              <a:srgbClr val="C9D5DA"/>
            </a:solidFill>
            <a:prstDash val="solid"/>
          </a:ln>
        </p:spPr>
        <p:txBody>
          <a:bodyPr/>
          <a:lstStyle/>
          <a:p>
            <a:endParaRPr lang="en-US"/>
          </a:p>
        </p:txBody>
      </p:sp>
      <p:sp>
        <p:nvSpPr>
          <p:cNvPr id="13" name="Text 10"/>
          <p:cNvSpPr/>
          <p:nvPr/>
        </p:nvSpPr>
        <p:spPr>
          <a:xfrm>
            <a:off x="3776472" y="2011680"/>
            <a:ext cx="2057400" cy="164592"/>
          </a:xfrm>
          <a:prstGeom prst="rect">
            <a:avLst/>
          </a:prstGeom>
          <a:noFill/>
          <a:ln/>
        </p:spPr>
        <p:txBody>
          <a:bodyPr wrap="square" lIns="0" tIns="0" rIns="0" bIns="0" rtlCol="0" anchor="ctr"/>
          <a:lstStyle/>
          <a:p>
            <a:pPr marL="0" indent="0">
              <a:buNone/>
            </a:pPr>
            <a:r>
              <a:rPr lang="en-US" sz="1180" b="1" dirty="0">
                <a:solidFill>
                  <a:srgbClr val="1F2A37"/>
                </a:solidFill>
                <a:latin typeface="Aptos" pitchFamily="34" charset="0"/>
                <a:ea typeface="Aptos" pitchFamily="34" charset="-122"/>
                <a:cs typeface="Aptos" pitchFamily="34" charset="-120"/>
              </a:rPr>
              <a:t>Takeaway 2</a:t>
            </a:r>
            <a:endParaRPr lang="en-US" sz="1180" dirty="0"/>
          </a:p>
        </p:txBody>
      </p:sp>
      <p:sp>
        <p:nvSpPr>
          <p:cNvPr id="14" name="Text 11"/>
          <p:cNvSpPr/>
          <p:nvPr/>
        </p:nvSpPr>
        <p:spPr>
          <a:xfrm>
            <a:off x="3776472" y="2267712"/>
            <a:ext cx="2057400" cy="384048"/>
          </a:xfrm>
          <a:prstGeom prst="rect">
            <a:avLst/>
          </a:prstGeom>
          <a:noFill/>
          <a:ln/>
        </p:spPr>
        <p:txBody>
          <a:bodyPr wrap="square" lIns="127" tIns="127" rIns="127" bIns="127" rtlCol="0" anchor="ctr">
            <a:normAutofit fontScale="92500" lnSpcReduction="10000"/>
          </a:bodyPr>
          <a:lstStyle/>
          <a:p>
            <a:pPr marL="0" indent="0">
              <a:buNone/>
            </a:pPr>
            <a:r>
              <a:rPr lang="en-US" sz="980" dirty="0">
                <a:solidFill>
                  <a:srgbClr val="374151"/>
                </a:solidFill>
                <a:latin typeface="Aptos" pitchFamily="34" charset="0"/>
                <a:ea typeface="Aptos" pitchFamily="34" charset="-122"/>
                <a:cs typeface="Aptos" pitchFamily="34" charset="-120"/>
              </a:rPr>
              <a:t>Model selection must consider capability, region, quota, latency, cost, and lifecycle risk.</a:t>
            </a:r>
            <a:endParaRPr lang="en-US" sz="980" dirty="0"/>
          </a:p>
        </p:txBody>
      </p:sp>
      <p:sp>
        <p:nvSpPr>
          <p:cNvPr id="15" name="Shape 12"/>
          <p:cNvSpPr/>
          <p:nvPr/>
        </p:nvSpPr>
        <p:spPr>
          <a:xfrm>
            <a:off x="777240" y="3429000"/>
            <a:ext cx="2423160" cy="960120"/>
          </a:xfrm>
          <a:prstGeom prst="roundRect">
            <a:avLst>
              <a:gd name="adj" fmla="val 2857"/>
            </a:avLst>
          </a:prstGeom>
          <a:solidFill>
            <a:srgbClr val="FFFFFF"/>
          </a:solidFill>
          <a:ln w="12700">
            <a:solidFill>
              <a:srgbClr val="C9D5DA"/>
            </a:solidFill>
            <a:prstDash val="solid"/>
          </a:ln>
        </p:spPr>
        <p:txBody>
          <a:bodyPr/>
          <a:lstStyle/>
          <a:p>
            <a:endParaRPr lang="en-US"/>
          </a:p>
        </p:txBody>
      </p:sp>
      <p:sp>
        <p:nvSpPr>
          <p:cNvPr id="16" name="Text 13"/>
          <p:cNvSpPr/>
          <p:nvPr/>
        </p:nvSpPr>
        <p:spPr>
          <a:xfrm>
            <a:off x="941832" y="3566160"/>
            <a:ext cx="2057400" cy="164592"/>
          </a:xfrm>
          <a:prstGeom prst="rect">
            <a:avLst/>
          </a:prstGeom>
          <a:noFill/>
          <a:ln/>
        </p:spPr>
        <p:txBody>
          <a:bodyPr wrap="square" lIns="0" tIns="0" rIns="0" bIns="0" rtlCol="0" anchor="ctr"/>
          <a:lstStyle/>
          <a:p>
            <a:pPr marL="0" indent="0">
              <a:buNone/>
            </a:pPr>
            <a:r>
              <a:rPr lang="en-US" sz="1180" b="1" dirty="0">
                <a:solidFill>
                  <a:srgbClr val="1F2A37"/>
                </a:solidFill>
                <a:latin typeface="Aptos" pitchFamily="34" charset="0"/>
                <a:ea typeface="Aptos" pitchFamily="34" charset="-122"/>
                <a:cs typeface="Aptos" pitchFamily="34" charset="-120"/>
              </a:rPr>
              <a:t>Takeaway 3</a:t>
            </a:r>
            <a:endParaRPr lang="en-US" sz="1180" dirty="0"/>
          </a:p>
        </p:txBody>
      </p:sp>
      <p:sp>
        <p:nvSpPr>
          <p:cNvPr id="17" name="Text 14"/>
          <p:cNvSpPr/>
          <p:nvPr/>
        </p:nvSpPr>
        <p:spPr>
          <a:xfrm>
            <a:off x="941832" y="3822192"/>
            <a:ext cx="2057400" cy="384048"/>
          </a:xfrm>
          <a:prstGeom prst="rect">
            <a:avLst/>
          </a:prstGeom>
          <a:noFill/>
          <a:ln/>
        </p:spPr>
        <p:txBody>
          <a:bodyPr wrap="square" lIns="127" tIns="127" rIns="127" bIns="127" rtlCol="0" anchor="ctr">
            <a:normAutofit fontScale="92500" lnSpcReduction="10000"/>
          </a:bodyPr>
          <a:lstStyle/>
          <a:p>
            <a:pPr marL="0" indent="0">
              <a:buNone/>
            </a:pPr>
            <a:r>
              <a:rPr lang="en-US" sz="980" dirty="0">
                <a:solidFill>
                  <a:srgbClr val="374151"/>
                </a:solidFill>
                <a:latin typeface="Aptos" pitchFamily="34" charset="0"/>
                <a:ea typeface="Aptos" pitchFamily="34" charset="-122"/>
                <a:cs typeface="Aptos" pitchFamily="34" charset="-120"/>
              </a:rPr>
              <a:t>Deployments, quotas, and budgets are operational controls, not administrative afterthoughts.</a:t>
            </a:r>
            <a:endParaRPr lang="en-US" sz="980" dirty="0"/>
          </a:p>
        </p:txBody>
      </p:sp>
      <p:sp>
        <p:nvSpPr>
          <p:cNvPr id="18" name="Shape 15"/>
          <p:cNvSpPr/>
          <p:nvPr/>
        </p:nvSpPr>
        <p:spPr>
          <a:xfrm>
            <a:off x="3611880" y="3429000"/>
            <a:ext cx="2423160" cy="960120"/>
          </a:xfrm>
          <a:prstGeom prst="roundRect">
            <a:avLst>
              <a:gd name="adj" fmla="val 2857"/>
            </a:avLst>
          </a:prstGeom>
          <a:solidFill>
            <a:srgbClr val="FFFFFF"/>
          </a:solidFill>
          <a:ln w="12700">
            <a:solidFill>
              <a:srgbClr val="C9D5DA"/>
            </a:solidFill>
            <a:prstDash val="solid"/>
          </a:ln>
        </p:spPr>
        <p:txBody>
          <a:bodyPr/>
          <a:lstStyle/>
          <a:p>
            <a:endParaRPr lang="en-US"/>
          </a:p>
        </p:txBody>
      </p:sp>
      <p:sp>
        <p:nvSpPr>
          <p:cNvPr id="19" name="Text 16"/>
          <p:cNvSpPr/>
          <p:nvPr/>
        </p:nvSpPr>
        <p:spPr>
          <a:xfrm>
            <a:off x="3776472" y="3566160"/>
            <a:ext cx="2057400" cy="164592"/>
          </a:xfrm>
          <a:prstGeom prst="rect">
            <a:avLst/>
          </a:prstGeom>
          <a:noFill/>
          <a:ln/>
        </p:spPr>
        <p:txBody>
          <a:bodyPr wrap="square" lIns="0" tIns="0" rIns="0" bIns="0" rtlCol="0" anchor="ctr"/>
          <a:lstStyle/>
          <a:p>
            <a:pPr marL="0" indent="0">
              <a:buNone/>
            </a:pPr>
            <a:r>
              <a:rPr lang="en-US" sz="1180" b="1" dirty="0">
                <a:solidFill>
                  <a:srgbClr val="1F2A37"/>
                </a:solidFill>
                <a:latin typeface="Aptos" pitchFamily="34" charset="0"/>
                <a:ea typeface="Aptos" pitchFamily="34" charset="-122"/>
                <a:cs typeface="Aptos" pitchFamily="34" charset="-120"/>
              </a:rPr>
              <a:t>Takeaway 4</a:t>
            </a:r>
            <a:endParaRPr lang="en-US" sz="1180" dirty="0"/>
          </a:p>
        </p:txBody>
      </p:sp>
      <p:sp>
        <p:nvSpPr>
          <p:cNvPr id="20" name="Text 17"/>
          <p:cNvSpPr/>
          <p:nvPr/>
        </p:nvSpPr>
        <p:spPr>
          <a:xfrm>
            <a:off x="3776472" y="3822192"/>
            <a:ext cx="2057400" cy="384048"/>
          </a:xfrm>
          <a:prstGeom prst="rect">
            <a:avLst/>
          </a:prstGeom>
          <a:noFill/>
          <a:ln/>
        </p:spPr>
        <p:txBody>
          <a:bodyPr wrap="square" lIns="127" tIns="127" rIns="127" bIns="127" rtlCol="0" anchor="ctr">
            <a:normAutofit fontScale="92500" lnSpcReduction="10000"/>
          </a:bodyPr>
          <a:lstStyle/>
          <a:p>
            <a:pPr marL="0" indent="0">
              <a:buNone/>
            </a:pPr>
            <a:r>
              <a:rPr lang="en-US" sz="980" dirty="0">
                <a:solidFill>
                  <a:srgbClr val="374151"/>
                </a:solidFill>
                <a:latin typeface="Aptos" pitchFamily="34" charset="0"/>
                <a:ea typeface="Aptos" pitchFamily="34" charset="-122"/>
                <a:cs typeface="Aptos" pitchFamily="34" charset="-120"/>
              </a:rPr>
              <a:t>Identity-first security with Entra ID and least privilege should be reviewed before agent capabilities are exposed.</a:t>
            </a:r>
            <a:endParaRPr lang="en-US" sz="980" dirty="0"/>
          </a:p>
        </p:txBody>
      </p:sp>
      <p:sp>
        <p:nvSpPr>
          <p:cNvPr id="21" name="Shape 18"/>
          <p:cNvSpPr/>
          <p:nvPr/>
        </p:nvSpPr>
        <p:spPr>
          <a:xfrm>
            <a:off x="7086600" y="2834640"/>
            <a:ext cx="3154680" cy="731520"/>
          </a:xfrm>
          <a:prstGeom prst="chevron">
            <a:avLst/>
          </a:prstGeom>
          <a:solidFill>
            <a:srgbClr val="08A9C9"/>
          </a:solidFill>
          <a:ln w="12700">
            <a:solidFill>
              <a:srgbClr val="08A9C9"/>
            </a:solidFill>
            <a:prstDash val="solid"/>
          </a:ln>
        </p:spPr>
        <p:txBody>
          <a:bodyPr/>
          <a:lstStyle/>
          <a:p>
            <a:endParaRPr lang="en-US"/>
          </a:p>
        </p:txBody>
      </p:sp>
      <p:sp>
        <p:nvSpPr>
          <p:cNvPr id="22" name="Text 19"/>
          <p:cNvSpPr/>
          <p:nvPr/>
        </p:nvSpPr>
        <p:spPr>
          <a:xfrm>
            <a:off x="7635240" y="3017520"/>
            <a:ext cx="2057400" cy="320040"/>
          </a:xfrm>
          <a:prstGeom prst="rect">
            <a:avLst/>
          </a:prstGeom>
          <a:noFill/>
          <a:ln/>
        </p:spPr>
        <p:txBody>
          <a:bodyPr wrap="square" lIns="0" tIns="0" rIns="0" bIns="0" rtlCol="0" anchor="ctr">
            <a:noAutofit/>
          </a:bodyPr>
          <a:lstStyle/>
          <a:p>
            <a:pPr marL="0" indent="0" algn="ctr">
              <a:buNone/>
            </a:pPr>
            <a:r>
              <a:rPr lang="en-US" sz="1400" b="1" dirty="0">
                <a:solidFill>
                  <a:schemeClr val="bg1"/>
                </a:solidFill>
                <a:latin typeface="Aptos" pitchFamily="34" charset="0"/>
                <a:ea typeface="Aptos" pitchFamily="34" charset="-122"/>
                <a:cs typeface="Aptos" pitchFamily="34" charset="-120"/>
              </a:rPr>
              <a:t>Next: Build and publish</a:t>
            </a:r>
            <a:endParaRPr lang="en-US" sz="1400" dirty="0">
              <a:solidFill>
                <a:schemeClr val="bg1"/>
              </a:solidFill>
            </a:endParaRPr>
          </a:p>
          <a:p>
            <a:pPr marL="0" indent="0" algn="ctr">
              <a:buNone/>
            </a:pPr>
            <a:r>
              <a:rPr lang="en-US" sz="1400" b="1" dirty="0">
                <a:solidFill>
                  <a:schemeClr val="bg1"/>
                </a:solidFill>
                <a:latin typeface="Aptos" pitchFamily="34" charset="0"/>
                <a:ea typeface="Aptos" pitchFamily="34" charset="-122"/>
                <a:cs typeface="Aptos" pitchFamily="34" charset="-120"/>
              </a:rPr>
              <a:t>governed prompt agents</a:t>
            </a:r>
            <a:endParaRPr lang="en-US" sz="1400" dirty="0">
              <a:solidFill>
                <a:schemeClr val="bg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500"/>
                                        <p:tgtEl>
                                          <p:spTgt spid="1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500"/>
                                        <p:tgtEl>
                                          <p:spTgt spid="15"/>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fade">
                                      <p:cBhvr>
                                        <p:cTn id="40" dur="500"/>
                                        <p:tgtEl>
                                          <p:spTgt spid="18"/>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fade">
                                      <p:cBhvr>
                                        <p:cTn id="43" dur="500"/>
                                        <p:tgtEl>
                                          <p:spTgt spid="19"/>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500"/>
                                        <p:tgtEl>
                                          <p:spTgt spid="20"/>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500"/>
                                        <p:tgtEl>
                                          <p:spTgt spid="21"/>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fade">
                                      <p:cBhvr>
                                        <p:cTn id="54"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TotalTime>
  <Words>6861</Words>
  <Application>Microsoft Office PowerPoint</Application>
  <PresentationFormat>Widescreen</PresentationFormat>
  <Paragraphs>518</Paragraphs>
  <Slides>31</Slides>
  <Notes>31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Code With Trev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Foundry for Enterprise AI Agents - Section 3</dc:title>
  <dc:subject>Microsoft Foundry for Enterprise AI Agents - Section 3</dc:subject>
  <dc:creator>Trevoir Williams</dc:creator>
  <cp:lastModifiedBy>Trevoir Williams</cp:lastModifiedBy>
  <cp:revision>2</cp:revision>
  <dcterms:created xsi:type="dcterms:W3CDTF">2026-07-11T17:41:34Z</dcterms:created>
  <dcterms:modified xsi:type="dcterms:W3CDTF">2026-07-13T17:05:54Z</dcterms:modified>
</cp:coreProperties>
</file>