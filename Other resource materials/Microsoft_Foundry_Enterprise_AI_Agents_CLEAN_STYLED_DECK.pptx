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Lst>
  <p:notesMasterIdLst>
    <p:notesMasterId r:id="rId1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notesMaster" Target="notesMasters/notesMaster1.xml"/><Relationship Id="rId114" Type="http://schemas.openxmlformats.org/officeDocument/2006/relationships/presProps" Target="presProps.xml"/><Relationship Id="rId115" Type="http://schemas.openxmlformats.org/officeDocument/2006/relationships/viewProps" Target="viewProps.xml"/><Relationship Id="rId116" Type="http://schemas.openxmlformats.org/officeDocument/2006/relationships/theme" Target="theme/theme1.xml"/><Relationship Id="rId1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Welcome learners to Microsoft Foundry for Enterprise AI Agents. Set the expectation that this is a practical platform course for enterprise users, cloud teams, AI engineers, and software professionals who need to understand how Microsoft Foundry helps teams build, ground, connect, monitor, and govern AI agents. State clearly that the course is not a general-purpose coding workshop; the practical work focuses on configuring Foundry resources, agents, knowledge, tools, evaluations, and governance boundaries.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Use this short introduction to establish credibility and rapport. Keep it brief and learner-centered. The important message is that the course is taught from the perspective of someone who has to make platform, security, and operational decisions understandable to real enterprise teams. Transition quickly into the course objectives.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Course Objectives. What you will be able to explain, configure, and evaluate by the end of the course. The main points are: 1) Explain the current Microsoft Foundry resource and project model. 2) Provision Foundry projects, model deployments, and secure access boundaries. 3) Create governed prompt agents and connect them to knowledge and tools. 4) Use Foundry IQ, MCP, A2A, evaluation, monitoring, and governance concepts responsibly. 5) Review an enterprise-ready agent architecture with production controls.
Use this slide to anchor the learner in the enterprise platform decision, not in low-level implementation details. Explain each point in business and architecture terms, then connect it to the course scenario: a team needs agents that can be trusted, grounded, monitored, and governed. Avoid reading the bullets verbatim. Emphasize what the learner should be able to decide or validate after this slide. 
Source hook: Microsoft Learn — Microsoft Foundry overview, Agent Service overview, Foundry IQ, Foundry Control Plane.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How to Approach This Course. The goal is practical platform confidence, not memorizing every portal screen. The main points are: 1) Treat Microsoft Learn as the source of truth for fast-moving product details. 2) Focus on architecture decisions, security boundaries, and operational readiness. 3) Use demonstrations to see how concepts appear in the portal. 4) Expect preview features to be clearly marked and handled carefully. 5) Use labs to practice configuration, validation, and governance checks.
Use this slide to anchor the learner in the enterprise platform decision, not in low-level implementation details. Explain each point in business and architecture terms, then connect it to the course scenario: a team needs agents that can be trusted, grounded, monitored, and governed. Avoid reading the bullets verbatim. Emphasize what the learner should be able to decide or validate after this slide. 
Source hook: AI-901 Trainer Preparation Guide emphasizes combining concepts, demonstrations, labs, and Microsoft Learn reference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How the Course Uses Demonstrations. Short lessons may still include an on-screen walkthrough when the portal reinforces the concept. The main points are: 1) Architecture lessons are mostly slide-led. 2) Configuration lessons include short Foundry or Azure portal walkthroughs. 3) Lab lessons include setup, execution checkpoints, and validation steps. 4) A2A includes a minimal supplied REST or PowerShell command where required. 5) No lesson depends on writing application code from scratch.
Use this slide to anchor the learner in the enterprise platform decision, not in low-level implementation details. Explain each point in business and architecture terms, then connect it to the course scenario: a team needs agents that can be trusted, grounded, monitored, and governed. Avoid reading the bullets verbatim. Emphasize what the learner should be able to decide or validate after this slide. 
Source hook: Microsoft Learn — incoming A2A on Foundry agents requires REST or SDK configuration in current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Enterprise Scenario: Governed Agent Operations. The course scenario follows an organization moving from scattered AI experiments to managed enterprise agents. The main points are: 1) Teams need a shared platform for models, agents, knowledge, and tools. 2) Security teams need identity, policy, auditability, and controlled tool access. 3) Cloud teams need repeatable project and deployment patterns. 4) Business teams need grounded answers with citations and escalation paths. 5) Operations teams need monitoring, evaluation, cost visibility, and lifecycle control.
Use this slide to anchor the learner in the enterprise platform decision, not in low-level implementation details. Explain each point in business and architecture terms, then connect it to the course scenario: a team needs agents that can be trusted, grounded, monitored, and governed. Avoid reading the bullets verbatim. Emphasize what the learner should be able to decide or validate after this slide. 
Source hook: Microsoft Learn — Foundry platform and Control Plane overview.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This is the transition from orientation into the section-based course. Keep it conversational. Emphasize that the course will repeatedly connect architecture, portal configuration, demos, labs, and governance review rather than treating Microsoft Foundry as a collection of disconnected screens.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Open Section 1: Introduction. Frame the course, the enterprise scenario, and the Azure workspace expectations before any platform configuration begins. Use the slide as a clean transition. State how the section moves the learner forward and what practical judgment they should improve by the end of the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This overview prepares learners for Section 1: Introduction. Walk through the learning path without turning it into a full roadmap lecture. Keep the focus on why the section matters and how the later demonstration or lab will make the platform concept concrete. By the end of this section, learners should be able to describe what the course builds toward and how to work through the labs..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Introduction. Start with the business reason for learning Microsoft Foundry. The main points are: 1) Enterprise AI agents need more than a model and a prompt. 2) The platform must support identity, data grounding, tools, evaluation, and governance. 3) Foundry provides a common environment for building and operating agent assets. 4) The course emphasizes decisions learners can reuse in enterprise environments. 5) Learners should expect practical configuration rather than application coding.
Use this slide to anchor the learner in the enterprise platform decision, not in low-level implementation details. Explain each point in business and architecture terms, then connect it to the course scenario: a team needs agents that can be trusted, grounded, monitored, and governed. Avoid reading the bullets verbatim. Emphasize what the learner should be able to decide or validate after this slide. 
Source hook: Microsoft Learn — What is Microsoft Foundry.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Enterprise Architecture Overview. The architecture connects users, Foundry projects, agents, knowledge, tools, and governance. The main points are: 1) Users: approved channels 2) Agents: instructions + model 3) Knowledge: Foundry IQ 4) Tools: catalog/MCP/A2A 5) Operate: evaluate + monitor 6) Govern: RBAC + policy
Use this slide to anchor the learner in the enterprise platform decision, not in low-level implementation details. Explain each point in business and architecture terms, then connect it to the course scenario: a team needs agents that can be trusted, grounded, monitored, and governed. Avoid reading the bullets verbatim. Emphasize what the learner should be able to decide or validate after this slide. 
Source hook: Microsoft Learn — Foundry platform overview and Control Plane overview.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Course Environment and Azure Workspace Setup. Prepare the environment without turning setup into a development workshop. The main points are: 1) Use a modern browser and the current Microsoft Foundry portal. 2) Confirm Azure access, subscription permissions, and region availability. 3) Use Udemy Azure workspaces where labs require cloud access. 4) Keep model names flexible because availability varies by region and quota. 5) Plan cleanup to avoid unnecessary Azure charges.
Use this slide to anchor the learner in the enterprise platform decision, not in low-level implementation details. Explain each point in business and architecture terms, then connect it to the course scenario: a team needs agents that can be trusted, grounded, monitored, and governed. Avoid reading the bullets verbatim. Emphasize what the learner should be able to decide or validate after this slide. 
Teaching cue: This lesson includes an on-screen demonstration. Switch from slides to the current portal only after the architecture point is clear.
Source hook: Microsoft Learn — Foundry environment setup and Udemy lab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Use this review slide to check understanding before moving on. The four takeaways are: Microsoft Foundry is treated as an enterprise platform, not only a model endpoint. Demos appear where the portal makes architecture concrete. Labs focus on configuration and validation, not application coding. Preview features are explicitly identified before use. Transition to the next section by saying: Next: platform foundations.. Invite learners to pause if any takeaway is unclear because each later section builds on this foundation.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Open Section 2: Microsoft Foundry Platform Foundations. Establish the current platform identity, the current portal experience, and the major Foundry building blocks. Use the slide as a clean transition. State how the section moves the learner forward and what practical judgment they should improve by the end of the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This overview prepares learners for Section 2: Microsoft Foundry Platform Foundations. Walk through the learning path without turning it into a full roadmap lecture. Keep the focus on why the section matters and how the later demonstration or lab will make the platform concept concrete. By the end of this section, learners should be able to describe how foundry organizes enterprise ai assets..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From Azure AI Services to Microsoft Foundry. Use history only to explain why the current unified platform matters. The main points are: 1) Older Azure AI work often spread models, tools, and projects across separate surfaces. 2) Microsoft Foundry brings these assets into a unified platform experience. 3) The current resource model gives teams a clearer management boundary. 4) Foundry Classic remains relevant for existing hub-based investments. 5) New course work should default to the current Foundry experience.
Use this slide to anchor the learner in the enterprise platform decision, not in low-level implementation details. Explain each point in business and architecture terms, then connect it to the course scenario: a team needs agents that can be trusted, grounded, monitored, and governed. Avoid reading the bullets verbatim. Emphasize what the learner should be able to decide or validate after this slide. 
Source hook: Microsoft Learn — What is Microsoft Foundry; Navigate from Foundry Classic.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Foundry New and Foundry Classic. Learners need to recognize both experiences without mixing them together. The main points are: 1) Current default portal experience 2) Unified Foundry resource and project model 3) Primary surface for this course 4) Agent-first configuration path 5) Hub-based legacy project model 6) Still relevant for existing assets 7) May appear in older documentation 8) Used only for migration context
Use this slide to anchor the learner in the enterprise platform decision, not in low-level implementation details. Explain each point in business and architecture terms, then connect it to the course scenario: a team needs agents that can be trusted, grounded, monitored, and governed. Avoid reading the bullets verbatim. Emphasize what the learner should be able to decide or validate after this slide. 
Source hook: Microsoft Learn — navigate from Classic.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Microsoft Foundry Architecture. The platform brings together the assets needed to build and operate agents. The main points are: 1) Foundry Models provide access to catalog deployments and endpoints. 2) Foundry Agent Service manages agents, versions, endpoints, and tools. 3) Foundry IQ provides reusable knowledge bases for grounded responses. 4) Foundry Tools connect agents to approved external capabilities. 5) Foundry Control Plane supports enterprise visibility and governance.
Use this slide to anchor the learner in the enterprise platform decision, not in low-level implementation details. Explain each point in business and architecture terms, then connect it to the course scenario: a team needs agents that can be trusted, grounded, monitored, and governed. Avoid reading the bullets verbatim. Emphasize what the learner should be able to decide or validate after this slide. 
Source hook: Microsoft Learn — What is Microsoft Foundry.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Agent Lifecycle in Foundry. The same platform supports discovery, build, test, publish, observe, and govern. The main points are: 1) Discover: models/tools 2) Build: agent assets 3) Test: behavior 4) Publish: stable endpoint 5) Observe: quality + cost 6) Govern: policy + roles
Use this slide to anchor the learner in the enterprise platform decision, not in low-level implementation details. Explain each point in business and architecture terms, then connect it to the course scenario: a team needs agents that can be trusted, grounded, monitored, and governed. Avoid reading the bullets verbatim. Emphasize what the learner should be able to decide or validate after this slide. 
Source hook: Microsoft Learn — Agent development lifecycle; Foundry Control Plane.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Current Terminology to Use Consistently. Terminology consistency prevents stale content from leaking into the course. The main points are: 1) Use Microsoft Foundry as the current platform name. 2) Use Foundry New for the current portal experience. 3) Use Foundry Classic only for hub-based legacy context. 4) Use prompt agents and hosted agents when discussing Agent Service. 5) Use Foundry IQ for the managed enterprise knowledge layer.
Use this slide to anchor the learner in the enterprise platform decision, not in low-level implementation details. Explain each point in business and architecture terms, then connect it to the course scenario: a team needs agents that can be trusted, grounded, monitored, and governed. Avoid reading the bullets verbatim. Emphasize what the learner should be able to decide or validate after this slide. 
Source hook: Microsoft Learn — RBAC role rename and Foundry overview.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Use this review slide to check understanding before moving on. The four takeaways are: Microsoft Foundry is the platform identity used throughout the course. Foundry New is the default teaching surface; Classic is migration context. The major pillars are Models, Agent Service, IQ, Tools, and Control Plane. Lifecycle thinking connects build-time configuration to operation and governance. Transition to the next section by saying: Next: resources, models, identity, and cost.. Invite learners to pause if any takeaway is unclear because each later section builds on this foundation.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Open Section 3: Foundry Resources, Models, Identity, and Cost. Move from platform concepts to the core resource, model, identity, and cost decisions behind every agent. Use the slide as a clean transition. State how the section moves the learner forward and what practical judgment they should improve by the end of the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This overview prepares learners for Section 3: Foundry Resources, Models, Identity, and Cost. Walk through the learning path without turning it into a full roadmap lecture. Keep the focus on why the section matters and how the later demonstration or lab will make the platform concept concrete. By the end of this section, learners should be able to provision and reason about the core foundry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Foundry Resources and Projects. A Foundry resource is the enterprise management boundary; projects organize work inside it. The main points are: 1) Use resources to anchor management, access, networking, and governance. 2) Use projects to isolate teams, environments, and related AI assets. 3) Use connections to link storage, search, tools, and other Azure services. 4) Use environment separation to reduce accidental production impact. 5) Assign ownership so every project has accountable administrators.
Use this slide to anchor the learner in the enterprise platform decision, not in low-level implementation details. Explain each point in business and architecture terms, then connect it to the course scenario: a team needs agents that can be trusted, grounded, monitored, and governed. Avoid reading the bullets verbatim. Emphasize what the learner should be able to decide or validate after this slide. 
Teaching cue: This lesson includes an on-screen demonstration. Switch from slides to the current portal only after the architecture point is clear.
Source hook: Microsoft Learn — Create projects in Microsoft Foundry.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Enterprise Boundary Decisions. Good Foundry architecture starts with boundaries, not prompts. The main points are: 1) Resource: management boundary 2) Project: team/domain boundary 3) Connections: approved services 4) Identity: least privilege 5) Network: private access 6) Governance: policy + owner
Use this slide to anchor the learner in the enterprise platform decision, not in low-level implementation details. Explain each point in business and architecture terms, then connect it to the course scenario: a team needs agents that can be trusted, grounded, monitored, and governed. Avoid reading the bullets verbatim. Emphasize what the learner should be able to decide or validate after this slide. 
Source hook: Microsoft Learn — Microsoft Foundry planning.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Choose Enterprise Models from the Catalog. Model selection is an architecture decision, not a popularity contest. The main points are: 1) Match the model to reasoning, latency, context, tool-use, and multimodal needs. 2) Check regional availability and enterprise data requirements. 3) Consider cost per task, not only cost per token. 4) Choose a supported deployment option for the scenario. 5) Avoid hard-coding a course to one model name when availability can vary.
Use this slide to anchor the learner in the enterprise platform decision, not in low-level implementation details. Explain each point in business and architecture terms, then connect it to the course scenario: a team needs agents that can be trusted, grounded, monitored, and governed. Avoid reading the bullets verbatim. Emphasize what the learner should be able to decide or validate after this slide. 
Teaching cue: This lesson includes an on-screen demonstration. Switch from slides to the current portal only after the architecture point is clear.
Source hook: Microsoft Learn — Foundry Models overview and model catalog.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Model Selection Framework. Use consistent criteria so teams can defend why a model was selected. The main points are: 1) Capability: Does it support the task, tools, and response quality required? 2) Operations: Can the region, quota, and throughput support expected use? 3) Security: Does the deployment meet data-handling and access requirements? 4) Cost: Is the total cost acceptable for the business workflow? 5) Lifecycle: Is the model stable enough for the release risk profile?
Use this slide to anchor the learner in the enterprise platform decision, not in low-level implementation details. Explain each point in business and architecture terms, then connect it to the course scenario: a team needs agents that can be trusted, grounded, monitored, and governed. Avoid reading the bullets verbatim. Emphasize what the learner should be able to decide or validate after this slide. 
Source hook: Microsoft Learn — Foundry Models overview.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Manage Deployments, Quotas, Regions, and Cost. A model deployment turns a catalog choice into an operational dependency. The main points are: 1) Deployment names should be meaningful and environment-aware. 2) Regional capacity and quota determine what teams can actually run. 3) Token allocation affects throughput, latency, and throttling behavior. 4) Budgets and alerts reduce surprise cost exposure. 5) Lifecycle risk increases when model changes are not tracked.
Use this slide to anchor the learner in the enterprise platform decision, not in low-level implementation details. Explain each point in business and architecture terms, then connect it to the course scenario: a team needs agents that can be trusted, grounded, monitored, and governed. Avoid reading the bullets verbatim. Emphasize what the learner should be able to decide or validate after this slide. 
Teaching cue: This lesson includes an on-screen demonstration. Switch from slides to the current portal only after the architecture point is clear.
Source hook: Microsoft Learn — deployment types and quotas.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Cost and Quota Questions to Ask. Before a model is used by an agent, teams should answer operating questions. The main points are: 1) What is the expected request volume and peak usage window? 2) Which users or systems are allowed to consume the deployment? 3) What happens when the deployment is throttled or unavailable? 4) How will model consumption be monitored after publishing? 5) Who approves quota increases and cost exceptions?
Use this slide to anchor the learner in the enterprise platform decision, not in low-level implementation details. Explain each point in business and architecture terms, then connect it to the course scenario: a team needs agents that can be trusted, grounded, monitored, and governed. Avoid reading the bullets verbatim. Emphasize what the learner should be able to decide or validate after this slide.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Secure Foundry with Entra ID and RBAC. Use identity-first access control before agents reach enterprise data or tools. The main points are: 1) Use Microsoft Entra ID for user and workload identity. 2) Apply least-privilege roles at the correct resource or project scope. 3) Prefer managed identity and keyless access where possible. 4) Use private networking controls for sensitive production environments. 5) Review both control-plane and data-plane permissions.
Use this slide to anchor the learner in the enterprise platform decision, not in low-level implementation details. Explain each point in business and architecture terms, then connect it to the course scenario: a team needs agents that can be trusted, grounded, monitored, and governed. Avoid reading the bullets verbatim. Emphasize what the learner should be able to decide or validate after this slide. 
Teaching cue: This lesson includes an on-screen demonstration. Switch from slides to the current portal only after the architecture point is clear.
Source hook: Microsoft Learn — RBAC for Microsoft Foundry; authentication and authorization.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Security Boundary Checklist. Use this as a pre-lab review before provisioning live resources. The main points are: 1) Who can create and manage Foundry resources? 2) Who can deploy models and consume model endpoints? 3) Which connections can agents use? 4) Which networks are allowed to reach the project? 5) Which actions require approval or audit evidence?
Use this slide to anchor the learner in the enterprise platform decision, not in low-level implementation details. Explain each point in business and architecture terms, then connect it to the course scenario: a team needs agents that can be trusted, grounded, monitored, and governed. Avoid reading the bullets verbatim. Emphasize what the learner should be able to decide or validate after this slide. 
Source hook: Microsoft Learn — RBAC role rename and elevated-role 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Lab: Provision a Foundry Project and Deploy a Model. This lab creates the working platform foundation for the rest of the course. The main points are: 1) Create the Foundry resource and project. 2) Select a regionally available enterprise model. 3) Create the deployment and confirm it is usable. 4) Verify identity, role, quota, and cost settings. 5) Clean up resources when the workspace session ends.
Use this slide to anchor the learner in the enterprise platform decision, not in low-level implementation details. Explain each point in business and architecture terms, then connect it to the course scenario: a team needs agents that can be trusted, grounded, monitored, and governed. Avoid reading the bullets verbatim. Emphasize what the learner should be able to decide or validate after this slide. 
Teaching cue: This is a Lecture With Lab. Start with the goal, show the expected result, then move through the workspace tasks. Keep the focus on configuration and validation rather than code.
Source hook: Microsoft Learn — Create projects; Foundry Models; RBAC.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Lab Validation Checklist. Use validation checkpoints instead of assuming the lab worked. The main points are: 1) The project appears in the current Foundry portal. 2) The model deployment is available and named clearly. 3) A test prompt succeeds in the playground. 4) Access is granted only to the expected identity or role. 5) Quota and cost settings are visible before moving on.
Use this slide to anchor the learner in the enterprise platform decision, not in low-level implementation details. Explain each point in business and architecture terms, then connect it to the course scenario: a team needs agents that can be trusted, grounded, monitored, and governed. Avoid reading the bullets verbatim. Emphasize what the learner should be able to decide or validate after this slide. 
Teaching cue: This is a Lecture With Lab. Start with the goal, show the expected result, then move through the workspace tasks. Keep the focus on configuration and validation rather than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Use this review slide to check understanding before moving on. The four takeaways are: Foundry resources and projects define enterprise boundaries. Model selection must consider capability, region, quota, security, and lifecycle. Deployments create operational dependencies that need monitoring and cost controls. Identity and RBAC must be in place before agents reach data or tools. Transition to the next section by saying: Next: Foundry Agent Service.. Invite learners to pause if any takeaway is unclear because each later section builds on this foundation.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Open Section 4: Build Enterprise Agents with Foundry Agent Service. Turn model deployments into governed agents with instructions, versions, publishing, identity, and approval boundaries. Use the slide as a clean transition. State how the section moves the learner forward and what practical judgment they should improve by the end of the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This overview prepares learners for Section 4: Build Enterprise Agents with Foundry Agent Service. Walk through the learning path without turning it into a full roadmap lecture. Keep the focus on why the section matters and how the later demonstration or lab will make the platform concept concrete. By the end of this section, learners should be able to configure a managed agent and explain how it should be governed..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Foundry Agent Service: Prompt Agents and Hosted Agents. Choose the agent style that matches the operating responsibility your team can own. The main points are: 1) Configured through Foundry 2) Best for managed platform patterns 3) Useful for portal-led labs 4) Lower operational burden 5) Containerized agentic applications 6) Built with supported frameworks or custom code 7) More runtime control 8) Higher ownership responsibility
Use this slide to anchor the learner in the enterprise platform decision, not in low-level implementation details. Explain each point in business and architecture terms, then connect it to the course scenario: a team needs agents that can be trusted, grounded, monitored, and governed. Avoid reading the bullets verbatim. Emphasize what the learner should be able to decide or validate after this slide. 
Source hook: Microsoft Learn — Foundry Agent Service overview; Hosted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Prompt Agents vs Hosted Agents. The decision is about responsibility, not which option sounds more advanced. The main points are: 1) Use prompt agents when portal configuration, tools, and knowledge meet the need. 2) Use hosted agents when custom orchestration or framework logic is required. 3) Use external integration when another system already owns the agent runtime. 4) Keep managed configuration preferred when it reduces operational burden. 5) Do not add custom hosting just to appear more technical.
Use this slide to anchor the learner in the enterprise platform decision, not in low-level implementation details. Explain each point in business and architecture terms, then connect it to the course scenario: a team needs agents that can be trusted, grounded, monitored, and governed. Avoid reading the bullets verbatim. Emphasize what the learner should be able to decide or validate after this slide.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Agent Instructions, Versions, Conversations, and Publishing. An agent becomes manageable when its behavior and lifecycle are versioned. The main points are: 1) Instructions define role, scope, tone, evidence expectations, and boundaries. 2) Conversations preserve interaction context for testing and usage flows. 3) Versions allow controlled changes and rollback planning. 4) Stable endpoints let consumers use an agent without tracking every edit. 5) Publishing should follow testing and approval, not experimentation.
Use this slide to anchor the learner in the enterprise platform decision, not in low-level implementation details. Explain each point in business and architecture terms, then connect it to the course scenario: a team needs agents that can be trusted, grounded, monitored, and governed. Avoid reading the bullets verbatim. Emphasize what the learner should be able to decide or validate after this slide. 
Teaching cue: This lesson includes an on-screen demonstration. Switch from slides to the current portal only after the architecture point is clear.
Source hook: Microsoft Learn — Agent development lifecycle.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Agent Lifecycle Controls. Treat agent changes like production configuration changes. The main points are: 1) Draft: instructions 2) Test: expected/blocked 3) Approve: identity + risk 4) Publish: stable version 5) Monitor: quality/cost 6) Rollback: safe version
Use this slide to anchor the learner in the enterprise platform decision, not in low-level implementation details. Explain each point in business and architecture terms, then connect it to the course scenario: a team needs agents that can be trusted, grounded, monitored, and governed. Avoid reading the bullets verbatim. Emphasize what the learner should be able to decide or validate after this slide. 
Source hook: Microsoft Learn — agent development lifecycle.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Design Reliable Agent Instructions. Clear instructions reduce ambiguity and support consistent behavior. The main points are: 1) State the agent role in business terms. 2) Define what the agent may and may not answer. 3) Require evidence, citations, or escalation where needed. 4) Specify refusal behavior for unsafe or unsupported requests. 5) Separate read-only advice from actions that change data.
Use this slide to anchor the learner in the enterprise platform decision, not in low-level implementation details. Explain each point in business and architecture terms, then connect it to the course scenario: a team needs agents that can be trusted, grounded, monitored, and governed. Avoid reading the bullets verbatim. Emphasize what the learner should be able to decide or validate after this slide.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Decision Boundaries and Escalation Rules. Agents need explicit stopping points. The main points are: 1) Escalate when evidence is missing or permissions are unclear. 2) Refuse when a request violates security, policy, or scope. 3) Ask clarifying questions when task intent is ambiguous. 4) Require human approval before high-impact tool actions. 5) Log unsupported requests as improvement signals.
Use this slide to anchor the learner in the enterprise platform decision, not in low-level implementation details. Explain each point in business and architecture terms, then connect it to the course scenario: a team needs agents that can be trusted, grounded, monitored, and governed. Avoid reading the bullets verbatim. Emphasize what the learner should be able to decide or validate after this slide.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Secure Agent Identity, Tool Access, and Human Approvals. Agent security combines identity, permissions, tool limits, and review points. The main points are: 1) Assign only the access required for the agent’s purpose. 2) Use delegated authorization when user-specific data access is required. 3) Limit tools to the actions required by the scenario. 4) Use approval gates for state-changing or sensitive operations. 5) Keep audit evidence for tool calls and published changes.
Use this slide to anchor the learner in the enterprise platform decision, not in low-level implementation details. Explain each point in business and architecture terms, then connect it to the course scenario: a team needs agents that can be trusted, grounded, monitored, and governed. Avoid reading the bullets verbatim. Emphasize what the learner should be able to decide or validate after this slide. 
Teaching cue: This lesson includes an on-screen demonstration. Switch from slides to the current portal only after the architecture point is clear.
Source hook: Microsoft Learn — RBAC for Foundry and tool best practices.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Agent Risk Controls. Reliable agents need both technical and operational safeguards. The main points are: 1) Identity limits what the agent can reach. 2) Tool allowlists limit what the agent can do. 3) Instructions guide how the agent should respond. 4) Approvals stop the highest-risk actions from becoming automatic. 5) Monitoring reveals when the agent drifts from expected behavior.
Use this slide to anchor the learner in the enterprise platform decision, not in low-level implementation details. Explain each point in business and architecture terms, then connect it to the course scenario: a team needs agents that can be trusted, grounded, monitored, and governed. Avoid reading the bullets verbatim. Emphasize what the learner should be able to decide or validate after this slide.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Lab: Create and Publish a Governed Prompt Agent. This lab turns the deployed model into a controlled prompt agent. The main points are: 1) Create a prompt agent with a clear business role. 2) Add instructions, boundaries, and escalation behavior. 3) Test approved and prohibited requests. 4) Create or inspect a version. 5) Publish the agent endpoint for controlled use.
Use this slide to anchor the learner in the enterprise platform decision, not in low-level implementation details. Explain each point in business and architecture terms, then connect it to the course scenario: a team needs agents that can be trusted, grounded, monitored, and governed. Avoid reading the bullets verbatim. Emphasize what the learner should be able to decide or validate after this slide. 
Teaching cue: This is a Lecture With Lab. Start with the goal, show the expected result, then move through the workspace tasks. Keep the focus on configuration and validation rather than code.
Source hook: Microsoft Learn — Create a prompt agent and Agent Service overview.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Lab Validation Checklist. The lab is complete only when behavior and governance are both verified. The main points are: 1) The agent answers expected business questions clearly. 2) The agent refuses or escalates prohibited requests. 3) The agent version reflects the tested configuration. 4) The endpoint is stable and ready for later sections. 5) The learner can explain which controls were applied.
Use this slide to anchor the learner in the enterprise platform decision, not in low-level implementation details. Explain each point in business and architecture terms, then connect it to the course scenario: a team needs agents that can be trusted, grounded, monitored, and governed. Avoid reading the bullets verbatim. Emphasize what the learner should be able to decide or validate after this slide. 
Teaching cue: This is a Lecture With Lab. Start with the goal, show the expected result, then move through the workspace tasks. Keep the focus on configuration and validation rather than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Use this review slide to check understanding before moving on. The four takeaways are: Prompt agents are appropriate when managed configuration meets the business need. Hosted agents add control but also increase ownership responsibility. Agent versions and publishing make behavior manageable over time. Identity, tool limits, approvals, and monitoring form the control stack. Transition to the next section by saying: Next: grounding agents with Foundry IQ.. Invite learners to pause if any takeaway is unclear because each later section builds on this foundation.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Open Section 5: Ground Agents with Foundry IQ. Connect agents to trusted enterprise knowledge so their answers can be grounded, cited, and permission-aware. Use the slide as a clean transition. State how the section moves the learner forward and what practical judgment they should improve by the end of the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This overview prepares learners for Section 5: Ground Agents with Foundry IQ. Walk through the learning path without turning it into a full roadmap lecture. Keep the focus on why the section matters and how the later demonstration or lab will make the platform concept concrete. By the end of this section, learners should be able to design a knowledge-grounded agent that returns supported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Traditional RAG vs Agentic Retrieval. Agentic retrieval gives the system more structure than a basic search-and-answer flow. The main points are: 1) Traditional RAG retrieves passages and asks a model to respond from them. 2) Agentic retrieval can plan the query, search multiple sources, and rerank results. 3) Grounded responses should cite supporting evidence. 4) Private enterprise data requires permission-aware retrieval. 5) Retrieval quality should be evaluated before publishing an agent.
Use this slide to anchor the learner in the enterprise platform decision, not in low-level implementation details. Explain each point in business and architecture terms, then connect it to the course scenario: a team needs agents that can be trusted, grounded, monitored, and governed. Avoid reading the bullets verbatim. Emphasize what the learner should be able to decide or validate after this slide. 
Source hook: Microsoft Learn — What is Foundry IQ; Retrieval augmented generation.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When Retrieval Fails. Grounding is not automatic just because documents exist. The main points are: 1) The relevant content may not be indexed or chunked effectively. 2) The query may not match the terms used in the source documents. 3) Permissions may block the answer even when the document exists. 4) The agent may answer from general knowledge when grounding is weak. 5) Evaluation questions reveal retrieval gaps before production use.
Use this slide to anchor the learner in the enterprise platform decision, not in low-level implementation details. Explain each point in business and architecture terms, then connect it to the course scenario: a team needs agents that can be trusted, grounded, monitored, and governed. Avoid reading the bullets verbatim. Emphasize what the learner should be able to decide or validate after this slide.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Foundry IQ Knowledge Sources and Knowledge Bases. Foundry IQ organizes enterprise knowledge so multiple agents can reuse it safely. The main points are: 1) Knowledge sources connect to internal or external data locations. 2) A knowledge base groups sources and retrieval settings. 3) Multiple agents can share a knowledge base when the domain is common. 4) Knowledge bases should have ownership, update cadence, and validation rules. 5) Citations help users and reviewers trace the answer back to evidence.
Use this slide to anchor the learner in the enterprise platform decision, not in low-level implementation details. Explain each point in business and architecture terms, then connect it to the course scenario: a team needs agents that can be trusted, grounded, monitored, and governed. Avoid reading the bullets verbatim. Emphasize what the learner should be able to decide or validate after this slide. 
Teaching cue: This lesson includes an on-screen demonstration. Switch from slides to the current portal only after the architecture point is clear.
Source hook: Microsoft Learn — Foundry IQ knowledge bases and Connect agents to Foundry IQ.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Knowledge Base Design Questions. A knowledge base is a governed asset, not just a storage folder. The main points are: 1) Which business domain does this knowledge base represent? 2) Who owns source freshness and permission synchronization? 3) Which agents are allowed to use it? 4) Which citations should users expect to see? 5) Which evaluation questions prove that retrieval is working?
Use this slide to anchor the learner in the enterprise platform decision, not in low-level implementation details. Explain each point in business and architecture terms, then connect it to the course scenario: a team needs agents that can be trusted, grounded, monitored, and governed. Avoid reading the bullets verbatim. Emphasize what the learner should be able to decide or validate after this slide.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Permission-Aware Retrieval with Azure AI Search and Entra ID. Enterprise grounding must respect who the user is and what they are allowed to see. The main points are: 1) Azure AI Search supports the indexing and retrieval foundation. 2) Identity propagation helps retrieval reflect the caller’s access. 3) ACLs and document permissions prevent unauthorized answers. 4) Citations must not expose sources that the user cannot access. 5) Private retrieval should be validated with both allowed and denied scenarios.
Use this slide to anchor the learner in the enterprise platform decision, not in low-level implementation details. Explain each point in business and architecture terms, then connect it to the course scenario: a team needs agents that can be trusted, grounded, monitored, and governed. Avoid reading the bullets verbatim. Emphasize what the learner should be able to decide or validate after this slide. 
Teaching cue: This lesson includes an on-screen demonstration. Switch from slides to the current portal only after the architecture point is clear.
Source hook: Microsoft Learn — Foundry IQ FAQ and private agentic retrieval tutorial.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Permission-Aware Retrieval Review. Use this review frame before letting an agent answer from enterprise documents. The main points are: 1) Can the agent reach only approved knowledge sources? 2) Does retrieval respect the user’s identity and data permissions? 3) Do answers include citations when enterprise data is used? 4) What happens when the user asks about inaccessible content? 5) Who reviews retrieval failures and stale answers?
Use this slide to anchor the learner in the enterprise platform decision, not in low-level implementation details. Explain each point in business and architecture terms, then connect it to the course scenario: a team needs agents that can be trusted, grounded, monitored, and governed. Avoid reading the bullets verbatim. Emphasize what the learner should be able to decide or validate after this slide.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Lab: Ground an Enterprise Agent with Foundry IQ. This lab connects the prompt agent to supplied documents and validates cited answers. The main points are: 1) Review the supplied invoice and work-report documents. 2) Create or use the knowledge source provided for the lab. 3) Configure the knowledge base for the enterprise scenario. 4) Attach the knowledge base to the agent. 5) Ask validation questions that require citations.
Use this slide to anchor the learner in the enterprise platform decision, not in low-level implementation details. Explain each point in business and architecture terms, then connect it to the course scenario: a team needs agents that can be trusted, grounded, monitored, and governed. Avoid reading the bullets verbatim. Emphasize what the learner should be able to decide or validate after this slide. 
Teaching cue: This is a Lecture With Lab. Start with the goal, show the expected result, then move through the workspace tasks. Keep the focus on configuration and validation rather than code.
Source hook: Project source: Building Intelligent Applications with Microsoft Foundry; Microsoft Learn — Foundry IQ.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Lab Validation Checklist. Validation should prove both answer quality and evidence quality. The main points are: 1) The agent uses the enterprise documents instead of general knowledge. 2) The answer cites the relevant source content. 3) The answer connects related evidence across the scenario. 4) Unsupported questions are refused or answered with uncertainty. 5) The learner can explain how the knowledge base supports the answer.
Use this slide to anchor the learner in the enterprise platform decision, not in low-level implementation details. Explain each point in business and architecture terms, then connect it to the course scenario: a team needs agents that can be trusted, grounded, monitored, and governed. Avoid reading the bullets verbatim. Emphasize what the learner should be able to decide or validate after this slide. 
Teaching cue: This is a Lecture With Lab. Start with the goal, show the expected result, then move through the workspace tasks. Keep the focus on configuration and validation rather than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Use this review slide to check understanding before moving on. The four takeaways are: Foundry IQ adds a governed knowledge layer rather than a simple file upload. Agentic retrieval plans, searches, reranks, and supports cited answers. Permission-aware retrieval must respect identity and source permissions. Grounded agents still require evaluation because retrieval can fail. Transition to the next section by saying: Next: tools, connectors, and MCP.. Invite learners to pause if any takeaway is unclear because each later section builds on this foundation.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Open Section 6: Foundry Tools, Enterprise Connectors, and MCP. Extend agents beyond conversation by connecting approved tools, connectors, APIs, MCP endpoints, and other agents. Use the slide as a clean transition. State how the section moves the learner forward and what practical judgment they should improve by the end of the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This overview prepares learners for Section 6: Foundry Tools, Enterprise Connectors, and MCP. Walk through the learning path without turning it into a full roadmap lecture. Keep the focus on why the section matters and how the later demonstration or lab will make the platform concept concrete. By the end of this section, learners should be able to select and govern the right integration pattern for an agent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Foundry Agent Tools: Built-In, Catalog, and Custom Options. Tools let agents retrieve, compute, call APIs, or delegate work through approved interfaces. The main points are: 1) Built-in tools are enabled directly in Foundry after basic configuration. 2) Catalog tools give teams discoverable approved capabilities. 3) OpenAPI tools connect agents to documented HTTP APIs. 4) MCP tools connect agents to remote MCP server endpoints. 5) A2A tools connect agents to other agent endpoints.
Use this slide to anchor the learner in the enterprise platform decision, not in low-level implementation details. Explain each point in business and architecture terms, then connect it to the course scenario: a team needs agents that can be trusted, grounded, monitored, and governed. Avoid reading the bullets verbatim. Emphasize what the learner should be able to decide or validate after this slide. 
Source hook: Microsoft Learn — Agent tools overview and tool catalog.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Tool Governance Model. A tool is a controlled capability, not just a convenience. The main points are: 1) Tool descriptions influence when the model chooses the tool. 2) Authentication controls who or what can invoke the backing capability. 3) Input validation reduces unsafe or malformed requests. 4) Approval gates protect sensitive or state-changing operations. 5) Audit logs support review and incident response.
Use this slide to anchor the learner in the enterprise platform decision, not in low-level implementation details. Explain each point in business and architecture terms, then connect it to the course scenario: a team needs agents that can be trusted, grounded, monitored, and governed. Avoid reading the bullets verbatim. Emphasize what the learner should be able to decide or validate after this slide. 
Source hook: Microsoft Learn — tool best practices.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Use the Foundry Tool Catalog and Enterprise Connectors. The tool catalog supports reuse and standardization across teams. The main points are: 1) Discover approved tools before creating custom integrations. 2) Review each tool’s status, permissions, and data access needs. 3) Use reusable connections to avoid one-off configuration drift. 4) Favor catalog tools when they meet the business requirement. 5) Document ownership for tools used by production agents.
Use this slide to anchor the learner in the enterprise platform decision, not in low-level implementation details. Explain each point in business and architecture terms, then connect it to the course scenario: a team needs agents that can be trusted, grounded, monitored, and governed. Avoid reading the bullets verbatim. Emphasize what the learner should be able to decide or validate after this slide. 
Teaching cue: This lesson includes an on-screen demonstration. Switch from slides to the current portal only after the architecture point is clear.
Source hook: Microsoft Learn — tool catalog.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Enterprise Connector Checklist. Before connecting a tool, review the business and security implications. The main points are: 1) What system does the connector reach? 2) Which user or agent identity is used? 3) What read or write actions are possible? 4) Can the action be tested safely? 5) Where will tool activity be logged and reviewed?
Use this slide to anchor the learner in the enterprise platform decision, not in low-level implementation details. Explain each point in business and architecture terms, then connect it to the course scenario: a team needs agents that can be trusted, grounded, monitored, and governed. Avoid reading the bullets verbatim. Emphasize what the learner should be able to decide or validate after this slide.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Choose Between Functions, OpenAPI, MCP, and A2A. Use the integration pattern that matches the ownership and interoperability requirement. The main points are: 1) Functions work well for simple application-executed operations. 2) OpenAPI works well for documented HTTP APIs. 3) MCP works well for shared tools hosted by another team or platform. 4) A2A works when the target is another agent, not just a tool. 5) The safest option has the clearest contract and control boundary.
Use this slide to anchor the learner in the enterprise platform decision, not in low-level implementation details. Explain each point in business and architecture terms, then connect it to the course scenario: a team needs agents that can be trusted, grounded, monitored, and governed. Avoid reading the bullets verbatim. Emphasize what the learner should be able to decide or validate after this slide. 
Source hook: Microsoft Learn — Agent tools overview; A2A tool docs.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Integration Pattern Decision Matrix. Learners should leave with a practical architecture filter. The main points are: 1) Function 2) single local action 3) hidden side effects 4) approval + validation 5) OpenAPI 6) formal HTTP API 7) overbroad operations 8) API contract + auth 9) MCP 10) shared external tools 11) server trust + drift 12) tool allowlist + audit 13) A2A 14) specialist agent 15) unclear delegation 16) agent card + auth
Use this slide to anchor the learner in the enterprise platform decision, not in low-level implementation details. Explain each point in business and architecture terms, then connect it to the course scenario: a team needs agents that can be trusted, grounded, monitored, and governed. Avoid reading the bullets verbatim. Emphasize what the learner should be able to decide or validate after this slide.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Secure MCP Integrations for Enterprise Agents. MCP is powerful because it exposes tools; that is also why it must be governed carefully. The main points are: 1) Treat the MCP server as a trusted external capability boundary. 2) Verify server ownership, authentication, and transport security. 3) Review tool schemas and descriptions for overbroad capability exposure. 4) Use input validation and approval for sensitive operations. 5) Monitor tool calls and keep audit evidence.
Use this slide to anchor the learner in the enterprise platform decision, not in low-level implementation details. Explain each point in business and architecture terms, then connect it to the course scenario: a team needs agents that can be trusted, grounded, monitored, and governed. Avoid reading the bullets verbatim. Emphasize what the learner should be able to decide or validate after this slide. 
Source hook: Microsoft Learn — Model Context Protocol tools; tool best practices.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MCP Risk Review. Use this checklist before trusting a remote MCP endpoint. The main points are: 1) Who owns and maintains the server? 2) Which tools are exposed and are any destructive? 3) How is authentication configured? 4) Can the tool return sensitive data? 5) How will failures, abuse, and drift be detected?
Use this slide to anchor the learner in the enterprise platform decision, not in low-level implementation details. Explain each point in business and architecture terms, then connect it to the course scenario: a team needs agents that can be trusted, grounded, monitored, and governed. Avoid reading the bullets verbatim. Emphasize what the learner should be able to decide or validate after this slide.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Lab: Connect Catalog and MCP Tools to a Foundry Agent. This lab adds approved capabilities without building custom tool code. The main points are: 1) Add an approved catalog tool or connection. 2) Register the supplied MCP endpoint. 3) Limit the agent to the actions required by the scenario. 4) Test when the agent should and should not call a tool. 5) Inspect the evidence from tool usage.
Use this slide to anchor the learner in the enterprise platform decision, not in low-level implementation details. Explain each point in business and architecture terms, then connect it to the course scenario: a team needs agents that can be trusted, grounded, monitored, and governed. Avoid reading the bullets verbatim. Emphasize what the learner should be able to decide or validate after this slide. 
Teaching cue: This is a Lecture With Lab. Start with the goal, show the expected result, then move through the workspace tasks. Keep the focus on configuration and validation rather than code.
Source hook: Microsoft Learn — Agent tools overview; MCP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Lab Validation Checklist. A tool lab is successful only if the agent chooses tools appropriately. The main points are: 1) The agent selects the correct tool for the matching request. 2) The agent does not call tools for unrelated questions. 3) The MCP endpoint is connected using the supplied configuration. 4) Sensitive or unsupported actions are blocked or escalated. 5) Tool-call evidence is visible for review.
Use this slide to anchor the learner in the enterprise platform decision, not in low-level implementation details. Explain each point in business and architecture terms, then connect it to the course scenario: a team needs agents that can be trusted, grounded, monitored, and governed. Avoid reading the bullets verbatim. Emphasize what the learner should be able to decide or validate after this slide. 
Teaching cue: This is a Lecture With Lab. Start with the goal, show the expected result, then move through the workspace tasks. Keep the focus on configuration and validation rather than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Use this review slide to check understanding before moving on. The four takeaways are: Tools extend agents into real actions and therefore require stronger controls. The tool catalog should be checked before building custom integrations. MCP connects agents to tool servers; A2A connects agents to other agents. Authentication, approval, validation, and audit evidence define safe tool use. Transition to the next section by saying: Next: multi-agent architecture and A2A.. Invite learners to pause if any takeaway is unclear because each later section builds on this foundation.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Open Section 7: Multi-Agent Architecture and A2A. Design multi-agent systems only when specialization, delegation, and governance justify the complexity. Use the slide as a clean transition. State how the section moves the learner forward and what practical judgment they should improve by the end of the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This overview prepares learners for Section 7: Multi-Agent Architecture and A2A. Walk through the learning path without turning it into a full roadmap lecture. Keep the focus on why the section matters and how the later demonstration or lab will make the platform concept concrete. By the end of this section, learners should be able to judge whether a multi-agent architecture is justified..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When Enterprise Solutions Need Multiple AI Agents. Multiple agents are useful when specialization creates a measurable advantage. The main points are: 1) Use specialists when roles, tools, data, or approvals differ significantly. 2) Avoid multi-agent designs when a single agent and deterministic workflow is simpler. 3) Define ownership boundaries before agents delegate work to each other. 4) Plan observability across handoffs, not only final answers. 5) Expect cost and latency to increase with unnecessary delegation.
Use this slide to anchor the learner in the enterprise platform decision, not in low-level implementation details. Explain each point in business and architecture terms, then connect it to the course scenario: a team needs agents that can be trusted, grounded, monitored, and governed. Avoid reading the bullets verbatim. Emphasize what the learner should be able to decide or validate after this slide.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Multi-Agent Anti-Patterns. Recognize designs that look impressive but are hard to trust. The main points are: 1) Agents hand off work without a clear business reason. 2) Every agent can call every tool. 3) No one can explain why the final answer was produced. 4) Failures are hidden inside agent-to-agent chatter. 5) Human approval is missing from high-impact decisions.
Use this slide to anchor the learner in the enterprise platform decision, not in low-level implementation details. Explain each point in business and architecture terms, then connect it to the course scenario: a team needs agents that can be trusted, grounded, monitored, and governed. Avoid reading the bullets verbatim. Emphasize what the learner should be able to decide or validate after this slide.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Microsoft Agent Framework and the Semantic Kernel Transition. Microsoft Agent Framework is the strategic successor path for many agent patterns. The main points are: 1) Semantic Kernel and AutoGen shaped earlier agent and orchestration work. 2) Agent Framework brings together enterprise controls and agent abstractions. 3) Existing Semantic Kernel investments should be evaluated, not discarded blindly. 4) The course explains the transition without teaching framework coding. 5) Current package and SDK details should always be checked in Microsoft Learn.
Use this slide to anchor the learner in the enterprise platform decision, not in low-level implementation details. Explain each point in business and architecture terms, then connect it to the course scenario: a team needs agents that can be trusted, grounded, monitored, and governed. Avoid reading the bullets verbatim. Emphasize what the learner should be able to decide or validate after this slide. 
Source hook: Microsoft Learn — Microsoft Agent Framework overview.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How to Discuss Existing Investments. Enterprise teams need a practical transition message. The main points are: 1) Inventory current Semantic Kernel or AutoGen solutions. 2) Identify which concepts carry forward: state, tools, orchestration, telemetry. 3) Avoid rewriting working systems without a business driver. 4) Use new projects to evaluate current Foundry and Agent Framework direction. 5) Record preview dependencies before planning production adoption.
Use this slide to anchor the learner in the enterprise platform decision, not in low-level implementation details. Explain each point in business and architecture terms, then connect it to the course scenario: a team needs agents that can be trusted, grounded, monitored, and governed. Avoid reading the bullets verbatim. Emphasize what the learner should be able to decide or validate after this slide.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Agent2Agent Protocol: Discovery, Delegation, and Trust. A2A lets agents expose skills and delegate work through a defined endpoint. The main points are: 1) Agent cards describe what an agent can do and how to reach it. 2) Skills define the capabilities another agent may request. 3) Authentication protects the endpoint from unauthorized callers. 4) Delegation should be traceable across the requesting and responding agents. 5) A2A is treated carefully because capabilities and portal support can evolve.
Use this slide to anchor the learner in the enterprise platform decision, not in low-level implementation details. Explain each point in business and architecture terms, then connect it to the course scenario: a team needs agents that can be trusted, grounded, monitored, and governed. Avoid reading the bullets verbatim. Emphasize what the learner should be able to decide or validate after this slide. 
Source hook: Microsoft Learn — Enable incoming A2A; Connect to A2A endpoint.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A2A Trust Boundaries. Agent-to-agent communication introduces a new operating boundary. The main points are: 1) Which agent is allowed to call the endpoint? 2) Which skills are exposed through the agent card? 3) Which identity is used for the delegated request? 4) What data crosses the boundary? 5) How is the handoff logged and monitored?
Use this slide to anchor the learner in the enterprise platform decision, not in low-level implementation details. Explain each point in business and architecture terms, then connect it to the course scenario: a team needs agents that can be trusted, grounded, monitored, and governed. Avoid reading the bullets verbatim. Emphasize what the learner should be able to decide or validate after this slide.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Guided Exercise: Connect Specialist Agents with A2A. This is a constrained demonstration using supplied REST or PowerShell, not a coding lesson. The main points are: 1) Use the supplied command to expose or connect an A2A endpoint as required. 2) Inspect the agent card and the declared skills. 3) Connect one specialist agent to another controlled endpoint. 4) Send a request that requires delegation. 5) Review the result and the trust boundary.
Use this slide to anchor the learner in the enterprise platform decision, not in low-level implementation details. Explain each point in business and architecture terms, then connect it to the course scenario: a team needs agents that can be trusted, grounded, monitored, and governed. Avoid reading the bullets verbatim. Emphasize what the learner should be able to decide or validate after this slide. 
Teaching cue: This lesson includes an on-screen demonstration. Switch from slides to the current portal only after the architecture point is clear.
Source hook: Microsoft Learn — Enable incoming A2A on a Foundry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A2A Demonstration Validation. Validation focuses on what the architecture proves, not on writing code. The main points are: 1) The endpoint or tool connection is created with the supplied command. 2) The agent card shows the intended specialist capability. 3) Authentication and endpoint values are not exposed carelessly. 4) The caller delegates only the intended task. 5) The final response shows controlled specialist involvement.
Use this slide to anchor the learner in the enterprise platform decision, not in low-level implementation details. Explain each point in business and architecture terms, then connect it to the course scenario: a team needs agents that can be trusted, grounded, monitored, and governed. Avoid reading the bullets verbatim. Emphasize what the learner should be able to decide or validate after this slide.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Use this review slide to check understanding before moving on. The four takeaways are: Use multiple agents only when specialization creates real value. Agent Framework is the strategic path, but this course avoids SDK implementation. A2A is about agent-to-agent discovery and delegation, not ordinary tool calling. Trust boundaries and handoff observability are central to multi-agent design. Transition to the next section by saying: Next: LLMOps, evaluation, and observability.. Invite learners to pause if any takeaway is unclear because each later section builds on this foundation.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Open Section 8: LLMOps, Evaluation, and Observability. Add the operating lifecycle after agents, knowledge, and tools exist. Use the slide as a clean transition. State how the section moves the learner forward and what practical judgment they should improve by the end of the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This overview prepares learners for Section 8: LLMOps, Evaluation, and Observability. Walk through the learning path without turning it into a full roadmap lecture. Keep the focus on why the section matters and how the later demonstration or lab will make the platform concept concrete. By the end of this section, learners should be able to explain how an agent is tested and observed before production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Modern LLMOps for Microsoft Foundry Agents. LLMOps is the change-control discipline for agent behavior. The main points are: 1) Version model deployments, instructions, knowledge, tools, and agent endpoints. 2) Test changes before publishing to intended consumers. 3) Use evaluations to catch regressions in quality and safety. 4) Approve releases using evidence rather than confidence alone. 5) Rollback when quality, safety, or cost behavior degrades.
Use this slide to anchor the learner in the enterprise platform decision, not in low-level implementation details. Explain each point in business and architecture terms, then connect it to the course scenario: a team needs agents that can be trusted, grounded, monitored, and governed. Avoid reading the bullets verbatim. Emphasize what the learner should be able to decide or validate after this slide. 
Source hook: Microsoft Learn — Prompt Flow migration overview; Foundry Agent development lifecycle.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Agent Release Lifecycle. A governed release path prevents silent behavior drift. The main points are: 1) Draft: versioned change 2) Evaluate: dataset + metrics 3) Review: risk + access 4) Publish: approved endpoint 5) Monitor: signals 6) Rollback: criteria
Use this slide to anchor the learner in the enterprise platform decision, not in low-level implementation details. Explain each point in business and architecture terms, then connect it to the course scenario: a team needs agents that can be trusted, grounded, monitored, and governed. Avoid reading the bullets verbatim. Emphasize what the learner should be able to decide or validate after this slide. 
Source hook: Microsoft Learn — evaluate agents and monitor agents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Evaluate AI Agents with Datasets, Metrics, and Quality Gates. Evaluation converts vague quality concerns into reviewable evidence. The main points are: 1) Use representative test cases, not only happy-path prompts. 2) Measure groundedness, relevance, task completion, and safety. 3) Track tool-call success and misuse risk. 4) Include latency and cost where they affect business viability. 5) Define thresholds before promoting the agent version.
Use this slide to anchor the learner in the enterprise platform decision, not in low-level implementation details. Explain each point in business and architecture terms, then connect it to the course scenario: a team needs agents that can be trusted, grounded, monitored, and governed. Avoid reading the bullets verbatim. Emphasize what the learner should be able to decide or validate after this slide. 
Source hook: Microsoft Learn — Evaluate AI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Evaluation Dataset Design. A good dataset reflects the real work users expect from the agent. The main points are: 1) Include common questions users will ask every day. 2) Include edge cases and ambiguous requests. 3) Include prohibited requests that should be refused or escalated. 4) Include knowledge-grounded questions with expected citations. 5) Include tool-use scenarios with expected actions and limits.
Use this slide to anchor the learner in the enterprise platform decision, not in low-level implementation details. Explain each point in business and architecture terms, then connect it to the course scenario: a team needs agents that can be trusted, grounded, monitored, and governed. Avoid reading the bullets verbatim. Emphasize what the learner should be able to decide or validate after this slide.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Monitor Agent Quality, Performance, and Cost. Monitoring shows how the agent behaves after users begin relying on it. The main points are: 1) Track token usage, latency, failures, and success rates. 2) Review evaluation trends and production-quality signals. 3) Inspect tool activity and unexpected tool-call patterns. 4) Use telemetry to diagnose quality and cost changes. 5) Escalate incidents when behavior crosses defined thresholds.
Use this slide to anchor the learner in the enterprise platform decision, not in low-level implementation details. Explain each point in business and architecture terms, then connect it to the course scenario: a team needs agents that can be trusted, grounded, monitored, and governed. Avoid reading the bullets verbatim. Emphasize what the learner should be able to decide or validate after this slide. 
Teaching cue: This lesson includes an on-screen demonstration. Switch from slides to the current portal only after the architecture point is clear.
Source hook: Microsoft Learn — Monitor agents with the Agent Monitoring Dashboard; tracing in Foundry.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Operational Signals to Watch. Monitoring should connect signals to decisions. The main points are: 1) Token spikes may signal prompt bloat, tool loops, or abuse. 2) Latency increases may signal retrieval, tool, or model throughput issues. 3) Failure rates may signal configuration or dependency problems. 4) Evaluation drift may signal instruction, knowledge, or model regression. 5) Tool anomalies may signal misuse or unintended capability exposure.
Use this slide to anchor the learner in the enterprise platform decision, not in low-level implementation details. Explain each point in business and architecture terms, then connect it to the course scenario: a team needs agents that can be trusted, grounded, monitored, and governed. Avoid reading the bullets verbatim. Emphasize what the learner should be able to decide or validate after this slide.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AI Red Teaming, Safety Testing, and Incident Response. Safety testing looks for harmful behavior before real users find it. The main points are: 1) Test prompt injection, data leakage, and unsafe completion behavior. 2) Test excessive agency and tool misuse. 3) Test denial-of-service style inputs and runaway behavior. 4) Define escalation and shutdown procedures before production release. 5) Use human review for high-impact safety findings.
Use this slide to anchor the learner in the enterprise platform decision, not in low-level implementation details. Explain each point in business and architecture terms, then connect it to the course scenario: a team needs agents that can be trusted, grounded, monitored, and governed. Avoid reading the bullets verbatim. Emphasize what the learner should be able to decide or validate after this slide. 
Source hook: Microsoft Learn — AI Red Teaming Agent and risk/safety evaluators.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Incident Response for Agents. An AI incident response plan must handle quality, safety, security, and cost. The main points are: 1) Identify the affected agent, version, model, knowledge base, or tool. 2) Preserve logs, traces, prompts, citations, and tool-call evidence. 3) Disable or roll back unsafe versions when needed. 4) Update evaluations so the issue does not return silently. 5) Communicate user impact and remediation clearly.
Use this slide to anchor the learner in the enterprise platform decision, not in low-level implementation details. Explain each point in business and architecture terms, then connect it to the course scenario: a team needs agents that can be trusted, grounded, monitored, and governed. Avoid reading the bullets verbatim. Emphasize what the learner should be able to decide or validate after this slide.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Lab: Evaluate and Monitor an Enterprise Agent. This lab uses supplied data to test and inspect agent behavior. The main points are: 1) Run the supplied evaluation dataset. 2) Review groundedness, relevance, task completion, and safety results. 3) Inspect token usage, latency, failures, and tool activity. 4) Identify a failing behavior or weak configuration. 5) Verify the corrected version meets the threshold.
Use this slide to anchor the learner in the enterprise platform decision, not in low-level implementation details. Explain each point in business and architecture terms, then connect it to the course scenario: a team needs agents that can be trusted, grounded, monitored, and governed. Avoid reading the bullets verbatim. Emphasize what the learner should be able to decide or validate after this slide. 
Teaching cue: This is a Lecture With Lab. Start with the goal, show the expected result, then move through the workspace tasks. Keep the focus on configuration and validation rather than code.
Source hook: Microsoft Learn — Evaluate AI agents; Monitor agents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Lab Validation Checklist. Evaluation and monitoring evidence should support a release decision. The main points are: 1) The dataset runs successfully against the selected agent. 2) The quality metrics are visible and understandable. 3) At least one weak behavior is diagnosed. 4) The corrected configuration improves the result. 5) The learner can explain whether the agent should be promoted.
Use this slide to anchor the learner in the enterprise platform decision, not in low-level implementation details. Explain each point in business and architecture terms, then connect it to the course scenario: a team needs agents that can be trusted, grounded, monitored, and governed. Avoid reading the bullets verbatim. Emphasize what the learner should be able to decide or validate after this slide. 
Teaching cue: This is a Lecture With Lab. Start with the goal, show the expected result, then move through the workspace tasks. Keep the focus on configuration and validation rather than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Use this review slide to check understanding before moving on. The four takeaways are: LLMOps treats agent behavior as a managed lifecycle. Evaluations create evidence for quality, safety, and task success. Monitoring connects runtime signals to operational decisions. Safety testing and incident response must exist before production dependence. Transition to the next section by saying: Next: enterprise governance and production readiness.. Invite learners to pause if any takeaway is unclear because each later section builds on this foundation.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Open Section 9: Enterprise Governance and Production Readiness. Move from project-level configuration to enterprise-level visibility, policy, compliance, and release readiness. Use the slide as a clean transition. State how the section moves the learner forward and what practical judgment they should improve by the end of the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This overview prepares learners for Section 9: Enterprise Governance and Production Readiness. Walk through the learning path without turning it into a full roadmap lecture. Keep the focus on why the section matters and how the later demonstration or lab will make the platform concept concrete. By the end of this section, learners should be able to review whether an agent architecture is ready for enterprise operation..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Foundry Control Plane: Govern Enterprise AI at Scale. Control Plane gives enterprise teams visibility and control across AI assets. The main points are: 1) View agents, models, and tools across the enterprise estate. 2) Track health, compliance, cost, token usage, and lifecycle status. 3) Register and govern agents built outside the immediate project boundary. 4) Support governance as agent adoption scales across teams. 5) Use the operating model without depending on one fragile UI path.
Use this slide to anchor the learner in the enterprise platform decision, not in low-level implementation details. Explain each point in business and architecture terms, then connect it to the course scenario: a team needs agents that can be trusted, grounded, monitored, and governed. Avoid reading the bullets verbatim. Emphasize what the learner should be able to decide or validate after this slide. 
Teaching cue: This lesson includes an on-screen demonstration. Switch from slides to the current portal only after the architecture point is clear.
Source hook: Microsoft Learn — Foundry Control Plane overview.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Control Plane Operating Model. Governance requires clear roles and repeatable routines. The main points are: 1) Platform owners define standards and guardrails. 2) Project owners manage agent configuration and release readiness. 3) Security teams review identity, tools, data access, and policy posture. 4) Operations teams monitor health, cost, and incident signals. 5) Business owners define acceptable quality and escalation expectations.
Use this slide to anchor the learner in the enterprise platform decision, not in low-level implementation details. Explain each point in business and architecture terms, then connect it to the course scenario: a team needs agents that can be trusted, grounded, monitored, and governed. Avoid reading the bullets verbatim. Emphasize what the learner should be able to decide or validate after this slide.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Azure Policy, Guardrails, AI Gateway, Defender, and Purview. Governance is a layered control system around agents, data, models, and tools. The main points are: 1) Azure Policy helps enforce allowed configurations at scale. 2) Guardrails and content safety controls reduce unsafe inputs and outputs. 3) AI Gateway centralizes access, routing, and control patterns. 4) Defender contributes threat detection and security posture visibility. 5) Purview supports sensitive-data and compliance governance.
Use this slide to anchor the learner in the enterprise platform decision, not in low-level implementation details. Explain each point in business and architecture terms, then connect it to the course scenario: a team needs agents that can be trusted, grounded, monitored, and governed. Avoid reading the bullets verbatim. Emphasize what the learner should be able to decide or validate after this slide. 
Source hook: Microsoft Learn — Control Plane overview; Responsible AI and observability concepts.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Governance Control Map. Map controls to the risks they reduce. The main points are: 1) Identity controls reduce unauthorized access. 2) Policy controls reduce configuration drift. 3) Gateway controls reduce unmanaged endpoint usage. 4) Defender controls reduce security blind spots. 5) Purview controls reduce sensitive-data exposure.
Use this slide to anchor the learner in the enterprise platform decision, not in low-level implementation details. Explain each point in business and architecture terms, then connect it to the course scenario: a team needs agents that can be trusted, grounded, monitored, and governed. Avoid reading the bullets verbatim. Emphasize what the learner should be able to decide or validate after this slide.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Capstone: Design a Governed Enterprise Agent Architecture. The capstone ties together the course into one reviewable architecture. The main points are: 1) Start with a Foundry resource and project boundary. 2) Deploy an appropriate model and secure access. 3) Create a prompt agent with reliable instructions and publishing controls. 4) Ground the agent with Foundry IQ and citations. 5) Connect approved tools, evaluate behavior, monitor operations, and govern the fleet.
Use this slide to anchor the learner in the enterprise platform decision, not in low-level implementation details. Explain each point in business and architecture terms, then connect it to the course scenario: a team needs agents that can be trusted, grounded, monitored, and governed. Avoid reading the bullets verbatim. Emphasize what the learner should be able to decide or validate after this slide.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Capstone Review Questions. Use these questions to test the architecture before calling it production-ready. The main points are: 1) Which identity can create, configure, publish, and invoke the agent? 2) Which knowledge sources and tools can the agent access? 3) Which actions require approval or human escalation? 4) Which evaluations prove the agent is reliable enough? 5) Which monitoring and governance controls detect problems after release?
Use this slide to anchor the learner in the enterprise platform decision, not in low-level implementation details. Explain each point in business and architecture terms, then connect it to the course scenario: a team needs agents that can be trusted, grounded, monitored, and governed. Avoid reading the bullets verbatim. Emphasize what the learner should be able to decide or validate after this slide.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Production Readiness and Microsoft Foundry Maintenance Roadmap. Production readiness is a repeatable operating discipline. The main points are: 1) Document owners for models, agents, knowledge, tools, and evaluations. 2) Identify preview dependencies and review them before release. 3) Define update cadence for Microsoft Learn, SDKs, portal changes, and labs. 4) Plan monitoring, incident response, and rollback routines. 5) Review cost, quota, and governance posture regularly.
Use this slide to anchor the learner in the enterprise platform decision, not in low-level implementation details. Explain each point in business and architecture terms, then connect it to the course scenario: a team needs agents that can be trusted, grounded, monitored, and governed. Avoid reading the bullets verbatim. Emphasize what the learner should be able to decide or validate after this slide.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Preview Dependency Review. Do not hide preview status from learners or production reviewers. The main points are: 1) Identify which capabilities are preview at recording time. 2) Explain why the capability is included despite its status. 3) Avoid making preview features the only path through a required lab. 4) Provide a fallback explanation when the portal experience changes. 5) Recheck Microsoft Learn before recording or updating the lesson.
Use this slide to anchor the learner in the enterprise platform decision, not in low-level implementation details. Explain each point in business and architecture terms, then connect it to the course scenario: a team needs agents that can be trusted, grounded, monitored, and governed. Avoid reading the bullets verbatim. Emphasize what the learner should be able to decide or validate after this slide.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Use this review slide to check understanding before moving on. The four takeaways are: Control Plane provides enterprise-scale visibility and governance. Policy, guardrails, gateway, Defender, and Purview address different risk layers. The capstone architecture must explain identity, knowledge, tools, evaluation, and monitoring. Production readiness includes ownership, preview status, cost, rollback, and maintenance. Transition to the next section by saying: Next: course wrap-up.. Invite learners to pause if any takeaway is unclear because each later section builds on this foundation.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Open Section 10: Course Wrap Up and Conclusion. Reinforce the final architecture model and point learners toward safe continued practice. Use the slide as a clean transition. State how the section moves the learner forward and what practical judgment they should improve by the end of the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Course Conclusion. The course outcome is a practical mental model for governed enterprise agents. The main points are: 1) Foundry provides the platform boundary for enterprise AI assets. 2) Agents become useful when they are grounded, tooled, evaluated, and governed. 3) Identity, data access, and tool permissions shape what an agent can safely do. 4) Monitoring and evaluations turn agent behavior into operational evidence. 5) The architecture must be maintained as Microsoft Foundry evolves.
Use this slide to anchor the learner in the enterprise platform decision, not in low-level implementation details. Explain each point in business and architecture terms, then connect it to the course scenario: a team needs agents that can be trusted, grounded, monitored, and governed. Avoid reading the bullets verbatim. Emphasize what the learner should be able to decide or validate after this slide.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Next Steps. Continue learning with focused practice and current Microsoft Learn documentation. The main points are: 1) Repeat the labs in a personal or enterprise-safe Azure environment. 2) Track Microsoft Learn updates for Foundry, Agent Service, IQ, tools, and Control Plane. 3) Review your organization’s identity, policy, data, and security requirements. 4) Build a small internal proof of governance before scaling agent usage. 5) Use the capstone checklist to review future projects.
Use this slide to anchor the learner in the enterprise platform decision, not in low-level implementation details. Explain each point in business and architecture terms, then connect it to the course scenario: a team needs agents that can be trusted, grounded, monitored, and governed. Avoid reading the bullets verbatim. Emphasize what the learner should be able to decide or validate after this slide.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Open Section 11: Bonus Lecture. Use the bonus lecture for maintained resources, related learning paths, and appropriate next-course direction. Use the slide as a clean transition. State how the section moves the learner forward and what practical judgment they should improve by the end of the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
Bonus Lecture. Use this lecture only for appropriate bonus resources and next-course direction. The main points are: 1) Point learners to maintained resources rather than stale download links. 2) Explain how to find current Microsoft Learn modules. 3) Recommend responsible experimentation in non-production environments. 4) Connect this course to deeper development, security, or DevOps learning paths. 5) Keep promotional content brief and learner-centered.
Use this slide to anchor the learner in the enterprise platform decision, not in low-level implementation details. Explain each point in business and architecture terms, then connect it to the course scenario: a team needs agents that can be trusted, grounded, monitored, and governed. Avoid reading the bullets verbatim. Emphasize what the learner should be able to decide or validate after this slide.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png"/><Relationship Id="rId2" Type="http://schemas.openxmlformats.org/officeDocument/2006/relationships/slideLayout" Target="../slideLayouts/slideLayout1.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image" Target="../media/image-96-1.png"/><Relationship Id="rId2" Type="http://schemas.openxmlformats.org/officeDocument/2006/relationships/slideLayout" Target="../slideLayouts/slideLayout1.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image" Target="../media/image-107-1.png"/><Relationship Id="rId2" Type="http://schemas.openxmlformats.org/officeDocument/2006/relationships/slideLayout" Target="../slideLayouts/slideLayout1.xml"/><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image" Target="../media/image-110-1.png"/><Relationship Id="rId2" Type="http://schemas.openxmlformats.org/officeDocument/2006/relationships/slideLayout" Target="../slideLayouts/slideLayout1.xml"/><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320040"/>
            <a:ext cx="347472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Program Introduction</a:t>
            </a:r>
            <a:endParaRPr lang="en-US" sz="1350" dirty="0"/>
          </a:p>
        </p:txBody>
      </p:sp>
      <p:sp>
        <p:nvSpPr>
          <p:cNvPr id="6" name="Text 4"/>
          <p:cNvSpPr/>
          <p:nvPr/>
        </p:nvSpPr>
        <p:spPr>
          <a:xfrm>
            <a:off x="658368" y="1234440"/>
            <a:ext cx="6949440" cy="1234440"/>
          </a:xfrm>
          <a:prstGeom prst="rect">
            <a:avLst/>
          </a:prstGeom>
          <a:noFill/>
          <a:ln/>
        </p:spPr>
        <p:txBody>
          <a:bodyPr wrap="square" lIns="0" tIns="0" rIns="0" bIns="0" rtlCol="0" anchor="ctr"/>
          <a:lstStyle/>
          <a:p>
            <a:pPr indent="0" marL="0">
              <a:buNone/>
            </a:pPr>
            <a:r>
              <a:rPr lang="en-US" sz="3400" dirty="0">
                <a:solidFill>
                  <a:srgbClr val="172033"/>
                </a:solidFill>
                <a:latin typeface="Aptos Display" pitchFamily="34" charset="0"/>
                <a:ea typeface="Aptos Display" pitchFamily="34" charset="-122"/>
                <a:cs typeface="Aptos Display" pitchFamily="34" charset="-120"/>
              </a:rPr>
              <a:t>Microsoft Foundry for</a:t>
            </a:r>
            <a:endParaRPr lang="en-US" sz="3400" dirty="0"/>
          </a:p>
          <a:p>
            <a:pPr indent="0" marL="0">
              <a:buNone/>
            </a:pPr>
            <a:r>
              <a:rPr lang="en-US" sz="3400" dirty="0">
                <a:solidFill>
                  <a:srgbClr val="172033"/>
                </a:solidFill>
                <a:latin typeface="Aptos Display" pitchFamily="34" charset="0"/>
                <a:ea typeface="Aptos Display" pitchFamily="34" charset="-122"/>
                <a:cs typeface="Aptos Display" pitchFamily="34" charset="-120"/>
              </a:rPr>
              <a:t>Enterprise AI Agents</a:t>
            </a:r>
            <a:endParaRPr lang="en-US" sz="3400" dirty="0"/>
          </a:p>
        </p:txBody>
      </p:sp>
      <p:sp>
        <p:nvSpPr>
          <p:cNvPr id="7" name="Text 5"/>
          <p:cNvSpPr/>
          <p:nvPr/>
        </p:nvSpPr>
        <p:spPr>
          <a:xfrm>
            <a:off x="658368" y="2743200"/>
            <a:ext cx="7040880" cy="475488"/>
          </a:xfrm>
          <a:prstGeom prst="rect">
            <a:avLst/>
          </a:prstGeom>
          <a:noFill/>
          <a:ln/>
        </p:spPr>
        <p:txBody>
          <a:bodyPr wrap="square" lIns="0" tIns="0" rIns="0" bIns="0" rtlCol="0" anchor="ctr"/>
          <a:lstStyle/>
          <a:p>
            <a:pPr indent="0" marL="0">
              <a:buNone/>
            </a:pPr>
            <a:r>
              <a:rPr lang="en-US" sz="1600" dirty="0">
                <a:solidFill>
                  <a:srgbClr val="6B7280"/>
                </a:solidFill>
                <a:latin typeface="Aptos" pitchFamily="34" charset="0"/>
                <a:ea typeface="Aptos" pitchFamily="34" charset="-122"/>
                <a:cs typeface="Aptos" pitchFamily="34" charset="-120"/>
              </a:rPr>
              <a:t>Build, ground, connect, monitor, and govern enterprise AI agents with Microsoft Foundry.</a:t>
            </a:r>
            <a:endParaRPr lang="en-US" sz="1600" dirty="0"/>
          </a:p>
        </p:txBody>
      </p:sp>
      <p:sp>
        <p:nvSpPr>
          <p:cNvPr id="8" name="Text 6"/>
          <p:cNvSpPr/>
          <p:nvPr/>
        </p:nvSpPr>
        <p:spPr>
          <a:xfrm>
            <a:off x="658368" y="4709160"/>
            <a:ext cx="4389120" cy="320040"/>
          </a:xfrm>
          <a:prstGeom prst="rect">
            <a:avLst/>
          </a:prstGeom>
          <a:noFill/>
          <a:ln/>
        </p:spPr>
        <p:txBody>
          <a:bodyPr wrap="square" lIns="0" tIns="0" rIns="0" bIns="0" rtlCol="0" anchor="ctr"/>
          <a:lstStyle/>
          <a:p>
            <a:pPr indent="0" marL="0">
              <a:buNone/>
            </a:pPr>
            <a:r>
              <a:rPr lang="en-US" sz="1800" b="1" dirty="0">
                <a:solidFill>
                  <a:srgbClr val="172033"/>
                </a:solidFill>
                <a:latin typeface="Aptos" pitchFamily="34" charset="0"/>
                <a:ea typeface="Aptos" pitchFamily="34" charset="-122"/>
                <a:cs typeface="Aptos" pitchFamily="34" charset="-120"/>
              </a:rPr>
              <a:t>Trevoir Williams</a:t>
            </a:r>
            <a:endParaRPr lang="en-US" sz="1800" dirty="0"/>
          </a:p>
        </p:txBody>
      </p:sp>
      <p:sp>
        <p:nvSpPr>
          <p:cNvPr id="9" name="Text 7"/>
          <p:cNvSpPr/>
          <p:nvPr/>
        </p:nvSpPr>
        <p:spPr>
          <a:xfrm>
            <a:off x="658368" y="5074920"/>
            <a:ext cx="5852160" cy="274320"/>
          </a:xfrm>
          <a:prstGeom prst="rect">
            <a:avLst/>
          </a:prstGeom>
          <a:noFill/>
          <a:ln/>
        </p:spPr>
        <p:txBody>
          <a:bodyPr wrap="square" lIns="0" tIns="0" rIns="0" bIns="0" rtlCol="0" anchor="ctr"/>
          <a:lstStyle/>
          <a:p>
            <a:pPr indent="0" marL="0">
              <a:buNone/>
            </a:pPr>
            <a:r>
              <a:rPr lang="en-US" sz="1350" dirty="0">
                <a:solidFill>
                  <a:srgbClr val="6B7280"/>
                </a:solidFill>
                <a:latin typeface="Aptos" pitchFamily="34" charset="0"/>
                <a:ea typeface="Aptos" pitchFamily="34" charset="-122"/>
                <a:cs typeface="Aptos" pitchFamily="34" charset="-120"/>
              </a:rPr>
              <a:t>Software Engineer | Microsoft Certified Trainer | Author</a:t>
            </a:r>
            <a:endParaRPr lang="en-US" sz="1350" dirty="0"/>
          </a:p>
        </p:txBody>
      </p:sp>
      <p:pic>
        <p:nvPicPr>
          <p:cNvPr id="10" name="Image 0" descr="/mnt/data/ref_pptx/ppt/media/image1.png">    </p:cNvPr>
          <p:cNvPicPr>
            <a:picLocks noChangeAspect="1"/>
          </p:cNvPicPr>
          <p:nvPr/>
        </p:nvPicPr>
        <p:blipFill>
          <a:blip r:embed="rId1"/>
          <a:stretch>
            <a:fillRect/>
          </a:stretch>
        </p:blipFill>
        <p:spPr>
          <a:xfrm>
            <a:off x="8046720" y="1051560"/>
            <a:ext cx="2468880" cy="24688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Program Introduction</a:t>
            </a:r>
            <a:endParaRPr lang="en-US" sz="1350" dirty="0"/>
          </a:p>
        </p:txBody>
      </p:sp>
      <p:sp>
        <p:nvSpPr>
          <p:cNvPr id="6" name="Text 4"/>
          <p:cNvSpPr/>
          <p:nvPr/>
        </p:nvSpPr>
        <p:spPr>
          <a:xfrm>
            <a:off x="658368" y="1234440"/>
            <a:ext cx="5486400" cy="914400"/>
          </a:xfrm>
          <a:prstGeom prst="rect">
            <a:avLst/>
          </a:prstGeom>
          <a:noFill/>
          <a:ln/>
        </p:spPr>
        <p:txBody>
          <a:bodyPr wrap="square" lIns="0" tIns="0" rIns="0" bIns="0" rtlCol="0" anchor="ctr"/>
          <a:lstStyle/>
          <a:p>
            <a:pPr indent="0" marL="0">
              <a:buNone/>
            </a:pPr>
            <a:r>
              <a:rPr lang="en-US" sz="3200" dirty="0">
                <a:solidFill>
                  <a:srgbClr val="172033"/>
                </a:solidFill>
                <a:latin typeface="Aptos Display" pitchFamily="34" charset="0"/>
                <a:ea typeface="Aptos Display" pitchFamily="34" charset="-122"/>
                <a:cs typeface="Aptos Display" pitchFamily="34" charset="-120"/>
              </a:rPr>
              <a:t>HELLO! I am Trevoir</a:t>
            </a:r>
            <a:endParaRPr lang="en-US" sz="3200" dirty="0"/>
          </a:p>
          <a:p>
            <a:pPr indent="0" marL="0">
              <a:buNone/>
            </a:pPr>
            <a:r>
              <a:rPr lang="en-US" sz="3200" dirty="0">
                <a:solidFill>
                  <a:srgbClr val="172033"/>
                </a:solidFill>
                <a:latin typeface="Aptos Display" pitchFamily="34" charset="0"/>
                <a:ea typeface="Aptos Display" pitchFamily="34" charset="-122"/>
                <a:cs typeface="Aptos Display" pitchFamily="34" charset="-120"/>
              </a:rPr>
              <a:t>Williams</a:t>
            </a:r>
            <a:endParaRPr lang="en-US" sz="3200" dirty="0"/>
          </a:p>
        </p:txBody>
      </p:sp>
      <p:sp>
        <p:nvSpPr>
          <p:cNvPr id="7" name="Text 5"/>
          <p:cNvSpPr/>
          <p:nvPr/>
        </p:nvSpPr>
        <p:spPr>
          <a:xfrm>
            <a:off x="658368" y="2331720"/>
            <a:ext cx="6400800" cy="365760"/>
          </a:xfrm>
          <a:prstGeom prst="rect">
            <a:avLst/>
          </a:prstGeom>
          <a:noFill/>
          <a:ln/>
        </p:spPr>
        <p:txBody>
          <a:bodyPr wrap="square" lIns="0" tIns="0" rIns="0" bIns="0" rtlCol="0" anchor="ctr"/>
          <a:lstStyle/>
          <a:p>
            <a:pPr indent="0" marL="0">
              <a:buNone/>
            </a:pPr>
            <a:r>
              <a:rPr lang="en-US" sz="1600" dirty="0">
                <a:solidFill>
                  <a:srgbClr val="6B7280"/>
                </a:solidFill>
                <a:latin typeface="Aptos" pitchFamily="34" charset="0"/>
                <a:ea typeface="Aptos" pitchFamily="34" charset="-122"/>
                <a:cs typeface="Aptos" pitchFamily="34" charset="-120"/>
              </a:rPr>
              <a:t>Software Engineer | Author | Microsoft Certified Trainer</a:t>
            </a:r>
            <a:endParaRPr lang="en-US" sz="1600" dirty="0"/>
          </a:p>
        </p:txBody>
      </p:sp>
      <p:pic>
        <p:nvPicPr>
          <p:cNvPr id="8" name="Image 0" descr="/mnt/data/ref_pptx/ppt/media/image2.png">    </p:cNvPr>
          <p:cNvPicPr>
            <a:picLocks noChangeAspect="1"/>
          </p:cNvPicPr>
          <p:nvPr/>
        </p:nvPicPr>
        <p:blipFill>
          <a:blip r:embed="rId1"/>
          <a:stretch>
            <a:fillRect/>
          </a:stretch>
        </p:blipFill>
        <p:spPr>
          <a:xfrm>
            <a:off x="8092440" y="777240"/>
            <a:ext cx="2057400" cy="2057400"/>
          </a:xfrm>
          <a:prstGeom prst="ellipse">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Program Introduction</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Course Objectives</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What you will be able to explain, configure, and evaluate by the end of the course.</a:t>
            </a:r>
            <a:endParaRPr lang="en-US" sz="1500" dirty="0"/>
          </a:p>
        </p:txBody>
      </p:sp>
      <p:sp>
        <p:nvSpPr>
          <p:cNvPr id="8" name="Text 6"/>
          <p:cNvSpPr/>
          <p:nvPr/>
        </p:nvSpPr>
        <p:spPr>
          <a:xfrm>
            <a:off x="658368" y="1965960"/>
            <a:ext cx="8001000" cy="3429000"/>
          </a:xfrm>
          <a:prstGeom prst="rect">
            <a:avLst/>
          </a:prstGeom>
          <a:noFill/>
          <a:ln/>
        </p:spPr>
        <p:txBody>
          <a:bodyPr wrap="square" lIns="254" tIns="254" rIns="254" bIns="254" rtlCol="0" anchor="ctr">
            <a:normAutofit/>
          </a:bodyPr>
          <a:lstStyle/>
          <a:p>
            <a:pPr indent="0" marL="0">
              <a:buNone/>
            </a:pPr>
            <a:r>
              <a:rPr lang="en-US" sz="1850" dirty="0">
                <a:solidFill>
                  <a:srgbClr val="303846"/>
                </a:solidFill>
                <a:latin typeface="Aptos" pitchFamily="34" charset="0"/>
                <a:ea typeface="Aptos" pitchFamily="34" charset="-122"/>
                <a:cs typeface="Aptos" pitchFamily="34" charset="-120"/>
              </a:rPr>
              <a:t>▸ Explain the current Microsoft Foundry resource and project model.</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Provision Foundry projects, model deployments, and secure access boundaries.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Create governed prompt agents and connect them to knowledge and tools.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Use Foundry IQ, MCP, A2A, evaluation, monitoring, and governance concepts responsibly.</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Review an enterprise-ready agent architecture with production controls.</a:t>
            </a:r>
            <a:endParaRPr lang="en-US" sz="1850" dirty="0"/>
          </a:p>
        </p:txBody>
      </p:sp>
      <p:sp>
        <p:nvSpPr>
          <p:cNvPr id="9" name="Shape 7"/>
          <p:cNvSpPr/>
          <p:nvPr/>
        </p:nvSpPr>
        <p:spPr>
          <a:xfrm>
            <a:off x="9144000" y="1965960"/>
            <a:ext cx="2331720" cy="1243584"/>
          </a:xfrm>
          <a:prstGeom prst="rect">
            <a:avLst/>
          </a:prstGeom>
          <a:solidFill>
            <a:srgbClr val="F4F8FB"/>
          </a:solidFill>
          <a:ln w="12700">
            <a:solidFill>
              <a:srgbClr val="E7EEF4"/>
            </a:solidFill>
            <a:prstDash val="solid"/>
          </a:ln>
        </p:spPr>
      </p:sp>
      <p:sp>
        <p:nvSpPr>
          <p:cNvPr id="10" name="Shape 8"/>
          <p:cNvSpPr/>
          <p:nvPr/>
        </p:nvSpPr>
        <p:spPr>
          <a:xfrm>
            <a:off x="9299448" y="2121408"/>
            <a:ext cx="219456" cy="219456"/>
          </a:xfrm>
          <a:prstGeom prst="ellipse">
            <a:avLst/>
          </a:prstGeom>
          <a:solidFill>
            <a:srgbClr val="06A9C8"/>
          </a:solidFill>
          <a:ln w="12700">
            <a:solidFill>
              <a:srgbClr val="06A9C8"/>
            </a:solidFill>
            <a:prstDash val="solid"/>
          </a:ln>
        </p:spPr>
      </p:sp>
      <p:sp>
        <p:nvSpPr>
          <p:cNvPr id="11" name="Text 9"/>
          <p:cNvSpPr/>
          <p:nvPr/>
        </p:nvSpPr>
        <p:spPr>
          <a:xfrm>
            <a:off x="9354312" y="213969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82912" y="209397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Course outcome</a:t>
            </a:r>
            <a:endParaRPr lang="en-US" sz="1080" dirty="0"/>
          </a:p>
        </p:txBody>
      </p:sp>
      <p:sp>
        <p:nvSpPr>
          <p:cNvPr id="13" name="Text 11"/>
          <p:cNvSpPr/>
          <p:nvPr/>
        </p:nvSpPr>
        <p:spPr>
          <a:xfrm>
            <a:off x="9354312" y="2423160"/>
            <a:ext cx="1920240" cy="676656"/>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A practical platform architecture path for enterprise-grade AI agents.</a:t>
            </a:r>
            <a:endParaRPr lang="en-US" sz="96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Program Introduction</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How to Approach This Course</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The goal is practical platform confidence, not memorizing every portal screen.</a:t>
            </a:r>
            <a:endParaRPr lang="en-US" sz="1500" dirty="0"/>
          </a:p>
        </p:txBody>
      </p:sp>
      <p:sp>
        <p:nvSpPr>
          <p:cNvPr id="8" name="Text 6"/>
          <p:cNvSpPr/>
          <p:nvPr/>
        </p:nvSpPr>
        <p:spPr>
          <a:xfrm>
            <a:off x="658368" y="1965960"/>
            <a:ext cx="8001000" cy="3429000"/>
          </a:xfrm>
          <a:prstGeom prst="rect">
            <a:avLst/>
          </a:prstGeom>
          <a:noFill/>
          <a:ln/>
        </p:spPr>
        <p:txBody>
          <a:bodyPr wrap="square" lIns="254" tIns="254" rIns="254" bIns="254" rtlCol="0" anchor="ctr">
            <a:normAutofit/>
          </a:bodyPr>
          <a:lstStyle/>
          <a:p>
            <a:pPr indent="0" marL="0">
              <a:buNone/>
            </a:pPr>
            <a:r>
              <a:rPr lang="en-US" sz="1850" dirty="0">
                <a:solidFill>
                  <a:srgbClr val="303846"/>
                </a:solidFill>
                <a:latin typeface="Aptos" pitchFamily="34" charset="0"/>
                <a:ea typeface="Aptos" pitchFamily="34" charset="-122"/>
                <a:cs typeface="Aptos" pitchFamily="34" charset="-120"/>
              </a:rPr>
              <a:t>▸ Treat Microsoft Learn as the source of truth for fast-moving product details.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Focus on architecture decisions, security boundaries, and operational readiness.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Use demonstrations to see how concepts appear in the portal.</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Expect preview features to be clearly marked and handled carefully.</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Use labs to practice configuration, validation, and governance checks.</a:t>
            </a:r>
            <a:endParaRPr lang="en-US" sz="1850" dirty="0"/>
          </a:p>
        </p:txBody>
      </p:sp>
      <p:sp>
        <p:nvSpPr>
          <p:cNvPr id="9" name="Shape 7"/>
          <p:cNvSpPr/>
          <p:nvPr/>
        </p:nvSpPr>
        <p:spPr>
          <a:xfrm>
            <a:off x="9144000" y="1965960"/>
            <a:ext cx="2331720" cy="1243584"/>
          </a:xfrm>
          <a:prstGeom prst="rect">
            <a:avLst/>
          </a:prstGeom>
          <a:solidFill>
            <a:srgbClr val="F4F8FB"/>
          </a:solidFill>
          <a:ln w="12700">
            <a:solidFill>
              <a:srgbClr val="E7EEF4"/>
            </a:solidFill>
            <a:prstDash val="solid"/>
          </a:ln>
        </p:spPr>
      </p:sp>
      <p:sp>
        <p:nvSpPr>
          <p:cNvPr id="10" name="Shape 8"/>
          <p:cNvSpPr/>
          <p:nvPr/>
        </p:nvSpPr>
        <p:spPr>
          <a:xfrm>
            <a:off x="9299448" y="2121408"/>
            <a:ext cx="219456" cy="219456"/>
          </a:xfrm>
          <a:prstGeom prst="ellipse">
            <a:avLst/>
          </a:prstGeom>
          <a:solidFill>
            <a:srgbClr val="06A9C8"/>
          </a:solidFill>
          <a:ln w="12700">
            <a:solidFill>
              <a:srgbClr val="06A9C8"/>
            </a:solidFill>
            <a:prstDash val="solid"/>
          </a:ln>
        </p:spPr>
      </p:sp>
      <p:sp>
        <p:nvSpPr>
          <p:cNvPr id="11" name="Text 9"/>
          <p:cNvSpPr/>
          <p:nvPr/>
        </p:nvSpPr>
        <p:spPr>
          <a:xfrm>
            <a:off x="9354312" y="213969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82912" y="209397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Learning posture</a:t>
            </a:r>
            <a:endParaRPr lang="en-US" sz="1080" dirty="0"/>
          </a:p>
        </p:txBody>
      </p:sp>
      <p:sp>
        <p:nvSpPr>
          <p:cNvPr id="13" name="Text 11"/>
          <p:cNvSpPr/>
          <p:nvPr/>
        </p:nvSpPr>
        <p:spPr>
          <a:xfrm>
            <a:off x="9354312" y="2423160"/>
            <a:ext cx="1920240" cy="676656"/>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Think like an enterprise reviewer: understand what is enabled, who can use it, and how it is governed.</a:t>
            </a:r>
            <a:endParaRPr lang="en-US" sz="96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Program Introduction</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How the Course Uses Demonstrations</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Short lessons may still include an on-screen walkthrough when the portal reinforces the concept.</a:t>
            </a:r>
            <a:endParaRPr lang="en-US" sz="1500" dirty="0"/>
          </a:p>
        </p:txBody>
      </p:sp>
      <p:sp>
        <p:nvSpPr>
          <p:cNvPr id="8" name="Text 6"/>
          <p:cNvSpPr/>
          <p:nvPr/>
        </p:nvSpPr>
        <p:spPr>
          <a:xfrm>
            <a:off x="658368" y="1965960"/>
            <a:ext cx="8001000" cy="3429000"/>
          </a:xfrm>
          <a:prstGeom prst="rect">
            <a:avLst/>
          </a:prstGeom>
          <a:noFill/>
          <a:ln/>
        </p:spPr>
        <p:txBody>
          <a:bodyPr wrap="square" lIns="254" tIns="254" rIns="254" bIns="254" rtlCol="0" anchor="ctr">
            <a:normAutofit/>
          </a:bodyPr>
          <a:lstStyle/>
          <a:p>
            <a:pPr indent="0" marL="0">
              <a:buNone/>
            </a:pPr>
            <a:r>
              <a:rPr lang="en-US" sz="1850" dirty="0">
                <a:solidFill>
                  <a:srgbClr val="303846"/>
                </a:solidFill>
                <a:latin typeface="Aptos" pitchFamily="34" charset="0"/>
                <a:ea typeface="Aptos" pitchFamily="34" charset="-122"/>
                <a:cs typeface="Aptos" pitchFamily="34" charset="-120"/>
              </a:rPr>
              <a:t>▸ Architecture lessons are mostly slide-led.</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Configuration lessons include short Foundry or Azure portal walkthroughs.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Lab lessons include setup, execution checkpoints, and validation steps.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A2A includes a minimal supplied REST or PowerShell command where required.</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No lesson depends on writing application code from scratch.</a:t>
            </a:r>
            <a:endParaRPr lang="en-US" sz="1850" dirty="0"/>
          </a:p>
        </p:txBody>
      </p:sp>
      <p:sp>
        <p:nvSpPr>
          <p:cNvPr id="9" name="Shape 7"/>
          <p:cNvSpPr/>
          <p:nvPr/>
        </p:nvSpPr>
        <p:spPr>
          <a:xfrm>
            <a:off x="9144000" y="1965960"/>
            <a:ext cx="2331720" cy="1243584"/>
          </a:xfrm>
          <a:prstGeom prst="rect">
            <a:avLst/>
          </a:prstGeom>
          <a:solidFill>
            <a:srgbClr val="F4F8FB"/>
          </a:solidFill>
          <a:ln w="12700">
            <a:solidFill>
              <a:srgbClr val="E7EEF4"/>
            </a:solidFill>
            <a:prstDash val="solid"/>
          </a:ln>
        </p:spPr>
      </p:sp>
      <p:sp>
        <p:nvSpPr>
          <p:cNvPr id="10" name="Shape 8"/>
          <p:cNvSpPr/>
          <p:nvPr/>
        </p:nvSpPr>
        <p:spPr>
          <a:xfrm>
            <a:off x="9299448" y="2121408"/>
            <a:ext cx="219456" cy="219456"/>
          </a:xfrm>
          <a:prstGeom prst="ellipse">
            <a:avLst/>
          </a:prstGeom>
          <a:solidFill>
            <a:srgbClr val="06A9C8"/>
          </a:solidFill>
          <a:ln w="12700">
            <a:solidFill>
              <a:srgbClr val="06A9C8"/>
            </a:solidFill>
            <a:prstDash val="solid"/>
          </a:ln>
        </p:spPr>
      </p:sp>
      <p:sp>
        <p:nvSpPr>
          <p:cNvPr id="11" name="Text 9"/>
          <p:cNvSpPr/>
          <p:nvPr/>
        </p:nvSpPr>
        <p:spPr>
          <a:xfrm>
            <a:off x="9354312" y="213969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82912" y="209397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Demonstration</a:t>
            </a:r>
            <a:endParaRPr lang="en-US" sz="1080" dirty="0"/>
          </a:p>
        </p:txBody>
      </p:sp>
      <p:sp>
        <p:nvSpPr>
          <p:cNvPr id="13" name="Text 11"/>
          <p:cNvSpPr/>
          <p:nvPr/>
        </p:nvSpPr>
        <p:spPr>
          <a:xfrm>
            <a:off x="9354312" y="2423160"/>
            <a:ext cx="1920240" cy="676656"/>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When a lesson has a demonstration, the slide callout and notes mark it clearly.</a:t>
            </a:r>
            <a:endParaRPr lang="en-US" sz="96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Program Introduction</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Enterprise Scenario: Governed Agent Operations</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The course scenario follows an organization moving from scattered AI experiments to managed enterprise agents.</a:t>
            </a:r>
            <a:endParaRPr lang="en-US" sz="1500" dirty="0"/>
          </a:p>
        </p:txBody>
      </p:sp>
      <p:sp>
        <p:nvSpPr>
          <p:cNvPr id="8" name="Text 6"/>
          <p:cNvSpPr/>
          <p:nvPr/>
        </p:nvSpPr>
        <p:spPr>
          <a:xfrm>
            <a:off x="658368" y="1965960"/>
            <a:ext cx="8001000" cy="3429000"/>
          </a:xfrm>
          <a:prstGeom prst="rect">
            <a:avLst/>
          </a:prstGeom>
          <a:noFill/>
          <a:ln/>
        </p:spPr>
        <p:txBody>
          <a:bodyPr wrap="square" lIns="254" tIns="254" rIns="254" bIns="254" rtlCol="0" anchor="ctr">
            <a:normAutofit/>
          </a:bodyPr>
          <a:lstStyle/>
          <a:p>
            <a:pPr indent="0" marL="0">
              <a:buNone/>
            </a:pPr>
            <a:r>
              <a:rPr lang="en-US" sz="1850" dirty="0">
                <a:solidFill>
                  <a:srgbClr val="303846"/>
                </a:solidFill>
                <a:latin typeface="Aptos" pitchFamily="34" charset="0"/>
                <a:ea typeface="Aptos" pitchFamily="34" charset="-122"/>
                <a:cs typeface="Aptos" pitchFamily="34" charset="-120"/>
              </a:rPr>
              <a:t>▸ Teams need a shared platform for models, agents, knowledge, and tools.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Security teams need identity, policy, auditability, and controlled tool access.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Cloud teams need repeatable project and deployment patterns.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Business teams need grounded answers with citations and escalation paths.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Operations teams need monitoring, evaluation, cost visibility, and lifecycle control.</a:t>
            </a:r>
            <a:endParaRPr lang="en-US" sz="1850" dirty="0"/>
          </a:p>
        </p:txBody>
      </p:sp>
      <p:sp>
        <p:nvSpPr>
          <p:cNvPr id="9" name="Shape 7"/>
          <p:cNvSpPr/>
          <p:nvPr/>
        </p:nvSpPr>
        <p:spPr>
          <a:xfrm>
            <a:off x="9144000" y="1965960"/>
            <a:ext cx="2331720" cy="1243584"/>
          </a:xfrm>
          <a:prstGeom prst="rect">
            <a:avLst/>
          </a:prstGeom>
          <a:solidFill>
            <a:srgbClr val="F4F8FB"/>
          </a:solidFill>
          <a:ln w="12700">
            <a:solidFill>
              <a:srgbClr val="E7EEF4"/>
            </a:solidFill>
            <a:prstDash val="solid"/>
          </a:ln>
        </p:spPr>
      </p:sp>
      <p:sp>
        <p:nvSpPr>
          <p:cNvPr id="10" name="Shape 8"/>
          <p:cNvSpPr/>
          <p:nvPr/>
        </p:nvSpPr>
        <p:spPr>
          <a:xfrm>
            <a:off x="9299448" y="2121408"/>
            <a:ext cx="219456" cy="219456"/>
          </a:xfrm>
          <a:prstGeom prst="ellipse">
            <a:avLst/>
          </a:prstGeom>
          <a:solidFill>
            <a:srgbClr val="06A9C8"/>
          </a:solidFill>
          <a:ln w="12700">
            <a:solidFill>
              <a:srgbClr val="06A9C8"/>
            </a:solidFill>
            <a:prstDash val="solid"/>
          </a:ln>
        </p:spPr>
      </p:sp>
      <p:sp>
        <p:nvSpPr>
          <p:cNvPr id="11" name="Text 9"/>
          <p:cNvSpPr/>
          <p:nvPr/>
        </p:nvSpPr>
        <p:spPr>
          <a:xfrm>
            <a:off x="9354312" y="213969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82912" y="209397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Scenario lens</a:t>
            </a:r>
            <a:endParaRPr lang="en-US" sz="1080" dirty="0"/>
          </a:p>
        </p:txBody>
      </p:sp>
      <p:sp>
        <p:nvSpPr>
          <p:cNvPr id="13" name="Text 11"/>
          <p:cNvSpPr/>
          <p:nvPr/>
        </p:nvSpPr>
        <p:spPr>
          <a:xfrm>
            <a:off x="9354312" y="2423160"/>
            <a:ext cx="1920240" cy="676656"/>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Every lesson ties back to whether an agent can be trusted, operated, and governed.</a:t>
            </a:r>
            <a:endParaRPr lang="en-US" sz="96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685800" y="2057400"/>
            <a:ext cx="3383280" cy="640080"/>
          </a:xfrm>
          <a:prstGeom prst="rect">
            <a:avLst/>
          </a:prstGeom>
          <a:noFill/>
          <a:ln/>
        </p:spPr>
        <p:txBody>
          <a:bodyPr wrap="square" lIns="0" tIns="0" rIns="0" bIns="0" rtlCol="0" anchor="ctr"/>
          <a:lstStyle/>
          <a:p>
            <a:pPr indent="0" marL="0">
              <a:buNone/>
            </a:pPr>
            <a:r>
              <a:rPr lang="en-US" sz="3600" dirty="0">
                <a:solidFill>
                  <a:srgbClr val="06A9C8"/>
                </a:solidFill>
                <a:latin typeface="Aptos Display" pitchFamily="34" charset="0"/>
                <a:ea typeface="Aptos Display" pitchFamily="34" charset="-122"/>
                <a:cs typeface="Aptos Display" pitchFamily="34" charset="-120"/>
              </a:rPr>
              <a:t>Welcome!</a:t>
            </a:r>
            <a:endParaRPr lang="en-US" sz="3600" dirty="0"/>
          </a:p>
        </p:txBody>
      </p:sp>
      <p:sp>
        <p:nvSpPr>
          <p:cNvPr id="6" name="Text 4"/>
          <p:cNvSpPr/>
          <p:nvPr/>
        </p:nvSpPr>
        <p:spPr>
          <a:xfrm>
            <a:off x="713232" y="2907792"/>
            <a:ext cx="3840480" cy="365760"/>
          </a:xfrm>
          <a:prstGeom prst="rect">
            <a:avLst/>
          </a:prstGeom>
          <a:noFill/>
          <a:ln/>
        </p:spPr>
        <p:txBody>
          <a:bodyPr wrap="square" lIns="0" tIns="0" rIns="0" bIns="0" rtlCol="0" anchor="ctr"/>
          <a:lstStyle/>
          <a:p>
            <a:pPr indent="0" marL="0">
              <a:buNone/>
            </a:pPr>
            <a:r>
              <a:rPr lang="en-US" sz="2000" dirty="0">
                <a:solidFill>
                  <a:srgbClr val="172033"/>
                </a:solidFill>
                <a:latin typeface="Aptos" pitchFamily="34" charset="0"/>
                <a:ea typeface="Aptos" pitchFamily="34" charset="-122"/>
                <a:cs typeface="Aptos" pitchFamily="34" charset="-120"/>
              </a:rPr>
              <a:t>Let’s get started</a:t>
            </a:r>
            <a:endParaRPr lang="en-US" sz="2000" dirty="0"/>
          </a:p>
        </p:txBody>
      </p:sp>
      <p:pic>
        <p:nvPicPr>
          <p:cNvPr id="7" name="Image 0" descr="/mnt/data/ref_pptx/ppt/media/image1.png">    </p:cNvPr>
          <p:cNvPicPr>
            <a:picLocks noChangeAspect="1"/>
          </p:cNvPicPr>
          <p:nvPr/>
        </p:nvPicPr>
        <p:blipFill>
          <a:blip r:embed="rId1"/>
          <a:stretch>
            <a:fillRect/>
          </a:stretch>
        </p:blipFill>
        <p:spPr>
          <a:xfrm>
            <a:off x="7269480" y="1554480"/>
            <a:ext cx="2194560" cy="219456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658368" y="1024128"/>
            <a:ext cx="2194560" cy="329184"/>
          </a:xfrm>
          <a:prstGeom prst="rect">
            <a:avLst/>
          </a:prstGeom>
          <a:noFill/>
          <a:ln/>
        </p:spPr>
        <p:txBody>
          <a:bodyPr wrap="square" lIns="0" tIns="0" rIns="0" bIns="0" rtlCol="0" anchor="ctr"/>
          <a:lstStyle/>
          <a:p>
            <a:pPr indent="0" marL="0">
              <a:buNone/>
            </a:pPr>
            <a:r>
              <a:rPr lang="en-US" sz="1600" dirty="0">
                <a:solidFill>
                  <a:srgbClr val="06A9C8"/>
                </a:solidFill>
                <a:latin typeface="Aptos" pitchFamily="34" charset="0"/>
                <a:ea typeface="Aptos" pitchFamily="34" charset="-122"/>
                <a:cs typeface="Aptos" pitchFamily="34" charset="-120"/>
              </a:rPr>
              <a:t>Section 1</a:t>
            </a:r>
            <a:endParaRPr lang="en-US" sz="1600" dirty="0"/>
          </a:p>
        </p:txBody>
      </p:sp>
      <p:sp>
        <p:nvSpPr>
          <p:cNvPr id="6" name="Text 4"/>
          <p:cNvSpPr/>
          <p:nvPr/>
        </p:nvSpPr>
        <p:spPr>
          <a:xfrm>
            <a:off x="658368" y="1554480"/>
            <a:ext cx="7040880" cy="841248"/>
          </a:xfrm>
          <a:prstGeom prst="rect">
            <a:avLst/>
          </a:prstGeom>
          <a:noFill/>
          <a:ln/>
        </p:spPr>
        <p:txBody>
          <a:bodyPr wrap="square" lIns="0" tIns="0" rIns="0" bIns="0" rtlCol="0" anchor="ctr">
            <a:normAutofit/>
          </a:bodyPr>
          <a:lstStyle/>
          <a:p>
            <a:pPr indent="0" marL="0">
              <a:buNone/>
            </a:pPr>
            <a:r>
              <a:rPr lang="en-US" sz="3100" dirty="0">
                <a:solidFill>
                  <a:srgbClr val="172033"/>
                </a:solidFill>
                <a:latin typeface="Aptos Display" pitchFamily="34" charset="0"/>
                <a:ea typeface="Aptos Display" pitchFamily="34" charset="-122"/>
                <a:cs typeface="Aptos Display" pitchFamily="34" charset="-120"/>
              </a:rPr>
              <a:t>Introduction</a:t>
            </a:r>
            <a:endParaRPr lang="en-US" sz="3100" dirty="0"/>
          </a:p>
        </p:txBody>
      </p:sp>
      <p:sp>
        <p:nvSpPr>
          <p:cNvPr id="7" name="Text 5"/>
          <p:cNvSpPr/>
          <p:nvPr/>
        </p:nvSpPr>
        <p:spPr>
          <a:xfrm>
            <a:off x="658368" y="2578608"/>
            <a:ext cx="7132320" cy="640080"/>
          </a:xfrm>
          <a:prstGeom prst="rect">
            <a:avLst/>
          </a:prstGeom>
          <a:noFill/>
          <a:ln/>
        </p:spPr>
        <p:txBody>
          <a:bodyPr wrap="square" lIns="0" tIns="0" rIns="0" bIns="0" rtlCol="0" anchor="ctr">
            <a:normAutofit/>
          </a:bodyPr>
          <a:lstStyle/>
          <a:p>
            <a:pPr indent="0" marL="0">
              <a:buNone/>
            </a:pPr>
            <a:r>
              <a:rPr lang="en-US" sz="1550" dirty="0">
                <a:solidFill>
                  <a:srgbClr val="6B7280"/>
                </a:solidFill>
                <a:latin typeface="Aptos" pitchFamily="34" charset="0"/>
                <a:ea typeface="Aptos" pitchFamily="34" charset="-122"/>
                <a:cs typeface="Aptos" pitchFamily="34" charset="-120"/>
              </a:rPr>
              <a:t>Frame the course, the enterprise scenario, and the Azure workspace expectations before any platform configuration begins.</a:t>
            </a:r>
            <a:endParaRPr lang="en-US" sz="1550" dirty="0"/>
          </a:p>
        </p:txBody>
      </p:sp>
      <p:pic>
        <p:nvPicPr>
          <p:cNvPr id="8" name="Image 0" descr="/mnt/data/ref_pptx/ppt/media/image1.png">    </p:cNvPr>
          <p:cNvPicPr>
            <a:picLocks noChangeAspect="1"/>
          </p:cNvPicPr>
          <p:nvPr/>
        </p:nvPicPr>
        <p:blipFill>
          <a:blip r:embed="rId1"/>
          <a:stretch>
            <a:fillRect/>
          </a:stretch>
        </p:blipFill>
        <p:spPr>
          <a:xfrm>
            <a:off x="8092440" y="1097280"/>
            <a:ext cx="2468880" cy="24688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1</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Section Overview</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Introduction</a:t>
            </a:r>
            <a:endParaRPr lang="en-US" sz="1500" dirty="0"/>
          </a:p>
        </p:txBody>
      </p:sp>
      <p:sp>
        <p:nvSpPr>
          <p:cNvPr id="8" name="Text 6"/>
          <p:cNvSpPr/>
          <p:nvPr/>
        </p:nvSpPr>
        <p:spPr>
          <a:xfrm>
            <a:off x="658368" y="1965960"/>
            <a:ext cx="8001000" cy="3429000"/>
          </a:xfrm>
          <a:prstGeom prst="rect">
            <a:avLst/>
          </a:prstGeom>
          <a:noFill/>
          <a:ln/>
        </p:spPr>
        <p:txBody>
          <a:bodyPr wrap="square" lIns="254" tIns="254" rIns="254" bIns="254" rtlCol="0" anchor="ctr">
            <a:normAutofit/>
          </a:bodyPr>
          <a:lstStyle/>
          <a:p>
            <a:pPr indent="0" marL="0">
              <a:buNone/>
            </a:pPr>
            <a:r>
              <a:rPr lang="en-US" sz="1850" dirty="0">
                <a:solidFill>
                  <a:srgbClr val="303846"/>
                </a:solidFill>
                <a:latin typeface="Aptos" pitchFamily="34" charset="0"/>
                <a:ea typeface="Aptos" pitchFamily="34" charset="-122"/>
                <a:cs typeface="Aptos" pitchFamily="34" charset="-120"/>
              </a:rPr>
              <a:t>▸ The course is platform-focused, not a software development workshop.</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Demonstrations are used when the portal clarifies an architecture concept.</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Labs focus on configuration, validation, and operational checks.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Preview features are identified before they are demonstrated.</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The current Microsoft Foundry experience is the default.</a:t>
            </a:r>
            <a:endParaRPr lang="en-US" sz="1850" dirty="0"/>
          </a:p>
        </p:txBody>
      </p:sp>
      <p:sp>
        <p:nvSpPr>
          <p:cNvPr id="9" name="Shape 7"/>
          <p:cNvSpPr/>
          <p:nvPr/>
        </p:nvSpPr>
        <p:spPr>
          <a:xfrm>
            <a:off x="9144000" y="1965960"/>
            <a:ext cx="2331720" cy="1243584"/>
          </a:xfrm>
          <a:prstGeom prst="rect">
            <a:avLst/>
          </a:prstGeom>
          <a:solidFill>
            <a:srgbClr val="F4F8FB"/>
          </a:solidFill>
          <a:ln w="12700">
            <a:solidFill>
              <a:srgbClr val="E7EEF4"/>
            </a:solidFill>
            <a:prstDash val="solid"/>
          </a:ln>
        </p:spPr>
      </p:sp>
      <p:sp>
        <p:nvSpPr>
          <p:cNvPr id="10" name="Shape 8"/>
          <p:cNvSpPr/>
          <p:nvPr/>
        </p:nvSpPr>
        <p:spPr>
          <a:xfrm>
            <a:off x="9299448" y="2121408"/>
            <a:ext cx="219456" cy="219456"/>
          </a:xfrm>
          <a:prstGeom prst="ellipse">
            <a:avLst/>
          </a:prstGeom>
          <a:solidFill>
            <a:srgbClr val="06A9C8"/>
          </a:solidFill>
          <a:ln w="12700">
            <a:solidFill>
              <a:srgbClr val="06A9C8"/>
            </a:solidFill>
            <a:prstDash val="solid"/>
          </a:ln>
        </p:spPr>
      </p:sp>
      <p:sp>
        <p:nvSpPr>
          <p:cNvPr id="11" name="Text 9"/>
          <p:cNvSpPr/>
          <p:nvPr/>
        </p:nvSpPr>
        <p:spPr>
          <a:xfrm>
            <a:off x="9354312" y="213969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82912" y="209397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Section outcome</a:t>
            </a:r>
            <a:endParaRPr lang="en-US" sz="1080" dirty="0"/>
          </a:p>
        </p:txBody>
      </p:sp>
      <p:sp>
        <p:nvSpPr>
          <p:cNvPr id="13" name="Text 11"/>
          <p:cNvSpPr/>
          <p:nvPr/>
        </p:nvSpPr>
        <p:spPr>
          <a:xfrm>
            <a:off x="9354312" y="2423160"/>
            <a:ext cx="1920240" cy="676656"/>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describe what the course builds toward and how to work through the labs.</a:t>
            </a:r>
            <a:endParaRPr lang="en-US" sz="96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1 · Lecture 1</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Introduction</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Start with the business reason for learning Microsoft Foundry.</a:t>
            </a:r>
            <a:endParaRPr lang="en-US" sz="1500" dirty="0"/>
          </a:p>
        </p:txBody>
      </p:sp>
      <p:sp>
        <p:nvSpPr>
          <p:cNvPr id="8" name="Text 6"/>
          <p:cNvSpPr/>
          <p:nvPr/>
        </p:nvSpPr>
        <p:spPr>
          <a:xfrm>
            <a:off x="658368" y="1965960"/>
            <a:ext cx="8001000" cy="3429000"/>
          </a:xfrm>
          <a:prstGeom prst="rect">
            <a:avLst/>
          </a:prstGeom>
          <a:noFill/>
          <a:ln/>
        </p:spPr>
        <p:txBody>
          <a:bodyPr wrap="square" lIns="254" tIns="254" rIns="254" bIns="254" rtlCol="0" anchor="ctr">
            <a:normAutofit/>
          </a:bodyPr>
          <a:lstStyle/>
          <a:p>
            <a:pPr indent="0" marL="0">
              <a:buNone/>
            </a:pPr>
            <a:r>
              <a:rPr lang="en-US" sz="1850" dirty="0">
                <a:solidFill>
                  <a:srgbClr val="303846"/>
                </a:solidFill>
                <a:latin typeface="Aptos" pitchFamily="34" charset="0"/>
                <a:ea typeface="Aptos" pitchFamily="34" charset="-122"/>
                <a:cs typeface="Aptos" pitchFamily="34" charset="-120"/>
              </a:rPr>
              <a:t>▸ Enterprise AI agents need more than a model and a prompt.</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The platform must support identity, data grounding, tools, evaluation, and governance.</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Foundry provides a common environment for building and operating agent assets.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The course emphasizes decisions learners can reuse in enterprise environments.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Learners should expect practical configuration rather than application coding.</a:t>
            </a:r>
            <a:endParaRPr lang="en-US" sz="1850" dirty="0"/>
          </a:p>
        </p:txBody>
      </p:sp>
      <p:sp>
        <p:nvSpPr>
          <p:cNvPr id="9" name="Shape 7"/>
          <p:cNvSpPr/>
          <p:nvPr/>
        </p:nvSpPr>
        <p:spPr>
          <a:xfrm>
            <a:off x="9144000" y="1965960"/>
            <a:ext cx="2331720" cy="1243584"/>
          </a:xfrm>
          <a:prstGeom prst="rect">
            <a:avLst/>
          </a:prstGeom>
          <a:solidFill>
            <a:srgbClr val="F4F8FB"/>
          </a:solidFill>
          <a:ln w="12700">
            <a:solidFill>
              <a:srgbClr val="E7EEF4"/>
            </a:solidFill>
            <a:prstDash val="solid"/>
          </a:ln>
        </p:spPr>
      </p:sp>
      <p:sp>
        <p:nvSpPr>
          <p:cNvPr id="10" name="Shape 8"/>
          <p:cNvSpPr/>
          <p:nvPr/>
        </p:nvSpPr>
        <p:spPr>
          <a:xfrm>
            <a:off x="9299448" y="2121408"/>
            <a:ext cx="219456" cy="219456"/>
          </a:xfrm>
          <a:prstGeom prst="ellipse">
            <a:avLst/>
          </a:prstGeom>
          <a:solidFill>
            <a:srgbClr val="06A9C8"/>
          </a:solidFill>
          <a:ln w="12700">
            <a:solidFill>
              <a:srgbClr val="06A9C8"/>
            </a:solidFill>
            <a:prstDash val="solid"/>
          </a:ln>
        </p:spPr>
      </p:sp>
      <p:sp>
        <p:nvSpPr>
          <p:cNvPr id="11" name="Text 9"/>
          <p:cNvSpPr/>
          <p:nvPr/>
        </p:nvSpPr>
        <p:spPr>
          <a:xfrm>
            <a:off x="9354312" y="213969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82912" y="209397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Outcome</a:t>
            </a:r>
            <a:endParaRPr lang="en-US" sz="1080" dirty="0"/>
          </a:p>
        </p:txBody>
      </p:sp>
      <p:sp>
        <p:nvSpPr>
          <p:cNvPr id="13" name="Text 11"/>
          <p:cNvSpPr/>
          <p:nvPr/>
        </p:nvSpPr>
        <p:spPr>
          <a:xfrm>
            <a:off x="9354312" y="2423160"/>
            <a:ext cx="1920240" cy="676656"/>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You can explain the course mission and the kind of agent platform it targets.</a:t>
            </a:r>
            <a:endParaRPr lang="en-US" sz="96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1 · Lecture 2</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Enterprise Architecture Overview</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The architecture connects users, Foundry projects, agents, knowledge, tools, and governance.</a:t>
            </a:r>
            <a:endParaRPr lang="en-US" sz="1500" dirty="0"/>
          </a:p>
        </p:txBody>
      </p:sp>
      <p:sp>
        <p:nvSpPr>
          <p:cNvPr id="8" name="Shape 6"/>
          <p:cNvSpPr/>
          <p:nvPr/>
        </p:nvSpPr>
        <p:spPr>
          <a:xfrm>
            <a:off x="658368" y="2103120"/>
            <a:ext cx="1417320" cy="868680"/>
          </a:xfrm>
          <a:prstGeom prst="roundRect">
            <a:avLst>
              <a:gd name="adj" fmla="val 8421"/>
            </a:avLst>
          </a:prstGeom>
          <a:solidFill>
            <a:srgbClr val="F4F8FB"/>
          </a:solidFill>
          <a:ln w="12700">
            <a:solidFill>
              <a:srgbClr val="D6E7EF"/>
            </a:solidFill>
            <a:prstDash val="solid"/>
          </a:ln>
        </p:spPr>
      </p:sp>
      <p:sp>
        <p:nvSpPr>
          <p:cNvPr id="9" name="Text 7"/>
          <p:cNvSpPr/>
          <p:nvPr/>
        </p:nvSpPr>
        <p:spPr>
          <a:xfrm>
            <a:off x="749808" y="2258568"/>
            <a:ext cx="1234440" cy="228600"/>
          </a:xfrm>
          <a:prstGeom prst="rect">
            <a:avLst/>
          </a:prstGeom>
          <a:noFill/>
          <a:ln/>
        </p:spPr>
        <p:txBody>
          <a:bodyPr wrap="square" lIns="0" tIns="0" rIns="0" bIns="0" rtlCol="0" anchor="ctr">
            <a:normAutofit/>
          </a:bodyPr>
          <a:lstStyle/>
          <a:p>
            <a:pPr algn="ctr" indent="0" marL="0">
              <a:buNone/>
            </a:pPr>
            <a:r>
              <a:rPr lang="en-US" sz="1150" b="1" dirty="0">
                <a:solidFill>
                  <a:srgbClr val="172033"/>
                </a:solidFill>
                <a:latin typeface="Aptos" pitchFamily="34" charset="0"/>
                <a:ea typeface="Aptos" pitchFamily="34" charset="-122"/>
                <a:cs typeface="Aptos" pitchFamily="34" charset="-120"/>
              </a:rPr>
              <a:t>Users</a:t>
            </a:r>
            <a:endParaRPr lang="en-US" sz="1150" dirty="0"/>
          </a:p>
        </p:txBody>
      </p:sp>
      <p:sp>
        <p:nvSpPr>
          <p:cNvPr id="10" name="Text 8"/>
          <p:cNvSpPr/>
          <p:nvPr/>
        </p:nvSpPr>
        <p:spPr>
          <a:xfrm>
            <a:off x="768096" y="2532888"/>
            <a:ext cx="1197864" cy="256032"/>
          </a:xfrm>
          <a:prstGeom prst="rect">
            <a:avLst/>
          </a:prstGeom>
          <a:noFill/>
          <a:ln/>
        </p:spPr>
        <p:txBody>
          <a:bodyPr wrap="square" lIns="0" tIns="0" rIns="0" bIns="0" rtlCol="0" anchor="ctr">
            <a:normAutofit/>
          </a:bodyPr>
          <a:lstStyle/>
          <a:p>
            <a:pPr algn="ctr" indent="0" marL="0">
              <a:buNone/>
            </a:pPr>
            <a:r>
              <a:rPr lang="en-US" sz="850" dirty="0">
                <a:solidFill>
                  <a:srgbClr val="6B7280"/>
                </a:solidFill>
                <a:latin typeface="Aptos" pitchFamily="34" charset="0"/>
                <a:ea typeface="Aptos" pitchFamily="34" charset="-122"/>
                <a:cs typeface="Aptos" pitchFamily="34" charset="-120"/>
              </a:rPr>
              <a:t>approved channels</a:t>
            </a:r>
            <a:endParaRPr lang="en-US" sz="850" dirty="0"/>
          </a:p>
        </p:txBody>
      </p:sp>
      <p:sp>
        <p:nvSpPr>
          <p:cNvPr id="11" name="Text 9"/>
          <p:cNvSpPr/>
          <p:nvPr/>
        </p:nvSpPr>
        <p:spPr>
          <a:xfrm>
            <a:off x="2121408" y="2340864"/>
            <a:ext cx="164592" cy="228600"/>
          </a:xfrm>
          <a:prstGeom prst="rect">
            <a:avLst/>
          </a:prstGeom>
          <a:noFill/>
          <a:ln/>
        </p:spPr>
        <p:txBody>
          <a:bodyPr wrap="square" lIns="0" tIns="0" rIns="0" bIns="0" rtlCol="0" anchor="ctr"/>
          <a:lstStyle/>
          <a:p>
            <a:pPr indent="0" marL="0">
              <a:buNone/>
            </a:pPr>
            <a:r>
              <a:rPr lang="en-US" sz="1600" b="1" dirty="0">
                <a:solidFill>
                  <a:srgbClr val="06A9C8"/>
                </a:solidFill>
                <a:latin typeface="Aptos" pitchFamily="34" charset="0"/>
                <a:ea typeface="Aptos" pitchFamily="34" charset="-122"/>
                <a:cs typeface="Aptos" pitchFamily="34" charset="-120"/>
              </a:rPr>
              <a:t>→</a:t>
            </a:r>
            <a:endParaRPr lang="en-US" sz="1600" dirty="0"/>
          </a:p>
        </p:txBody>
      </p:sp>
      <p:sp>
        <p:nvSpPr>
          <p:cNvPr id="12" name="Shape 10"/>
          <p:cNvSpPr/>
          <p:nvPr/>
        </p:nvSpPr>
        <p:spPr>
          <a:xfrm>
            <a:off x="2331720" y="2103120"/>
            <a:ext cx="1417320" cy="868680"/>
          </a:xfrm>
          <a:prstGeom prst="roundRect">
            <a:avLst>
              <a:gd name="adj" fmla="val 8421"/>
            </a:avLst>
          </a:prstGeom>
          <a:solidFill>
            <a:srgbClr val="F4F8FB"/>
          </a:solidFill>
          <a:ln w="12700">
            <a:solidFill>
              <a:srgbClr val="D6E7EF"/>
            </a:solidFill>
            <a:prstDash val="solid"/>
          </a:ln>
        </p:spPr>
      </p:sp>
      <p:sp>
        <p:nvSpPr>
          <p:cNvPr id="13" name="Text 11"/>
          <p:cNvSpPr/>
          <p:nvPr/>
        </p:nvSpPr>
        <p:spPr>
          <a:xfrm>
            <a:off x="2423160" y="2258568"/>
            <a:ext cx="1234440" cy="228600"/>
          </a:xfrm>
          <a:prstGeom prst="rect">
            <a:avLst/>
          </a:prstGeom>
          <a:noFill/>
          <a:ln/>
        </p:spPr>
        <p:txBody>
          <a:bodyPr wrap="square" lIns="0" tIns="0" rIns="0" bIns="0" rtlCol="0" anchor="ctr">
            <a:normAutofit/>
          </a:bodyPr>
          <a:lstStyle/>
          <a:p>
            <a:pPr algn="ctr" indent="0" marL="0">
              <a:buNone/>
            </a:pPr>
            <a:r>
              <a:rPr lang="en-US" sz="1150" b="1" dirty="0">
                <a:solidFill>
                  <a:srgbClr val="172033"/>
                </a:solidFill>
                <a:latin typeface="Aptos" pitchFamily="34" charset="0"/>
                <a:ea typeface="Aptos" pitchFamily="34" charset="-122"/>
                <a:cs typeface="Aptos" pitchFamily="34" charset="-120"/>
              </a:rPr>
              <a:t>Agents</a:t>
            </a:r>
            <a:endParaRPr lang="en-US" sz="1150" dirty="0"/>
          </a:p>
        </p:txBody>
      </p:sp>
      <p:sp>
        <p:nvSpPr>
          <p:cNvPr id="14" name="Text 12"/>
          <p:cNvSpPr/>
          <p:nvPr/>
        </p:nvSpPr>
        <p:spPr>
          <a:xfrm>
            <a:off x="2441448" y="2532888"/>
            <a:ext cx="1197864" cy="256032"/>
          </a:xfrm>
          <a:prstGeom prst="rect">
            <a:avLst/>
          </a:prstGeom>
          <a:noFill/>
          <a:ln/>
        </p:spPr>
        <p:txBody>
          <a:bodyPr wrap="square" lIns="0" tIns="0" rIns="0" bIns="0" rtlCol="0" anchor="ctr">
            <a:normAutofit/>
          </a:bodyPr>
          <a:lstStyle/>
          <a:p>
            <a:pPr algn="ctr" indent="0" marL="0">
              <a:buNone/>
            </a:pPr>
            <a:r>
              <a:rPr lang="en-US" sz="850" dirty="0">
                <a:solidFill>
                  <a:srgbClr val="6B7280"/>
                </a:solidFill>
                <a:latin typeface="Aptos" pitchFamily="34" charset="0"/>
                <a:ea typeface="Aptos" pitchFamily="34" charset="-122"/>
                <a:cs typeface="Aptos" pitchFamily="34" charset="-120"/>
              </a:rPr>
              <a:t>instructions + model</a:t>
            </a:r>
            <a:endParaRPr lang="en-US" sz="850" dirty="0"/>
          </a:p>
        </p:txBody>
      </p:sp>
      <p:sp>
        <p:nvSpPr>
          <p:cNvPr id="15" name="Text 13"/>
          <p:cNvSpPr/>
          <p:nvPr/>
        </p:nvSpPr>
        <p:spPr>
          <a:xfrm>
            <a:off x="3794760" y="2340864"/>
            <a:ext cx="164592" cy="228600"/>
          </a:xfrm>
          <a:prstGeom prst="rect">
            <a:avLst/>
          </a:prstGeom>
          <a:noFill/>
          <a:ln/>
        </p:spPr>
        <p:txBody>
          <a:bodyPr wrap="square" lIns="0" tIns="0" rIns="0" bIns="0" rtlCol="0" anchor="ctr"/>
          <a:lstStyle/>
          <a:p>
            <a:pPr indent="0" marL="0">
              <a:buNone/>
            </a:pPr>
            <a:r>
              <a:rPr lang="en-US" sz="1600" b="1" dirty="0">
                <a:solidFill>
                  <a:srgbClr val="06A9C8"/>
                </a:solidFill>
                <a:latin typeface="Aptos" pitchFamily="34" charset="0"/>
                <a:ea typeface="Aptos" pitchFamily="34" charset="-122"/>
                <a:cs typeface="Aptos" pitchFamily="34" charset="-120"/>
              </a:rPr>
              <a:t>→</a:t>
            </a:r>
            <a:endParaRPr lang="en-US" sz="1600" dirty="0"/>
          </a:p>
        </p:txBody>
      </p:sp>
      <p:sp>
        <p:nvSpPr>
          <p:cNvPr id="16" name="Shape 14"/>
          <p:cNvSpPr/>
          <p:nvPr/>
        </p:nvSpPr>
        <p:spPr>
          <a:xfrm>
            <a:off x="4005072" y="2103120"/>
            <a:ext cx="1417320" cy="868680"/>
          </a:xfrm>
          <a:prstGeom prst="roundRect">
            <a:avLst>
              <a:gd name="adj" fmla="val 8421"/>
            </a:avLst>
          </a:prstGeom>
          <a:solidFill>
            <a:srgbClr val="F4F8FB"/>
          </a:solidFill>
          <a:ln w="12700">
            <a:solidFill>
              <a:srgbClr val="D6E7EF"/>
            </a:solidFill>
            <a:prstDash val="solid"/>
          </a:ln>
        </p:spPr>
      </p:sp>
      <p:sp>
        <p:nvSpPr>
          <p:cNvPr id="17" name="Text 15"/>
          <p:cNvSpPr/>
          <p:nvPr/>
        </p:nvSpPr>
        <p:spPr>
          <a:xfrm>
            <a:off x="4096512" y="2258568"/>
            <a:ext cx="1234440" cy="228600"/>
          </a:xfrm>
          <a:prstGeom prst="rect">
            <a:avLst/>
          </a:prstGeom>
          <a:noFill/>
          <a:ln/>
        </p:spPr>
        <p:txBody>
          <a:bodyPr wrap="square" lIns="0" tIns="0" rIns="0" bIns="0" rtlCol="0" anchor="ctr">
            <a:normAutofit/>
          </a:bodyPr>
          <a:lstStyle/>
          <a:p>
            <a:pPr algn="ctr" indent="0" marL="0">
              <a:buNone/>
            </a:pPr>
            <a:r>
              <a:rPr lang="en-US" sz="1150" b="1" dirty="0">
                <a:solidFill>
                  <a:srgbClr val="172033"/>
                </a:solidFill>
                <a:latin typeface="Aptos" pitchFamily="34" charset="0"/>
                <a:ea typeface="Aptos" pitchFamily="34" charset="-122"/>
                <a:cs typeface="Aptos" pitchFamily="34" charset="-120"/>
              </a:rPr>
              <a:t>Knowledge</a:t>
            </a:r>
            <a:endParaRPr lang="en-US" sz="1150" dirty="0"/>
          </a:p>
        </p:txBody>
      </p:sp>
      <p:sp>
        <p:nvSpPr>
          <p:cNvPr id="18" name="Text 16"/>
          <p:cNvSpPr/>
          <p:nvPr/>
        </p:nvSpPr>
        <p:spPr>
          <a:xfrm>
            <a:off x="4114800" y="2532888"/>
            <a:ext cx="1197864" cy="256032"/>
          </a:xfrm>
          <a:prstGeom prst="rect">
            <a:avLst/>
          </a:prstGeom>
          <a:noFill/>
          <a:ln/>
        </p:spPr>
        <p:txBody>
          <a:bodyPr wrap="square" lIns="0" tIns="0" rIns="0" bIns="0" rtlCol="0" anchor="ctr">
            <a:normAutofit/>
          </a:bodyPr>
          <a:lstStyle/>
          <a:p>
            <a:pPr algn="ctr" indent="0" marL="0">
              <a:buNone/>
            </a:pPr>
            <a:r>
              <a:rPr lang="en-US" sz="850" dirty="0">
                <a:solidFill>
                  <a:srgbClr val="6B7280"/>
                </a:solidFill>
                <a:latin typeface="Aptos" pitchFamily="34" charset="0"/>
                <a:ea typeface="Aptos" pitchFamily="34" charset="-122"/>
                <a:cs typeface="Aptos" pitchFamily="34" charset="-120"/>
              </a:rPr>
              <a:t>Foundry IQ</a:t>
            </a:r>
            <a:endParaRPr lang="en-US" sz="850" dirty="0"/>
          </a:p>
        </p:txBody>
      </p:sp>
      <p:sp>
        <p:nvSpPr>
          <p:cNvPr id="19" name="Text 17"/>
          <p:cNvSpPr/>
          <p:nvPr/>
        </p:nvSpPr>
        <p:spPr>
          <a:xfrm>
            <a:off x="5468112" y="2340864"/>
            <a:ext cx="164592" cy="228600"/>
          </a:xfrm>
          <a:prstGeom prst="rect">
            <a:avLst/>
          </a:prstGeom>
          <a:noFill/>
          <a:ln/>
        </p:spPr>
        <p:txBody>
          <a:bodyPr wrap="square" lIns="0" tIns="0" rIns="0" bIns="0" rtlCol="0" anchor="ctr"/>
          <a:lstStyle/>
          <a:p>
            <a:pPr indent="0" marL="0">
              <a:buNone/>
            </a:pPr>
            <a:r>
              <a:rPr lang="en-US" sz="1600" b="1" dirty="0">
                <a:solidFill>
                  <a:srgbClr val="06A9C8"/>
                </a:solidFill>
                <a:latin typeface="Aptos" pitchFamily="34" charset="0"/>
                <a:ea typeface="Aptos" pitchFamily="34" charset="-122"/>
                <a:cs typeface="Aptos" pitchFamily="34" charset="-120"/>
              </a:rPr>
              <a:t>→</a:t>
            </a:r>
            <a:endParaRPr lang="en-US" sz="1600" dirty="0"/>
          </a:p>
        </p:txBody>
      </p:sp>
      <p:sp>
        <p:nvSpPr>
          <p:cNvPr id="20" name="Shape 18"/>
          <p:cNvSpPr/>
          <p:nvPr/>
        </p:nvSpPr>
        <p:spPr>
          <a:xfrm>
            <a:off x="5678424" y="2103120"/>
            <a:ext cx="1417320" cy="868680"/>
          </a:xfrm>
          <a:prstGeom prst="roundRect">
            <a:avLst>
              <a:gd name="adj" fmla="val 8421"/>
            </a:avLst>
          </a:prstGeom>
          <a:solidFill>
            <a:srgbClr val="F4F8FB"/>
          </a:solidFill>
          <a:ln w="12700">
            <a:solidFill>
              <a:srgbClr val="D6E7EF"/>
            </a:solidFill>
            <a:prstDash val="solid"/>
          </a:ln>
        </p:spPr>
      </p:sp>
      <p:sp>
        <p:nvSpPr>
          <p:cNvPr id="21" name="Text 19"/>
          <p:cNvSpPr/>
          <p:nvPr/>
        </p:nvSpPr>
        <p:spPr>
          <a:xfrm>
            <a:off x="5769864" y="2258568"/>
            <a:ext cx="1234440" cy="228600"/>
          </a:xfrm>
          <a:prstGeom prst="rect">
            <a:avLst/>
          </a:prstGeom>
          <a:noFill/>
          <a:ln/>
        </p:spPr>
        <p:txBody>
          <a:bodyPr wrap="square" lIns="0" tIns="0" rIns="0" bIns="0" rtlCol="0" anchor="ctr">
            <a:normAutofit/>
          </a:bodyPr>
          <a:lstStyle/>
          <a:p>
            <a:pPr algn="ctr" indent="0" marL="0">
              <a:buNone/>
            </a:pPr>
            <a:r>
              <a:rPr lang="en-US" sz="1150" b="1" dirty="0">
                <a:solidFill>
                  <a:srgbClr val="172033"/>
                </a:solidFill>
                <a:latin typeface="Aptos" pitchFamily="34" charset="0"/>
                <a:ea typeface="Aptos" pitchFamily="34" charset="-122"/>
                <a:cs typeface="Aptos" pitchFamily="34" charset="-120"/>
              </a:rPr>
              <a:t>Tools</a:t>
            </a:r>
            <a:endParaRPr lang="en-US" sz="1150" dirty="0"/>
          </a:p>
        </p:txBody>
      </p:sp>
      <p:sp>
        <p:nvSpPr>
          <p:cNvPr id="22" name="Text 20"/>
          <p:cNvSpPr/>
          <p:nvPr/>
        </p:nvSpPr>
        <p:spPr>
          <a:xfrm>
            <a:off x="5788152" y="2532888"/>
            <a:ext cx="1197864" cy="256032"/>
          </a:xfrm>
          <a:prstGeom prst="rect">
            <a:avLst/>
          </a:prstGeom>
          <a:noFill/>
          <a:ln/>
        </p:spPr>
        <p:txBody>
          <a:bodyPr wrap="square" lIns="0" tIns="0" rIns="0" bIns="0" rtlCol="0" anchor="ctr">
            <a:normAutofit/>
          </a:bodyPr>
          <a:lstStyle/>
          <a:p>
            <a:pPr algn="ctr" indent="0" marL="0">
              <a:buNone/>
            </a:pPr>
            <a:r>
              <a:rPr lang="en-US" sz="850" dirty="0">
                <a:solidFill>
                  <a:srgbClr val="6B7280"/>
                </a:solidFill>
                <a:latin typeface="Aptos" pitchFamily="34" charset="0"/>
                <a:ea typeface="Aptos" pitchFamily="34" charset="-122"/>
                <a:cs typeface="Aptos" pitchFamily="34" charset="-120"/>
              </a:rPr>
              <a:t>catalog/MCP/A2A</a:t>
            </a:r>
            <a:endParaRPr lang="en-US" sz="850" dirty="0"/>
          </a:p>
        </p:txBody>
      </p:sp>
      <p:sp>
        <p:nvSpPr>
          <p:cNvPr id="23" name="Text 21"/>
          <p:cNvSpPr/>
          <p:nvPr/>
        </p:nvSpPr>
        <p:spPr>
          <a:xfrm>
            <a:off x="7141464" y="2340864"/>
            <a:ext cx="164592" cy="228600"/>
          </a:xfrm>
          <a:prstGeom prst="rect">
            <a:avLst/>
          </a:prstGeom>
          <a:noFill/>
          <a:ln/>
        </p:spPr>
        <p:txBody>
          <a:bodyPr wrap="square" lIns="0" tIns="0" rIns="0" bIns="0" rtlCol="0" anchor="ctr"/>
          <a:lstStyle/>
          <a:p>
            <a:pPr indent="0" marL="0">
              <a:buNone/>
            </a:pPr>
            <a:r>
              <a:rPr lang="en-US" sz="1600" b="1" dirty="0">
                <a:solidFill>
                  <a:srgbClr val="06A9C8"/>
                </a:solidFill>
                <a:latin typeface="Aptos" pitchFamily="34" charset="0"/>
                <a:ea typeface="Aptos" pitchFamily="34" charset="-122"/>
                <a:cs typeface="Aptos" pitchFamily="34" charset="-120"/>
              </a:rPr>
              <a:t>→</a:t>
            </a:r>
            <a:endParaRPr lang="en-US" sz="1600" dirty="0"/>
          </a:p>
        </p:txBody>
      </p:sp>
      <p:sp>
        <p:nvSpPr>
          <p:cNvPr id="24" name="Shape 22"/>
          <p:cNvSpPr/>
          <p:nvPr/>
        </p:nvSpPr>
        <p:spPr>
          <a:xfrm>
            <a:off x="7351776" y="2103120"/>
            <a:ext cx="1417320" cy="868680"/>
          </a:xfrm>
          <a:prstGeom prst="roundRect">
            <a:avLst>
              <a:gd name="adj" fmla="val 8421"/>
            </a:avLst>
          </a:prstGeom>
          <a:solidFill>
            <a:srgbClr val="F4F8FB"/>
          </a:solidFill>
          <a:ln w="12700">
            <a:solidFill>
              <a:srgbClr val="D6E7EF"/>
            </a:solidFill>
            <a:prstDash val="solid"/>
          </a:ln>
        </p:spPr>
      </p:sp>
      <p:sp>
        <p:nvSpPr>
          <p:cNvPr id="25" name="Text 23"/>
          <p:cNvSpPr/>
          <p:nvPr/>
        </p:nvSpPr>
        <p:spPr>
          <a:xfrm>
            <a:off x="7443216" y="2258568"/>
            <a:ext cx="1234440" cy="228600"/>
          </a:xfrm>
          <a:prstGeom prst="rect">
            <a:avLst/>
          </a:prstGeom>
          <a:noFill/>
          <a:ln/>
        </p:spPr>
        <p:txBody>
          <a:bodyPr wrap="square" lIns="0" tIns="0" rIns="0" bIns="0" rtlCol="0" anchor="ctr">
            <a:normAutofit/>
          </a:bodyPr>
          <a:lstStyle/>
          <a:p>
            <a:pPr algn="ctr" indent="0" marL="0">
              <a:buNone/>
            </a:pPr>
            <a:r>
              <a:rPr lang="en-US" sz="1150" b="1" dirty="0">
                <a:solidFill>
                  <a:srgbClr val="172033"/>
                </a:solidFill>
                <a:latin typeface="Aptos" pitchFamily="34" charset="0"/>
                <a:ea typeface="Aptos" pitchFamily="34" charset="-122"/>
                <a:cs typeface="Aptos" pitchFamily="34" charset="-120"/>
              </a:rPr>
              <a:t>Operate</a:t>
            </a:r>
            <a:endParaRPr lang="en-US" sz="1150" dirty="0"/>
          </a:p>
        </p:txBody>
      </p:sp>
      <p:sp>
        <p:nvSpPr>
          <p:cNvPr id="26" name="Text 24"/>
          <p:cNvSpPr/>
          <p:nvPr/>
        </p:nvSpPr>
        <p:spPr>
          <a:xfrm>
            <a:off x="7461504" y="2532888"/>
            <a:ext cx="1197864" cy="256032"/>
          </a:xfrm>
          <a:prstGeom prst="rect">
            <a:avLst/>
          </a:prstGeom>
          <a:noFill/>
          <a:ln/>
        </p:spPr>
        <p:txBody>
          <a:bodyPr wrap="square" lIns="0" tIns="0" rIns="0" bIns="0" rtlCol="0" anchor="ctr">
            <a:normAutofit/>
          </a:bodyPr>
          <a:lstStyle/>
          <a:p>
            <a:pPr algn="ctr" indent="0" marL="0">
              <a:buNone/>
            </a:pPr>
            <a:r>
              <a:rPr lang="en-US" sz="850" dirty="0">
                <a:solidFill>
                  <a:srgbClr val="6B7280"/>
                </a:solidFill>
                <a:latin typeface="Aptos" pitchFamily="34" charset="0"/>
                <a:ea typeface="Aptos" pitchFamily="34" charset="-122"/>
                <a:cs typeface="Aptos" pitchFamily="34" charset="-120"/>
              </a:rPr>
              <a:t>evaluate + monitor</a:t>
            </a:r>
            <a:endParaRPr lang="en-US" sz="850" dirty="0"/>
          </a:p>
        </p:txBody>
      </p:sp>
      <p:sp>
        <p:nvSpPr>
          <p:cNvPr id="27" name="Text 25"/>
          <p:cNvSpPr/>
          <p:nvPr/>
        </p:nvSpPr>
        <p:spPr>
          <a:xfrm>
            <a:off x="8814816" y="2340864"/>
            <a:ext cx="164592" cy="228600"/>
          </a:xfrm>
          <a:prstGeom prst="rect">
            <a:avLst/>
          </a:prstGeom>
          <a:noFill/>
          <a:ln/>
        </p:spPr>
        <p:txBody>
          <a:bodyPr wrap="square" lIns="0" tIns="0" rIns="0" bIns="0" rtlCol="0" anchor="ctr"/>
          <a:lstStyle/>
          <a:p>
            <a:pPr indent="0" marL="0">
              <a:buNone/>
            </a:pPr>
            <a:r>
              <a:rPr lang="en-US" sz="1600" b="1" dirty="0">
                <a:solidFill>
                  <a:srgbClr val="06A9C8"/>
                </a:solidFill>
                <a:latin typeface="Aptos" pitchFamily="34" charset="0"/>
                <a:ea typeface="Aptos" pitchFamily="34" charset="-122"/>
                <a:cs typeface="Aptos" pitchFamily="34" charset="-120"/>
              </a:rPr>
              <a:t>→</a:t>
            </a:r>
            <a:endParaRPr lang="en-US" sz="1600" dirty="0"/>
          </a:p>
        </p:txBody>
      </p:sp>
      <p:sp>
        <p:nvSpPr>
          <p:cNvPr id="28" name="Shape 26"/>
          <p:cNvSpPr/>
          <p:nvPr/>
        </p:nvSpPr>
        <p:spPr>
          <a:xfrm>
            <a:off x="9025128" y="2103120"/>
            <a:ext cx="1417320" cy="868680"/>
          </a:xfrm>
          <a:prstGeom prst="roundRect">
            <a:avLst>
              <a:gd name="adj" fmla="val 8421"/>
            </a:avLst>
          </a:prstGeom>
          <a:solidFill>
            <a:srgbClr val="F4F8FB"/>
          </a:solidFill>
          <a:ln w="12700">
            <a:solidFill>
              <a:srgbClr val="D6E7EF"/>
            </a:solidFill>
            <a:prstDash val="solid"/>
          </a:ln>
        </p:spPr>
      </p:sp>
      <p:sp>
        <p:nvSpPr>
          <p:cNvPr id="29" name="Text 27"/>
          <p:cNvSpPr/>
          <p:nvPr/>
        </p:nvSpPr>
        <p:spPr>
          <a:xfrm>
            <a:off x="9116568" y="2258568"/>
            <a:ext cx="1234440" cy="228600"/>
          </a:xfrm>
          <a:prstGeom prst="rect">
            <a:avLst/>
          </a:prstGeom>
          <a:noFill/>
          <a:ln/>
        </p:spPr>
        <p:txBody>
          <a:bodyPr wrap="square" lIns="0" tIns="0" rIns="0" bIns="0" rtlCol="0" anchor="ctr">
            <a:normAutofit/>
          </a:bodyPr>
          <a:lstStyle/>
          <a:p>
            <a:pPr algn="ctr" indent="0" marL="0">
              <a:buNone/>
            </a:pPr>
            <a:r>
              <a:rPr lang="en-US" sz="1150" b="1" dirty="0">
                <a:solidFill>
                  <a:srgbClr val="172033"/>
                </a:solidFill>
                <a:latin typeface="Aptos" pitchFamily="34" charset="0"/>
                <a:ea typeface="Aptos" pitchFamily="34" charset="-122"/>
                <a:cs typeface="Aptos" pitchFamily="34" charset="-120"/>
              </a:rPr>
              <a:t>Govern</a:t>
            </a:r>
            <a:endParaRPr lang="en-US" sz="1150" dirty="0"/>
          </a:p>
        </p:txBody>
      </p:sp>
      <p:sp>
        <p:nvSpPr>
          <p:cNvPr id="30" name="Text 28"/>
          <p:cNvSpPr/>
          <p:nvPr/>
        </p:nvSpPr>
        <p:spPr>
          <a:xfrm>
            <a:off x="9134856" y="2532888"/>
            <a:ext cx="1197864" cy="256032"/>
          </a:xfrm>
          <a:prstGeom prst="rect">
            <a:avLst/>
          </a:prstGeom>
          <a:noFill/>
          <a:ln/>
        </p:spPr>
        <p:txBody>
          <a:bodyPr wrap="square" lIns="0" tIns="0" rIns="0" bIns="0" rtlCol="0" anchor="ctr">
            <a:normAutofit/>
          </a:bodyPr>
          <a:lstStyle/>
          <a:p>
            <a:pPr algn="ctr" indent="0" marL="0">
              <a:buNone/>
            </a:pPr>
            <a:r>
              <a:rPr lang="en-US" sz="850" dirty="0">
                <a:solidFill>
                  <a:srgbClr val="6B7280"/>
                </a:solidFill>
                <a:latin typeface="Aptos" pitchFamily="34" charset="0"/>
                <a:ea typeface="Aptos" pitchFamily="34" charset="-122"/>
                <a:cs typeface="Aptos" pitchFamily="34" charset="-120"/>
              </a:rPr>
              <a:t>RBAC + policy</a:t>
            </a:r>
            <a:endParaRPr lang="en-US" sz="850" dirty="0"/>
          </a:p>
        </p:txBody>
      </p:sp>
      <p:sp>
        <p:nvSpPr>
          <p:cNvPr id="31" name="Shape 29"/>
          <p:cNvSpPr/>
          <p:nvPr/>
        </p:nvSpPr>
        <p:spPr>
          <a:xfrm>
            <a:off x="9144000" y="3886200"/>
            <a:ext cx="2331720" cy="1051560"/>
          </a:xfrm>
          <a:prstGeom prst="rect">
            <a:avLst/>
          </a:prstGeom>
          <a:solidFill>
            <a:srgbClr val="F4F8FB"/>
          </a:solidFill>
          <a:ln w="12700">
            <a:solidFill>
              <a:srgbClr val="E7EEF4"/>
            </a:solidFill>
            <a:prstDash val="solid"/>
          </a:ln>
        </p:spPr>
      </p:sp>
      <p:sp>
        <p:nvSpPr>
          <p:cNvPr id="32" name="Shape 30"/>
          <p:cNvSpPr/>
          <p:nvPr/>
        </p:nvSpPr>
        <p:spPr>
          <a:xfrm>
            <a:off x="9299448" y="4041648"/>
            <a:ext cx="219456" cy="219456"/>
          </a:xfrm>
          <a:prstGeom prst="ellipse">
            <a:avLst/>
          </a:prstGeom>
          <a:solidFill>
            <a:srgbClr val="06A9C8"/>
          </a:solidFill>
          <a:ln w="12700">
            <a:solidFill>
              <a:srgbClr val="06A9C8"/>
            </a:solidFill>
            <a:prstDash val="solid"/>
          </a:ln>
        </p:spPr>
      </p:sp>
      <p:sp>
        <p:nvSpPr>
          <p:cNvPr id="33" name="Text 31"/>
          <p:cNvSpPr/>
          <p:nvPr/>
        </p:nvSpPr>
        <p:spPr>
          <a:xfrm>
            <a:off x="9354312" y="405993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34" name="Text 32"/>
          <p:cNvSpPr/>
          <p:nvPr/>
        </p:nvSpPr>
        <p:spPr>
          <a:xfrm>
            <a:off x="9582912" y="401421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Architecture lens</a:t>
            </a:r>
            <a:endParaRPr lang="en-US" sz="1080" dirty="0"/>
          </a:p>
        </p:txBody>
      </p:sp>
      <p:sp>
        <p:nvSpPr>
          <p:cNvPr id="35" name="Text 33"/>
          <p:cNvSpPr/>
          <p:nvPr/>
        </p:nvSpPr>
        <p:spPr>
          <a:xfrm>
            <a:off x="9354312" y="4343400"/>
            <a:ext cx="1920240" cy="484632"/>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Use this architecture to understand how every later lesson connects.</a:t>
            </a:r>
            <a:endParaRPr lang="en-US" sz="96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1 · Lecture 3</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Course Environment and Azure Workspace Setup</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Prepare the environment without turning setup into a development workshop.</a:t>
            </a:r>
            <a:endParaRPr lang="en-US" sz="1500" dirty="0"/>
          </a:p>
        </p:txBody>
      </p:sp>
      <p:sp>
        <p:nvSpPr>
          <p:cNvPr id="8" name="Text 6"/>
          <p:cNvSpPr/>
          <p:nvPr/>
        </p:nvSpPr>
        <p:spPr>
          <a:xfrm>
            <a:off x="658368" y="1965960"/>
            <a:ext cx="8001000" cy="3429000"/>
          </a:xfrm>
          <a:prstGeom prst="rect">
            <a:avLst/>
          </a:prstGeom>
          <a:noFill/>
          <a:ln/>
        </p:spPr>
        <p:txBody>
          <a:bodyPr wrap="square" lIns="254" tIns="254" rIns="254" bIns="254" rtlCol="0" anchor="ctr">
            <a:normAutofit/>
          </a:bodyPr>
          <a:lstStyle/>
          <a:p>
            <a:pPr indent="0" marL="0">
              <a:buNone/>
            </a:pPr>
            <a:r>
              <a:rPr lang="en-US" sz="1850" dirty="0">
                <a:solidFill>
                  <a:srgbClr val="303846"/>
                </a:solidFill>
                <a:latin typeface="Aptos" pitchFamily="34" charset="0"/>
                <a:ea typeface="Aptos" pitchFamily="34" charset="-122"/>
                <a:cs typeface="Aptos" pitchFamily="34" charset="-120"/>
              </a:rPr>
              <a:t>▸ Use a modern browser and the current Microsoft Foundry portal.</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Confirm Azure access, subscription permissions, and region availability.</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Use Udemy Azure workspaces where labs require cloud access.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Keep model names flexible because availability varies by region and quota.</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Plan cleanup to avoid unnecessary Azure charges.</a:t>
            </a:r>
            <a:endParaRPr lang="en-US" sz="1850" dirty="0"/>
          </a:p>
        </p:txBody>
      </p:sp>
      <p:sp>
        <p:nvSpPr>
          <p:cNvPr id="9" name="Shape 7"/>
          <p:cNvSpPr/>
          <p:nvPr/>
        </p:nvSpPr>
        <p:spPr>
          <a:xfrm>
            <a:off x="9144000" y="1965960"/>
            <a:ext cx="2331720" cy="1243584"/>
          </a:xfrm>
          <a:prstGeom prst="rect">
            <a:avLst/>
          </a:prstGeom>
          <a:solidFill>
            <a:srgbClr val="F4F8FB"/>
          </a:solidFill>
          <a:ln w="12700">
            <a:solidFill>
              <a:srgbClr val="E7EEF4"/>
            </a:solidFill>
            <a:prstDash val="solid"/>
          </a:ln>
        </p:spPr>
      </p:sp>
      <p:sp>
        <p:nvSpPr>
          <p:cNvPr id="10" name="Shape 8"/>
          <p:cNvSpPr/>
          <p:nvPr/>
        </p:nvSpPr>
        <p:spPr>
          <a:xfrm>
            <a:off x="9299448" y="2121408"/>
            <a:ext cx="219456" cy="219456"/>
          </a:xfrm>
          <a:prstGeom prst="ellipse">
            <a:avLst/>
          </a:prstGeom>
          <a:solidFill>
            <a:srgbClr val="06A9C8"/>
          </a:solidFill>
          <a:ln w="12700">
            <a:solidFill>
              <a:srgbClr val="06A9C8"/>
            </a:solidFill>
            <a:prstDash val="solid"/>
          </a:ln>
        </p:spPr>
      </p:sp>
      <p:sp>
        <p:nvSpPr>
          <p:cNvPr id="11" name="Text 9"/>
          <p:cNvSpPr/>
          <p:nvPr/>
        </p:nvSpPr>
        <p:spPr>
          <a:xfrm>
            <a:off x="9354312" y="213969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82912" y="209397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Demonstration</a:t>
            </a:r>
            <a:endParaRPr lang="en-US" sz="1080" dirty="0"/>
          </a:p>
        </p:txBody>
      </p:sp>
      <p:sp>
        <p:nvSpPr>
          <p:cNvPr id="13" name="Text 11"/>
          <p:cNvSpPr/>
          <p:nvPr/>
        </p:nvSpPr>
        <p:spPr>
          <a:xfrm>
            <a:off x="9354312" y="2423160"/>
            <a:ext cx="1920240" cy="676656"/>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Walk through sign-in, workspace expectations, supplied assets, and cleanup.</a:t>
            </a:r>
            <a:endParaRPr lang="en-US" sz="96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1 Review</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Section 1 — Section Review</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Key takeaways and transition to the next section.</a:t>
            </a:r>
            <a:endParaRPr lang="en-US" sz="1500" dirty="0"/>
          </a:p>
        </p:txBody>
      </p:sp>
      <p:sp>
        <p:nvSpPr>
          <p:cNvPr id="8" name="Shape 6"/>
          <p:cNvSpPr/>
          <p:nvPr/>
        </p:nvSpPr>
        <p:spPr>
          <a:xfrm>
            <a:off x="658368" y="1938528"/>
            <a:ext cx="2423160" cy="1234440"/>
          </a:xfrm>
          <a:prstGeom prst="rect">
            <a:avLst/>
          </a:prstGeom>
          <a:solidFill>
            <a:srgbClr val="F4F8FB"/>
          </a:solidFill>
          <a:ln w="12700">
            <a:solidFill>
              <a:srgbClr val="E4EEF4"/>
            </a:solidFill>
            <a:prstDash val="solid"/>
          </a:ln>
        </p:spPr>
      </p:sp>
      <p:sp>
        <p:nvSpPr>
          <p:cNvPr id="9" name="Text 7"/>
          <p:cNvSpPr/>
          <p:nvPr/>
        </p:nvSpPr>
        <p:spPr>
          <a:xfrm>
            <a:off x="822960" y="2075688"/>
            <a:ext cx="2093976" cy="182880"/>
          </a:xfrm>
          <a:prstGeom prst="rect">
            <a:avLst/>
          </a:prstGeom>
          <a:noFill/>
          <a:ln/>
        </p:spPr>
        <p:txBody>
          <a:bodyPr wrap="square" lIns="0" tIns="0" rIns="0" bIns="0" rtlCol="0" anchor="ctr"/>
          <a:lstStyle/>
          <a:p>
            <a:pPr indent="0" marL="0">
              <a:buNone/>
            </a:pPr>
            <a:r>
              <a:rPr lang="en-US" sz="1050" b="1" dirty="0">
                <a:solidFill>
                  <a:srgbClr val="06A9C8"/>
                </a:solidFill>
                <a:latin typeface="Aptos" pitchFamily="34" charset="0"/>
                <a:ea typeface="Aptos" pitchFamily="34" charset="-122"/>
                <a:cs typeface="Aptos" pitchFamily="34" charset="-120"/>
              </a:rPr>
              <a:t>Takeaway 1</a:t>
            </a:r>
            <a:endParaRPr lang="en-US" sz="1050" dirty="0"/>
          </a:p>
        </p:txBody>
      </p:sp>
      <p:sp>
        <p:nvSpPr>
          <p:cNvPr id="10" name="Text 8"/>
          <p:cNvSpPr/>
          <p:nvPr/>
        </p:nvSpPr>
        <p:spPr>
          <a:xfrm>
            <a:off x="822960" y="2368296"/>
            <a:ext cx="2093976" cy="621792"/>
          </a:xfrm>
          <a:prstGeom prst="rect">
            <a:avLst/>
          </a:prstGeom>
          <a:noFill/>
          <a:ln/>
        </p:spPr>
        <p:txBody>
          <a:bodyPr wrap="square" lIns="254" tIns="254" rIns="254" bIns="254" rtlCol="0" anchor="ctr">
            <a:normAutofit/>
          </a:bodyPr>
          <a:lstStyle/>
          <a:p>
            <a:pPr indent="0" marL="0">
              <a:buNone/>
            </a:pPr>
            <a:r>
              <a:rPr lang="en-US" sz="1150" dirty="0">
                <a:solidFill>
                  <a:srgbClr val="303846"/>
                </a:solidFill>
                <a:latin typeface="Aptos" pitchFamily="34" charset="0"/>
                <a:ea typeface="Aptos" pitchFamily="34" charset="-122"/>
                <a:cs typeface="Aptos" pitchFamily="34" charset="-120"/>
              </a:rPr>
              <a:t>Microsoft Foundry is treated as an enterprise platform, not only a model endpoint.</a:t>
            </a:r>
            <a:endParaRPr lang="en-US" sz="1150" dirty="0"/>
          </a:p>
        </p:txBody>
      </p:sp>
      <p:sp>
        <p:nvSpPr>
          <p:cNvPr id="11" name="Shape 9"/>
          <p:cNvSpPr/>
          <p:nvPr/>
        </p:nvSpPr>
        <p:spPr>
          <a:xfrm>
            <a:off x="3310128" y="1938528"/>
            <a:ext cx="2423160" cy="1234440"/>
          </a:xfrm>
          <a:prstGeom prst="rect">
            <a:avLst/>
          </a:prstGeom>
          <a:solidFill>
            <a:srgbClr val="EDF6FA"/>
          </a:solidFill>
          <a:ln w="12700">
            <a:solidFill>
              <a:srgbClr val="E4EEF4"/>
            </a:solidFill>
            <a:prstDash val="solid"/>
          </a:ln>
        </p:spPr>
      </p:sp>
      <p:sp>
        <p:nvSpPr>
          <p:cNvPr id="12" name="Text 10"/>
          <p:cNvSpPr/>
          <p:nvPr/>
        </p:nvSpPr>
        <p:spPr>
          <a:xfrm>
            <a:off x="3474720" y="2075688"/>
            <a:ext cx="2093976" cy="182880"/>
          </a:xfrm>
          <a:prstGeom prst="rect">
            <a:avLst/>
          </a:prstGeom>
          <a:noFill/>
          <a:ln/>
        </p:spPr>
        <p:txBody>
          <a:bodyPr wrap="square" lIns="0" tIns="0" rIns="0" bIns="0" rtlCol="0" anchor="ctr"/>
          <a:lstStyle/>
          <a:p>
            <a:pPr indent="0" marL="0">
              <a:buNone/>
            </a:pPr>
            <a:r>
              <a:rPr lang="en-US" sz="1050" b="1" dirty="0">
                <a:solidFill>
                  <a:srgbClr val="06A9C8"/>
                </a:solidFill>
                <a:latin typeface="Aptos" pitchFamily="34" charset="0"/>
                <a:ea typeface="Aptos" pitchFamily="34" charset="-122"/>
                <a:cs typeface="Aptos" pitchFamily="34" charset="-120"/>
              </a:rPr>
              <a:t>Takeaway 2</a:t>
            </a:r>
            <a:endParaRPr lang="en-US" sz="1050" dirty="0"/>
          </a:p>
        </p:txBody>
      </p:sp>
      <p:sp>
        <p:nvSpPr>
          <p:cNvPr id="13" name="Text 11"/>
          <p:cNvSpPr/>
          <p:nvPr/>
        </p:nvSpPr>
        <p:spPr>
          <a:xfrm>
            <a:off x="3474720" y="2368296"/>
            <a:ext cx="2093976" cy="621792"/>
          </a:xfrm>
          <a:prstGeom prst="rect">
            <a:avLst/>
          </a:prstGeom>
          <a:noFill/>
          <a:ln/>
        </p:spPr>
        <p:txBody>
          <a:bodyPr wrap="square" lIns="254" tIns="254" rIns="254" bIns="254" rtlCol="0" anchor="ctr">
            <a:normAutofit/>
          </a:bodyPr>
          <a:lstStyle/>
          <a:p>
            <a:pPr indent="0" marL="0">
              <a:buNone/>
            </a:pPr>
            <a:r>
              <a:rPr lang="en-US" sz="1150" dirty="0">
                <a:solidFill>
                  <a:srgbClr val="303846"/>
                </a:solidFill>
                <a:latin typeface="Aptos" pitchFamily="34" charset="0"/>
                <a:ea typeface="Aptos" pitchFamily="34" charset="-122"/>
                <a:cs typeface="Aptos" pitchFamily="34" charset="-120"/>
              </a:rPr>
              <a:t>Demos appear where the portal makes architecture concrete.</a:t>
            </a:r>
            <a:endParaRPr lang="en-US" sz="1150" dirty="0"/>
          </a:p>
        </p:txBody>
      </p:sp>
      <p:sp>
        <p:nvSpPr>
          <p:cNvPr id="14" name="Shape 12"/>
          <p:cNvSpPr/>
          <p:nvPr/>
        </p:nvSpPr>
        <p:spPr>
          <a:xfrm>
            <a:off x="5961888" y="1938528"/>
            <a:ext cx="2423160" cy="1234440"/>
          </a:xfrm>
          <a:prstGeom prst="rect">
            <a:avLst/>
          </a:prstGeom>
          <a:solidFill>
            <a:srgbClr val="F4F8FB"/>
          </a:solidFill>
          <a:ln w="12700">
            <a:solidFill>
              <a:srgbClr val="E4EEF4"/>
            </a:solidFill>
            <a:prstDash val="solid"/>
          </a:ln>
        </p:spPr>
      </p:sp>
      <p:sp>
        <p:nvSpPr>
          <p:cNvPr id="15" name="Text 13"/>
          <p:cNvSpPr/>
          <p:nvPr/>
        </p:nvSpPr>
        <p:spPr>
          <a:xfrm>
            <a:off x="6126480" y="2075688"/>
            <a:ext cx="2093976" cy="182880"/>
          </a:xfrm>
          <a:prstGeom prst="rect">
            <a:avLst/>
          </a:prstGeom>
          <a:noFill/>
          <a:ln/>
        </p:spPr>
        <p:txBody>
          <a:bodyPr wrap="square" lIns="0" tIns="0" rIns="0" bIns="0" rtlCol="0" anchor="ctr"/>
          <a:lstStyle/>
          <a:p>
            <a:pPr indent="0" marL="0">
              <a:buNone/>
            </a:pPr>
            <a:r>
              <a:rPr lang="en-US" sz="1050" b="1" dirty="0">
                <a:solidFill>
                  <a:srgbClr val="06A9C8"/>
                </a:solidFill>
                <a:latin typeface="Aptos" pitchFamily="34" charset="0"/>
                <a:ea typeface="Aptos" pitchFamily="34" charset="-122"/>
                <a:cs typeface="Aptos" pitchFamily="34" charset="-120"/>
              </a:rPr>
              <a:t>Takeaway 3</a:t>
            </a:r>
            <a:endParaRPr lang="en-US" sz="1050" dirty="0"/>
          </a:p>
        </p:txBody>
      </p:sp>
      <p:sp>
        <p:nvSpPr>
          <p:cNvPr id="16" name="Text 14"/>
          <p:cNvSpPr/>
          <p:nvPr/>
        </p:nvSpPr>
        <p:spPr>
          <a:xfrm>
            <a:off x="6126480" y="2368296"/>
            <a:ext cx="2093976" cy="621792"/>
          </a:xfrm>
          <a:prstGeom prst="rect">
            <a:avLst/>
          </a:prstGeom>
          <a:noFill/>
          <a:ln/>
        </p:spPr>
        <p:txBody>
          <a:bodyPr wrap="square" lIns="254" tIns="254" rIns="254" bIns="254" rtlCol="0" anchor="ctr">
            <a:normAutofit/>
          </a:bodyPr>
          <a:lstStyle/>
          <a:p>
            <a:pPr indent="0" marL="0">
              <a:buNone/>
            </a:pPr>
            <a:r>
              <a:rPr lang="en-US" sz="1150" dirty="0">
                <a:solidFill>
                  <a:srgbClr val="303846"/>
                </a:solidFill>
                <a:latin typeface="Aptos" pitchFamily="34" charset="0"/>
                <a:ea typeface="Aptos" pitchFamily="34" charset="-122"/>
                <a:cs typeface="Aptos" pitchFamily="34" charset="-120"/>
              </a:rPr>
              <a:t>Labs focus on configuration and validation, not application coding.</a:t>
            </a:r>
            <a:endParaRPr lang="en-US" sz="1150" dirty="0"/>
          </a:p>
        </p:txBody>
      </p:sp>
      <p:sp>
        <p:nvSpPr>
          <p:cNvPr id="17" name="Shape 15"/>
          <p:cNvSpPr/>
          <p:nvPr/>
        </p:nvSpPr>
        <p:spPr>
          <a:xfrm>
            <a:off x="8613648" y="1938528"/>
            <a:ext cx="2423160" cy="1234440"/>
          </a:xfrm>
          <a:prstGeom prst="rect">
            <a:avLst/>
          </a:prstGeom>
          <a:solidFill>
            <a:srgbClr val="EDF6FA"/>
          </a:solidFill>
          <a:ln w="12700">
            <a:solidFill>
              <a:srgbClr val="E4EEF4"/>
            </a:solidFill>
            <a:prstDash val="solid"/>
          </a:ln>
        </p:spPr>
      </p:sp>
      <p:sp>
        <p:nvSpPr>
          <p:cNvPr id="18" name="Text 16"/>
          <p:cNvSpPr/>
          <p:nvPr/>
        </p:nvSpPr>
        <p:spPr>
          <a:xfrm>
            <a:off x="8778240" y="2075688"/>
            <a:ext cx="2093976" cy="182880"/>
          </a:xfrm>
          <a:prstGeom prst="rect">
            <a:avLst/>
          </a:prstGeom>
          <a:noFill/>
          <a:ln/>
        </p:spPr>
        <p:txBody>
          <a:bodyPr wrap="square" lIns="0" tIns="0" rIns="0" bIns="0" rtlCol="0" anchor="ctr"/>
          <a:lstStyle/>
          <a:p>
            <a:pPr indent="0" marL="0">
              <a:buNone/>
            </a:pPr>
            <a:r>
              <a:rPr lang="en-US" sz="1050" b="1" dirty="0">
                <a:solidFill>
                  <a:srgbClr val="06A9C8"/>
                </a:solidFill>
                <a:latin typeface="Aptos" pitchFamily="34" charset="0"/>
                <a:ea typeface="Aptos" pitchFamily="34" charset="-122"/>
                <a:cs typeface="Aptos" pitchFamily="34" charset="-120"/>
              </a:rPr>
              <a:t>Takeaway 4</a:t>
            </a:r>
            <a:endParaRPr lang="en-US" sz="1050" dirty="0"/>
          </a:p>
        </p:txBody>
      </p:sp>
      <p:sp>
        <p:nvSpPr>
          <p:cNvPr id="19" name="Text 17"/>
          <p:cNvSpPr/>
          <p:nvPr/>
        </p:nvSpPr>
        <p:spPr>
          <a:xfrm>
            <a:off x="8778240" y="2368296"/>
            <a:ext cx="2093976" cy="621792"/>
          </a:xfrm>
          <a:prstGeom prst="rect">
            <a:avLst/>
          </a:prstGeom>
          <a:noFill/>
          <a:ln/>
        </p:spPr>
        <p:txBody>
          <a:bodyPr wrap="square" lIns="254" tIns="254" rIns="254" bIns="254" rtlCol="0" anchor="ctr">
            <a:normAutofit/>
          </a:bodyPr>
          <a:lstStyle/>
          <a:p>
            <a:pPr indent="0" marL="0">
              <a:buNone/>
            </a:pPr>
            <a:r>
              <a:rPr lang="en-US" sz="1150" dirty="0">
                <a:solidFill>
                  <a:srgbClr val="303846"/>
                </a:solidFill>
                <a:latin typeface="Aptos" pitchFamily="34" charset="0"/>
                <a:ea typeface="Aptos" pitchFamily="34" charset="-122"/>
                <a:cs typeface="Aptos" pitchFamily="34" charset="-120"/>
              </a:rPr>
              <a:t>Preview features are explicitly identified before use.</a:t>
            </a:r>
            <a:endParaRPr lang="en-US" sz="1150" dirty="0"/>
          </a:p>
        </p:txBody>
      </p:sp>
      <p:sp>
        <p:nvSpPr>
          <p:cNvPr id="20" name="Shape 18"/>
          <p:cNvSpPr/>
          <p:nvPr/>
        </p:nvSpPr>
        <p:spPr>
          <a:xfrm>
            <a:off x="9966960" y="4206240"/>
            <a:ext cx="1280160" cy="530352"/>
          </a:xfrm>
          <a:prstGeom prst="chevron">
            <a:avLst/>
          </a:prstGeom>
          <a:solidFill>
            <a:srgbClr val="06A9C8"/>
          </a:solidFill>
          <a:ln w="12700">
            <a:solidFill>
              <a:srgbClr val="06A9C8"/>
            </a:solidFill>
            <a:prstDash val="solid"/>
          </a:ln>
        </p:spPr>
      </p:sp>
      <p:sp>
        <p:nvSpPr>
          <p:cNvPr id="21" name="Text 19"/>
          <p:cNvSpPr/>
          <p:nvPr/>
        </p:nvSpPr>
        <p:spPr>
          <a:xfrm>
            <a:off x="10040112" y="4370832"/>
            <a:ext cx="1024128" cy="201168"/>
          </a:xfrm>
          <a:prstGeom prst="rect">
            <a:avLst/>
          </a:prstGeom>
          <a:noFill/>
          <a:ln/>
        </p:spPr>
        <p:txBody>
          <a:bodyPr wrap="square" lIns="0" tIns="0" rIns="0" bIns="0" rtlCol="0" anchor="ctr">
            <a:normAutofit/>
          </a:bodyPr>
          <a:lstStyle/>
          <a:p>
            <a:pPr algn="ctr" indent="0" marL="0">
              <a:buNone/>
            </a:pPr>
            <a:r>
              <a:rPr lang="en-US" sz="950" b="1" dirty="0">
                <a:solidFill>
                  <a:srgbClr val="FFFFFF"/>
                </a:solidFill>
                <a:latin typeface="Aptos" pitchFamily="34" charset="0"/>
                <a:ea typeface="Aptos" pitchFamily="34" charset="-122"/>
                <a:cs typeface="Aptos" pitchFamily="34" charset="-120"/>
              </a:rPr>
              <a:t>Next: platform foundations.</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658368" y="1024128"/>
            <a:ext cx="2194560" cy="329184"/>
          </a:xfrm>
          <a:prstGeom prst="rect">
            <a:avLst/>
          </a:prstGeom>
          <a:noFill/>
          <a:ln/>
        </p:spPr>
        <p:txBody>
          <a:bodyPr wrap="square" lIns="0" tIns="0" rIns="0" bIns="0" rtlCol="0" anchor="ctr"/>
          <a:lstStyle/>
          <a:p>
            <a:pPr indent="0" marL="0">
              <a:buNone/>
            </a:pPr>
            <a:r>
              <a:rPr lang="en-US" sz="1600" dirty="0">
                <a:solidFill>
                  <a:srgbClr val="06A9C8"/>
                </a:solidFill>
                <a:latin typeface="Aptos" pitchFamily="34" charset="0"/>
                <a:ea typeface="Aptos" pitchFamily="34" charset="-122"/>
                <a:cs typeface="Aptos" pitchFamily="34" charset="-120"/>
              </a:rPr>
              <a:t>Section 2</a:t>
            </a:r>
            <a:endParaRPr lang="en-US" sz="1600" dirty="0"/>
          </a:p>
        </p:txBody>
      </p:sp>
      <p:sp>
        <p:nvSpPr>
          <p:cNvPr id="6" name="Text 4"/>
          <p:cNvSpPr/>
          <p:nvPr/>
        </p:nvSpPr>
        <p:spPr>
          <a:xfrm>
            <a:off x="658368" y="1554480"/>
            <a:ext cx="7040880" cy="841248"/>
          </a:xfrm>
          <a:prstGeom prst="rect">
            <a:avLst/>
          </a:prstGeom>
          <a:noFill/>
          <a:ln/>
        </p:spPr>
        <p:txBody>
          <a:bodyPr wrap="square" lIns="0" tIns="0" rIns="0" bIns="0" rtlCol="0" anchor="ctr">
            <a:normAutofit/>
          </a:bodyPr>
          <a:lstStyle/>
          <a:p>
            <a:pPr indent="0" marL="0">
              <a:buNone/>
            </a:pPr>
            <a:r>
              <a:rPr lang="en-US" sz="3100" dirty="0">
                <a:solidFill>
                  <a:srgbClr val="172033"/>
                </a:solidFill>
                <a:latin typeface="Aptos Display" pitchFamily="34" charset="0"/>
                <a:ea typeface="Aptos Display" pitchFamily="34" charset="-122"/>
                <a:cs typeface="Aptos Display" pitchFamily="34" charset="-120"/>
              </a:rPr>
              <a:t>Microsoft Foundry Platform Foundations</a:t>
            </a:r>
            <a:endParaRPr lang="en-US" sz="3100" dirty="0"/>
          </a:p>
        </p:txBody>
      </p:sp>
      <p:sp>
        <p:nvSpPr>
          <p:cNvPr id="7" name="Text 5"/>
          <p:cNvSpPr/>
          <p:nvPr/>
        </p:nvSpPr>
        <p:spPr>
          <a:xfrm>
            <a:off x="658368" y="2578608"/>
            <a:ext cx="7132320" cy="640080"/>
          </a:xfrm>
          <a:prstGeom prst="rect">
            <a:avLst/>
          </a:prstGeom>
          <a:noFill/>
          <a:ln/>
        </p:spPr>
        <p:txBody>
          <a:bodyPr wrap="square" lIns="0" tIns="0" rIns="0" bIns="0" rtlCol="0" anchor="ctr">
            <a:normAutofit/>
          </a:bodyPr>
          <a:lstStyle/>
          <a:p>
            <a:pPr indent="0" marL="0">
              <a:buNone/>
            </a:pPr>
            <a:r>
              <a:rPr lang="en-US" sz="1550" dirty="0">
                <a:solidFill>
                  <a:srgbClr val="6B7280"/>
                </a:solidFill>
                <a:latin typeface="Aptos" pitchFamily="34" charset="0"/>
                <a:ea typeface="Aptos" pitchFamily="34" charset="-122"/>
                <a:cs typeface="Aptos" pitchFamily="34" charset="-120"/>
              </a:rPr>
              <a:t>Establish the current platform identity, the current portal experience, and the major Foundry building blocks.</a:t>
            </a:r>
            <a:endParaRPr lang="en-US" sz="1550" dirty="0"/>
          </a:p>
        </p:txBody>
      </p:sp>
      <p:pic>
        <p:nvPicPr>
          <p:cNvPr id="8" name="Image 0" descr="/mnt/data/ref_pptx/ppt/media/image1.png">    </p:cNvPr>
          <p:cNvPicPr>
            <a:picLocks noChangeAspect="1"/>
          </p:cNvPicPr>
          <p:nvPr/>
        </p:nvPicPr>
        <p:blipFill>
          <a:blip r:embed="rId1"/>
          <a:stretch>
            <a:fillRect/>
          </a:stretch>
        </p:blipFill>
        <p:spPr>
          <a:xfrm>
            <a:off x="8092440" y="1097280"/>
            <a:ext cx="2468880" cy="246888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2</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Section Overview</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Microsoft Foundry Platform Foundations</a:t>
            </a:r>
            <a:endParaRPr lang="en-US" sz="1500" dirty="0"/>
          </a:p>
        </p:txBody>
      </p:sp>
      <p:sp>
        <p:nvSpPr>
          <p:cNvPr id="8" name="Text 6"/>
          <p:cNvSpPr/>
          <p:nvPr/>
        </p:nvSpPr>
        <p:spPr>
          <a:xfrm>
            <a:off x="658368" y="1965960"/>
            <a:ext cx="8001000" cy="3429000"/>
          </a:xfrm>
          <a:prstGeom prst="rect">
            <a:avLst/>
          </a:prstGeom>
          <a:noFill/>
          <a:ln/>
        </p:spPr>
        <p:txBody>
          <a:bodyPr wrap="square" lIns="254" tIns="254" rIns="254" bIns="254" rtlCol="0" anchor="ctr">
            <a:normAutofit/>
          </a:bodyPr>
          <a:lstStyle/>
          <a:p>
            <a:pPr indent="0" marL="0">
              <a:buNone/>
            </a:pPr>
            <a:r>
              <a:rPr lang="en-US" sz="1850" dirty="0">
                <a:solidFill>
                  <a:srgbClr val="303846"/>
                </a:solidFill>
                <a:latin typeface="Aptos" pitchFamily="34" charset="0"/>
                <a:ea typeface="Aptos" pitchFamily="34" charset="-122"/>
                <a:cs typeface="Aptos" pitchFamily="34" charset="-120"/>
              </a:rPr>
              <a:t>▸ Microsoft Foundry is the current platform identity.</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The current Foundry experience is the default teaching surface.</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Foundry Classic appears only where migration context matters.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Foundry unifies models, agents, knowledge, tools, and operations.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The platform architecture explains later labs and governance decisions.</a:t>
            </a:r>
            <a:endParaRPr lang="en-US" sz="1850" dirty="0"/>
          </a:p>
        </p:txBody>
      </p:sp>
      <p:sp>
        <p:nvSpPr>
          <p:cNvPr id="9" name="Shape 7"/>
          <p:cNvSpPr/>
          <p:nvPr/>
        </p:nvSpPr>
        <p:spPr>
          <a:xfrm>
            <a:off x="9144000" y="1965960"/>
            <a:ext cx="2331720" cy="1243584"/>
          </a:xfrm>
          <a:prstGeom prst="rect">
            <a:avLst/>
          </a:prstGeom>
          <a:solidFill>
            <a:srgbClr val="F4F8FB"/>
          </a:solidFill>
          <a:ln w="12700">
            <a:solidFill>
              <a:srgbClr val="E7EEF4"/>
            </a:solidFill>
            <a:prstDash val="solid"/>
          </a:ln>
        </p:spPr>
      </p:sp>
      <p:sp>
        <p:nvSpPr>
          <p:cNvPr id="10" name="Shape 8"/>
          <p:cNvSpPr/>
          <p:nvPr/>
        </p:nvSpPr>
        <p:spPr>
          <a:xfrm>
            <a:off x="9299448" y="2121408"/>
            <a:ext cx="219456" cy="219456"/>
          </a:xfrm>
          <a:prstGeom prst="ellipse">
            <a:avLst/>
          </a:prstGeom>
          <a:solidFill>
            <a:srgbClr val="06A9C8"/>
          </a:solidFill>
          <a:ln w="12700">
            <a:solidFill>
              <a:srgbClr val="06A9C8"/>
            </a:solidFill>
            <a:prstDash val="solid"/>
          </a:ln>
        </p:spPr>
      </p:sp>
      <p:sp>
        <p:nvSpPr>
          <p:cNvPr id="11" name="Text 9"/>
          <p:cNvSpPr/>
          <p:nvPr/>
        </p:nvSpPr>
        <p:spPr>
          <a:xfrm>
            <a:off x="9354312" y="213969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82912" y="209397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Section outcome</a:t>
            </a:r>
            <a:endParaRPr lang="en-US" sz="1080" dirty="0"/>
          </a:p>
        </p:txBody>
      </p:sp>
      <p:sp>
        <p:nvSpPr>
          <p:cNvPr id="13" name="Text 11"/>
          <p:cNvSpPr/>
          <p:nvPr/>
        </p:nvSpPr>
        <p:spPr>
          <a:xfrm>
            <a:off x="9354312" y="2423160"/>
            <a:ext cx="1920240" cy="676656"/>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describe how Foundry organizes enterprise AI assets.</a:t>
            </a:r>
            <a:endParaRPr lang="en-US" sz="96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2 · Lecture 5</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From Azure AI Services to Microsoft Foundry</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Use history only to explain why the current unified platform matters.</a:t>
            </a:r>
            <a:endParaRPr lang="en-US" sz="1500" dirty="0"/>
          </a:p>
        </p:txBody>
      </p:sp>
      <p:sp>
        <p:nvSpPr>
          <p:cNvPr id="8" name="Text 6"/>
          <p:cNvSpPr/>
          <p:nvPr/>
        </p:nvSpPr>
        <p:spPr>
          <a:xfrm>
            <a:off x="658368" y="1965960"/>
            <a:ext cx="8001000" cy="3429000"/>
          </a:xfrm>
          <a:prstGeom prst="rect">
            <a:avLst/>
          </a:prstGeom>
          <a:noFill/>
          <a:ln/>
        </p:spPr>
        <p:txBody>
          <a:bodyPr wrap="square" lIns="254" tIns="254" rIns="254" bIns="254" rtlCol="0" anchor="ctr">
            <a:normAutofit/>
          </a:bodyPr>
          <a:lstStyle/>
          <a:p>
            <a:pPr indent="0" marL="0">
              <a:buNone/>
            </a:pPr>
            <a:r>
              <a:rPr lang="en-US" sz="1850" dirty="0">
                <a:solidFill>
                  <a:srgbClr val="303846"/>
                </a:solidFill>
                <a:latin typeface="Aptos" pitchFamily="34" charset="0"/>
                <a:ea typeface="Aptos" pitchFamily="34" charset="-122"/>
                <a:cs typeface="Aptos" pitchFamily="34" charset="-120"/>
              </a:rPr>
              <a:t>▸ Older Azure AI work often spread models, tools, and projects across separate surfaces.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Microsoft Foundry brings these assets into a unified platform experience.</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The current resource model gives teams a clearer management boundary.</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Foundry Classic remains relevant for existing hub-based investments.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New course work should default to the current Foundry experience.</a:t>
            </a:r>
            <a:endParaRPr lang="en-US" sz="1850" dirty="0"/>
          </a:p>
        </p:txBody>
      </p:sp>
      <p:sp>
        <p:nvSpPr>
          <p:cNvPr id="9" name="Shape 7"/>
          <p:cNvSpPr/>
          <p:nvPr/>
        </p:nvSpPr>
        <p:spPr>
          <a:xfrm>
            <a:off x="9144000" y="1965960"/>
            <a:ext cx="2331720" cy="1243584"/>
          </a:xfrm>
          <a:prstGeom prst="rect">
            <a:avLst/>
          </a:prstGeom>
          <a:solidFill>
            <a:srgbClr val="F4F8FB"/>
          </a:solidFill>
          <a:ln w="12700">
            <a:solidFill>
              <a:srgbClr val="E7EEF4"/>
            </a:solidFill>
            <a:prstDash val="solid"/>
          </a:ln>
        </p:spPr>
      </p:sp>
      <p:sp>
        <p:nvSpPr>
          <p:cNvPr id="10" name="Shape 8"/>
          <p:cNvSpPr/>
          <p:nvPr/>
        </p:nvSpPr>
        <p:spPr>
          <a:xfrm>
            <a:off x="9299448" y="2121408"/>
            <a:ext cx="219456" cy="219456"/>
          </a:xfrm>
          <a:prstGeom prst="ellipse">
            <a:avLst/>
          </a:prstGeom>
          <a:solidFill>
            <a:srgbClr val="06A9C8"/>
          </a:solidFill>
          <a:ln w="12700">
            <a:solidFill>
              <a:srgbClr val="06A9C8"/>
            </a:solidFill>
            <a:prstDash val="solid"/>
          </a:ln>
        </p:spPr>
      </p:sp>
      <p:sp>
        <p:nvSpPr>
          <p:cNvPr id="11" name="Text 9"/>
          <p:cNvSpPr/>
          <p:nvPr/>
        </p:nvSpPr>
        <p:spPr>
          <a:xfrm>
            <a:off x="9354312" y="213969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82912" y="209397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Current platform view</a:t>
            </a:r>
            <a:endParaRPr lang="en-US" sz="1080" dirty="0"/>
          </a:p>
        </p:txBody>
      </p:sp>
      <p:sp>
        <p:nvSpPr>
          <p:cNvPr id="13" name="Text 11"/>
          <p:cNvSpPr/>
          <p:nvPr/>
        </p:nvSpPr>
        <p:spPr>
          <a:xfrm>
            <a:off x="9354312" y="2423160"/>
            <a:ext cx="1920240" cy="676656"/>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Models, agents, tools, knowledge, and operations are managed through one platform boundary.</a:t>
            </a:r>
            <a:endParaRPr lang="en-US" sz="96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2 · Lecture 5</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Foundry New and Foundry Classic</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Learners need to recognize both experiences without mixing them together.</a:t>
            </a:r>
            <a:endParaRPr lang="en-US" sz="1500" dirty="0"/>
          </a:p>
        </p:txBody>
      </p:sp>
      <p:sp>
        <p:nvSpPr>
          <p:cNvPr id="8" name="Shape 6"/>
          <p:cNvSpPr/>
          <p:nvPr/>
        </p:nvSpPr>
        <p:spPr>
          <a:xfrm>
            <a:off x="658368" y="1874520"/>
            <a:ext cx="3886200" cy="3291840"/>
          </a:xfrm>
          <a:prstGeom prst="rect">
            <a:avLst/>
          </a:prstGeom>
          <a:solidFill>
            <a:srgbClr val="F4F8FB"/>
          </a:solidFill>
          <a:ln w="12700">
            <a:solidFill>
              <a:srgbClr val="DFEAF0"/>
            </a:solidFill>
            <a:prstDash val="solid"/>
          </a:ln>
        </p:spPr>
      </p:sp>
      <p:sp>
        <p:nvSpPr>
          <p:cNvPr id="9" name="Text 7"/>
          <p:cNvSpPr/>
          <p:nvPr/>
        </p:nvSpPr>
        <p:spPr>
          <a:xfrm>
            <a:off x="886968" y="2075688"/>
            <a:ext cx="3429000" cy="320040"/>
          </a:xfrm>
          <a:prstGeom prst="rect">
            <a:avLst/>
          </a:prstGeom>
          <a:noFill/>
          <a:ln/>
        </p:spPr>
        <p:txBody>
          <a:bodyPr wrap="square" lIns="0" tIns="0" rIns="0" bIns="0" rtlCol="0" anchor="ctr"/>
          <a:lstStyle/>
          <a:p>
            <a:pPr indent="0" marL="0">
              <a:buNone/>
            </a:pPr>
            <a:r>
              <a:rPr lang="en-US" sz="1600" b="1" dirty="0">
                <a:solidFill>
                  <a:srgbClr val="172033"/>
                </a:solidFill>
                <a:latin typeface="Aptos" pitchFamily="34" charset="0"/>
                <a:ea typeface="Aptos" pitchFamily="34" charset="-122"/>
                <a:cs typeface="Aptos" pitchFamily="34" charset="-120"/>
              </a:rPr>
              <a:t>Foundry New</a:t>
            </a:r>
            <a:endParaRPr lang="en-US" sz="1600" dirty="0"/>
          </a:p>
        </p:txBody>
      </p:sp>
      <p:sp>
        <p:nvSpPr>
          <p:cNvPr id="10" name="Text 8"/>
          <p:cNvSpPr/>
          <p:nvPr/>
        </p:nvSpPr>
        <p:spPr>
          <a:xfrm>
            <a:off x="886968" y="2532888"/>
            <a:ext cx="3429000" cy="2377440"/>
          </a:xfrm>
          <a:prstGeom prst="rect">
            <a:avLst/>
          </a:prstGeom>
          <a:noFill/>
          <a:ln/>
        </p:spPr>
        <p:txBody>
          <a:bodyPr wrap="square" lIns="0" tIns="0" rIns="0" bIns="0" rtlCol="0" anchor="ctr">
            <a:normAutofit/>
          </a:bodyPr>
          <a:lstStyle/>
          <a:p>
            <a:pPr indent="0" marL="0">
              <a:buNone/>
            </a:pPr>
            <a:r>
              <a:rPr lang="en-US" sz="1280" dirty="0">
                <a:solidFill>
                  <a:srgbClr val="303846"/>
                </a:solidFill>
                <a:latin typeface="Aptos" pitchFamily="34" charset="0"/>
                <a:ea typeface="Aptos" pitchFamily="34" charset="-122"/>
                <a:cs typeface="Aptos" pitchFamily="34" charset="-120"/>
              </a:rPr>
              <a:t>▸ Current default portal experience</a:t>
            </a:r>
            <a:endParaRPr lang="en-US" sz="1280" dirty="0"/>
          </a:p>
          <a:p>
            <a:pPr indent="0" marL="0">
              <a:buNone/>
            </a:pPr>
            <a:r>
              <a:rPr lang="en-US" sz="1280" dirty="0">
                <a:solidFill>
                  <a:srgbClr val="303846"/>
                </a:solidFill>
                <a:latin typeface="Aptos" pitchFamily="34" charset="0"/>
                <a:ea typeface="Aptos" pitchFamily="34" charset="-122"/>
                <a:cs typeface="Aptos" pitchFamily="34" charset="-120"/>
              </a:rPr>
              <a:t>▸ Unified Foundry resource and project model</a:t>
            </a:r>
            <a:endParaRPr lang="en-US" sz="1280" dirty="0"/>
          </a:p>
          <a:p>
            <a:pPr indent="0" marL="0">
              <a:buNone/>
            </a:pPr>
            <a:r>
              <a:rPr lang="en-US" sz="1280" dirty="0">
                <a:solidFill>
                  <a:srgbClr val="303846"/>
                </a:solidFill>
                <a:latin typeface="Aptos" pitchFamily="34" charset="0"/>
                <a:ea typeface="Aptos" pitchFamily="34" charset="-122"/>
                <a:cs typeface="Aptos" pitchFamily="34" charset="-120"/>
              </a:rPr>
              <a:t>▸ Primary surface for this course</a:t>
            </a:r>
            <a:endParaRPr lang="en-US" sz="1280" dirty="0"/>
          </a:p>
          <a:p>
            <a:pPr indent="0" marL="0">
              <a:buNone/>
            </a:pPr>
            <a:r>
              <a:rPr lang="en-US" sz="1280" dirty="0">
                <a:solidFill>
                  <a:srgbClr val="303846"/>
                </a:solidFill>
                <a:latin typeface="Aptos" pitchFamily="34" charset="0"/>
                <a:ea typeface="Aptos" pitchFamily="34" charset="-122"/>
                <a:cs typeface="Aptos" pitchFamily="34" charset="-120"/>
              </a:rPr>
              <a:t>▸ Agent-first configuration path</a:t>
            </a:r>
            <a:endParaRPr lang="en-US" sz="1280" dirty="0"/>
          </a:p>
        </p:txBody>
      </p:sp>
      <p:sp>
        <p:nvSpPr>
          <p:cNvPr id="11" name="Shape 9"/>
          <p:cNvSpPr/>
          <p:nvPr/>
        </p:nvSpPr>
        <p:spPr>
          <a:xfrm>
            <a:off x="4800600" y="1874520"/>
            <a:ext cx="3886200" cy="3291840"/>
          </a:xfrm>
          <a:prstGeom prst="rect">
            <a:avLst/>
          </a:prstGeom>
          <a:solidFill>
            <a:srgbClr val="EDF6FA"/>
          </a:solidFill>
          <a:ln w="12700">
            <a:solidFill>
              <a:srgbClr val="DFEAF0"/>
            </a:solidFill>
            <a:prstDash val="solid"/>
          </a:ln>
        </p:spPr>
      </p:sp>
      <p:sp>
        <p:nvSpPr>
          <p:cNvPr id="12" name="Text 10"/>
          <p:cNvSpPr/>
          <p:nvPr/>
        </p:nvSpPr>
        <p:spPr>
          <a:xfrm>
            <a:off x="5029200" y="2075688"/>
            <a:ext cx="3429000" cy="320040"/>
          </a:xfrm>
          <a:prstGeom prst="rect">
            <a:avLst/>
          </a:prstGeom>
          <a:noFill/>
          <a:ln/>
        </p:spPr>
        <p:txBody>
          <a:bodyPr wrap="square" lIns="0" tIns="0" rIns="0" bIns="0" rtlCol="0" anchor="ctr"/>
          <a:lstStyle/>
          <a:p>
            <a:pPr indent="0" marL="0">
              <a:buNone/>
            </a:pPr>
            <a:r>
              <a:rPr lang="en-US" sz="1600" b="1" dirty="0">
                <a:solidFill>
                  <a:srgbClr val="172033"/>
                </a:solidFill>
                <a:latin typeface="Aptos" pitchFamily="34" charset="0"/>
                <a:ea typeface="Aptos" pitchFamily="34" charset="-122"/>
                <a:cs typeface="Aptos" pitchFamily="34" charset="-120"/>
              </a:rPr>
              <a:t>Foundry Classic</a:t>
            </a:r>
            <a:endParaRPr lang="en-US" sz="1600" dirty="0"/>
          </a:p>
        </p:txBody>
      </p:sp>
      <p:sp>
        <p:nvSpPr>
          <p:cNvPr id="13" name="Text 11"/>
          <p:cNvSpPr/>
          <p:nvPr/>
        </p:nvSpPr>
        <p:spPr>
          <a:xfrm>
            <a:off x="5029200" y="2532888"/>
            <a:ext cx="3429000" cy="2377440"/>
          </a:xfrm>
          <a:prstGeom prst="rect">
            <a:avLst/>
          </a:prstGeom>
          <a:noFill/>
          <a:ln/>
        </p:spPr>
        <p:txBody>
          <a:bodyPr wrap="square" lIns="0" tIns="0" rIns="0" bIns="0" rtlCol="0" anchor="ctr">
            <a:normAutofit/>
          </a:bodyPr>
          <a:lstStyle/>
          <a:p>
            <a:pPr indent="0" marL="0">
              <a:buNone/>
            </a:pPr>
            <a:r>
              <a:rPr lang="en-US" sz="1280" dirty="0">
                <a:solidFill>
                  <a:srgbClr val="303846"/>
                </a:solidFill>
                <a:latin typeface="Aptos" pitchFamily="34" charset="0"/>
                <a:ea typeface="Aptos" pitchFamily="34" charset="-122"/>
                <a:cs typeface="Aptos" pitchFamily="34" charset="-120"/>
              </a:rPr>
              <a:t>▸ Hub-based legacy project model</a:t>
            </a:r>
            <a:endParaRPr lang="en-US" sz="1280" dirty="0"/>
          </a:p>
          <a:p>
            <a:pPr indent="0" marL="0">
              <a:buNone/>
            </a:pPr>
            <a:r>
              <a:rPr lang="en-US" sz="1280" dirty="0">
                <a:solidFill>
                  <a:srgbClr val="303846"/>
                </a:solidFill>
                <a:latin typeface="Aptos" pitchFamily="34" charset="0"/>
                <a:ea typeface="Aptos" pitchFamily="34" charset="-122"/>
                <a:cs typeface="Aptos" pitchFamily="34" charset="-120"/>
              </a:rPr>
              <a:t>▸ Still relevant for existing assets</a:t>
            </a:r>
            <a:endParaRPr lang="en-US" sz="1280" dirty="0"/>
          </a:p>
          <a:p>
            <a:pPr indent="0" marL="0">
              <a:buNone/>
            </a:pPr>
            <a:r>
              <a:rPr lang="en-US" sz="1280" dirty="0">
                <a:solidFill>
                  <a:srgbClr val="303846"/>
                </a:solidFill>
                <a:latin typeface="Aptos" pitchFamily="34" charset="0"/>
                <a:ea typeface="Aptos" pitchFamily="34" charset="-122"/>
                <a:cs typeface="Aptos" pitchFamily="34" charset="-120"/>
              </a:rPr>
              <a:t>▸ May appear in older documentation</a:t>
            </a:r>
            <a:endParaRPr lang="en-US" sz="1280" dirty="0"/>
          </a:p>
          <a:p>
            <a:pPr indent="0" marL="0">
              <a:buNone/>
            </a:pPr>
            <a:r>
              <a:rPr lang="en-US" sz="1280" dirty="0">
                <a:solidFill>
                  <a:srgbClr val="303846"/>
                </a:solidFill>
                <a:latin typeface="Aptos" pitchFamily="34" charset="0"/>
                <a:ea typeface="Aptos" pitchFamily="34" charset="-122"/>
                <a:cs typeface="Aptos" pitchFamily="34" charset="-120"/>
              </a:rPr>
              <a:t>▸ Used only for migration context</a:t>
            </a:r>
            <a:endParaRPr lang="en-US" sz="1280" dirty="0"/>
          </a:p>
        </p:txBody>
      </p:sp>
      <p:sp>
        <p:nvSpPr>
          <p:cNvPr id="14" name="Shape 12"/>
          <p:cNvSpPr/>
          <p:nvPr/>
        </p:nvSpPr>
        <p:spPr>
          <a:xfrm>
            <a:off x="9098280" y="2331720"/>
            <a:ext cx="2331720" cy="1234440"/>
          </a:xfrm>
          <a:prstGeom prst="rect">
            <a:avLst/>
          </a:prstGeom>
          <a:solidFill>
            <a:srgbClr val="F4F8FB"/>
          </a:solidFill>
          <a:ln w="12700">
            <a:solidFill>
              <a:srgbClr val="E7EEF4"/>
            </a:solidFill>
            <a:prstDash val="solid"/>
          </a:ln>
        </p:spPr>
      </p:sp>
      <p:sp>
        <p:nvSpPr>
          <p:cNvPr id="15" name="Shape 13"/>
          <p:cNvSpPr/>
          <p:nvPr/>
        </p:nvSpPr>
        <p:spPr>
          <a:xfrm>
            <a:off x="9253728" y="2487168"/>
            <a:ext cx="219456" cy="219456"/>
          </a:xfrm>
          <a:prstGeom prst="ellipse">
            <a:avLst/>
          </a:prstGeom>
          <a:solidFill>
            <a:srgbClr val="06A9C8"/>
          </a:solidFill>
          <a:ln w="12700">
            <a:solidFill>
              <a:srgbClr val="06A9C8"/>
            </a:solidFill>
            <a:prstDash val="solid"/>
          </a:ln>
        </p:spPr>
      </p:sp>
      <p:sp>
        <p:nvSpPr>
          <p:cNvPr id="16" name="Text 14"/>
          <p:cNvSpPr/>
          <p:nvPr/>
        </p:nvSpPr>
        <p:spPr>
          <a:xfrm>
            <a:off x="9308592" y="250545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7" name="Text 15"/>
          <p:cNvSpPr/>
          <p:nvPr/>
        </p:nvSpPr>
        <p:spPr>
          <a:xfrm>
            <a:off x="9537192" y="245973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Migration lens</a:t>
            </a:r>
            <a:endParaRPr lang="en-US" sz="1080" dirty="0"/>
          </a:p>
        </p:txBody>
      </p:sp>
      <p:sp>
        <p:nvSpPr>
          <p:cNvPr id="18" name="Text 16"/>
          <p:cNvSpPr/>
          <p:nvPr/>
        </p:nvSpPr>
        <p:spPr>
          <a:xfrm>
            <a:off x="9308592" y="2788920"/>
            <a:ext cx="1920240" cy="667512"/>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The goal is avoiding architectural confusion in real environments.</a:t>
            </a:r>
            <a:endParaRPr lang="en-US" sz="96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2 · Lecture 6</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Microsoft Foundry Architecture</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The platform brings together the assets needed to build and operate agents.</a:t>
            </a:r>
            <a:endParaRPr lang="en-US" sz="1500" dirty="0"/>
          </a:p>
        </p:txBody>
      </p:sp>
      <p:sp>
        <p:nvSpPr>
          <p:cNvPr id="8" name="Text 6"/>
          <p:cNvSpPr/>
          <p:nvPr/>
        </p:nvSpPr>
        <p:spPr>
          <a:xfrm>
            <a:off x="658368" y="1965960"/>
            <a:ext cx="8001000" cy="3429000"/>
          </a:xfrm>
          <a:prstGeom prst="rect">
            <a:avLst/>
          </a:prstGeom>
          <a:noFill/>
          <a:ln/>
        </p:spPr>
        <p:txBody>
          <a:bodyPr wrap="square" lIns="254" tIns="254" rIns="254" bIns="254" rtlCol="0" anchor="ctr">
            <a:normAutofit/>
          </a:bodyPr>
          <a:lstStyle/>
          <a:p>
            <a:pPr indent="0" marL="0">
              <a:buNone/>
            </a:pPr>
            <a:r>
              <a:rPr lang="en-US" sz="1850" dirty="0">
                <a:solidFill>
                  <a:srgbClr val="303846"/>
                </a:solidFill>
                <a:latin typeface="Aptos" pitchFamily="34" charset="0"/>
                <a:ea typeface="Aptos" pitchFamily="34" charset="-122"/>
                <a:cs typeface="Aptos" pitchFamily="34" charset="-120"/>
              </a:rPr>
              <a:t>▸ Foundry Models provide access to catalog deployments and endpoints.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Foundry Agent Service manages agents, versions, endpoints, and tools.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Foundry IQ provides reusable knowledge bases for grounded responses.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Foundry Tools connect agents to approved external capabilities.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Foundry Control Plane supports enterprise visibility and governance.</a:t>
            </a:r>
            <a:endParaRPr lang="en-US" sz="1850" dirty="0"/>
          </a:p>
        </p:txBody>
      </p:sp>
      <p:sp>
        <p:nvSpPr>
          <p:cNvPr id="9" name="Shape 7"/>
          <p:cNvSpPr/>
          <p:nvPr/>
        </p:nvSpPr>
        <p:spPr>
          <a:xfrm>
            <a:off x="9144000" y="1965960"/>
            <a:ext cx="2331720" cy="1243584"/>
          </a:xfrm>
          <a:prstGeom prst="rect">
            <a:avLst/>
          </a:prstGeom>
          <a:solidFill>
            <a:srgbClr val="F4F8FB"/>
          </a:solidFill>
          <a:ln w="12700">
            <a:solidFill>
              <a:srgbClr val="E7EEF4"/>
            </a:solidFill>
            <a:prstDash val="solid"/>
          </a:ln>
        </p:spPr>
      </p:sp>
      <p:sp>
        <p:nvSpPr>
          <p:cNvPr id="10" name="Shape 8"/>
          <p:cNvSpPr/>
          <p:nvPr/>
        </p:nvSpPr>
        <p:spPr>
          <a:xfrm>
            <a:off x="9299448" y="2121408"/>
            <a:ext cx="219456" cy="219456"/>
          </a:xfrm>
          <a:prstGeom prst="ellipse">
            <a:avLst/>
          </a:prstGeom>
          <a:solidFill>
            <a:srgbClr val="06A9C8"/>
          </a:solidFill>
          <a:ln w="12700">
            <a:solidFill>
              <a:srgbClr val="06A9C8"/>
            </a:solidFill>
            <a:prstDash val="solid"/>
          </a:ln>
        </p:spPr>
      </p:sp>
      <p:sp>
        <p:nvSpPr>
          <p:cNvPr id="11" name="Text 9"/>
          <p:cNvSpPr/>
          <p:nvPr/>
        </p:nvSpPr>
        <p:spPr>
          <a:xfrm>
            <a:off x="9354312" y="213969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82912" y="209397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Outcome</a:t>
            </a:r>
            <a:endParaRPr lang="en-US" sz="1080" dirty="0"/>
          </a:p>
        </p:txBody>
      </p:sp>
      <p:sp>
        <p:nvSpPr>
          <p:cNvPr id="13" name="Text 11"/>
          <p:cNvSpPr/>
          <p:nvPr/>
        </p:nvSpPr>
        <p:spPr>
          <a:xfrm>
            <a:off x="9354312" y="2423160"/>
            <a:ext cx="1920240" cy="676656"/>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You can name the major Foundry pillars and explain what each contributes.</a:t>
            </a:r>
            <a:endParaRPr lang="en-US" sz="96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2 · Lecture 6</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Agent Lifecycle in Foundry</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The same platform supports discovery, build, test, publish, observe, and govern.</a:t>
            </a:r>
            <a:endParaRPr lang="en-US" sz="1500" dirty="0"/>
          </a:p>
        </p:txBody>
      </p:sp>
      <p:sp>
        <p:nvSpPr>
          <p:cNvPr id="8" name="Shape 6"/>
          <p:cNvSpPr/>
          <p:nvPr/>
        </p:nvSpPr>
        <p:spPr>
          <a:xfrm>
            <a:off x="658368" y="2103120"/>
            <a:ext cx="1417320" cy="868680"/>
          </a:xfrm>
          <a:prstGeom prst="roundRect">
            <a:avLst>
              <a:gd name="adj" fmla="val 8421"/>
            </a:avLst>
          </a:prstGeom>
          <a:solidFill>
            <a:srgbClr val="F4F8FB"/>
          </a:solidFill>
          <a:ln w="12700">
            <a:solidFill>
              <a:srgbClr val="D6E7EF"/>
            </a:solidFill>
            <a:prstDash val="solid"/>
          </a:ln>
        </p:spPr>
      </p:sp>
      <p:sp>
        <p:nvSpPr>
          <p:cNvPr id="9" name="Text 7"/>
          <p:cNvSpPr/>
          <p:nvPr/>
        </p:nvSpPr>
        <p:spPr>
          <a:xfrm>
            <a:off x="749808" y="2258568"/>
            <a:ext cx="1234440" cy="228600"/>
          </a:xfrm>
          <a:prstGeom prst="rect">
            <a:avLst/>
          </a:prstGeom>
          <a:noFill/>
          <a:ln/>
        </p:spPr>
        <p:txBody>
          <a:bodyPr wrap="square" lIns="0" tIns="0" rIns="0" bIns="0" rtlCol="0" anchor="ctr">
            <a:normAutofit/>
          </a:bodyPr>
          <a:lstStyle/>
          <a:p>
            <a:pPr algn="ctr" indent="0" marL="0">
              <a:buNone/>
            </a:pPr>
            <a:r>
              <a:rPr lang="en-US" sz="1150" b="1" dirty="0">
                <a:solidFill>
                  <a:srgbClr val="172033"/>
                </a:solidFill>
                <a:latin typeface="Aptos" pitchFamily="34" charset="0"/>
                <a:ea typeface="Aptos" pitchFamily="34" charset="-122"/>
                <a:cs typeface="Aptos" pitchFamily="34" charset="-120"/>
              </a:rPr>
              <a:t>Discover</a:t>
            </a:r>
            <a:endParaRPr lang="en-US" sz="1150" dirty="0"/>
          </a:p>
        </p:txBody>
      </p:sp>
      <p:sp>
        <p:nvSpPr>
          <p:cNvPr id="10" name="Text 8"/>
          <p:cNvSpPr/>
          <p:nvPr/>
        </p:nvSpPr>
        <p:spPr>
          <a:xfrm>
            <a:off x="768096" y="2532888"/>
            <a:ext cx="1197864" cy="256032"/>
          </a:xfrm>
          <a:prstGeom prst="rect">
            <a:avLst/>
          </a:prstGeom>
          <a:noFill/>
          <a:ln/>
        </p:spPr>
        <p:txBody>
          <a:bodyPr wrap="square" lIns="0" tIns="0" rIns="0" bIns="0" rtlCol="0" anchor="ctr">
            <a:normAutofit/>
          </a:bodyPr>
          <a:lstStyle/>
          <a:p>
            <a:pPr algn="ctr" indent="0" marL="0">
              <a:buNone/>
            </a:pPr>
            <a:r>
              <a:rPr lang="en-US" sz="850" dirty="0">
                <a:solidFill>
                  <a:srgbClr val="6B7280"/>
                </a:solidFill>
                <a:latin typeface="Aptos" pitchFamily="34" charset="0"/>
                <a:ea typeface="Aptos" pitchFamily="34" charset="-122"/>
                <a:cs typeface="Aptos" pitchFamily="34" charset="-120"/>
              </a:rPr>
              <a:t>models/tools</a:t>
            </a:r>
            <a:endParaRPr lang="en-US" sz="850" dirty="0"/>
          </a:p>
        </p:txBody>
      </p:sp>
      <p:sp>
        <p:nvSpPr>
          <p:cNvPr id="11" name="Text 9"/>
          <p:cNvSpPr/>
          <p:nvPr/>
        </p:nvSpPr>
        <p:spPr>
          <a:xfrm>
            <a:off x="2121408" y="2340864"/>
            <a:ext cx="164592" cy="228600"/>
          </a:xfrm>
          <a:prstGeom prst="rect">
            <a:avLst/>
          </a:prstGeom>
          <a:noFill/>
          <a:ln/>
        </p:spPr>
        <p:txBody>
          <a:bodyPr wrap="square" lIns="0" tIns="0" rIns="0" bIns="0" rtlCol="0" anchor="ctr"/>
          <a:lstStyle/>
          <a:p>
            <a:pPr indent="0" marL="0">
              <a:buNone/>
            </a:pPr>
            <a:r>
              <a:rPr lang="en-US" sz="1600" b="1" dirty="0">
                <a:solidFill>
                  <a:srgbClr val="06A9C8"/>
                </a:solidFill>
                <a:latin typeface="Aptos" pitchFamily="34" charset="0"/>
                <a:ea typeface="Aptos" pitchFamily="34" charset="-122"/>
                <a:cs typeface="Aptos" pitchFamily="34" charset="-120"/>
              </a:rPr>
              <a:t>→</a:t>
            </a:r>
            <a:endParaRPr lang="en-US" sz="1600" dirty="0"/>
          </a:p>
        </p:txBody>
      </p:sp>
      <p:sp>
        <p:nvSpPr>
          <p:cNvPr id="12" name="Shape 10"/>
          <p:cNvSpPr/>
          <p:nvPr/>
        </p:nvSpPr>
        <p:spPr>
          <a:xfrm>
            <a:off x="2331720" y="2103120"/>
            <a:ext cx="1417320" cy="868680"/>
          </a:xfrm>
          <a:prstGeom prst="roundRect">
            <a:avLst>
              <a:gd name="adj" fmla="val 8421"/>
            </a:avLst>
          </a:prstGeom>
          <a:solidFill>
            <a:srgbClr val="F4F8FB"/>
          </a:solidFill>
          <a:ln w="12700">
            <a:solidFill>
              <a:srgbClr val="D6E7EF"/>
            </a:solidFill>
            <a:prstDash val="solid"/>
          </a:ln>
        </p:spPr>
      </p:sp>
      <p:sp>
        <p:nvSpPr>
          <p:cNvPr id="13" name="Text 11"/>
          <p:cNvSpPr/>
          <p:nvPr/>
        </p:nvSpPr>
        <p:spPr>
          <a:xfrm>
            <a:off x="2423160" y="2258568"/>
            <a:ext cx="1234440" cy="228600"/>
          </a:xfrm>
          <a:prstGeom prst="rect">
            <a:avLst/>
          </a:prstGeom>
          <a:noFill/>
          <a:ln/>
        </p:spPr>
        <p:txBody>
          <a:bodyPr wrap="square" lIns="0" tIns="0" rIns="0" bIns="0" rtlCol="0" anchor="ctr">
            <a:normAutofit/>
          </a:bodyPr>
          <a:lstStyle/>
          <a:p>
            <a:pPr algn="ctr" indent="0" marL="0">
              <a:buNone/>
            </a:pPr>
            <a:r>
              <a:rPr lang="en-US" sz="1150" b="1" dirty="0">
                <a:solidFill>
                  <a:srgbClr val="172033"/>
                </a:solidFill>
                <a:latin typeface="Aptos" pitchFamily="34" charset="0"/>
                <a:ea typeface="Aptos" pitchFamily="34" charset="-122"/>
                <a:cs typeface="Aptos" pitchFamily="34" charset="-120"/>
              </a:rPr>
              <a:t>Build</a:t>
            </a:r>
            <a:endParaRPr lang="en-US" sz="1150" dirty="0"/>
          </a:p>
        </p:txBody>
      </p:sp>
      <p:sp>
        <p:nvSpPr>
          <p:cNvPr id="14" name="Text 12"/>
          <p:cNvSpPr/>
          <p:nvPr/>
        </p:nvSpPr>
        <p:spPr>
          <a:xfrm>
            <a:off x="2441448" y="2532888"/>
            <a:ext cx="1197864" cy="256032"/>
          </a:xfrm>
          <a:prstGeom prst="rect">
            <a:avLst/>
          </a:prstGeom>
          <a:noFill/>
          <a:ln/>
        </p:spPr>
        <p:txBody>
          <a:bodyPr wrap="square" lIns="0" tIns="0" rIns="0" bIns="0" rtlCol="0" anchor="ctr">
            <a:normAutofit/>
          </a:bodyPr>
          <a:lstStyle/>
          <a:p>
            <a:pPr algn="ctr" indent="0" marL="0">
              <a:buNone/>
            </a:pPr>
            <a:r>
              <a:rPr lang="en-US" sz="850" dirty="0">
                <a:solidFill>
                  <a:srgbClr val="6B7280"/>
                </a:solidFill>
                <a:latin typeface="Aptos" pitchFamily="34" charset="0"/>
                <a:ea typeface="Aptos" pitchFamily="34" charset="-122"/>
                <a:cs typeface="Aptos" pitchFamily="34" charset="-120"/>
              </a:rPr>
              <a:t>agent assets</a:t>
            </a:r>
            <a:endParaRPr lang="en-US" sz="850" dirty="0"/>
          </a:p>
        </p:txBody>
      </p:sp>
      <p:sp>
        <p:nvSpPr>
          <p:cNvPr id="15" name="Text 13"/>
          <p:cNvSpPr/>
          <p:nvPr/>
        </p:nvSpPr>
        <p:spPr>
          <a:xfrm>
            <a:off x="3794760" y="2340864"/>
            <a:ext cx="164592" cy="228600"/>
          </a:xfrm>
          <a:prstGeom prst="rect">
            <a:avLst/>
          </a:prstGeom>
          <a:noFill/>
          <a:ln/>
        </p:spPr>
        <p:txBody>
          <a:bodyPr wrap="square" lIns="0" tIns="0" rIns="0" bIns="0" rtlCol="0" anchor="ctr"/>
          <a:lstStyle/>
          <a:p>
            <a:pPr indent="0" marL="0">
              <a:buNone/>
            </a:pPr>
            <a:r>
              <a:rPr lang="en-US" sz="1600" b="1" dirty="0">
                <a:solidFill>
                  <a:srgbClr val="06A9C8"/>
                </a:solidFill>
                <a:latin typeface="Aptos" pitchFamily="34" charset="0"/>
                <a:ea typeface="Aptos" pitchFamily="34" charset="-122"/>
                <a:cs typeface="Aptos" pitchFamily="34" charset="-120"/>
              </a:rPr>
              <a:t>→</a:t>
            </a:r>
            <a:endParaRPr lang="en-US" sz="1600" dirty="0"/>
          </a:p>
        </p:txBody>
      </p:sp>
      <p:sp>
        <p:nvSpPr>
          <p:cNvPr id="16" name="Shape 14"/>
          <p:cNvSpPr/>
          <p:nvPr/>
        </p:nvSpPr>
        <p:spPr>
          <a:xfrm>
            <a:off x="4005072" y="2103120"/>
            <a:ext cx="1417320" cy="868680"/>
          </a:xfrm>
          <a:prstGeom prst="roundRect">
            <a:avLst>
              <a:gd name="adj" fmla="val 8421"/>
            </a:avLst>
          </a:prstGeom>
          <a:solidFill>
            <a:srgbClr val="F4F8FB"/>
          </a:solidFill>
          <a:ln w="12700">
            <a:solidFill>
              <a:srgbClr val="D6E7EF"/>
            </a:solidFill>
            <a:prstDash val="solid"/>
          </a:ln>
        </p:spPr>
      </p:sp>
      <p:sp>
        <p:nvSpPr>
          <p:cNvPr id="17" name="Text 15"/>
          <p:cNvSpPr/>
          <p:nvPr/>
        </p:nvSpPr>
        <p:spPr>
          <a:xfrm>
            <a:off x="4096512" y="2258568"/>
            <a:ext cx="1234440" cy="228600"/>
          </a:xfrm>
          <a:prstGeom prst="rect">
            <a:avLst/>
          </a:prstGeom>
          <a:noFill/>
          <a:ln/>
        </p:spPr>
        <p:txBody>
          <a:bodyPr wrap="square" lIns="0" tIns="0" rIns="0" bIns="0" rtlCol="0" anchor="ctr">
            <a:normAutofit/>
          </a:bodyPr>
          <a:lstStyle/>
          <a:p>
            <a:pPr algn="ctr" indent="0" marL="0">
              <a:buNone/>
            </a:pPr>
            <a:r>
              <a:rPr lang="en-US" sz="1150" b="1" dirty="0">
                <a:solidFill>
                  <a:srgbClr val="172033"/>
                </a:solidFill>
                <a:latin typeface="Aptos" pitchFamily="34" charset="0"/>
                <a:ea typeface="Aptos" pitchFamily="34" charset="-122"/>
                <a:cs typeface="Aptos" pitchFamily="34" charset="-120"/>
              </a:rPr>
              <a:t>Test</a:t>
            </a:r>
            <a:endParaRPr lang="en-US" sz="1150" dirty="0"/>
          </a:p>
        </p:txBody>
      </p:sp>
      <p:sp>
        <p:nvSpPr>
          <p:cNvPr id="18" name="Text 16"/>
          <p:cNvSpPr/>
          <p:nvPr/>
        </p:nvSpPr>
        <p:spPr>
          <a:xfrm>
            <a:off x="4114800" y="2532888"/>
            <a:ext cx="1197864" cy="256032"/>
          </a:xfrm>
          <a:prstGeom prst="rect">
            <a:avLst/>
          </a:prstGeom>
          <a:noFill/>
          <a:ln/>
        </p:spPr>
        <p:txBody>
          <a:bodyPr wrap="square" lIns="0" tIns="0" rIns="0" bIns="0" rtlCol="0" anchor="ctr">
            <a:normAutofit/>
          </a:bodyPr>
          <a:lstStyle/>
          <a:p>
            <a:pPr algn="ctr" indent="0" marL="0">
              <a:buNone/>
            </a:pPr>
            <a:r>
              <a:rPr lang="en-US" sz="850" dirty="0">
                <a:solidFill>
                  <a:srgbClr val="6B7280"/>
                </a:solidFill>
                <a:latin typeface="Aptos" pitchFamily="34" charset="0"/>
                <a:ea typeface="Aptos" pitchFamily="34" charset="-122"/>
                <a:cs typeface="Aptos" pitchFamily="34" charset="-120"/>
              </a:rPr>
              <a:t>behavior</a:t>
            </a:r>
            <a:endParaRPr lang="en-US" sz="850" dirty="0"/>
          </a:p>
        </p:txBody>
      </p:sp>
      <p:sp>
        <p:nvSpPr>
          <p:cNvPr id="19" name="Text 17"/>
          <p:cNvSpPr/>
          <p:nvPr/>
        </p:nvSpPr>
        <p:spPr>
          <a:xfrm>
            <a:off x="5468112" y="2340864"/>
            <a:ext cx="164592" cy="228600"/>
          </a:xfrm>
          <a:prstGeom prst="rect">
            <a:avLst/>
          </a:prstGeom>
          <a:noFill/>
          <a:ln/>
        </p:spPr>
        <p:txBody>
          <a:bodyPr wrap="square" lIns="0" tIns="0" rIns="0" bIns="0" rtlCol="0" anchor="ctr"/>
          <a:lstStyle/>
          <a:p>
            <a:pPr indent="0" marL="0">
              <a:buNone/>
            </a:pPr>
            <a:r>
              <a:rPr lang="en-US" sz="1600" b="1" dirty="0">
                <a:solidFill>
                  <a:srgbClr val="06A9C8"/>
                </a:solidFill>
                <a:latin typeface="Aptos" pitchFamily="34" charset="0"/>
                <a:ea typeface="Aptos" pitchFamily="34" charset="-122"/>
                <a:cs typeface="Aptos" pitchFamily="34" charset="-120"/>
              </a:rPr>
              <a:t>→</a:t>
            </a:r>
            <a:endParaRPr lang="en-US" sz="1600" dirty="0"/>
          </a:p>
        </p:txBody>
      </p:sp>
      <p:sp>
        <p:nvSpPr>
          <p:cNvPr id="20" name="Shape 18"/>
          <p:cNvSpPr/>
          <p:nvPr/>
        </p:nvSpPr>
        <p:spPr>
          <a:xfrm>
            <a:off x="5678424" y="2103120"/>
            <a:ext cx="1417320" cy="868680"/>
          </a:xfrm>
          <a:prstGeom prst="roundRect">
            <a:avLst>
              <a:gd name="adj" fmla="val 8421"/>
            </a:avLst>
          </a:prstGeom>
          <a:solidFill>
            <a:srgbClr val="F4F8FB"/>
          </a:solidFill>
          <a:ln w="12700">
            <a:solidFill>
              <a:srgbClr val="D6E7EF"/>
            </a:solidFill>
            <a:prstDash val="solid"/>
          </a:ln>
        </p:spPr>
      </p:sp>
      <p:sp>
        <p:nvSpPr>
          <p:cNvPr id="21" name="Text 19"/>
          <p:cNvSpPr/>
          <p:nvPr/>
        </p:nvSpPr>
        <p:spPr>
          <a:xfrm>
            <a:off x="5769864" y="2258568"/>
            <a:ext cx="1234440" cy="228600"/>
          </a:xfrm>
          <a:prstGeom prst="rect">
            <a:avLst/>
          </a:prstGeom>
          <a:noFill/>
          <a:ln/>
        </p:spPr>
        <p:txBody>
          <a:bodyPr wrap="square" lIns="0" tIns="0" rIns="0" bIns="0" rtlCol="0" anchor="ctr">
            <a:normAutofit/>
          </a:bodyPr>
          <a:lstStyle/>
          <a:p>
            <a:pPr algn="ctr" indent="0" marL="0">
              <a:buNone/>
            </a:pPr>
            <a:r>
              <a:rPr lang="en-US" sz="1150" b="1" dirty="0">
                <a:solidFill>
                  <a:srgbClr val="172033"/>
                </a:solidFill>
                <a:latin typeface="Aptos" pitchFamily="34" charset="0"/>
                <a:ea typeface="Aptos" pitchFamily="34" charset="-122"/>
                <a:cs typeface="Aptos" pitchFamily="34" charset="-120"/>
              </a:rPr>
              <a:t>Publish</a:t>
            </a:r>
            <a:endParaRPr lang="en-US" sz="1150" dirty="0"/>
          </a:p>
        </p:txBody>
      </p:sp>
      <p:sp>
        <p:nvSpPr>
          <p:cNvPr id="22" name="Text 20"/>
          <p:cNvSpPr/>
          <p:nvPr/>
        </p:nvSpPr>
        <p:spPr>
          <a:xfrm>
            <a:off x="5788152" y="2532888"/>
            <a:ext cx="1197864" cy="256032"/>
          </a:xfrm>
          <a:prstGeom prst="rect">
            <a:avLst/>
          </a:prstGeom>
          <a:noFill/>
          <a:ln/>
        </p:spPr>
        <p:txBody>
          <a:bodyPr wrap="square" lIns="0" tIns="0" rIns="0" bIns="0" rtlCol="0" anchor="ctr">
            <a:normAutofit/>
          </a:bodyPr>
          <a:lstStyle/>
          <a:p>
            <a:pPr algn="ctr" indent="0" marL="0">
              <a:buNone/>
            </a:pPr>
            <a:r>
              <a:rPr lang="en-US" sz="850" dirty="0">
                <a:solidFill>
                  <a:srgbClr val="6B7280"/>
                </a:solidFill>
                <a:latin typeface="Aptos" pitchFamily="34" charset="0"/>
                <a:ea typeface="Aptos" pitchFamily="34" charset="-122"/>
                <a:cs typeface="Aptos" pitchFamily="34" charset="-120"/>
              </a:rPr>
              <a:t>stable endpoint</a:t>
            </a:r>
            <a:endParaRPr lang="en-US" sz="850" dirty="0"/>
          </a:p>
        </p:txBody>
      </p:sp>
      <p:sp>
        <p:nvSpPr>
          <p:cNvPr id="23" name="Text 21"/>
          <p:cNvSpPr/>
          <p:nvPr/>
        </p:nvSpPr>
        <p:spPr>
          <a:xfrm>
            <a:off x="7141464" y="2340864"/>
            <a:ext cx="164592" cy="228600"/>
          </a:xfrm>
          <a:prstGeom prst="rect">
            <a:avLst/>
          </a:prstGeom>
          <a:noFill/>
          <a:ln/>
        </p:spPr>
        <p:txBody>
          <a:bodyPr wrap="square" lIns="0" tIns="0" rIns="0" bIns="0" rtlCol="0" anchor="ctr"/>
          <a:lstStyle/>
          <a:p>
            <a:pPr indent="0" marL="0">
              <a:buNone/>
            </a:pPr>
            <a:r>
              <a:rPr lang="en-US" sz="1600" b="1" dirty="0">
                <a:solidFill>
                  <a:srgbClr val="06A9C8"/>
                </a:solidFill>
                <a:latin typeface="Aptos" pitchFamily="34" charset="0"/>
                <a:ea typeface="Aptos" pitchFamily="34" charset="-122"/>
                <a:cs typeface="Aptos" pitchFamily="34" charset="-120"/>
              </a:rPr>
              <a:t>→</a:t>
            </a:r>
            <a:endParaRPr lang="en-US" sz="1600" dirty="0"/>
          </a:p>
        </p:txBody>
      </p:sp>
      <p:sp>
        <p:nvSpPr>
          <p:cNvPr id="24" name="Shape 22"/>
          <p:cNvSpPr/>
          <p:nvPr/>
        </p:nvSpPr>
        <p:spPr>
          <a:xfrm>
            <a:off x="7351776" y="2103120"/>
            <a:ext cx="1417320" cy="868680"/>
          </a:xfrm>
          <a:prstGeom prst="roundRect">
            <a:avLst>
              <a:gd name="adj" fmla="val 8421"/>
            </a:avLst>
          </a:prstGeom>
          <a:solidFill>
            <a:srgbClr val="F4F8FB"/>
          </a:solidFill>
          <a:ln w="12700">
            <a:solidFill>
              <a:srgbClr val="D6E7EF"/>
            </a:solidFill>
            <a:prstDash val="solid"/>
          </a:ln>
        </p:spPr>
      </p:sp>
      <p:sp>
        <p:nvSpPr>
          <p:cNvPr id="25" name="Text 23"/>
          <p:cNvSpPr/>
          <p:nvPr/>
        </p:nvSpPr>
        <p:spPr>
          <a:xfrm>
            <a:off x="7443216" y="2258568"/>
            <a:ext cx="1234440" cy="228600"/>
          </a:xfrm>
          <a:prstGeom prst="rect">
            <a:avLst/>
          </a:prstGeom>
          <a:noFill/>
          <a:ln/>
        </p:spPr>
        <p:txBody>
          <a:bodyPr wrap="square" lIns="0" tIns="0" rIns="0" bIns="0" rtlCol="0" anchor="ctr">
            <a:normAutofit/>
          </a:bodyPr>
          <a:lstStyle/>
          <a:p>
            <a:pPr algn="ctr" indent="0" marL="0">
              <a:buNone/>
            </a:pPr>
            <a:r>
              <a:rPr lang="en-US" sz="1150" b="1" dirty="0">
                <a:solidFill>
                  <a:srgbClr val="172033"/>
                </a:solidFill>
                <a:latin typeface="Aptos" pitchFamily="34" charset="0"/>
                <a:ea typeface="Aptos" pitchFamily="34" charset="-122"/>
                <a:cs typeface="Aptos" pitchFamily="34" charset="-120"/>
              </a:rPr>
              <a:t>Observe</a:t>
            </a:r>
            <a:endParaRPr lang="en-US" sz="1150" dirty="0"/>
          </a:p>
        </p:txBody>
      </p:sp>
      <p:sp>
        <p:nvSpPr>
          <p:cNvPr id="26" name="Text 24"/>
          <p:cNvSpPr/>
          <p:nvPr/>
        </p:nvSpPr>
        <p:spPr>
          <a:xfrm>
            <a:off x="7461504" y="2532888"/>
            <a:ext cx="1197864" cy="256032"/>
          </a:xfrm>
          <a:prstGeom prst="rect">
            <a:avLst/>
          </a:prstGeom>
          <a:noFill/>
          <a:ln/>
        </p:spPr>
        <p:txBody>
          <a:bodyPr wrap="square" lIns="0" tIns="0" rIns="0" bIns="0" rtlCol="0" anchor="ctr">
            <a:normAutofit/>
          </a:bodyPr>
          <a:lstStyle/>
          <a:p>
            <a:pPr algn="ctr" indent="0" marL="0">
              <a:buNone/>
            </a:pPr>
            <a:r>
              <a:rPr lang="en-US" sz="850" dirty="0">
                <a:solidFill>
                  <a:srgbClr val="6B7280"/>
                </a:solidFill>
                <a:latin typeface="Aptos" pitchFamily="34" charset="0"/>
                <a:ea typeface="Aptos" pitchFamily="34" charset="-122"/>
                <a:cs typeface="Aptos" pitchFamily="34" charset="-120"/>
              </a:rPr>
              <a:t>quality + cost</a:t>
            </a:r>
            <a:endParaRPr lang="en-US" sz="850" dirty="0"/>
          </a:p>
        </p:txBody>
      </p:sp>
      <p:sp>
        <p:nvSpPr>
          <p:cNvPr id="27" name="Text 25"/>
          <p:cNvSpPr/>
          <p:nvPr/>
        </p:nvSpPr>
        <p:spPr>
          <a:xfrm>
            <a:off x="8814816" y="2340864"/>
            <a:ext cx="164592" cy="228600"/>
          </a:xfrm>
          <a:prstGeom prst="rect">
            <a:avLst/>
          </a:prstGeom>
          <a:noFill/>
          <a:ln/>
        </p:spPr>
        <p:txBody>
          <a:bodyPr wrap="square" lIns="0" tIns="0" rIns="0" bIns="0" rtlCol="0" anchor="ctr"/>
          <a:lstStyle/>
          <a:p>
            <a:pPr indent="0" marL="0">
              <a:buNone/>
            </a:pPr>
            <a:r>
              <a:rPr lang="en-US" sz="1600" b="1" dirty="0">
                <a:solidFill>
                  <a:srgbClr val="06A9C8"/>
                </a:solidFill>
                <a:latin typeface="Aptos" pitchFamily="34" charset="0"/>
                <a:ea typeface="Aptos" pitchFamily="34" charset="-122"/>
                <a:cs typeface="Aptos" pitchFamily="34" charset="-120"/>
              </a:rPr>
              <a:t>→</a:t>
            </a:r>
            <a:endParaRPr lang="en-US" sz="1600" dirty="0"/>
          </a:p>
        </p:txBody>
      </p:sp>
      <p:sp>
        <p:nvSpPr>
          <p:cNvPr id="28" name="Shape 26"/>
          <p:cNvSpPr/>
          <p:nvPr/>
        </p:nvSpPr>
        <p:spPr>
          <a:xfrm>
            <a:off x="9025128" y="2103120"/>
            <a:ext cx="1417320" cy="868680"/>
          </a:xfrm>
          <a:prstGeom prst="roundRect">
            <a:avLst>
              <a:gd name="adj" fmla="val 8421"/>
            </a:avLst>
          </a:prstGeom>
          <a:solidFill>
            <a:srgbClr val="F4F8FB"/>
          </a:solidFill>
          <a:ln w="12700">
            <a:solidFill>
              <a:srgbClr val="D6E7EF"/>
            </a:solidFill>
            <a:prstDash val="solid"/>
          </a:ln>
        </p:spPr>
      </p:sp>
      <p:sp>
        <p:nvSpPr>
          <p:cNvPr id="29" name="Text 27"/>
          <p:cNvSpPr/>
          <p:nvPr/>
        </p:nvSpPr>
        <p:spPr>
          <a:xfrm>
            <a:off x="9116568" y="2258568"/>
            <a:ext cx="1234440" cy="228600"/>
          </a:xfrm>
          <a:prstGeom prst="rect">
            <a:avLst/>
          </a:prstGeom>
          <a:noFill/>
          <a:ln/>
        </p:spPr>
        <p:txBody>
          <a:bodyPr wrap="square" lIns="0" tIns="0" rIns="0" bIns="0" rtlCol="0" anchor="ctr">
            <a:normAutofit/>
          </a:bodyPr>
          <a:lstStyle/>
          <a:p>
            <a:pPr algn="ctr" indent="0" marL="0">
              <a:buNone/>
            </a:pPr>
            <a:r>
              <a:rPr lang="en-US" sz="1150" b="1" dirty="0">
                <a:solidFill>
                  <a:srgbClr val="172033"/>
                </a:solidFill>
                <a:latin typeface="Aptos" pitchFamily="34" charset="0"/>
                <a:ea typeface="Aptos" pitchFamily="34" charset="-122"/>
                <a:cs typeface="Aptos" pitchFamily="34" charset="-120"/>
              </a:rPr>
              <a:t>Govern</a:t>
            </a:r>
            <a:endParaRPr lang="en-US" sz="1150" dirty="0"/>
          </a:p>
        </p:txBody>
      </p:sp>
      <p:sp>
        <p:nvSpPr>
          <p:cNvPr id="30" name="Text 28"/>
          <p:cNvSpPr/>
          <p:nvPr/>
        </p:nvSpPr>
        <p:spPr>
          <a:xfrm>
            <a:off x="9134856" y="2532888"/>
            <a:ext cx="1197864" cy="256032"/>
          </a:xfrm>
          <a:prstGeom prst="rect">
            <a:avLst/>
          </a:prstGeom>
          <a:noFill/>
          <a:ln/>
        </p:spPr>
        <p:txBody>
          <a:bodyPr wrap="square" lIns="0" tIns="0" rIns="0" bIns="0" rtlCol="0" anchor="ctr">
            <a:normAutofit/>
          </a:bodyPr>
          <a:lstStyle/>
          <a:p>
            <a:pPr algn="ctr" indent="0" marL="0">
              <a:buNone/>
            </a:pPr>
            <a:r>
              <a:rPr lang="en-US" sz="850" dirty="0">
                <a:solidFill>
                  <a:srgbClr val="6B7280"/>
                </a:solidFill>
                <a:latin typeface="Aptos" pitchFamily="34" charset="0"/>
                <a:ea typeface="Aptos" pitchFamily="34" charset="-122"/>
                <a:cs typeface="Aptos" pitchFamily="34" charset="-120"/>
              </a:rPr>
              <a:t>policy + roles</a:t>
            </a:r>
            <a:endParaRPr lang="en-US" sz="850" dirty="0"/>
          </a:p>
        </p:txBody>
      </p:sp>
      <p:sp>
        <p:nvSpPr>
          <p:cNvPr id="31" name="Shape 29"/>
          <p:cNvSpPr/>
          <p:nvPr/>
        </p:nvSpPr>
        <p:spPr>
          <a:xfrm>
            <a:off x="9144000" y="3886200"/>
            <a:ext cx="2331720" cy="1051560"/>
          </a:xfrm>
          <a:prstGeom prst="rect">
            <a:avLst/>
          </a:prstGeom>
          <a:solidFill>
            <a:srgbClr val="F4F8FB"/>
          </a:solidFill>
          <a:ln w="12700">
            <a:solidFill>
              <a:srgbClr val="E7EEF4"/>
            </a:solidFill>
            <a:prstDash val="solid"/>
          </a:ln>
        </p:spPr>
      </p:sp>
      <p:sp>
        <p:nvSpPr>
          <p:cNvPr id="32" name="Shape 30"/>
          <p:cNvSpPr/>
          <p:nvPr/>
        </p:nvSpPr>
        <p:spPr>
          <a:xfrm>
            <a:off x="9299448" y="4041648"/>
            <a:ext cx="219456" cy="219456"/>
          </a:xfrm>
          <a:prstGeom prst="ellipse">
            <a:avLst/>
          </a:prstGeom>
          <a:solidFill>
            <a:srgbClr val="06A9C8"/>
          </a:solidFill>
          <a:ln w="12700">
            <a:solidFill>
              <a:srgbClr val="06A9C8"/>
            </a:solidFill>
            <a:prstDash val="solid"/>
          </a:ln>
        </p:spPr>
      </p:sp>
      <p:sp>
        <p:nvSpPr>
          <p:cNvPr id="33" name="Text 31"/>
          <p:cNvSpPr/>
          <p:nvPr/>
        </p:nvSpPr>
        <p:spPr>
          <a:xfrm>
            <a:off x="9354312" y="405993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34" name="Text 32"/>
          <p:cNvSpPr/>
          <p:nvPr/>
        </p:nvSpPr>
        <p:spPr>
          <a:xfrm>
            <a:off x="9582912" y="401421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Lifecycle rule</a:t>
            </a:r>
            <a:endParaRPr lang="en-US" sz="1080" dirty="0"/>
          </a:p>
        </p:txBody>
      </p:sp>
      <p:sp>
        <p:nvSpPr>
          <p:cNvPr id="35" name="Text 33"/>
          <p:cNvSpPr/>
          <p:nvPr/>
        </p:nvSpPr>
        <p:spPr>
          <a:xfrm>
            <a:off x="9354312" y="4343400"/>
            <a:ext cx="1920240" cy="484632"/>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Every agent must eventually be operated, not merely created.</a:t>
            </a:r>
            <a:endParaRPr lang="en-US" sz="96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2 · Lecture 6</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Current Terminology to Use Consistently</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Terminology consistency prevents stale content from leaking into the course.</a:t>
            </a:r>
            <a:endParaRPr lang="en-US" sz="1500" dirty="0"/>
          </a:p>
        </p:txBody>
      </p:sp>
      <p:sp>
        <p:nvSpPr>
          <p:cNvPr id="8" name="Text 6"/>
          <p:cNvSpPr/>
          <p:nvPr/>
        </p:nvSpPr>
        <p:spPr>
          <a:xfrm>
            <a:off x="658368" y="1965960"/>
            <a:ext cx="8001000" cy="3429000"/>
          </a:xfrm>
          <a:prstGeom prst="rect">
            <a:avLst/>
          </a:prstGeom>
          <a:noFill/>
          <a:ln/>
        </p:spPr>
        <p:txBody>
          <a:bodyPr wrap="square" lIns="254" tIns="254" rIns="254" bIns="254" rtlCol="0" anchor="ctr">
            <a:normAutofit/>
          </a:bodyPr>
          <a:lstStyle/>
          <a:p>
            <a:pPr indent="0" marL="0">
              <a:buNone/>
            </a:pPr>
            <a:r>
              <a:rPr lang="en-US" sz="1850" dirty="0">
                <a:solidFill>
                  <a:srgbClr val="303846"/>
                </a:solidFill>
                <a:latin typeface="Aptos" pitchFamily="34" charset="0"/>
                <a:ea typeface="Aptos" pitchFamily="34" charset="-122"/>
                <a:cs typeface="Aptos" pitchFamily="34" charset="-120"/>
              </a:rPr>
              <a:t>▸ Use Microsoft Foundry as the current platform name.</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Use Foundry New for the current portal experience.</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Use Foundry Classic only for hub-based legacy context.</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Use prompt agents and hosted agents when discussing Agent Service.</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Use Foundry IQ for the managed enterprise knowledge layer.</a:t>
            </a:r>
            <a:endParaRPr lang="en-US" sz="1850" dirty="0"/>
          </a:p>
        </p:txBody>
      </p:sp>
      <p:sp>
        <p:nvSpPr>
          <p:cNvPr id="9" name="Shape 7"/>
          <p:cNvSpPr/>
          <p:nvPr/>
        </p:nvSpPr>
        <p:spPr>
          <a:xfrm>
            <a:off x="9144000" y="1965960"/>
            <a:ext cx="2331720" cy="1243584"/>
          </a:xfrm>
          <a:prstGeom prst="rect">
            <a:avLst/>
          </a:prstGeom>
          <a:solidFill>
            <a:srgbClr val="F4F8FB"/>
          </a:solidFill>
          <a:ln w="12700">
            <a:solidFill>
              <a:srgbClr val="E7EEF4"/>
            </a:solidFill>
            <a:prstDash val="solid"/>
          </a:ln>
        </p:spPr>
      </p:sp>
      <p:sp>
        <p:nvSpPr>
          <p:cNvPr id="10" name="Shape 8"/>
          <p:cNvSpPr/>
          <p:nvPr/>
        </p:nvSpPr>
        <p:spPr>
          <a:xfrm>
            <a:off x="9299448" y="2121408"/>
            <a:ext cx="219456" cy="219456"/>
          </a:xfrm>
          <a:prstGeom prst="ellipse">
            <a:avLst/>
          </a:prstGeom>
          <a:solidFill>
            <a:srgbClr val="06A9C8"/>
          </a:solidFill>
          <a:ln w="12700">
            <a:solidFill>
              <a:srgbClr val="06A9C8"/>
            </a:solidFill>
            <a:prstDash val="solid"/>
          </a:ln>
        </p:spPr>
      </p:sp>
      <p:sp>
        <p:nvSpPr>
          <p:cNvPr id="11" name="Text 9"/>
          <p:cNvSpPr/>
          <p:nvPr/>
        </p:nvSpPr>
        <p:spPr>
          <a:xfrm>
            <a:off x="9354312" y="213969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82912" y="209397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Terminology anchor</a:t>
            </a:r>
            <a:endParaRPr lang="en-US" sz="1080" dirty="0"/>
          </a:p>
        </p:txBody>
      </p:sp>
      <p:sp>
        <p:nvSpPr>
          <p:cNvPr id="13" name="Text 11"/>
          <p:cNvSpPr/>
          <p:nvPr/>
        </p:nvSpPr>
        <p:spPr>
          <a:xfrm>
            <a:off x="9354312" y="2423160"/>
            <a:ext cx="1920240" cy="676656"/>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Current names keep platform roles and responsibilities clear.</a:t>
            </a:r>
            <a:endParaRPr lang="en-US" sz="96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2 Review</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Section 2 — Section Review</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Key takeaways and transition to the next section.</a:t>
            </a:r>
            <a:endParaRPr lang="en-US" sz="1500" dirty="0"/>
          </a:p>
        </p:txBody>
      </p:sp>
      <p:sp>
        <p:nvSpPr>
          <p:cNvPr id="8" name="Shape 6"/>
          <p:cNvSpPr/>
          <p:nvPr/>
        </p:nvSpPr>
        <p:spPr>
          <a:xfrm>
            <a:off x="658368" y="1938528"/>
            <a:ext cx="2423160" cy="1234440"/>
          </a:xfrm>
          <a:prstGeom prst="rect">
            <a:avLst/>
          </a:prstGeom>
          <a:solidFill>
            <a:srgbClr val="F4F8FB"/>
          </a:solidFill>
          <a:ln w="12700">
            <a:solidFill>
              <a:srgbClr val="E4EEF4"/>
            </a:solidFill>
            <a:prstDash val="solid"/>
          </a:ln>
        </p:spPr>
      </p:sp>
      <p:sp>
        <p:nvSpPr>
          <p:cNvPr id="9" name="Text 7"/>
          <p:cNvSpPr/>
          <p:nvPr/>
        </p:nvSpPr>
        <p:spPr>
          <a:xfrm>
            <a:off x="822960" y="2075688"/>
            <a:ext cx="2093976" cy="182880"/>
          </a:xfrm>
          <a:prstGeom prst="rect">
            <a:avLst/>
          </a:prstGeom>
          <a:noFill/>
          <a:ln/>
        </p:spPr>
        <p:txBody>
          <a:bodyPr wrap="square" lIns="0" tIns="0" rIns="0" bIns="0" rtlCol="0" anchor="ctr"/>
          <a:lstStyle/>
          <a:p>
            <a:pPr indent="0" marL="0">
              <a:buNone/>
            </a:pPr>
            <a:r>
              <a:rPr lang="en-US" sz="1050" b="1" dirty="0">
                <a:solidFill>
                  <a:srgbClr val="06A9C8"/>
                </a:solidFill>
                <a:latin typeface="Aptos" pitchFamily="34" charset="0"/>
                <a:ea typeface="Aptos" pitchFamily="34" charset="-122"/>
                <a:cs typeface="Aptos" pitchFamily="34" charset="-120"/>
              </a:rPr>
              <a:t>Takeaway 1</a:t>
            </a:r>
            <a:endParaRPr lang="en-US" sz="1050" dirty="0"/>
          </a:p>
        </p:txBody>
      </p:sp>
      <p:sp>
        <p:nvSpPr>
          <p:cNvPr id="10" name="Text 8"/>
          <p:cNvSpPr/>
          <p:nvPr/>
        </p:nvSpPr>
        <p:spPr>
          <a:xfrm>
            <a:off x="822960" y="2368296"/>
            <a:ext cx="2093976" cy="621792"/>
          </a:xfrm>
          <a:prstGeom prst="rect">
            <a:avLst/>
          </a:prstGeom>
          <a:noFill/>
          <a:ln/>
        </p:spPr>
        <p:txBody>
          <a:bodyPr wrap="square" lIns="254" tIns="254" rIns="254" bIns="254" rtlCol="0" anchor="ctr">
            <a:normAutofit/>
          </a:bodyPr>
          <a:lstStyle/>
          <a:p>
            <a:pPr indent="0" marL="0">
              <a:buNone/>
            </a:pPr>
            <a:r>
              <a:rPr lang="en-US" sz="1150" dirty="0">
                <a:solidFill>
                  <a:srgbClr val="303846"/>
                </a:solidFill>
                <a:latin typeface="Aptos" pitchFamily="34" charset="0"/>
                <a:ea typeface="Aptos" pitchFamily="34" charset="-122"/>
                <a:cs typeface="Aptos" pitchFamily="34" charset="-120"/>
              </a:rPr>
              <a:t>Microsoft Foundry is the platform identity used throughout the course.</a:t>
            </a:r>
            <a:endParaRPr lang="en-US" sz="1150" dirty="0"/>
          </a:p>
        </p:txBody>
      </p:sp>
      <p:sp>
        <p:nvSpPr>
          <p:cNvPr id="11" name="Shape 9"/>
          <p:cNvSpPr/>
          <p:nvPr/>
        </p:nvSpPr>
        <p:spPr>
          <a:xfrm>
            <a:off x="3310128" y="1938528"/>
            <a:ext cx="2423160" cy="1234440"/>
          </a:xfrm>
          <a:prstGeom prst="rect">
            <a:avLst/>
          </a:prstGeom>
          <a:solidFill>
            <a:srgbClr val="EDF6FA"/>
          </a:solidFill>
          <a:ln w="12700">
            <a:solidFill>
              <a:srgbClr val="E4EEF4"/>
            </a:solidFill>
            <a:prstDash val="solid"/>
          </a:ln>
        </p:spPr>
      </p:sp>
      <p:sp>
        <p:nvSpPr>
          <p:cNvPr id="12" name="Text 10"/>
          <p:cNvSpPr/>
          <p:nvPr/>
        </p:nvSpPr>
        <p:spPr>
          <a:xfrm>
            <a:off x="3474720" y="2075688"/>
            <a:ext cx="2093976" cy="182880"/>
          </a:xfrm>
          <a:prstGeom prst="rect">
            <a:avLst/>
          </a:prstGeom>
          <a:noFill/>
          <a:ln/>
        </p:spPr>
        <p:txBody>
          <a:bodyPr wrap="square" lIns="0" tIns="0" rIns="0" bIns="0" rtlCol="0" anchor="ctr"/>
          <a:lstStyle/>
          <a:p>
            <a:pPr indent="0" marL="0">
              <a:buNone/>
            </a:pPr>
            <a:r>
              <a:rPr lang="en-US" sz="1050" b="1" dirty="0">
                <a:solidFill>
                  <a:srgbClr val="06A9C8"/>
                </a:solidFill>
                <a:latin typeface="Aptos" pitchFamily="34" charset="0"/>
                <a:ea typeface="Aptos" pitchFamily="34" charset="-122"/>
                <a:cs typeface="Aptos" pitchFamily="34" charset="-120"/>
              </a:rPr>
              <a:t>Takeaway 2</a:t>
            </a:r>
            <a:endParaRPr lang="en-US" sz="1050" dirty="0"/>
          </a:p>
        </p:txBody>
      </p:sp>
      <p:sp>
        <p:nvSpPr>
          <p:cNvPr id="13" name="Text 11"/>
          <p:cNvSpPr/>
          <p:nvPr/>
        </p:nvSpPr>
        <p:spPr>
          <a:xfrm>
            <a:off x="3474720" y="2368296"/>
            <a:ext cx="2093976" cy="621792"/>
          </a:xfrm>
          <a:prstGeom prst="rect">
            <a:avLst/>
          </a:prstGeom>
          <a:noFill/>
          <a:ln/>
        </p:spPr>
        <p:txBody>
          <a:bodyPr wrap="square" lIns="254" tIns="254" rIns="254" bIns="254" rtlCol="0" anchor="ctr">
            <a:normAutofit/>
          </a:bodyPr>
          <a:lstStyle/>
          <a:p>
            <a:pPr indent="0" marL="0">
              <a:buNone/>
            </a:pPr>
            <a:r>
              <a:rPr lang="en-US" sz="1150" dirty="0">
                <a:solidFill>
                  <a:srgbClr val="303846"/>
                </a:solidFill>
                <a:latin typeface="Aptos" pitchFamily="34" charset="0"/>
                <a:ea typeface="Aptos" pitchFamily="34" charset="-122"/>
                <a:cs typeface="Aptos" pitchFamily="34" charset="-120"/>
              </a:rPr>
              <a:t>Foundry New is the default teaching surface; Classic is migration context.</a:t>
            </a:r>
            <a:endParaRPr lang="en-US" sz="1150" dirty="0"/>
          </a:p>
        </p:txBody>
      </p:sp>
      <p:sp>
        <p:nvSpPr>
          <p:cNvPr id="14" name="Shape 12"/>
          <p:cNvSpPr/>
          <p:nvPr/>
        </p:nvSpPr>
        <p:spPr>
          <a:xfrm>
            <a:off x="5961888" y="1938528"/>
            <a:ext cx="2423160" cy="1234440"/>
          </a:xfrm>
          <a:prstGeom prst="rect">
            <a:avLst/>
          </a:prstGeom>
          <a:solidFill>
            <a:srgbClr val="F4F8FB"/>
          </a:solidFill>
          <a:ln w="12700">
            <a:solidFill>
              <a:srgbClr val="E4EEF4"/>
            </a:solidFill>
            <a:prstDash val="solid"/>
          </a:ln>
        </p:spPr>
      </p:sp>
      <p:sp>
        <p:nvSpPr>
          <p:cNvPr id="15" name="Text 13"/>
          <p:cNvSpPr/>
          <p:nvPr/>
        </p:nvSpPr>
        <p:spPr>
          <a:xfrm>
            <a:off x="6126480" y="2075688"/>
            <a:ext cx="2093976" cy="182880"/>
          </a:xfrm>
          <a:prstGeom prst="rect">
            <a:avLst/>
          </a:prstGeom>
          <a:noFill/>
          <a:ln/>
        </p:spPr>
        <p:txBody>
          <a:bodyPr wrap="square" lIns="0" tIns="0" rIns="0" bIns="0" rtlCol="0" anchor="ctr"/>
          <a:lstStyle/>
          <a:p>
            <a:pPr indent="0" marL="0">
              <a:buNone/>
            </a:pPr>
            <a:r>
              <a:rPr lang="en-US" sz="1050" b="1" dirty="0">
                <a:solidFill>
                  <a:srgbClr val="06A9C8"/>
                </a:solidFill>
                <a:latin typeface="Aptos" pitchFamily="34" charset="0"/>
                <a:ea typeface="Aptos" pitchFamily="34" charset="-122"/>
                <a:cs typeface="Aptos" pitchFamily="34" charset="-120"/>
              </a:rPr>
              <a:t>Takeaway 3</a:t>
            </a:r>
            <a:endParaRPr lang="en-US" sz="1050" dirty="0"/>
          </a:p>
        </p:txBody>
      </p:sp>
      <p:sp>
        <p:nvSpPr>
          <p:cNvPr id="16" name="Text 14"/>
          <p:cNvSpPr/>
          <p:nvPr/>
        </p:nvSpPr>
        <p:spPr>
          <a:xfrm>
            <a:off x="6126480" y="2368296"/>
            <a:ext cx="2093976" cy="621792"/>
          </a:xfrm>
          <a:prstGeom prst="rect">
            <a:avLst/>
          </a:prstGeom>
          <a:noFill/>
          <a:ln/>
        </p:spPr>
        <p:txBody>
          <a:bodyPr wrap="square" lIns="254" tIns="254" rIns="254" bIns="254" rtlCol="0" anchor="ctr">
            <a:normAutofit/>
          </a:bodyPr>
          <a:lstStyle/>
          <a:p>
            <a:pPr indent="0" marL="0">
              <a:buNone/>
            </a:pPr>
            <a:r>
              <a:rPr lang="en-US" sz="1150" dirty="0">
                <a:solidFill>
                  <a:srgbClr val="303846"/>
                </a:solidFill>
                <a:latin typeface="Aptos" pitchFamily="34" charset="0"/>
                <a:ea typeface="Aptos" pitchFamily="34" charset="-122"/>
                <a:cs typeface="Aptos" pitchFamily="34" charset="-120"/>
              </a:rPr>
              <a:t>The major pillars are Models, Agent Service, IQ, Tools, and Control Plane.</a:t>
            </a:r>
            <a:endParaRPr lang="en-US" sz="1150" dirty="0"/>
          </a:p>
        </p:txBody>
      </p:sp>
      <p:sp>
        <p:nvSpPr>
          <p:cNvPr id="17" name="Shape 15"/>
          <p:cNvSpPr/>
          <p:nvPr/>
        </p:nvSpPr>
        <p:spPr>
          <a:xfrm>
            <a:off x="8613648" y="1938528"/>
            <a:ext cx="2423160" cy="1234440"/>
          </a:xfrm>
          <a:prstGeom prst="rect">
            <a:avLst/>
          </a:prstGeom>
          <a:solidFill>
            <a:srgbClr val="EDF6FA"/>
          </a:solidFill>
          <a:ln w="12700">
            <a:solidFill>
              <a:srgbClr val="E4EEF4"/>
            </a:solidFill>
            <a:prstDash val="solid"/>
          </a:ln>
        </p:spPr>
      </p:sp>
      <p:sp>
        <p:nvSpPr>
          <p:cNvPr id="18" name="Text 16"/>
          <p:cNvSpPr/>
          <p:nvPr/>
        </p:nvSpPr>
        <p:spPr>
          <a:xfrm>
            <a:off x="8778240" y="2075688"/>
            <a:ext cx="2093976" cy="182880"/>
          </a:xfrm>
          <a:prstGeom prst="rect">
            <a:avLst/>
          </a:prstGeom>
          <a:noFill/>
          <a:ln/>
        </p:spPr>
        <p:txBody>
          <a:bodyPr wrap="square" lIns="0" tIns="0" rIns="0" bIns="0" rtlCol="0" anchor="ctr"/>
          <a:lstStyle/>
          <a:p>
            <a:pPr indent="0" marL="0">
              <a:buNone/>
            </a:pPr>
            <a:r>
              <a:rPr lang="en-US" sz="1050" b="1" dirty="0">
                <a:solidFill>
                  <a:srgbClr val="06A9C8"/>
                </a:solidFill>
                <a:latin typeface="Aptos" pitchFamily="34" charset="0"/>
                <a:ea typeface="Aptos" pitchFamily="34" charset="-122"/>
                <a:cs typeface="Aptos" pitchFamily="34" charset="-120"/>
              </a:rPr>
              <a:t>Takeaway 4</a:t>
            </a:r>
            <a:endParaRPr lang="en-US" sz="1050" dirty="0"/>
          </a:p>
        </p:txBody>
      </p:sp>
      <p:sp>
        <p:nvSpPr>
          <p:cNvPr id="19" name="Text 17"/>
          <p:cNvSpPr/>
          <p:nvPr/>
        </p:nvSpPr>
        <p:spPr>
          <a:xfrm>
            <a:off x="8778240" y="2368296"/>
            <a:ext cx="2093976" cy="621792"/>
          </a:xfrm>
          <a:prstGeom prst="rect">
            <a:avLst/>
          </a:prstGeom>
          <a:noFill/>
          <a:ln/>
        </p:spPr>
        <p:txBody>
          <a:bodyPr wrap="square" lIns="254" tIns="254" rIns="254" bIns="254" rtlCol="0" anchor="ctr">
            <a:normAutofit/>
          </a:bodyPr>
          <a:lstStyle/>
          <a:p>
            <a:pPr indent="0" marL="0">
              <a:buNone/>
            </a:pPr>
            <a:r>
              <a:rPr lang="en-US" sz="1150" dirty="0">
                <a:solidFill>
                  <a:srgbClr val="303846"/>
                </a:solidFill>
                <a:latin typeface="Aptos" pitchFamily="34" charset="0"/>
                <a:ea typeface="Aptos" pitchFamily="34" charset="-122"/>
                <a:cs typeface="Aptos" pitchFamily="34" charset="-120"/>
              </a:rPr>
              <a:t>Lifecycle thinking connects build-time configuration to operation and governance.</a:t>
            </a:r>
            <a:endParaRPr lang="en-US" sz="1150" dirty="0"/>
          </a:p>
        </p:txBody>
      </p:sp>
      <p:sp>
        <p:nvSpPr>
          <p:cNvPr id="20" name="Shape 18"/>
          <p:cNvSpPr/>
          <p:nvPr/>
        </p:nvSpPr>
        <p:spPr>
          <a:xfrm>
            <a:off x="9966960" y="4206240"/>
            <a:ext cx="1280160" cy="530352"/>
          </a:xfrm>
          <a:prstGeom prst="chevron">
            <a:avLst/>
          </a:prstGeom>
          <a:solidFill>
            <a:srgbClr val="06A9C8"/>
          </a:solidFill>
          <a:ln w="12700">
            <a:solidFill>
              <a:srgbClr val="06A9C8"/>
            </a:solidFill>
            <a:prstDash val="solid"/>
          </a:ln>
        </p:spPr>
      </p:sp>
      <p:sp>
        <p:nvSpPr>
          <p:cNvPr id="21" name="Text 19"/>
          <p:cNvSpPr/>
          <p:nvPr/>
        </p:nvSpPr>
        <p:spPr>
          <a:xfrm>
            <a:off x="10040112" y="4370832"/>
            <a:ext cx="1024128" cy="201168"/>
          </a:xfrm>
          <a:prstGeom prst="rect">
            <a:avLst/>
          </a:prstGeom>
          <a:noFill/>
          <a:ln/>
        </p:spPr>
        <p:txBody>
          <a:bodyPr wrap="square" lIns="0" tIns="0" rIns="0" bIns="0" rtlCol="0" anchor="ctr">
            <a:normAutofit/>
          </a:bodyPr>
          <a:lstStyle/>
          <a:p>
            <a:pPr algn="ctr" indent="0" marL="0">
              <a:buNone/>
            </a:pPr>
            <a:r>
              <a:rPr lang="en-US" sz="950" b="1" dirty="0">
                <a:solidFill>
                  <a:srgbClr val="FFFFFF"/>
                </a:solidFill>
                <a:latin typeface="Aptos" pitchFamily="34" charset="0"/>
                <a:ea typeface="Aptos" pitchFamily="34" charset="-122"/>
                <a:cs typeface="Aptos" pitchFamily="34" charset="-120"/>
              </a:rPr>
              <a:t>Next: resources, models, identity, and cost.</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658368" y="1024128"/>
            <a:ext cx="2194560" cy="329184"/>
          </a:xfrm>
          <a:prstGeom prst="rect">
            <a:avLst/>
          </a:prstGeom>
          <a:noFill/>
          <a:ln/>
        </p:spPr>
        <p:txBody>
          <a:bodyPr wrap="square" lIns="0" tIns="0" rIns="0" bIns="0" rtlCol="0" anchor="ctr"/>
          <a:lstStyle/>
          <a:p>
            <a:pPr indent="0" marL="0">
              <a:buNone/>
            </a:pPr>
            <a:r>
              <a:rPr lang="en-US" sz="1600" dirty="0">
                <a:solidFill>
                  <a:srgbClr val="06A9C8"/>
                </a:solidFill>
                <a:latin typeface="Aptos" pitchFamily="34" charset="0"/>
                <a:ea typeface="Aptos" pitchFamily="34" charset="-122"/>
                <a:cs typeface="Aptos" pitchFamily="34" charset="-120"/>
              </a:rPr>
              <a:t>Section 3</a:t>
            </a:r>
            <a:endParaRPr lang="en-US" sz="1600" dirty="0"/>
          </a:p>
        </p:txBody>
      </p:sp>
      <p:sp>
        <p:nvSpPr>
          <p:cNvPr id="6" name="Text 4"/>
          <p:cNvSpPr/>
          <p:nvPr/>
        </p:nvSpPr>
        <p:spPr>
          <a:xfrm>
            <a:off x="658368" y="1554480"/>
            <a:ext cx="7040880" cy="841248"/>
          </a:xfrm>
          <a:prstGeom prst="rect">
            <a:avLst/>
          </a:prstGeom>
          <a:noFill/>
          <a:ln/>
        </p:spPr>
        <p:txBody>
          <a:bodyPr wrap="square" lIns="0" tIns="0" rIns="0" bIns="0" rtlCol="0" anchor="ctr">
            <a:normAutofit/>
          </a:bodyPr>
          <a:lstStyle/>
          <a:p>
            <a:pPr indent="0" marL="0">
              <a:buNone/>
            </a:pPr>
            <a:r>
              <a:rPr lang="en-US" sz="3100" dirty="0">
                <a:solidFill>
                  <a:srgbClr val="172033"/>
                </a:solidFill>
                <a:latin typeface="Aptos Display" pitchFamily="34" charset="0"/>
                <a:ea typeface="Aptos Display" pitchFamily="34" charset="-122"/>
                <a:cs typeface="Aptos Display" pitchFamily="34" charset="-120"/>
              </a:rPr>
              <a:t>Foundry Resources, Models, Identity, and Cost</a:t>
            </a:r>
            <a:endParaRPr lang="en-US" sz="3100" dirty="0"/>
          </a:p>
        </p:txBody>
      </p:sp>
      <p:sp>
        <p:nvSpPr>
          <p:cNvPr id="7" name="Text 5"/>
          <p:cNvSpPr/>
          <p:nvPr/>
        </p:nvSpPr>
        <p:spPr>
          <a:xfrm>
            <a:off x="658368" y="2578608"/>
            <a:ext cx="7132320" cy="640080"/>
          </a:xfrm>
          <a:prstGeom prst="rect">
            <a:avLst/>
          </a:prstGeom>
          <a:noFill/>
          <a:ln/>
        </p:spPr>
        <p:txBody>
          <a:bodyPr wrap="square" lIns="0" tIns="0" rIns="0" bIns="0" rtlCol="0" anchor="ctr">
            <a:normAutofit/>
          </a:bodyPr>
          <a:lstStyle/>
          <a:p>
            <a:pPr indent="0" marL="0">
              <a:buNone/>
            </a:pPr>
            <a:r>
              <a:rPr lang="en-US" sz="1550" dirty="0">
                <a:solidFill>
                  <a:srgbClr val="6B7280"/>
                </a:solidFill>
                <a:latin typeface="Aptos" pitchFamily="34" charset="0"/>
                <a:ea typeface="Aptos" pitchFamily="34" charset="-122"/>
                <a:cs typeface="Aptos" pitchFamily="34" charset="-120"/>
              </a:rPr>
              <a:t>Move from platform concepts to the core resource, model, identity, and cost decisions behind every agent.</a:t>
            </a:r>
            <a:endParaRPr lang="en-US" sz="1550" dirty="0"/>
          </a:p>
        </p:txBody>
      </p:sp>
      <p:pic>
        <p:nvPicPr>
          <p:cNvPr id="8" name="Image 0" descr="/mnt/data/ref_pptx/ppt/media/image1.png">    </p:cNvPr>
          <p:cNvPicPr>
            <a:picLocks noChangeAspect="1"/>
          </p:cNvPicPr>
          <p:nvPr/>
        </p:nvPicPr>
        <p:blipFill>
          <a:blip r:embed="rId1"/>
          <a:stretch>
            <a:fillRect/>
          </a:stretch>
        </p:blipFill>
        <p:spPr>
          <a:xfrm>
            <a:off x="8092440" y="1097280"/>
            <a:ext cx="2468880" cy="246888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3</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Section Overview</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Foundry Resources, Models, Identity, and Cost</a:t>
            </a:r>
            <a:endParaRPr lang="en-US" sz="1500" dirty="0"/>
          </a:p>
        </p:txBody>
      </p:sp>
      <p:sp>
        <p:nvSpPr>
          <p:cNvPr id="8" name="Text 6"/>
          <p:cNvSpPr/>
          <p:nvPr/>
        </p:nvSpPr>
        <p:spPr>
          <a:xfrm>
            <a:off x="658368" y="1965960"/>
            <a:ext cx="8001000" cy="3429000"/>
          </a:xfrm>
          <a:prstGeom prst="rect">
            <a:avLst/>
          </a:prstGeom>
          <a:noFill/>
          <a:ln/>
        </p:spPr>
        <p:txBody>
          <a:bodyPr wrap="square" lIns="254" tIns="254" rIns="254" bIns="254" rtlCol="0" anchor="ctr">
            <a:normAutofit/>
          </a:bodyPr>
          <a:lstStyle/>
          <a:p>
            <a:pPr indent="0" marL="0">
              <a:buNone/>
            </a:pPr>
            <a:r>
              <a:rPr lang="en-US" sz="1850" dirty="0">
                <a:solidFill>
                  <a:srgbClr val="303846"/>
                </a:solidFill>
                <a:latin typeface="Aptos" pitchFamily="34" charset="0"/>
                <a:ea typeface="Aptos" pitchFamily="34" charset="-122"/>
                <a:cs typeface="Aptos" pitchFamily="34" charset="-120"/>
              </a:rPr>
              <a:t>▸ Define Foundry resource and project boundaries.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Select models using capability and operating constraints.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Understand deployments, quotas, tokens, regions, and cost.</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Apply identity-first security before exposing agent capabilities.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Complete the first Azure workspace lab.</a:t>
            </a:r>
            <a:endParaRPr lang="en-US" sz="1850" dirty="0"/>
          </a:p>
        </p:txBody>
      </p:sp>
      <p:sp>
        <p:nvSpPr>
          <p:cNvPr id="9" name="Shape 7"/>
          <p:cNvSpPr/>
          <p:nvPr/>
        </p:nvSpPr>
        <p:spPr>
          <a:xfrm>
            <a:off x="9144000" y="1965960"/>
            <a:ext cx="2331720" cy="1243584"/>
          </a:xfrm>
          <a:prstGeom prst="rect">
            <a:avLst/>
          </a:prstGeom>
          <a:solidFill>
            <a:srgbClr val="F4F8FB"/>
          </a:solidFill>
          <a:ln w="12700">
            <a:solidFill>
              <a:srgbClr val="E7EEF4"/>
            </a:solidFill>
            <a:prstDash val="solid"/>
          </a:ln>
        </p:spPr>
      </p:sp>
      <p:sp>
        <p:nvSpPr>
          <p:cNvPr id="10" name="Shape 8"/>
          <p:cNvSpPr/>
          <p:nvPr/>
        </p:nvSpPr>
        <p:spPr>
          <a:xfrm>
            <a:off x="9299448" y="2121408"/>
            <a:ext cx="219456" cy="219456"/>
          </a:xfrm>
          <a:prstGeom prst="ellipse">
            <a:avLst/>
          </a:prstGeom>
          <a:solidFill>
            <a:srgbClr val="06A9C8"/>
          </a:solidFill>
          <a:ln w="12700">
            <a:solidFill>
              <a:srgbClr val="06A9C8"/>
            </a:solidFill>
            <a:prstDash val="solid"/>
          </a:ln>
        </p:spPr>
      </p:sp>
      <p:sp>
        <p:nvSpPr>
          <p:cNvPr id="11" name="Text 9"/>
          <p:cNvSpPr/>
          <p:nvPr/>
        </p:nvSpPr>
        <p:spPr>
          <a:xfrm>
            <a:off x="9354312" y="213969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82912" y="209397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Section outcome</a:t>
            </a:r>
            <a:endParaRPr lang="en-US" sz="1080" dirty="0"/>
          </a:p>
        </p:txBody>
      </p:sp>
      <p:sp>
        <p:nvSpPr>
          <p:cNvPr id="13" name="Text 11"/>
          <p:cNvSpPr/>
          <p:nvPr/>
        </p:nvSpPr>
        <p:spPr>
          <a:xfrm>
            <a:off x="9354312" y="2423160"/>
            <a:ext cx="1920240" cy="676656"/>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provision and reason about the core Foundry environment.</a:t>
            </a:r>
            <a:endParaRPr lang="en-US" sz="96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3 · Lecture 9</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Foundry Resources and Projects</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A Foundry resource is the enterprise management boundary; projects organize work inside it.</a:t>
            </a:r>
            <a:endParaRPr lang="en-US" sz="1500" dirty="0"/>
          </a:p>
        </p:txBody>
      </p:sp>
      <p:sp>
        <p:nvSpPr>
          <p:cNvPr id="8" name="Text 6"/>
          <p:cNvSpPr/>
          <p:nvPr/>
        </p:nvSpPr>
        <p:spPr>
          <a:xfrm>
            <a:off x="658368" y="1965960"/>
            <a:ext cx="8001000" cy="3429000"/>
          </a:xfrm>
          <a:prstGeom prst="rect">
            <a:avLst/>
          </a:prstGeom>
          <a:noFill/>
          <a:ln/>
        </p:spPr>
        <p:txBody>
          <a:bodyPr wrap="square" lIns="254" tIns="254" rIns="254" bIns="254" rtlCol="0" anchor="ctr">
            <a:normAutofit/>
          </a:bodyPr>
          <a:lstStyle/>
          <a:p>
            <a:pPr indent="0" marL="0">
              <a:buNone/>
            </a:pPr>
            <a:r>
              <a:rPr lang="en-US" sz="1850" dirty="0">
                <a:solidFill>
                  <a:srgbClr val="303846"/>
                </a:solidFill>
                <a:latin typeface="Aptos" pitchFamily="34" charset="0"/>
                <a:ea typeface="Aptos" pitchFamily="34" charset="-122"/>
                <a:cs typeface="Aptos" pitchFamily="34" charset="-120"/>
              </a:rPr>
              <a:t>▸ Use resources to anchor management, access, networking, and governance.</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Use projects to isolate teams, environments, and related AI assets.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Use connections to link storage, search, tools, and other Azure services.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Use environment separation to reduce accidental production impact.</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Assign ownership so every project has accountable administrators.</a:t>
            </a:r>
            <a:endParaRPr lang="en-US" sz="1850" dirty="0"/>
          </a:p>
        </p:txBody>
      </p:sp>
      <p:sp>
        <p:nvSpPr>
          <p:cNvPr id="9" name="Shape 7"/>
          <p:cNvSpPr/>
          <p:nvPr/>
        </p:nvSpPr>
        <p:spPr>
          <a:xfrm>
            <a:off x="9144000" y="1965960"/>
            <a:ext cx="2331720" cy="1243584"/>
          </a:xfrm>
          <a:prstGeom prst="rect">
            <a:avLst/>
          </a:prstGeom>
          <a:solidFill>
            <a:srgbClr val="F4F8FB"/>
          </a:solidFill>
          <a:ln w="12700">
            <a:solidFill>
              <a:srgbClr val="E7EEF4"/>
            </a:solidFill>
            <a:prstDash val="solid"/>
          </a:ln>
        </p:spPr>
      </p:sp>
      <p:sp>
        <p:nvSpPr>
          <p:cNvPr id="10" name="Shape 8"/>
          <p:cNvSpPr/>
          <p:nvPr/>
        </p:nvSpPr>
        <p:spPr>
          <a:xfrm>
            <a:off x="9299448" y="2121408"/>
            <a:ext cx="219456" cy="219456"/>
          </a:xfrm>
          <a:prstGeom prst="ellipse">
            <a:avLst/>
          </a:prstGeom>
          <a:solidFill>
            <a:srgbClr val="06A9C8"/>
          </a:solidFill>
          <a:ln w="12700">
            <a:solidFill>
              <a:srgbClr val="06A9C8"/>
            </a:solidFill>
            <a:prstDash val="solid"/>
          </a:ln>
        </p:spPr>
      </p:sp>
      <p:sp>
        <p:nvSpPr>
          <p:cNvPr id="11" name="Text 9"/>
          <p:cNvSpPr/>
          <p:nvPr/>
        </p:nvSpPr>
        <p:spPr>
          <a:xfrm>
            <a:off x="9354312" y="213969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82912" y="209397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Demonstration</a:t>
            </a:r>
            <a:endParaRPr lang="en-US" sz="1080" dirty="0"/>
          </a:p>
        </p:txBody>
      </p:sp>
      <p:sp>
        <p:nvSpPr>
          <p:cNvPr id="13" name="Text 11"/>
          <p:cNvSpPr/>
          <p:nvPr/>
        </p:nvSpPr>
        <p:spPr>
          <a:xfrm>
            <a:off x="9354312" y="2423160"/>
            <a:ext cx="1920240" cy="676656"/>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Inspect a Foundry resource, project, connections area, and project settings.</a:t>
            </a:r>
            <a:endParaRPr lang="en-US" sz="96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3 · Lecture 9</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Enterprise Boundary Decisions</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Good Foundry architecture starts with boundaries, not prompts.</a:t>
            </a:r>
            <a:endParaRPr lang="en-US" sz="1500" dirty="0"/>
          </a:p>
        </p:txBody>
      </p:sp>
      <p:sp>
        <p:nvSpPr>
          <p:cNvPr id="8" name="Shape 6"/>
          <p:cNvSpPr/>
          <p:nvPr/>
        </p:nvSpPr>
        <p:spPr>
          <a:xfrm>
            <a:off x="658368" y="2103120"/>
            <a:ext cx="1417320" cy="868680"/>
          </a:xfrm>
          <a:prstGeom prst="roundRect">
            <a:avLst>
              <a:gd name="adj" fmla="val 8421"/>
            </a:avLst>
          </a:prstGeom>
          <a:solidFill>
            <a:srgbClr val="F4F8FB"/>
          </a:solidFill>
          <a:ln w="12700">
            <a:solidFill>
              <a:srgbClr val="D6E7EF"/>
            </a:solidFill>
            <a:prstDash val="solid"/>
          </a:ln>
        </p:spPr>
      </p:sp>
      <p:sp>
        <p:nvSpPr>
          <p:cNvPr id="9" name="Text 7"/>
          <p:cNvSpPr/>
          <p:nvPr/>
        </p:nvSpPr>
        <p:spPr>
          <a:xfrm>
            <a:off x="749808" y="2258568"/>
            <a:ext cx="1234440" cy="228600"/>
          </a:xfrm>
          <a:prstGeom prst="rect">
            <a:avLst/>
          </a:prstGeom>
          <a:noFill/>
          <a:ln/>
        </p:spPr>
        <p:txBody>
          <a:bodyPr wrap="square" lIns="0" tIns="0" rIns="0" bIns="0" rtlCol="0" anchor="ctr">
            <a:normAutofit/>
          </a:bodyPr>
          <a:lstStyle/>
          <a:p>
            <a:pPr algn="ctr" indent="0" marL="0">
              <a:buNone/>
            </a:pPr>
            <a:r>
              <a:rPr lang="en-US" sz="1150" b="1" dirty="0">
                <a:solidFill>
                  <a:srgbClr val="172033"/>
                </a:solidFill>
                <a:latin typeface="Aptos" pitchFamily="34" charset="0"/>
                <a:ea typeface="Aptos" pitchFamily="34" charset="-122"/>
                <a:cs typeface="Aptos" pitchFamily="34" charset="-120"/>
              </a:rPr>
              <a:t>Resource</a:t>
            </a:r>
            <a:endParaRPr lang="en-US" sz="1150" dirty="0"/>
          </a:p>
        </p:txBody>
      </p:sp>
      <p:sp>
        <p:nvSpPr>
          <p:cNvPr id="10" name="Text 8"/>
          <p:cNvSpPr/>
          <p:nvPr/>
        </p:nvSpPr>
        <p:spPr>
          <a:xfrm>
            <a:off x="768096" y="2532888"/>
            <a:ext cx="1197864" cy="256032"/>
          </a:xfrm>
          <a:prstGeom prst="rect">
            <a:avLst/>
          </a:prstGeom>
          <a:noFill/>
          <a:ln/>
        </p:spPr>
        <p:txBody>
          <a:bodyPr wrap="square" lIns="0" tIns="0" rIns="0" bIns="0" rtlCol="0" anchor="ctr">
            <a:normAutofit/>
          </a:bodyPr>
          <a:lstStyle/>
          <a:p>
            <a:pPr algn="ctr" indent="0" marL="0">
              <a:buNone/>
            </a:pPr>
            <a:r>
              <a:rPr lang="en-US" sz="850" dirty="0">
                <a:solidFill>
                  <a:srgbClr val="6B7280"/>
                </a:solidFill>
                <a:latin typeface="Aptos" pitchFamily="34" charset="0"/>
                <a:ea typeface="Aptos" pitchFamily="34" charset="-122"/>
                <a:cs typeface="Aptos" pitchFamily="34" charset="-120"/>
              </a:rPr>
              <a:t>management boundary</a:t>
            </a:r>
            <a:endParaRPr lang="en-US" sz="850" dirty="0"/>
          </a:p>
        </p:txBody>
      </p:sp>
      <p:sp>
        <p:nvSpPr>
          <p:cNvPr id="11" name="Text 9"/>
          <p:cNvSpPr/>
          <p:nvPr/>
        </p:nvSpPr>
        <p:spPr>
          <a:xfrm>
            <a:off x="2121408" y="2340864"/>
            <a:ext cx="164592" cy="228600"/>
          </a:xfrm>
          <a:prstGeom prst="rect">
            <a:avLst/>
          </a:prstGeom>
          <a:noFill/>
          <a:ln/>
        </p:spPr>
        <p:txBody>
          <a:bodyPr wrap="square" lIns="0" tIns="0" rIns="0" bIns="0" rtlCol="0" anchor="ctr"/>
          <a:lstStyle/>
          <a:p>
            <a:pPr indent="0" marL="0">
              <a:buNone/>
            </a:pPr>
            <a:r>
              <a:rPr lang="en-US" sz="1600" b="1" dirty="0">
                <a:solidFill>
                  <a:srgbClr val="06A9C8"/>
                </a:solidFill>
                <a:latin typeface="Aptos" pitchFamily="34" charset="0"/>
                <a:ea typeface="Aptos" pitchFamily="34" charset="-122"/>
                <a:cs typeface="Aptos" pitchFamily="34" charset="-120"/>
              </a:rPr>
              <a:t>→</a:t>
            </a:r>
            <a:endParaRPr lang="en-US" sz="1600" dirty="0"/>
          </a:p>
        </p:txBody>
      </p:sp>
      <p:sp>
        <p:nvSpPr>
          <p:cNvPr id="12" name="Shape 10"/>
          <p:cNvSpPr/>
          <p:nvPr/>
        </p:nvSpPr>
        <p:spPr>
          <a:xfrm>
            <a:off x="2331720" y="2103120"/>
            <a:ext cx="1417320" cy="868680"/>
          </a:xfrm>
          <a:prstGeom prst="roundRect">
            <a:avLst>
              <a:gd name="adj" fmla="val 8421"/>
            </a:avLst>
          </a:prstGeom>
          <a:solidFill>
            <a:srgbClr val="F4F8FB"/>
          </a:solidFill>
          <a:ln w="12700">
            <a:solidFill>
              <a:srgbClr val="D6E7EF"/>
            </a:solidFill>
            <a:prstDash val="solid"/>
          </a:ln>
        </p:spPr>
      </p:sp>
      <p:sp>
        <p:nvSpPr>
          <p:cNvPr id="13" name="Text 11"/>
          <p:cNvSpPr/>
          <p:nvPr/>
        </p:nvSpPr>
        <p:spPr>
          <a:xfrm>
            <a:off x="2423160" y="2258568"/>
            <a:ext cx="1234440" cy="228600"/>
          </a:xfrm>
          <a:prstGeom prst="rect">
            <a:avLst/>
          </a:prstGeom>
          <a:noFill/>
          <a:ln/>
        </p:spPr>
        <p:txBody>
          <a:bodyPr wrap="square" lIns="0" tIns="0" rIns="0" bIns="0" rtlCol="0" anchor="ctr">
            <a:normAutofit/>
          </a:bodyPr>
          <a:lstStyle/>
          <a:p>
            <a:pPr algn="ctr" indent="0" marL="0">
              <a:buNone/>
            </a:pPr>
            <a:r>
              <a:rPr lang="en-US" sz="1150" b="1" dirty="0">
                <a:solidFill>
                  <a:srgbClr val="172033"/>
                </a:solidFill>
                <a:latin typeface="Aptos" pitchFamily="34" charset="0"/>
                <a:ea typeface="Aptos" pitchFamily="34" charset="-122"/>
                <a:cs typeface="Aptos" pitchFamily="34" charset="-120"/>
              </a:rPr>
              <a:t>Project</a:t>
            </a:r>
            <a:endParaRPr lang="en-US" sz="1150" dirty="0"/>
          </a:p>
        </p:txBody>
      </p:sp>
      <p:sp>
        <p:nvSpPr>
          <p:cNvPr id="14" name="Text 12"/>
          <p:cNvSpPr/>
          <p:nvPr/>
        </p:nvSpPr>
        <p:spPr>
          <a:xfrm>
            <a:off x="2441448" y="2532888"/>
            <a:ext cx="1197864" cy="256032"/>
          </a:xfrm>
          <a:prstGeom prst="rect">
            <a:avLst/>
          </a:prstGeom>
          <a:noFill/>
          <a:ln/>
        </p:spPr>
        <p:txBody>
          <a:bodyPr wrap="square" lIns="0" tIns="0" rIns="0" bIns="0" rtlCol="0" anchor="ctr">
            <a:normAutofit/>
          </a:bodyPr>
          <a:lstStyle/>
          <a:p>
            <a:pPr algn="ctr" indent="0" marL="0">
              <a:buNone/>
            </a:pPr>
            <a:r>
              <a:rPr lang="en-US" sz="850" dirty="0">
                <a:solidFill>
                  <a:srgbClr val="6B7280"/>
                </a:solidFill>
                <a:latin typeface="Aptos" pitchFamily="34" charset="0"/>
                <a:ea typeface="Aptos" pitchFamily="34" charset="-122"/>
                <a:cs typeface="Aptos" pitchFamily="34" charset="-120"/>
              </a:rPr>
              <a:t>team/domain boundary</a:t>
            </a:r>
            <a:endParaRPr lang="en-US" sz="850" dirty="0"/>
          </a:p>
        </p:txBody>
      </p:sp>
      <p:sp>
        <p:nvSpPr>
          <p:cNvPr id="15" name="Text 13"/>
          <p:cNvSpPr/>
          <p:nvPr/>
        </p:nvSpPr>
        <p:spPr>
          <a:xfrm>
            <a:off x="3794760" y="2340864"/>
            <a:ext cx="164592" cy="228600"/>
          </a:xfrm>
          <a:prstGeom prst="rect">
            <a:avLst/>
          </a:prstGeom>
          <a:noFill/>
          <a:ln/>
        </p:spPr>
        <p:txBody>
          <a:bodyPr wrap="square" lIns="0" tIns="0" rIns="0" bIns="0" rtlCol="0" anchor="ctr"/>
          <a:lstStyle/>
          <a:p>
            <a:pPr indent="0" marL="0">
              <a:buNone/>
            </a:pPr>
            <a:r>
              <a:rPr lang="en-US" sz="1600" b="1" dirty="0">
                <a:solidFill>
                  <a:srgbClr val="06A9C8"/>
                </a:solidFill>
                <a:latin typeface="Aptos" pitchFamily="34" charset="0"/>
                <a:ea typeface="Aptos" pitchFamily="34" charset="-122"/>
                <a:cs typeface="Aptos" pitchFamily="34" charset="-120"/>
              </a:rPr>
              <a:t>→</a:t>
            </a:r>
            <a:endParaRPr lang="en-US" sz="1600" dirty="0"/>
          </a:p>
        </p:txBody>
      </p:sp>
      <p:sp>
        <p:nvSpPr>
          <p:cNvPr id="16" name="Shape 14"/>
          <p:cNvSpPr/>
          <p:nvPr/>
        </p:nvSpPr>
        <p:spPr>
          <a:xfrm>
            <a:off x="4005072" y="2103120"/>
            <a:ext cx="1417320" cy="868680"/>
          </a:xfrm>
          <a:prstGeom prst="roundRect">
            <a:avLst>
              <a:gd name="adj" fmla="val 8421"/>
            </a:avLst>
          </a:prstGeom>
          <a:solidFill>
            <a:srgbClr val="F4F8FB"/>
          </a:solidFill>
          <a:ln w="12700">
            <a:solidFill>
              <a:srgbClr val="D6E7EF"/>
            </a:solidFill>
            <a:prstDash val="solid"/>
          </a:ln>
        </p:spPr>
      </p:sp>
      <p:sp>
        <p:nvSpPr>
          <p:cNvPr id="17" name="Text 15"/>
          <p:cNvSpPr/>
          <p:nvPr/>
        </p:nvSpPr>
        <p:spPr>
          <a:xfrm>
            <a:off x="4096512" y="2258568"/>
            <a:ext cx="1234440" cy="228600"/>
          </a:xfrm>
          <a:prstGeom prst="rect">
            <a:avLst/>
          </a:prstGeom>
          <a:noFill/>
          <a:ln/>
        </p:spPr>
        <p:txBody>
          <a:bodyPr wrap="square" lIns="0" tIns="0" rIns="0" bIns="0" rtlCol="0" anchor="ctr">
            <a:normAutofit/>
          </a:bodyPr>
          <a:lstStyle/>
          <a:p>
            <a:pPr algn="ctr" indent="0" marL="0">
              <a:buNone/>
            </a:pPr>
            <a:r>
              <a:rPr lang="en-US" sz="1150" b="1" dirty="0">
                <a:solidFill>
                  <a:srgbClr val="172033"/>
                </a:solidFill>
                <a:latin typeface="Aptos" pitchFamily="34" charset="0"/>
                <a:ea typeface="Aptos" pitchFamily="34" charset="-122"/>
                <a:cs typeface="Aptos" pitchFamily="34" charset="-120"/>
              </a:rPr>
              <a:t>Connections</a:t>
            </a:r>
            <a:endParaRPr lang="en-US" sz="1150" dirty="0"/>
          </a:p>
        </p:txBody>
      </p:sp>
      <p:sp>
        <p:nvSpPr>
          <p:cNvPr id="18" name="Text 16"/>
          <p:cNvSpPr/>
          <p:nvPr/>
        </p:nvSpPr>
        <p:spPr>
          <a:xfrm>
            <a:off x="4114800" y="2532888"/>
            <a:ext cx="1197864" cy="256032"/>
          </a:xfrm>
          <a:prstGeom prst="rect">
            <a:avLst/>
          </a:prstGeom>
          <a:noFill/>
          <a:ln/>
        </p:spPr>
        <p:txBody>
          <a:bodyPr wrap="square" lIns="0" tIns="0" rIns="0" bIns="0" rtlCol="0" anchor="ctr">
            <a:normAutofit/>
          </a:bodyPr>
          <a:lstStyle/>
          <a:p>
            <a:pPr algn="ctr" indent="0" marL="0">
              <a:buNone/>
            </a:pPr>
            <a:r>
              <a:rPr lang="en-US" sz="850" dirty="0">
                <a:solidFill>
                  <a:srgbClr val="6B7280"/>
                </a:solidFill>
                <a:latin typeface="Aptos" pitchFamily="34" charset="0"/>
                <a:ea typeface="Aptos" pitchFamily="34" charset="-122"/>
                <a:cs typeface="Aptos" pitchFamily="34" charset="-120"/>
              </a:rPr>
              <a:t>approved services</a:t>
            </a:r>
            <a:endParaRPr lang="en-US" sz="850" dirty="0"/>
          </a:p>
        </p:txBody>
      </p:sp>
      <p:sp>
        <p:nvSpPr>
          <p:cNvPr id="19" name="Text 17"/>
          <p:cNvSpPr/>
          <p:nvPr/>
        </p:nvSpPr>
        <p:spPr>
          <a:xfrm>
            <a:off x="5468112" y="2340864"/>
            <a:ext cx="164592" cy="228600"/>
          </a:xfrm>
          <a:prstGeom prst="rect">
            <a:avLst/>
          </a:prstGeom>
          <a:noFill/>
          <a:ln/>
        </p:spPr>
        <p:txBody>
          <a:bodyPr wrap="square" lIns="0" tIns="0" rIns="0" bIns="0" rtlCol="0" anchor="ctr"/>
          <a:lstStyle/>
          <a:p>
            <a:pPr indent="0" marL="0">
              <a:buNone/>
            </a:pPr>
            <a:r>
              <a:rPr lang="en-US" sz="1600" b="1" dirty="0">
                <a:solidFill>
                  <a:srgbClr val="06A9C8"/>
                </a:solidFill>
                <a:latin typeface="Aptos" pitchFamily="34" charset="0"/>
                <a:ea typeface="Aptos" pitchFamily="34" charset="-122"/>
                <a:cs typeface="Aptos" pitchFamily="34" charset="-120"/>
              </a:rPr>
              <a:t>→</a:t>
            </a:r>
            <a:endParaRPr lang="en-US" sz="1600" dirty="0"/>
          </a:p>
        </p:txBody>
      </p:sp>
      <p:sp>
        <p:nvSpPr>
          <p:cNvPr id="20" name="Shape 18"/>
          <p:cNvSpPr/>
          <p:nvPr/>
        </p:nvSpPr>
        <p:spPr>
          <a:xfrm>
            <a:off x="5678424" y="2103120"/>
            <a:ext cx="1417320" cy="868680"/>
          </a:xfrm>
          <a:prstGeom prst="roundRect">
            <a:avLst>
              <a:gd name="adj" fmla="val 8421"/>
            </a:avLst>
          </a:prstGeom>
          <a:solidFill>
            <a:srgbClr val="F4F8FB"/>
          </a:solidFill>
          <a:ln w="12700">
            <a:solidFill>
              <a:srgbClr val="D6E7EF"/>
            </a:solidFill>
            <a:prstDash val="solid"/>
          </a:ln>
        </p:spPr>
      </p:sp>
      <p:sp>
        <p:nvSpPr>
          <p:cNvPr id="21" name="Text 19"/>
          <p:cNvSpPr/>
          <p:nvPr/>
        </p:nvSpPr>
        <p:spPr>
          <a:xfrm>
            <a:off x="5769864" y="2258568"/>
            <a:ext cx="1234440" cy="228600"/>
          </a:xfrm>
          <a:prstGeom prst="rect">
            <a:avLst/>
          </a:prstGeom>
          <a:noFill/>
          <a:ln/>
        </p:spPr>
        <p:txBody>
          <a:bodyPr wrap="square" lIns="0" tIns="0" rIns="0" bIns="0" rtlCol="0" anchor="ctr">
            <a:normAutofit/>
          </a:bodyPr>
          <a:lstStyle/>
          <a:p>
            <a:pPr algn="ctr" indent="0" marL="0">
              <a:buNone/>
            </a:pPr>
            <a:r>
              <a:rPr lang="en-US" sz="1150" b="1" dirty="0">
                <a:solidFill>
                  <a:srgbClr val="172033"/>
                </a:solidFill>
                <a:latin typeface="Aptos" pitchFamily="34" charset="0"/>
                <a:ea typeface="Aptos" pitchFamily="34" charset="-122"/>
                <a:cs typeface="Aptos" pitchFamily="34" charset="-120"/>
              </a:rPr>
              <a:t>Identity</a:t>
            </a:r>
            <a:endParaRPr lang="en-US" sz="1150" dirty="0"/>
          </a:p>
        </p:txBody>
      </p:sp>
      <p:sp>
        <p:nvSpPr>
          <p:cNvPr id="22" name="Text 20"/>
          <p:cNvSpPr/>
          <p:nvPr/>
        </p:nvSpPr>
        <p:spPr>
          <a:xfrm>
            <a:off x="5788152" y="2532888"/>
            <a:ext cx="1197864" cy="256032"/>
          </a:xfrm>
          <a:prstGeom prst="rect">
            <a:avLst/>
          </a:prstGeom>
          <a:noFill/>
          <a:ln/>
        </p:spPr>
        <p:txBody>
          <a:bodyPr wrap="square" lIns="0" tIns="0" rIns="0" bIns="0" rtlCol="0" anchor="ctr">
            <a:normAutofit/>
          </a:bodyPr>
          <a:lstStyle/>
          <a:p>
            <a:pPr algn="ctr" indent="0" marL="0">
              <a:buNone/>
            </a:pPr>
            <a:r>
              <a:rPr lang="en-US" sz="850" dirty="0">
                <a:solidFill>
                  <a:srgbClr val="6B7280"/>
                </a:solidFill>
                <a:latin typeface="Aptos" pitchFamily="34" charset="0"/>
                <a:ea typeface="Aptos" pitchFamily="34" charset="-122"/>
                <a:cs typeface="Aptos" pitchFamily="34" charset="-120"/>
              </a:rPr>
              <a:t>least privilege</a:t>
            </a:r>
            <a:endParaRPr lang="en-US" sz="850" dirty="0"/>
          </a:p>
        </p:txBody>
      </p:sp>
      <p:sp>
        <p:nvSpPr>
          <p:cNvPr id="23" name="Text 21"/>
          <p:cNvSpPr/>
          <p:nvPr/>
        </p:nvSpPr>
        <p:spPr>
          <a:xfrm>
            <a:off x="7141464" y="2340864"/>
            <a:ext cx="164592" cy="228600"/>
          </a:xfrm>
          <a:prstGeom prst="rect">
            <a:avLst/>
          </a:prstGeom>
          <a:noFill/>
          <a:ln/>
        </p:spPr>
        <p:txBody>
          <a:bodyPr wrap="square" lIns="0" tIns="0" rIns="0" bIns="0" rtlCol="0" anchor="ctr"/>
          <a:lstStyle/>
          <a:p>
            <a:pPr indent="0" marL="0">
              <a:buNone/>
            </a:pPr>
            <a:r>
              <a:rPr lang="en-US" sz="1600" b="1" dirty="0">
                <a:solidFill>
                  <a:srgbClr val="06A9C8"/>
                </a:solidFill>
                <a:latin typeface="Aptos" pitchFamily="34" charset="0"/>
                <a:ea typeface="Aptos" pitchFamily="34" charset="-122"/>
                <a:cs typeface="Aptos" pitchFamily="34" charset="-120"/>
              </a:rPr>
              <a:t>→</a:t>
            </a:r>
            <a:endParaRPr lang="en-US" sz="1600" dirty="0"/>
          </a:p>
        </p:txBody>
      </p:sp>
      <p:sp>
        <p:nvSpPr>
          <p:cNvPr id="24" name="Shape 22"/>
          <p:cNvSpPr/>
          <p:nvPr/>
        </p:nvSpPr>
        <p:spPr>
          <a:xfrm>
            <a:off x="7351776" y="2103120"/>
            <a:ext cx="1417320" cy="868680"/>
          </a:xfrm>
          <a:prstGeom prst="roundRect">
            <a:avLst>
              <a:gd name="adj" fmla="val 8421"/>
            </a:avLst>
          </a:prstGeom>
          <a:solidFill>
            <a:srgbClr val="F4F8FB"/>
          </a:solidFill>
          <a:ln w="12700">
            <a:solidFill>
              <a:srgbClr val="D6E7EF"/>
            </a:solidFill>
            <a:prstDash val="solid"/>
          </a:ln>
        </p:spPr>
      </p:sp>
      <p:sp>
        <p:nvSpPr>
          <p:cNvPr id="25" name="Text 23"/>
          <p:cNvSpPr/>
          <p:nvPr/>
        </p:nvSpPr>
        <p:spPr>
          <a:xfrm>
            <a:off x="7443216" y="2258568"/>
            <a:ext cx="1234440" cy="228600"/>
          </a:xfrm>
          <a:prstGeom prst="rect">
            <a:avLst/>
          </a:prstGeom>
          <a:noFill/>
          <a:ln/>
        </p:spPr>
        <p:txBody>
          <a:bodyPr wrap="square" lIns="0" tIns="0" rIns="0" bIns="0" rtlCol="0" anchor="ctr">
            <a:normAutofit/>
          </a:bodyPr>
          <a:lstStyle/>
          <a:p>
            <a:pPr algn="ctr" indent="0" marL="0">
              <a:buNone/>
            </a:pPr>
            <a:r>
              <a:rPr lang="en-US" sz="1150" b="1" dirty="0">
                <a:solidFill>
                  <a:srgbClr val="172033"/>
                </a:solidFill>
                <a:latin typeface="Aptos" pitchFamily="34" charset="0"/>
                <a:ea typeface="Aptos" pitchFamily="34" charset="-122"/>
                <a:cs typeface="Aptos" pitchFamily="34" charset="-120"/>
              </a:rPr>
              <a:t>Network</a:t>
            </a:r>
            <a:endParaRPr lang="en-US" sz="1150" dirty="0"/>
          </a:p>
        </p:txBody>
      </p:sp>
      <p:sp>
        <p:nvSpPr>
          <p:cNvPr id="26" name="Text 24"/>
          <p:cNvSpPr/>
          <p:nvPr/>
        </p:nvSpPr>
        <p:spPr>
          <a:xfrm>
            <a:off x="7461504" y="2532888"/>
            <a:ext cx="1197864" cy="256032"/>
          </a:xfrm>
          <a:prstGeom prst="rect">
            <a:avLst/>
          </a:prstGeom>
          <a:noFill/>
          <a:ln/>
        </p:spPr>
        <p:txBody>
          <a:bodyPr wrap="square" lIns="0" tIns="0" rIns="0" bIns="0" rtlCol="0" anchor="ctr">
            <a:normAutofit/>
          </a:bodyPr>
          <a:lstStyle/>
          <a:p>
            <a:pPr algn="ctr" indent="0" marL="0">
              <a:buNone/>
            </a:pPr>
            <a:r>
              <a:rPr lang="en-US" sz="850" dirty="0">
                <a:solidFill>
                  <a:srgbClr val="6B7280"/>
                </a:solidFill>
                <a:latin typeface="Aptos" pitchFamily="34" charset="0"/>
                <a:ea typeface="Aptos" pitchFamily="34" charset="-122"/>
                <a:cs typeface="Aptos" pitchFamily="34" charset="-120"/>
              </a:rPr>
              <a:t>private access</a:t>
            </a:r>
            <a:endParaRPr lang="en-US" sz="850" dirty="0"/>
          </a:p>
        </p:txBody>
      </p:sp>
      <p:sp>
        <p:nvSpPr>
          <p:cNvPr id="27" name="Text 25"/>
          <p:cNvSpPr/>
          <p:nvPr/>
        </p:nvSpPr>
        <p:spPr>
          <a:xfrm>
            <a:off x="8814816" y="2340864"/>
            <a:ext cx="164592" cy="228600"/>
          </a:xfrm>
          <a:prstGeom prst="rect">
            <a:avLst/>
          </a:prstGeom>
          <a:noFill/>
          <a:ln/>
        </p:spPr>
        <p:txBody>
          <a:bodyPr wrap="square" lIns="0" tIns="0" rIns="0" bIns="0" rtlCol="0" anchor="ctr"/>
          <a:lstStyle/>
          <a:p>
            <a:pPr indent="0" marL="0">
              <a:buNone/>
            </a:pPr>
            <a:r>
              <a:rPr lang="en-US" sz="1600" b="1" dirty="0">
                <a:solidFill>
                  <a:srgbClr val="06A9C8"/>
                </a:solidFill>
                <a:latin typeface="Aptos" pitchFamily="34" charset="0"/>
                <a:ea typeface="Aptos" pitchFamily="34" charset="-122"/>
                <a:cs typeface="Aptos" pitchFamily="34" charset="-120"/>
              </a:rPr>
              <a:t>→</a:t>
            </a:r>
            <a:endParaRPr lang="en-US" sz="1600" dirty="0"/>
          </a:p>
        </p:txBody>
      </p:sp>
      <p:sp>
        <p:nvSpPr>
          <p:cNvPr id="28" name="Shape 26"/>
          <p:cNvSpPr/>
          <p:nvPr/>
        </p:nvSpPr>
        <p:spPr>
          <a:xfrm>
            <a:off x="9025128" y="2103120"/>
            <a:ext cx="1417320" cy="868680"/>
          </a:xfrm>
          <a:prstGeom prst="roundRect">
            <a:avLst>
              <a:gd name="adj" fmla="val 8421"/>
            </a:avLst>
          </a:prstGeom>
          <a:solidFill>
            <a:srgbClr val="F4F8FB"/>
          </a:solidFill>
          <a:ln w="12700">
            <a:solidFill>
              <a:srgbClr val="D6E7EF"/>
            </a:solidFill>
            <a:prstDash val="solid"/>
          </a:ln>
        </p:spPr>
      </p:sp>
      <p:sp>
        <p:nvSpPr>
          <p:cNvPr id="29" name="Text 27"/>
          <p:cNvSpPr/>
          <p:nvPr/>
        </p:nvSpPr>
        <p:spPr>
          <a:xfrm>
            <a:off x="9116568" y="2258568"/>
            <a:ext cx="1234440" cy="228600"/>
          </a:xfrm>
          <a:prstGeom prst="rect">
            <a:avLst/>
          </a:prstGeom>
          <a:noFill/>
          <a:ln/>
        </p:spPr>
        <p:txBody>
          <a:bodyPr wrap="square" lIns="0" tIns="0" rIns="0" bIns="0" rtlCol="0" anchor="ctr">
            <a:normAutofit/>
          </a:bodyPr>
          <a:lstStyle/>
          <a:p>
            <a:pPr algn="ctr" indent="0" marL="0">
              <a:buNone/>
            </a:pPr>
            <a:r>
              <a:rPr lang="en-US" sz="1150" b="1" dirty="0">
                <a:solidFill>
                  <a:srgbClr val="172033"/>
                </a:solidFill>
                <a:latin typeface="Aptos" pitchFamily="34" charset="0"/>
                <a:ea typeface="Aptos" pitchFamily="34" charset="-122"/>
                <a:cs typeface="Aptos" pitchFamily="34" charset="-120"/>
              </a:rPr>
              <a:t>Governance</a:t>
            </a:r>
            <a:endParaRPr lang="en-US" sz="1150" dirty="0"/>
          </a:p>
        </p:txBody>
      </p:sp>
      <p:sp>
        <p:nvSpPr>
          <p:cNvPr id="30" name="Text 28"/>
          <p:cNvSpPr/>
          <p:nvPr/>
        </p:nvSpPr>
        <p:spPr>
          <a:xfrm>
            <a:off x="9134856" y="2532888"/>
            <a:ext cx="1197864" cy="256032"/>
          </a:xfrm>
          <a:prstGeom prst="rect">
            <a:avLst/>
          </a:prstGeom>
          <a:noFill/>
          <a:ln/>
        </p:spPr>
        <p:txBody>
          <a:bodyPr wrap="square" lIns="0" tIns="0" rIns="0" bIns="0" rtlCol="0" anchor="ctr">
            <a:normAutofit/>
          </a:bodyPr>
          <a:lstStyle/>
          <a:p>
            <a:pPr algn="ctr" indent="0" marL="0">
              <a:buNone/>
            </a:pPr>
            <a:r>
              <a:rPr lang="en-US" sz="850" dirty="0">
                <a:solidFill>
                  <a:srgbClr val="6B7280"/>
                </a:solidFill>
                <a:latin typeface="Aptos" pitchFamily="34" charset="0"/>
                <a:ea typeface="Aptos" pitchFamily="34" charset="-122"/>
                <a:cs typeface="Aptos" pitchFamily="34" charset="-120"/>
              </a:rPr>
              <a:t>policy + owner</a:t>
            </a:r>
            <a:endParaRPr lang="en-US" sz="850" dirty="0"/>
          </a:p>
        </p:txBody>
      </p:sp>
      <p:sp>
        <p:nvSpPr>
          <p:cNvPr id="31" name="Shape 29"/>
          <p:cNvSpPr/>
          <p:nvPr/>
        </p:nvSpPr>
        <p:spPr>
          <a:xfrm>
            <a:off x="9144000" y="3886200"/>
            <a:ext cx="2331720" cy="1051560"/>
          </a:xfrm>
          <a:prstGeom prst="rect">
            <a:avLst/>
          </a:prstGeom>
          <a:solidFill>
            <a:srgbClr val="F4F8FB"/>
          </a:solidFill>
          <a:ln w="12700">
            <a:solidFill>
              <a:srgbClr val="E7EEF4"/>
            </a:solidFill>
            <a:prstDash val="solid"/>
          </a:ln>
        </p:spPr>
      </p:sp>
      <p:sp>
        <p:nvSpPr>
          <p:cNvPr id="32" name="Shape 30"/>
          <p:cNvSpPr/>
          <p:nvPr/>
        </p:nvSpPr>
        <p:spPr>
          <a:xfrm>
            <a:off x="9299448" y="4041648"/>
            <a:ext cx="219456" cy="219456"/>
          </a:xfrm>
          <a:prstGeom prst="ellipse">
            <a:avLst/>
          </a:prstGeom>
          <a:solidFill>
            <a:srgbClr val="06A9C8"/>
          </a:solidFill>
          <a:ln w="12700">
            <a:solidFill>
              <a:srgbClr val="06A9C8"/>
            </a:solidFill>
            <a:prstDash val="solid"/>
          </a:ln>
        </p:spPr>
      </p:sp>
      <p:sp>
        <p:nvSpPr>
          <p:cNvPr id="33" name="Text 31"/>
          <p:cNvSpPr/>
          <p:nvPr/>
        </p:nvSpPr>
        <p:spPr>
          <a:xfrm>
            <a:off x="9354312" y="405993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34" name="Text 32"/>
          <p:cNvSpPr/>
          <p:nvPr/>
        </p:nvSpPr>
        <p:spPr>
          <a:xfrm>
            <a:off x="9582912" y="401421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Decision rule</a:t>
            </a:r>
            <a:endParaRPr lang="en-US" sz="1080" dirty="0"/>
          </a:p>
        </p:txBody>
      </p:sp>
      <p:sp>
        <p:nvSpPr>
          <p:cNvPr id="35" name="Text 33"/>
          <p:cNvSpPr/>
          <p:nvPr/>
        </p:nvSpPr>
        <p:spPr>
          <a:xfrm>
            <a:off x="9354312" y="4343400"/>
            <a:ext cx="1920240" cy="484632"/>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If ownership, data scope, or release cadence differs, consider a separate project boundary.</a:t>
            </a:r>
            <a:endParaRPr lang="en-US" sz="96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3 · Lecture 10</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Choose Enterprise Models from the Catalog</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Model selection is an architecture decision, not a popularity contest.</a:t>
            </a:r>
            <a:endParaRPr lang="en-US" sz="1500" dirty="0"/>
          </a:p>
        </p:txBody>
      </p:sp>
      <p:sp>
        <p:nvSpPr>
          <p:cNvPr id="8" name="Text 6"/>
          <p:cNvSpPr/>
          <p:nvPr/>
        </p:nvSpPr>
        <p:spPr>
          <a:xfrm>
            <a:off x="658368" y="1965960"/>
            <a:ext cx="8001000" cy="3429000"/>
          </a:xfrm>
          <a:prstGeom prst="rect">
            <a:avLst/>
          </a:prstGeom>
          <a:noFill/>
          <a:ln/>
        </p:spPr>
        <p:txBody>
          <a:bodyPr wrap="square" lIns="254" tIns="254" rIns="254" bIns="254" rtlCol="0" anchor="ctr">
            <a:normAutofit/>
          </a:bodyPr>
          <a:lstStyle/>
          <a:p>
            <a:pPr indent="0" marL="0">
              <a:buNone/>
            </a:pPr>
            <a:r>
              <a:rPr lang="en-US" sz="1850" dirty="0">
                <a:solidFill>
                  <a:srgbClr val="303846"/>
                </a:solidFill>
                <a:latin typeface="Aptos" pitchFamily="34" charset="0"/>
                <a:ea typeface="Aptos" pitchFamily="34" charset="-122"/>
                <a:cs typeface="Aptos" pitchFamily="34" charset="-120"/>
              </a:rPr>
              <a:t>▸ Match the model to reasoning, latency, context, tool-use, and multimodal needs.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Check regional availability and enterprise data requirements.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Consider cost per task, not only cost per token.</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Choose a supported deployment option for the scenario.</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Avoid hard-coding a course to one model name when availability can vary.</a:t>
            </a:r>
            <a:endParaRPr lang="en-US" sz="1850" dirty="0"/>
          </a:p>
        </p:txBody>
      </p:sp>
      <p:sp>
        <p:nvSpPr>
          <p:cNvPr id="9" name="Shape 7"/>
          <p:cNvSpPr/>
          <p:nvPr/>
        </p:nvSpPr>
        <p:spPr>
          <a:xfrm>
            <a:off x="9144000" y="1965960"/>
            <a:ext cx="2331720" cy="1243584"/>
          </a:xfrm>
          <a:prstGeom prst="rect">
            <a:avLst/>
          </a:prstGeom>
          <a:solidFill>
            <a:srgbClr val="F4F8FB"/>
          </a:solidFill>
          <a:ln w="12700">
            <a:solidFill>
              <a:srgbClr val="E7EEF4"/>
            </a:solidFill>
            <a:prstDash val="solid"/>
          </a:ln>
        </p:spPr>
      </p:sp>
      <p:sp>
        <p:nvSpPr>
          <p:cNvPr id="10" name="Shape 8"/>
          <p:cNvSpPr/>
          <p:nvPr/>
        </p:nvSpPr>
        <p:spPr>
          <a:xfrm>
            <a:off x="9299448" y="2121408"/>
            <a:ext cx="219456" cy="219456"/>
          </a:xfrm>
          <a:prstGeom prst="ellipse">
            <a:avLst/>
          </a:prstGeom>
          <a:solidFill>
            <a:srgbClr val="06A9C8"/>
          </a:solidFill>
          <a:ln w="12700">
            <a:solidFill>
              <a:srgbClr val="06A9C8"/>
            </a:solidFill>
            <a:prstDash val="solid"/>
          </a:ln>
        </p:spPr>
      </p:sp>
      <p:sp>
        <p:nvSpPr>
          <p:cNvPr id="11" name="Text 9"/>
          <p:cNvSpPr/>
          <p:nvPr/>
        </p:nvSpPr>
        <p:spPr>
          <a:xfrm>
            <a:off x="9354312" y="213969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82912" y="209397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Demonstration</a:t>
            </a:r>
            <a:endParaRPr lang="en-US" sz="1080" dirty="0"/>
          </a:p>
        </p:txBody>
      </p:sp>
      <p:sp>
        <p:nvSpPr>
          <p:cNvPr id="13" name="Text 11"/>
          <p:cNvSpPr/>
          <p:nvPr/>
        </p:nvSpPr>
        <p:spPr>
          <a:xfrm>
            <a:off x="9354312" y="2423160"/>
            <a:ext cx="1920240" cy="676656"/>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Walk through the model catalog and apply the selection criteria.</a:t>
            </a:r>
            <a:endParaRPr lang="en-US" sz="96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3 · Lecture 10</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Model Selection Framework</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Use consistent criteria so teams can defend why a model was selected.</a:t>
            </a:r>
            <a:endParaRPr lang="en-US" sz="1500" dirty="0"/>
          </a:p>
        </p:txBody>
      </p:sp>
      <p:sp>
        <p:nvSpPr>
          <p:cNvPr id="8" name="Text 6"/>
          <p:cNvSpPr/>
          <p:nvPr/>
        </p:nvSpPr>
        <p:spPr>
          <a:xfrm>
            <a:off x="658368" y="1965960"/>
            <a:ext cx="8001000" cy="3429000"/>
          </a:xfrm>
          <a:prstGeom prst="rect">
            <a:avLst/>
          </a:prstGeom>
          <a:noFill/>
          <a:ln/>
        </p:spPr>
        <p:txBody>
          <a:bodyPr wrap="square" lIns="254" tIns="254" rIns="254" bIns="254" rtlCol="0" anchor="ctr">
            <a:normAutofit/>
          </a:bodyPr>
          <a:lstStyle/>
          <a:p>
            <a:pPr indent="0" marL="0">
              <a:buNone/>
            </a:pPr>
            <a:r>
              <a:rPr lang="en-US" sz="1850" dirty="0">
                <a:solidFill>
                  <a:srgbClr val="303846"/>
                </a:solidFill>
                <a:latin typeface="Aptos" pitchFamily="34" charset="0"/>
                <a:ea typeface="Aptos" pitchFamily="34" charset="-122"/>
                <a:cs typeface="Aptos" pitchFamily="34" charset="-120"/>
              </a:rPr>
              <a:t>▸ Capability: Does it support the task, tools, and response quality required?</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Operations: Can the region, quota, and throughput support expected use?</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Security: Does the deployment meet data-handling and access requirements?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Cost: Is the total cost acceptable for the business workflow?</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Lifecycle: Is the model stable enough for the release risk profile?</a:t>
            </a:r>
            <a:endParaRPr lang="en-US" sz="1850" dirty="0"/>
          </a:p>
        </p:txBody>
      </p:sp>
      <p:sp>
        <p:nvSpPr>
          <p:cNvPr id="9" name="Shape 7"/>
          <p:cNvSpPr/>
          <p:nvPr/>
        </p:nvSpPr>
        <p:spPr>
          <a:xfrm>
            <a:off x="9144000" y="1965960"/>
            <a:ext cx="2331720" cy="1243584"/>
          </a:xfrm>
          <a:prstGeom prst="rect">
            <a:avLst/>
          </a:prstGeom>
          <a:solidFill>
            <a:srgbClr val="F4F8FB"/>
          </a:solidFill>
          <a:ln w="12700">
            <a:solidFill>
              <a:srgbClr val="E7EEF4"/>
            </a:solidFill>
            <a:prstDash val="solid"/>
          </a:ln>
        </p:spPr>
      </p:sp>
      <p:sp>
        <p:nvSpPr>
          <p:cNvPr id="10" name="Shape 8"/>
          <p:cNvSpPr/>
          <p:nvPr/>
        </p:nvSpPr>
        <p:spPr>
          <a:xfrm>
            <a:off x="9299448" y="2121408"/>
            <a:ext cx="219456" cy="219456"/>
          </a:xfrm>
          <a:prstGeom prst="ellipse">
            <a:avLst/>
          </a:prstGeom>
          <a:solidFill>
            <a:srgbClr val="06A9C8"/>
          </a:solidFill>
          <a:ln w="12700">
            <a:solidFill>
              <a:srgbClr val="06A9C8"/>
            </a:solidFill>
            <a:prstDash val="solid"/>
          </a:ln>
        </p:spPr>
      </p:sp>
      <p:sp>
        <p:nvSpPr>
          <p:cNvPr id="11" name="Text 9"/>
          <p:cNvSpPr/>
          <p:nvPr/>
        </p:nvSpPr>
        <p:spPr>
          <a:xfrm>
            <a:off x="9354312" y="213969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82912" y="209397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Enterprise habit</a:t>
            </a:r>
            <a:endParaRPr lang="en-US" sz="1080" dirty="0"/>
          </a:p>
        </p:txBody>
      </p:sp>
      <p:sp>
        <p:nvSpPr>
          <p:cNvPr id="13" name="Text 11"/>
          <p:cNvSpPr/>
          <p:nvPr/>
        </p:nvSpPr>
        <p:spPr>
          <a:xfrm>
            <a:off x="9354312" y="2423160"/>
            <a:ext cx="1920240" cy="676656"/>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Record the reason for the selected model so future reviewers can revisit the decision.</a:t>
            </a:r>
            <a:endParaRPr lang="en-US" sz="96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3 · Lecture 11</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Manage Deployments, Quotas, Regions, and Cost</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A model deployment turns a catalog choice into an operational dependency.</a:t>
            </a:r>
            <a:endParaRPr lang="en-US" sz="1500" dirty="0"/>
          </a:p>
        </p:txBody>
      </p:sp>
      <p:sp>
        <p:nvSpPr>
          <p:cNvPr id="8" name="Text 6"/>
          <p:cNvSpPr/>
          <p:nvPr/>
        </p:nvSpPr>
        <p:spPr>
          <a:xfrm>
            <a:off x="658368" y="1965960"/>
            <a:ext cx="8001000" cy="3429000"/>
          </a:xfrm>
          <a:prstGeom prst="rect">
            <a:avLst/>
          </a:prstGeom>
          <a:noFill/>
          <a:ln/>
        </p:spPr>
        <p:txBody>
          <a:bodyPr wrap="square" lIns="254" tIns="254" rIns="254" bIns="254" rtlCol="0" anchor="ctr">
            <a:normAutofit/>
          </a:bodyPr>
          <a:lstStyle/>
          <a:p>
            <a:pPr indent="0" marL="0">
              <a:buNone/>
            </a:pPr>
            <a:r>
              <a:rPr lang="en-US" sz="1850" dirty="0">
                <a:solidFill>
                  <a:srgbClr val="303846"/>
                </a:solidFill>
                <a:latin typeface="Aptos" pitchFamily="34" charset="0"/>
                <a:ea typeface="Aptos" pitchFamily="34" charset="-122"/>
                <a:cs typeface="Aptos" pitchFamily="34" charset="-120"/>
              </a:rPr>
              <a:t>▸ Deployment names should be meaningful and environment-aware.</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Regional capacity and quota determine what teams can actually run.</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Token allocation affects throughput, latency, and throttling behavior.</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Budgets and alerts reduce surprise cost exposure.</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Lifecycle risk increases when model changes are not tracked.</a:t>
            </a:r>
            <a:endParaRPr lang="en-US" sz="1850" dirty="0"/>
          </a:p>
        </p:txBody>
      </p:sp>
      <p:sp>
        <p:nvSpPr>
          <p:cNvPr id="9" name="Shape 7"/>
          <p:cNvSpPr/>
          <p:nvPr/>
        </p:nvSpPr>
        <p:spPr>
          <a:xfrm>
            <a:off x="9144000" y="1965960"/>
            <a:ext cx="2331720" cy="1243584"/>
          </a:xfrm>
          <a:prstGeom prst="rect">
            <a:avLst/>
          </a:prstGeom>
          <a:solidFill>
            <a:srgbClr val="F4F8FB"/>
          </a:solidFill>
          <a:ln w="12700">
            <a:solidFill>
              <a:srgbClr val="E7EEF4"/>
            </a:solidFill>
            <a:prstDash val="solid"/>
          </a:ln>
        </p:spPr>
      </p:sp>
      <p:sp>
        <p:nvSpPr>
          <p:cNvPr id="10" name="Shape 8"/>
          <p:cNvSpPr/>
          <p:nvPr/>
        </p:nvSpPr>
        <p:spPr>
          <a:xfrm>
            <a:off x="9299448" y="2121408"/>
            <a:ext cx="219456" cy="219456"/>
          </a:xfrm>
          <a:prstGeom prst="ellipse">
            <a:avLst/>
          </a:prstGeom>
          <a:solidFill>
            <a:srgbClr val="06A9C8"/>
          </a:solidFill>
          <a:ln w="12700">
            <a:solidFill>
              <a:srgbClr val="06A9C8"/>
            </a:solidFill>
            <a:prstDash val="solid"/>
          </a:ln>
        </p:spPr>
      </p:sp>
      <p:sp>
        <p:nvSpPr>
          <p:cNvPr id="11" name="Text 9"/>
          <p:cNvSpPr/>
          <p:nvPr/>
        </p:nvSpPr>
        <p:spPr>
          <a:xfrm>
            <a:off x="9354312" y="213969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82912" y="209397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Demonstration</a:t>
            </a:r>
            <a:endParaRPr lang="en-US" sz="1080" dirty="0"/>
          </a:p>
        </p:txBody>
      </p:sp>
      <p:sp>
        <p:nvSpPr>
          <p:cNvPr id="13" name="Text 11"/>
          <p:cNvSpPr/>
          <p:nvPr/>
        </p:nvSpPr>
        <p:spPr>
          <a:xfrm>
            <a:off x="9354312" y="2423160"/>
            <a:ext cx="1920240" cy="676656"/>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Review a model deployment, quota view, and cost-control considerations.</a:t>
            </a:r>
            <a:endParaRPr lang="en-US" sz="96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3 · Lecture 11</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Cost and Quota Questions to Ask</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Before a model is used by an agent, teams should answer operating questions.</a:t>
            </a:r>
            <a:endParaRPr lang="en-US" sz="1500" dirty="0"/>
          </a:p>
        </p:txBody>
      </p:sp>
      <p:sp>
        <p:nvSpPr>
          <p:cNvPr id="8" name="Text 6"/>
          <p:cNvSpPr/>
          <p:nvPr/>
        </p:nvSpPr>
        <p:spPr>
          <a:xfrm>
            <a:off x="658368" y="1965960"/>
            <a:ext cx="8001000" cy="3429000"/>
          </a:xfrm>
          <a:prstGeom prst="rect">
            <a:avLst/>
          </a:prstGeom>
          <a:noFill/>
          <a:ln/>
        </p:spPr>
        <p:txBody>
          <a:bodyPr wrap="square" lIns="254" tIns="254" rIns="254" bIns="254" rtlCol="0" anchor="ctr">
            <a:normAutofit/>
          </a:bodyPr>
          <a:lstStyle/>
          <a:p>
            <a:pPr indent="0" marL="0">
              <a:buNone/>
            </a:pPr>
            <a:r>
              <a:rPr lang="en-US" sz="1850" dirty="0">
                <a:solidFill>
                  <a:srgbClr val="303846"/>
                </a:solidFill>
                <a:latin typeface="Aptos" pitchFamily="34" charset="0"/>
                <a:ea typeface="Aptos" pitchFamily="34" charset="-122"/>
                <a:cs typeface="Aptos" pitchFamily="34" charset="-120"/>
              </a:rPr>
              <a:t>▸ What is the expected request volume and peak usage window?</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Which users or systems are allowed to consume the deployment?</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What happens when the deployment is throttled or unavailable?</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How will model consumption be monitored after publishing?</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Who approves quota increases and cost exceptions?</a:t>
            </a:r>
            <a:endParaRPr lang="en-US" sz="1850" dirty="0"/>
          </a:p>
        </p:txBody>
      </p:sp>
      <p:sp>
        <p:nvSpPr>
          <p:cNvPr id="9" name="Shape 7"/>
          <p:cNvSpPr/>
          <p:nvPr/>
        </p:nvSpPr>
        <p:spPr>
          <a:xfrm>
            <a:off x="9144000" y="1965960"/>
            <a:ext cx="2331720" cy="1243584"/>
          </a:xfrm>
          <a:prstGeom prst="rect">
            <a:avLst/>
          </a:prstGeom>
          <a:solidFill>
            <a:srgbClr val="F4F8FB"/>
          </a:solidFill>
          <a:ln w="12700">
            <a:solidFill>
              <a:srgbClr val="E7EEF4"/>
            </a:solidFill>
            <a:prstDash val="solid"/>
          </a:ln>
        </p:spPr>
      </p:sp>
      <p:sp>
        <p:nvSpPr>
          <p:cNvPr id="10" name="Shape 8"/>
          <p:cNvSpPr/>
          <p:nvPr/>
        </p:nvSpPr>
        <p:spPr>
          <a:xfrm>
            <a:off x="9299448" y="2121408"/>
            <a:ext cx="219456" cy="219456"/>
          </a:xfrm>
          <a:prstGeom prst="ellipse">
            <a:avLst/>
          </a:prstGeom>
          <a:solidFill>
            <a:srgbClr val="06A9C8"/>
          </a:solidFill>
          <a:ln w="12700">
            <a:solidFill>
              <a:srgbClr val="06A9C8"/>
            </a:solidFill>
            <a:prstDash val="solid"/>
          </a:ln>
        </p:spPr>
      </p:sp>
      <p:sp>
        <p:nvSpPr>
          <p:cNvPr id="11" name="Text 9"/>
          <p:cNvSpPr/>
          <p:nvPr/>
        </p:nvSpPr>
        <p:spPr>
          <a:xfrm>
            <a:off x="9354312" y="213969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82912" y="209397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Review frame</a:t>
            </a:r>
            <a:endParaRPr lang="en-US" sz="1080" dirty="0"/>
          </a:p>
        </p:txBody>
      </p:sp>
      <p:sp>
        <p:nvSpPr>
          <p:cNvPr id="13" name="Text 11"/>
          <p:cNvSpPr/>
          <p:nvPr/>
        </p:nvSpPr>
        <p:spPr>
          <a:xfrm>
            <a:off x="9354312" y="2423160"/>
            <a:ext cx="1920240" cy="676656"/>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Agents fail operationally when quota and cost are treated as afterthoughts.</a:t>
            </a:r>
            <a:endParaRPr lang="en-US" sz="96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3 · Lecture 12</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Secure Foundry with Entra ID and RBAC</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Use identity-first access control before agents reach enterprise data or tools.</a:t>
            </a:r>
            <a:endParaRPr lang="en-US" sz="1500" dirty="0"/>
          </a:p>
        </p:txBody>
      </p:sp>
      <p:sp>
        <p:nvSpPr>
          <p:cNvPr id="8" name="Text 6"/>
          <p:cNvSpPr/>
          <p:nvPr/>
        </p:nvSpPr>
        <p:spPr>
          <a:xfrm>
            <a:off x="658368" y="1965960"/>
            <a:ext cx="8001000" cy="3429000"/>
          </a:xfrm>
          <a:prstGeom prst="rect">
            <a:avLst/>
          </a:prstGeom>
          <a:noFill/>
          <a:ln/>
        </p:spPr>
        <p:txBody>
          <a:bodyPr wrap="square" lIns="254" tIns="254" rIns="254" bIns="254" rtlCol="0" anchor="ctr">
            <a:normAutofit/>
          </a:bodyPr>
          <a:lstStyle/>
          <a:p>
            <a:pPr indent="0" marL="0">
              <a:buNone/>
            </a:pPr>
            <a:r>
              <a:rPr lang="en-US" sz="1850" dirty="0">
                <a:solidFill>
                  <a:srgbClr val="303846"/>
                </a:solidFill>
                <a:latin typeface="Aptos" pitchFamily="34" charset="0"/>
                <a:ea typeface="Aptos" pitchFamily="34" charset="-122"/>
                <a:cs typeface="Aptos" pitchFamily="34" charset="-120"/>
              </a:rPr>
              <a:t>▸ Use Microsoft Entra ID for user and workload identity.</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Apply least-privilege roles at the correct resource or project scope.</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Prefer managed identity and keyless access where possible.</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Use private networking controls for sensitive production environments.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Review both control-plane and data-plane permissions.</a:t>
            </a:r>
            <a:endParaRPr lang="en-US" sz="1850" dirty="0"/>
          </a:p>
        </p:txBody>
      </p:sp>
      <p:sp>
        <p:nvSpPr>
          <p:cNvPr id="9" name="Shape 7"/>
          <p:cNvSpPr/>
          <p:nvPr/>
        </p:nvSpPr>
        <p:spPr>
          <a:xfrm>
            <a:off x="9144000" y="1965960"/>
            <a:ext cx="2331720" cy="1243584"/>
          </a:xfrm>
          <a:prstGeom prst="rect">
            <a:avLst/>
          </a:prstGeom>
          <a:solidFill>
            <a:srgbClr val="F4F8FB"/>
          </a:solidFill>
          <a:ln w="12700">
            <a:solidFill>
              <a:srgbClr val="E7EEF4"/>
            </a:solidFill>
            <a:prstDash val="solid"/>
          </a:ln>
        </p:spPr>
      </p:sp>
      <p:sp>
        <p:nvSpPr>
          <p:cNvPr id="10" name="Shape 8"/>
          <p:cNvSpPr/>
          <p:nvPr/>
        </p:nvSpPr>
        <p:spPr>
          <a:xfrm>
            <a:off x="9299448" y="2121408"/>
            <a:ext cx="219456" cy="219456"/>
          </a:xfrm>
          <a:prstGeom prst="ellipse">
            <a:avLst/>
          </a:prstGeom>
          <a:solidFill>
            <a:srgbClr val="06A9C8"/>
          </a:solidFill>
          <a:ln w="12700">
            <a:solidFill>
              <a:srgbClr val="06A9C8"/>
            </a:solidFill>
            <a:prstDash val="solid"/>
          </a:ln>
        </p:spPr>
      </p:sp>
      <p:sp>
        <p:nvSpPr>
          <p:cNvPr id="11" name="Text 9"/>
          <p:cNvSpPr/>
          <p:nvPr/>
        </p:nvSpPr>
        <p:spPr>
          <a:xfrm>
            <a:off x="9354312" y="213969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82912" y="209397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Demonstration</a:t>
            </a:r>
            <a:endParaRPr lang="en-US" sz="1080" dirty="0"/>
          </a:p>
        </p:txBody>
      </p:sp>
      <p:sp>
        <p:nvSpPr>
          <p:cNvPr id="13" name="Text 11"/>
          <p:cNvSpPr/>
          <p:nvPr/>
        </p:nvSpPr>
        <p:spPr>
          <a:xfrm>
            <a:off x="9354312" y="2423160"/>
            <a:ext cx="1920240" cy="676656"/>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Inspect role assignments, project permissions, and secure access boundaries.</a:t>
            </a:r>
            <a:endParaRPr lang="en-US" sz="96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3 · Lecture 12</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Security Boundary Checklist</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Use this as a pre-lab review before provisioning live resources.</a:t>
            </a:r>
            <a:endParaRPr lang="en-US" sz="1500" dirty="0"/>
          </a:p>
        </p:txBody>
      </p:sp>
      <p:sp>
        <p:nvSpPr>
          <p:cNvPr id="8" name="Text 6"/>
          <p:cNvSpPr/>
          <p:nvPr/>
        </p:nvSpPr>
        <p:spPr>
          <a:xfrm>
            <a:off x="658368" y="1965960"/>
            <a:ext cx="8001000" cy="3429000"/>
          </a:xfrm>
          <a:prstGeom prst="rect">
            <a:avLst/>
          </a:prstGeom>
          <a:noFill/>
          <a:ln/>
        </p:spPr>
        <p:txBody>
          <a:bodyPr wrap="square" lIns="254" tIns="254" rIns="254" bIns="254" rtlCol="0" anchor="ctr">
            <a:normAutofit/>
          </a:bodyPr>
          <a:lstStyle/>
          <a:p>
            <a:pPr indent="0" marL="0">
              <a:buNone/>
            </a:pPr>
            <a:r>
              <a:rPr lang="en-US" sz="1850" dirty="0">
                <a:solidFill>
                  <a:srgbClr val="303846"/>
                </a:solidFill>
                <a:latin typeface="Aptos" pitchFamily="34" charset="0"/>
                <a:ea typeface="Aptos" pitchFamily="34" charset="-122"/>
                <a:cs typeface="Aptos" pitchFamily="34" charset="-120"/>
              </a:rPr>
              <a:t>▸ Who can create and manage Foundry resources?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Who can deploy models and consume model endpoints?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Which connections can agents use?</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Which networks are allowed to reach the project?</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Which actions require approval or audit evidence?</a:t>
            </a:r>
            <a:endParaRPr lang="en-US" sz="1850" dirty="0"/>
          </a:p>
        </p:txBody>
      </p:sp>
      <p:sp>
        <p:nvSpPr>
          <p:cNvPr id="9" name="Shape 7"/>
          <p:cNvSpPr/>
          <p:nvPr/>
        </p:nvSpPr>
        <p:spPr>
          <a:xfrm>
            <a:off x="9144000" y="1965960"/>
            <a:ext cx="2331720" cy="1243584"/>
          </a:xfrm>
          <a:prstGeom prst="rect">
            <a:avLst/>
          </a:prstGeom>
          <a:solidFill>
            <a:srgbClr val="F4F8FB"/>
          </a:solidFill>
          <a:ln w="12700">
            <a:solidFill>
              <a:srgbClr val="E7EEF4"/>
            </a:solidFill>
            <a:prstDash val="solid"/>
          </a:ln>
        </p:spPr>
      </p:sp>
      <p:sp>
        <p:nvSpPr>
          <p:cNvPr id="10" name="Shape 8"/>
          <p:cNvSpPr/>
          <p:nvPr/>
        </p:nvSpPr>
        <p:spPr>
          <a:xfrm>
            <a:off x="9299448" y="2121408"/>
            <a:ext cx="219456" cy="219456"/>
          </a:xfrm>
          <a:prstGeom prst="ellipse">
            <a:avLst/>
          </a:prstGeom>
          <a:solidFill>
            <a:srgbClr val="06A9C8"/>
          </a:solidFill>
          <a:ln w="12700">
            <a:solidFill>
              <a:srgbClr val="06A9C8"/>
            </a:solidFill>
            <a:prstDash val="solid"/>
          </a:ln>
        </p:spPr>
      </p:sp>
      <p:sp>
        <p:nvSpPr>
          <p:cNvPr id="11" name="Text 9"/>
          <p:cNvSpPr/>
          <p:nvPr/>
        </p:nvSpPr>
        <p:spPr>
          <a:xfrm>
            <a:off x="9354312" y="213969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82912" y="209397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Security rule</a:t>
            </a:r>
            <a:endParaRPr lang="en-US" sz="1080" dirty="0"/>
          </a:p>
        </p:txBody>
      </p:sp>
      <p:sp>
        <p:nvSpPr>
          <p:cNvPr id="13" name="Text 11"/>
          <p:cNvSpPr/>
          <p:nvPr/>
        </p:nvSpPr>
        <p:spPr>
          <a:xfrm>
            <a:off x="9354312" y="2423160"/>
            <a:ext cx="1920240" cy="676656"/>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Do not treat agent access as ordinary application access; agent actions need explicit boundaries.</a:t>
            </a:r>
            <a:endParaRPr lang="en-US" sz="96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3 · Lecture 13</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Lab: Provision a Foundry Project and Deploy a Model</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This lab creates the working platform foundation for the rest of the course.</a:t>
            </a:r>
            <a:endParaRPr lang="en-US" sz="1500" dirty="0"/>
          </a:p>
        </p:txBody>
      </p:sp>
      <p:sp>
        <p:nvSpPr>
          <p:cNvPr id="8" name="Text 6"/>
          <p:cNvSpPr/>
          <p:nvPr/>
        </p:nvSpPr>
        <p:spPr>
          <a:xfrm>
            <a:off x="658368" y="1874520"/>
            <a:ext cx="8138160" cy="3291840"/>
          </a:xfrm>
          <a:prstGeom prst="rect">
            <a:avLst/>
          </a:prstGeom>
          <a:noFill/>
          <a:ln/>
        </p:spPr>
        <p:txBody>
          <a:bodyPr wrap="square" lIns="254" tIns="254" rIns="254" bIns="254" rtlCol="0" anchor="ctr">
            <a:normAutofit/>
          </a:bodyPr>
          <a:lstStyle/>
          <a:p>
            <a:pPr indent="0" marL="0">
              <a:buNone/>
            </a:pPr>
            <a:r>
              <a:rPr lang="en-US" sz="1800" dirty="0">
                <a:solidFill>
                  <a:srgbClr val="303846"/>
                </a:solidFill>
                <a:latin typeface="Aptos" pitchFamily="34" charset="0"/>
                <a:ea typeface="Aptos" pitchFamily="34" charset="-122"/>
                <a:cs typeface="Aptos" pitchFamily="34" charset="-120"/>
              </a:rPr>
              <a:t>▸ Create the Foundry resource and project.</a:t>
            </a:r>
            <a:endParaRPr lang="en-US" sz="1800" dirty="0"/>
          </a:p>
          <a:p>
            <a:pPr indent="0" marL="0">
              <a:buNone/>
            </a:pPr>
            <a:r>
              <a:rPr lang="en-US" sz="1800" dirty="0">
                <a:solidFill>
                  <a:srgbClr val="303846"/>
                </a:solidFill>
                <a:latin typeface="Aptos" pitchFamily="34" charset="0"/>
                <a:ea typeface="Aptos" pitchFamily="34" charset="-122"/>
                <a:cs typeface="Aptos" pitchFamily="34" charset="-120"/>
              </a:rPr>
              <a:t>▸ Select a regionally available enterprise model.</a:t>
            </a:r>
            <a:endParaRPr lang="en-US" sz="1800" dirty="0"/>
          </a:p>
          <a:p>
            <a:pPr indent="0" marL="0">
              <a:buNone/>
            </a:pPr>
            <a:r>
              <a:rPr lang="en-US" sz="1800" dirty="0">
                <a:solidFill>
                  <a:srgbClr val="303846"/>
                </a:solidFill>
                <a:latin typeface="Aptos" pitchFamily="34" charset="0"/>
                <a:ea typeface="Aptos" pitchFamily="34" charset="-122"/>
                <a:cs typeface="Aptos" pitchFamily="34" charset="-120"/>
              </a:rPr>
              <a:t>▸ Create the deployment and confirm it is usable.</a:t>
            </a:r>
            <a:endParaRPr lang="en-US" sz="1800" dirty="0"/>
          </a:p>
          <a:p>
            <a:pPr indent="0" marL="0">
              <a:buNone/>
            </a:pPr>
            <a:r>
              <a:rPr lang="en-US" sz="1800" dirty="0">
                <a:solidFill>
                  <a:srgbClr val="303846"/>
                </a:solidFill>
                <a:latin typeface="Aptos" pitchFamily="34" charset="0"/>
                <a:ea typeface="Aptos" pitchFamily="34" charset="-122"/>
                <a:cs typeface="Aptos" pitchFamily="34" charset="-120"/>
              </a:rPr>
              <a:t>▸ Verify identity, role, quota, and cost settings.</a:t>
            </a:r>
            <a:endParaRPr lang="en-US" sz="1800" dirty="0"/>
          </a:p>
          <a:p>
            <a:pPr indent="0" marL="0">
              <a:buNone/>
            </a:pPr>
            <a:r>
              <a:rPr lang="en-US" sz="1800" dirty="0">
                <a:solidFill>
                  <a:srgbClr val="303846"/>
                </a:solidFill>
                <a:latin typeface="Aptos" pitchFamily="34" charset="0"/>
                <a:ea typeface="Aptos" pitchFamily="34" charset="-122"/>
                <a:cs typeface="Aptos" pitchFamily="34" charset="-120"/>
              </a:rPr>
              <a:t>▸ Clean up resources when the workspace session ends.</a:t>
            </a:r>
            <a:endParaRPr lang="en-US" sz="1800" dirty="0"/>
          </a:p>
        </p:txBody>
      </p:sp>
      <p:sp>
        <p:nvSpPr>
          <p:cNvPr id="9" name="Shape 7"/>
          <p:cNvSpPr/>
          <p:nvPr/>
        </p:nvSpPr>
        <p:spPr>
          <a:xfrm>
            <a:off x="9098280" y="2148840"/>
            <a:ext cx="2331720" cy="1371600"/>
          </a:xfrm>
          <a:prstGeom prst="rect">
            <a:avLst/>
          </a:prstGeom>
          <a:solidFill>
            <a:srgbClr val="F4F8FB"/>
          </a:solidFill>
          <a:ln w="12700">
            <a:solidFill>
              <a:srgbClr val="E7EEF4"/>
            </a:solidFill>
            <a:prstDash val="solid"/>
          </a:ln>
        </p:spPr>
      </p:sp>
      <p:sp>
        <p:nvSpPr>
          <p:cNvPr id="10" name="Shape 8"/>
          <p:cNvSpPr/>
          <p:nvPr/>
        </p:nvSpPr>
        <p:spPr>
          <a:xfrm>
            <a:off x="9253728" y="2304288"/>
            <a:ext cx="219456" cy="219456"/>
          </a:xfrm>
          <a:prstGeom prst="ellipse">
            <a:avLst/>
          </a:prstGeom>
          <a:solidFill>
            <a:srgbClr val="06A9C8"/>
          </a:solidFill>
          <a:ln w="12700">
            <a:solidFill>
              <a:srgbClr val="06A9C8"/>
            </a:solidFill>
            <a:prstDash val="solid"/>
          </a:ln>
        </p:spPr>
      </p:sp>
      <p:sp>
        <p:nvSpPr>
          <p:cNvPr id="11" name="Text 9"/>
          <p:cNvSpPr/>
          <p:nvPr/>
        </p:nvSpPr>
        <p:spPr>
          <a:xfrm>
            <a:off x="9308592" y="232257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37192" y="227685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Lab outcome</a:t>
            </a:r>
            <a:endParaRPr lang="en-US" sz="1080" dirty="0"/>
          </a:p>
        </p:txBody>
      </p:sp>
      <p:sp>
        <p:nvSpPr>
          <p:cNvPr id="13" name="Text 11"/>
          <p:cNvSpPr/>
          <p:nvPr/>
        </p:nvSpPr>
        <p:spPr>
          <a:xfrm>
            <a:off x="9308592" y="2606040"/>
            <a:ext cx="1920240" cy="804672"/>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A working Foundry project with a model deployment tested in the playground.</a:t>
            </a:r>
            <a:endParaRPr lang="en-US" sz="96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3 · Lecture 13</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Lab Validation Checklist</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Use validation checkpoints instead of assuming the lab worked.</a:t>
            </a:r>
            <a:endParaRPr lang="en-US" sz="1500" dirty="0"/>
          </a:p>
        </p:txBody>
      </p:sp>
      <p:sp>
        <p:nvSpPr>
          <p:cNvPr id="8" name="Text 6"/>
          <p:cNvSpPr/>
          <p:nvPr/>
        </p:nvSpPr>
        <p:spPr>
          <a:xfrm>
            <a:off x="658368" y="1874520"/>
            <a:ext cx="8138160" cy="3291840"/>
          </a:xfrm>
          <a:prstGeom prst="rect">
            <a:avLst/>
          </a:prstGeom>
          <a:noFill/>
          <a:ln/>
        </p:spPr>
        <p:txBody>
          <a:bodyPr wrap="square" lIns="254" tIns="254" rIns="254" bIns="254" rtlCol="0" anchor="ctr">
            <a:normAutofit/>
          </a:bodyPr>
          <a:lstStyle/>
          <a:p>
            <a:pPr indent="0" marL="0">
              <a:buNone/>
            </a:pPr>
            <a:r>
              <a:rPr lang="en-US" sz="1800" dirty="0">
                <a:solidFill>
                  <a:srgbClr val="303846"/>
                </a:solidFill>
                <a:latin typeface="Aptos" pitchFamily="34" charset="0"/>
                <a:ea typeface="Aptos" pitchFamily="34" charset="-122"/>
                <a:cs typeface="Aptos" pitchFamily="34" charset="-120"/>
              </a:rPr>
              <a:t>▸ The project appears in the current Foundry portal.</a:t>
            </a:r>
            <a:endParaRPr lang="en-US" sz="1800" dirty="0"/>
          </a:p>
          <a:p>
            <a:pPr indent="0" marL="0">
              <a:buNone/>
            </a:pPr>
            <a:r>
              <a:rPr lang="en-US" sz="1800" dirty="0">
                <a:solidFill>
                  <a:srgbClr val="303846"/>
                </a:solidFill>
                <a:latin typeface="Aptos" pitchFamily="34" charset="0"/>
                <a:ea typeface="Aptos" pitchFamily="34" charset="-122"/>
                <a:cs typeface="Aptos" pitchFamily="34" charset="-120"/>
              </a:rPr>
              <a:t>▸ The model deployment is available and named clearly.</a:t>
            </a:r>
            <a:endParaRPr lang="en-US" sz="1800" dirty="0"/>
          </a:p>
          <a:p>
            <a:pPr indent="0" marL="0">
              <a:buNone/>
            </a:pPr>
            <a:r>
              <a:rPr lang="en-US" sz="1800" dirty="0">
                <a:solidFill>
                  <a:srgbClr val="303846"/>
                </a:solidFill>
                <a:latin typeface="Aptos" pitchFamily="34" charset="0"/>
                <a:ea typeface="Aptos" pitchFamily="34" charset="-122"/>
                <a:cs typeface="Aptos" pitchFamily="34" charset="-120"/>
              </a:rPr>
              <a:t>▸ A test prompt succeeds in the playground.</a:t>
            </a:r>
            <a:endParaRPr lang="en-US" sz="1800" dirty="0"/>
          </a:p>
          <a:p>
            <a:pPr indent="0" marL="0">
              <a:buNone/>
            </a:pPr>
            <a:r>
              <a:rPr lang="en-US" sz="1800" dirty="0">
                <a:solidFill>
                  <a:srgbClr val="303846"/>
                </a:solidFill>
                <a:latin typeface="Aptos" pitchFamily="34" charset="0"/>
                <a:ea typeface="Aptos" pitchFamily="34" charset="-122"/>
                <a:cs typeface="Aptos" pitchFamily="34" charset="-120"/>
              </a:rPr>
              <a:t>▸ Access is granted only to the expected identity or role.</a:t>
            </a:r>
            <a:endParaRPr lang="en-US" sz="1800" dirty="0"/>
          </a:p>
          <a:p>
            <a:pPr indent="0" marL="0">
              <a:buNone/>
            </a:pPr>
            <a:r>
              <a:rPr lang="en-US" sz="1800" dirty="0">
                <a:solidFill>
                  <a:srgbClr val="303846"/>
                </a:solidFill>
                <a:latin typeface="Aptos" pitchFamily="34" charset="0"/>
                <a:ea typeface="Aptos" pitchFamily="34" charset="-122"/>
                <a:cs typeface="Aptos" pitchFamily="34" charset="-120"/>
              </a:rPr>
              <a:t>▸ Quota and cost settings are visible before moving on.</a:t>
            </a:r>
            <a:endParaRPr lang="en-US" sz="1800" dirty="0"/>
          </a:p>
        </p:txBody>
      </p:sp>
      <p:sp>
        <p:nvSpPr>
          <p:cNvPr id="9" name="Shape 7"/>
          <p:cNvSpPr/>
          <p:nvPr/>
        </p:nvSpPr>
        <p:spPr>
          <a:xfrm>
            <a:off x="9098280" y="2148840"/>
            <a:ext cx="2331720" cy="1371600"/>
          </a:xfrm>
          <a:prstGeom prst="rect">
            <a:avLst/>
          </a:prstGeom>
          <a:solidFill>
            <a:srgbClr val="F4F8FB"/>
          </a:solidFill>
          <a:ln w="12700">
            <a:solidFill>
              <a:srgbClr val="E7EEF4"/>
            </a:solidFill>
            <a:prstDash val="solid"/>
          </a:ln>
        </p:spPr>
      </p:sp>
      <p:sp>
        <p:nvSpPr>
          <p:cNvPr id="10" name="Shape 8"/>
          <p:cNvSpPr/>
          <p:nvPr/>
        </p:nvSpPr>
        <p:spPr>
          <a:xfrm>
            <a:off x="9253728" y="2304288"/>
            <a:ext cx="219456" cy="219456"/>
          </a:xfrm>
          <a:prstGeom prst="ellipse">
            <a:avLst/>
          </a:prstGeom>
          <a:solidFill>
            <a:srgbClr val="06A9C8"/>
          </a:solidFill>
          <a:ln w="12700">
            <a:solidFill>
              <a:srgbClr val="06A9C8"/>
            </a:solidFill>
            <a:prstDash val="solid"/>
          </a:ln>
        </p:spPr>
      </p:sp>
      <p:sp>
        <p:nvSpPr>
          <p:cNvPr id="11" name="Text 9"/>
          <p:cNvSpPr/>
          <p:nvPr/>
        </p:nvSpPr>
        <p:spPr>
          <a:xfrm>
            <a:off x="9308592" y="232257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37192" y="227685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Lab outcome</a:t>
            </a:r>
            <a:endParaRPr lang="en-US" sz="1080" dirty="0"/>
          </a:p>
        </p:txBody>
      </p:sp>
      <p:sp>
        <p:nvSpPr>
          <p:cNvPr id="13" name="Text 11"/>
          <p:cNvSpPr/>
          <p:nvPr/>
        </p:nvSpPr>
        <p:spPr>
          <a:xfrm>
            <a:off x="9308592" y="2606040"/>
            <a:ext cx="1920240" cy="804672"/>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Capture the deployment name and project details for later labs.</a:t>
            </a:r>
            <a:endParaRPr lang="en-US" sz="96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3 Review</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Section 3 — Section Review</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Key takeaways and transition to the next section.</a:t>
            </a:r>
            <a:endParaRPr lang="en-US" sz="1500" dirty="0"/>
          </a:p>
        </p:txBody>
      </p:sp>
      <p:sp>
        <p:nvSpPr>
          <p:cNvPr id="8" name="Shape 6"/>
          <p:cNvSpPr/>
          <p:nvPr/>
        </p:nvSpPr>
        <p:spPr>
          <a:xfrm>
            <a:off x="658368" y="1938528"/>
            <a:ext cx="2423160" cy="1234440"/>
          </a:xfrm>
          <a:prstGeom prst="rect">
            <a:avLst/>
          </a:prstGeom>
          <a:solidFill>
            <a:srgbClr val="F4F8FB"/>
          </a:solidFill>
          <a:ln w="12700">
            <a:solidFill>
              <a:srgbClr val="E4EEF4"/>
            </a:solidFill>
            <a:prstDash val="solid"/>
          </a:ln>
        </p:spPr>
      </p:sp>
      <p:sp>
        <p:nvSpPr>
          <p:cNvPr id="9" name="Text 7"/>
          <p:cNvSpPr/>
          <p:nvPr/>
        </p:nvSpPr>
        <p:spPr>
          <a:xfrm>
            <a:off x="822960" y="2075688"/>
            <a:ext cx="2093976" cy="182880"/>
          </a:xfrm>
          <a:prstGeom prst="rect">
            <a:avLst/>
          </a:prstGeom>
          <a:noFill/>
          <a:ln/>
        </p:spPr>
        <p:txBody>
          <a:bodyPr wrap="square" lIns="0" tIns="0" rIns="0" bIns="0" rtlCol="0" anchor="ctr"/>
          <a:lstStyle/>
          <a:p>
            <a:pPr indent="0" marL="0">
              <a:buNone/>
            </a:pPr>
            <a:r>
              <a:rPr lang="en-US" sz="1050" b="1" dirty="0">
                <a:solidFill>
                  <a:srgbClr val="06A9C8"/>
                </a:solidFill>
                <a:latin typeface="Aptos" pitchFamily="34" charset="0"/>
                <a:ea typeface="Aptos" pitchFamily="34" charset="-122"/>
                <a:cs typeface="Aptos" pitchFamily="34" charset="-120"/>
              </a:rPr>
              <a:t>Takeaway 1</a:t>
            </a:r>
            <a:endParaRPr lang="en-US" sz="1050" dirty="0"/>
          </a:p>
        </p:txBody>
      </p:sp>
      <p:sp>
        <p:nvSpPr>
          <p:cNvPr id="10" name="Text 8"/>
          <p:cNvSpPr/>
          <p:nvPr/>
        </p:nvSpPr>
        <p:spPr>
          <a:xfrm>
            <a:off x="822960" y="2368296"/>
            <a:ext cx="2093976" cy="621792"/>
          </a:xfrm>
          <a:prstGeom prst="rect">
            <a:avLst/>
          </a:prstGeom>
          <a:noFill/>
          <a:ln/>
        </p:spPr>
        <p:txBody>
          <a:bodyPr wrap="square" lIns="254" tIns="254" rIns="254" bIns="254" rtlCol="0" anchor="ctr">
            <a:normAutofit/>
          </a:bodyPr>
          <a:lstStyle/>
          <a:p>
            <a:pPr indent="0" marL="0">
              <a:buNone/>
            </a:pPr>
            <a:r>
              <a:rPr lang="en-US" sz="1150" dirty="0">
                <a:solidFill>
                  <a:srgbClr val="303846"/>
                </a:solidFill>
                <a:latin typeface="Aptos" pitchFamily="34" charset="0"/>
                <a:ea typeface="Aptos" pitchFamily="34" charset="-122"/>
                <a:cs typeface="Aptos" pitchFamily="34" charset="-120"/>
              </a:rPr>
              <a:t>Foundry resources and projects define enterprise boundaries.</a:t>
            </a:r>
            <a:endParaRPr lang="en-US" sz="1150" dirty="0"/>
          </a:p>
        </p:txBody>
      </p:sp>
      <p:sp>
        <p:nvSpPr>
          <p:cNvPr id="11" name="Shape 9"/>
          <p:cNvSpPr/>
          <p:nvPr/>
        </p:nvSpPr>
        <p:spPr>
          <a:xfrm>
            <a:off x="3310128" y="1938528"/>
            <a:ext cx="2423160" cy="1234440"/>
          </a:xfrm>
          <a:prstGeom prst="rect">
            <a:avLst/>
          </a:prstGeom>
          <a:solidFill>
            <a:srgbClr val="EDF6FA"/>
          </a:solidFill>
          <a:ln w="12700">
            <a:solidFill>
              <a:srgbClr val="E4EEF4"/>
            </a:solidFill>
            <a:prstDash val="solid"/>
          </a:ln>
        </p:spPr>
      </p:sp>
      <p:sp>
        <p:nvSpPr>
          <p:cNvPr id="12" name="Text 10"/>
          <p:cNvSpPr/>
          <p:nvPr/>
        </p:nvSpPr>
        <p:spPr>
          <a:xfrm>
            <a:off x="3474720" y="2075688"/>
            <a:ext cx="2093976" cy="182880"/>
          </a:xfrm>
          <a:prstGeom prst="rect">
            <a:avLst/>
          </a:prstGeom>
          <a:noFill/>
          <a:ln/>
        </p:spPr>
        <p:txBody>
          <a:bodyPr wrap="square" lIns="0" tIns="0" rIns="0" bIns="0" rtlCol="0" anchor="ctr"/>
          <a:lstStyle/>
          <a:p>
            <a:pPr indent="0" marL="0">
              <a:buNone/>
            </a:pPr>
            <a:r>
              <a:rPr lang="en-US" sz="1050" b="1" dirty="0">
                <a:solidFill>
                  <a:srgbClr val="06A9C8"/>
                </a:solidFill>
                <a:latin typeface="Aptos" pitchFamily="34" charset="0"/>
                <a:ea typeface="Aptos" pitchFamily="34" charset="-122"/>
                <a:cs typeface="Aptos" pitchFamily="34" charset="-120"/>
              </a:rPr>
              <a:t>Takeaway 2</a:t>
            </a:r>
            <a:endParaRPr lang="en-US" sz="1050" dirty="0"/>
          </a:p>
        </p:txBody>
      </p:sp>
      <p:sp>
        <p:nvSpPr>
          <p:cNvPr id="13" name="Text 11"/>
          <p:cNvSpPr/>
          <p:nvPr/>
        </p:nvSpPr>
        <p:spPr>
          <a:xfrm>
            <a:off x="3474720" y="2368296"/>
            <a:ext cx="2093976" cy="621792"/>
          </a:xfrm>
          <a:prstGeom prst="rect">
            <a:avLst/>
          </a:prstGeom>
          <a:noFill/>
          <a:ln/>
        </p:spPr>
        <p:txBody>
          <a:bodyPr wrap="square" lIns="254" tIns="254" rIns="254" bIns="254" rtlCol="0" anchor="ctr">
            <a:normAutofit/>
          </a:bodyPr>
          <a:lstStyle/>
          <a:p>
            <a:pPr indent="0" marL="0">
              <a:buNone/>
            </a:pPr>
            <a:r>
              <a:rPr lang="en-US" sz="1150" dirty="0">
                <a:solidFill>
                  <a:srgbClr val="303846"/>
                </a:solidFill>
                <a:latin typeface="Aptos" pitchFamily="34" charset="0"/>
                <a:ea typeface="Aptos" pitchFamily="34" charset="-122"/>
                <a:cs typeface="Aptos" pitchFamily="34" charset="-120"/>
              </a:rPr>
              <a:t>Model selection must consider capability, region, quota, security, and lifecycle.</a:t>
            </a:r>
            <a:endParaRPr lang="en-US" sz="1150" dirty="0"/>
          </a:p>
        </p:txBody>
      </p:sp>
      <p:sp>
        <p:nvSpPr>
          <p:cNvPr id="14" name="Shape 12"/>
          <p:cNvSpPr/>
          <p:nvPr/>
        </p:nvSpPr>
        <p:spPr>
          <a:xfrm>
            <a:off x="5961888" y="1938528"/>
            <a:ext cx="2423160" cy="1234440"/>
          </a:xfrm>
          <a:prstGeom prst="rect">
            <a:avLst/>
          </a:prstGeom>
          <a:solidFill>
            <a:srgbClr val="F4F8FB"/>
          </a:solidFill>
          <a:ln w="12700">
            <a:solidFill>
              <a:srgbClr val="E4EEF4"/>
            </a:solidFill>
            <a:prstDash val="solid"/>
          </a:ln>
        </p:spPr>
      </p:sp>
      <p:sp>
        <p:nvSpPr>
          <p:cNvPr id="15" name="Text 13"/>
          <p:cNvSpPr/>
          <p:nvPr/>
        </p:nvSpPr>
        <p:spPr>
          <a:xfrm>
            <a:off x="6126480" y="2075688"/>
            <a:ext cx="2093976" cy="182880"/>
          </a:xfrm>
          <a:prstGeom prst="rect">
            <a:avLst/>
          </a:prstGeom>
          <a:noFill/>
          <a:ln/>
        </p:spPr>
        <p:txBody>
          <a:bodyPr wrap="square" lIns="0" tIns="0" rIns="0" bIns="0" rtlCol="0" anchor="ctr"/>
          <a:lstStyle/>
          <a:p>
            <a:pPr indent="0" marL="0">
              <a:buNone/>
            </a:pPr>
            <a:r>
              <a:rPr lang="en-US" sz="1050" b="1" dirty="0">
                <a:solidFill>
                  <a:srgbClr val="06A9C8"/>
                </a:solidFill>
                <a:latin typeface="Aptos" pitchFamily="34" charset="0"/>
                <a:ea typeface="Aptos" pitchFamily="34" charset="-122"/>
                <a:cs typeface="Aptos" pitchFamily="34" charset="-120"/>
              </a:rPr>
              <a:t>Takeaway 3</a:t>
            </a:r>
            <a:endParaRPr lang="en-US" sz="1050" dirty="0"/>
          </a:p>
        </p:txBody>
      </p:sp>
      <p:sp>
        <p:nvSpPr>
          <p:cNvPr id="16" name="Text 14"/>
          <p:cNvSpPr/>
          <p:nvPr/>
        </p:nvSpPr>
        <p:spPr>
          <a:xfrm>
            <a:off x="6126480" y="2368296"/>
            <a:ext cx="2093976" cy="621792"/>
          </a:xfrm>
          <a:prstGeom prst="rect">
            <a:avLst/>
          </a:prstGeom>
          <a:noFill/>
          <a:ln/>
        </p:spPr>
        <p:txBody>
          <a:bodyPr wrap="square" lIns="254" tIns="254" rIns="254" bIns="254" rtlCol="0" anchor="ctr">
            <a:normAutofit/>
          </a:bodyPr>
          <a:lstStyle/>
          <a:p>
            <a:pPr indent="0" marL="0">
              <a:buNone/>
            </a:pPr>
            <a:r>
              <a:rPr lang="en-US" sz="1150" dirty="0">
                <a:solidFill>
                  <a:srgbClr val="303846"/>
                </a:solidFill>
                <a:latin typeface="Aptos" pitchFamily="34" charset="0"/>
                <a:ea typeface="Aptos" pitchFamily="34" charset="-122"/>
                <a:cs typeface="Aptos" pitchFamily="34" charset="-120"/>
              </a:rPr>
              <a:t>Deployments create operational dependencies that need monitoring and cost controls.</a:t>
            </a:r>
            <a:endParaRPr lang="en-US" sz="1150" dirty="0"/>
          </a:p>
        </p:txBody>
      </p:sp>
      <p:sp>
        <p:nvSpPr>
          <p:cNvPr id="17" name="Shape 15"/>
          <p:cNvSpPr/>
          <p:nvPr/>
        </p:nvSpPr>
        <p:spPr>
          <a:xfrm>
            <a:off x="8613648" y="1938528"/>
            <a:ext cx="2423160" cy="1234440"/>
          </a:xfrm>
          <a:prstGeom prst="rect">
            <a:avLst/>
          </a:prstGeom>
          <a:solidFill>
            <a:srgbClr val="EDF6FA"/>
          </a:solidFill>
          <a:ln w="12700">
            <a:solidFill>
              <a:srgbClr val="E4EEF4"/>
            </a:solidFill>
            <a:prstDash val="solid"/>
          </a:ln>
        </p:spPr>
      </p:sp>
      <p:sp>
        <p:nvSpPr>
          <p:cNvPr id="18" name="Text 16"/>
          <p:cNvSpPr/>
          <p:nvPr/>
        </p:nvSpPr>
        <p:spPr>
          <a:xfrm>
            <a:off x="8778240" y="2075688"/>
            <a:ext cx="2093976" cy="182880"/>
          </a:xfrm>
          <a:prstGeom prst="rect">
            <a:avLst/>
          </a:prstGeom>
          <a:noFill/>
          <a:ln/>
        </p:spPr>
        <p:txBody>
          <a:bodyPr wrap="square" lIns="0" tIns="0" rIns="0" bIns="0" rtlCol="0" anchor="ctr"/>
          <a:lstStyle/>
          <a:p>
            <a:pPr indent="0" marL="0">
              <a:buNone/>
            </a:pPr>
            <a:r>
              <a:rPr lang="en-US" sz="1050" b="1" dirty="0">
                <a:solidFill>
                  <a:srgbClr val="06A9C8"/>
                </a:solidFill>
                <a:latin typeface="Aptos" pitchFamily="34" charset="0"/>
                <a:ea typeface="Aptos" pitchFamily="34" charset="-122"/>
                <a:cs typeface="Aptos" pitchFamily="34" charset="-120"/>
              </a:rPr>
              <a:t>Takeaway 4</a:t>
            </a:r>
            <a:endParaRPr lang="en-US" sz="1050" dirty="0"/>
          </a:p>
        </p:txBody>
      </p:sp>
      <p:sp>
        <p:nvSpPr>
          <p:cNvPr id="19" name="Text 17"/>
          <p:cNvSpPr/>
          <p:nvPr/>
        </p:nvSpPr>
        <p:spPr>
          <a:xfrm>
            <a:off x="8778240" y="2368296"/>
            <a:ext cx="2093976" cy="621792"/>
          </a:xfrm>
          <a:prstGeom prst="rect">
            <a:avLst/>
          </a:prstGeom>
          <a:noFill/>
          <a:ln/>
        </p:spPr>
        <p:txBody>
          <a:bodyPr wrap="square" lIns="254" tIns="254" rIns="254" bIns="254" rtlCol="0" anchor="ctr">
            <a:normAutofit/>
          </a:bodyPr>
          <a:lstStyle/>
          <a:p>
            <a:pPr indent="0" marL="0">
              <a:buNone/>
            </a:pPr>
            <a:r>
              <a:rPr lang="en-US" sz="1150" dirty="0">
                <a:solidFill>
                  <a:srgbClr val="303846"/>
                </a:solidFill>
                <a:latin typeface="Aptos" pitchFamily="34" charset="0"/>
                <a:ea typeface="Aptos" pitchFamily="34" charset="-122"/>
                <a:cs typeface="Aptos" pitchFamily="34" charset="-120"/>
              </a:rPr>
              <a:t>Identity and RBAC must be in place before agents reach data or tools.</a:t>
            </a:r>
            <a:endParaRPr lang="en-US" sz="1150" dirty="0"/>
          </a:p>
        </p:txBody>
      </p:sp>
      <p:sp>
        <p:nvSpPr>
          <p:cNvPr id="20" name="Shape 18"/>
          <p:cNvSpPr/>
          <p:nvPr/>
        </p:nvSpPr>
        <p:spPr>
          <a:xfrm>
            <a:off x="9966960" y="4206240"/>
            <a:ext cx="1280160" cy="530352"/>
          </a:xfrm>
          <a:prstGeom prst="chevron">
            <a:avLst/>
          </a:prstGeom>
          <a:solidFill>
            <a:srgbClr val="06A9C8"/>
          </a:solidFill>
          <a:ln w="12700">
            <a:solidFill>
              <a:srgbClr val="06A9C8"/>
            </a:solidFill>
            <a:prstDash val="solid"/>
          </a:ln>
        </p:spPr>
      </p:sp>
      <p:sp>
        <p:nvSpPr>
          <p:cNvPr id="21" name="Text 19"/>
          <p:cNvSpPr/>
          <p:nvPr/>
        </p:nvSpPr>
        <p:spPr>
          <a:xfrm>
            <a:off x="10040112" y="4370832"/>
            <a:ext cx="1024128" cy="201168"/>
          </a:xfrm>
          <a:prstGeom prst="rect">
            <a:avLst/>
          </a:prstGeom>
          <a:noFill/>
          <a:ln/>
        </p:spPr>
        <p:txBody>
          <a:bodyPr wrap="square" lIns="0" tIns="0" rIns="0" bIns="0" rtlCol="0" anchor="ctr">
            <a:normAutofit/>
          </a:bodyPr>
          <a:lstStyle/>
          <a:p>
            <a:pPr algn="ctr" indent="0" marL="0">
              <a:buNone/>
            </a:pPr>
            <a:r>
              <a:rPr lang="en-US" sz="950" b="1" dirty="0">
                <a:solidFill>
                  <a:srgbClr val="FFFFFF"/>
                </a:solidFill>
                <a:latin typeface="Aptos" pitchFamily="34" charset="0"/>
                <a:ea typeface="Aptos" pitchFamily="34" charset="-122"/>
                <a:cs typeface="Aptos" pitchFamily="34" charset="-120"/>
              </a:rPr>
              <a:t>Next: Foundry Agent Service.</a:t>
            </a:r>
            <a:endParaRPr lang="en-US" sz="9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658368" y="1024128"/>
            <a:ext cx="2194560" cy="329184"/>
          </a:xfrm>
          <a:prstGeom prst="rect">
            <a:avLst/>
          </a:prstGeom>
          <a:noFill/>
          <a:ln/>
        </p:spPr>
        <p:txBody>
          <a:bodyPr wrap="square" lIns="0" tIns="0" rIns="0" bIns="0" rtlCol="0" anchor="ctr"/>
          <a:lstStyle/>
          <a:p>
            <a:pPr indent="0" marL="0">
              <a:buNone/>
            </a:pPr>
            <a:r>
              <a:rPr lang="en-US" sz="1600" dirty="0">
                <a:solidFill>
                  <a:srgbClr val="06A9C8"/>
                </a:solidFill>
                <a:latin typeface="Aptos" pitchFamily="34" charset="0"/>
                <a:ea typeface="Aptos" pitchFamily="34" charset="-122"/>
                <a:cs typeface="Aptos" pitchFamily="34" charset="-120"/>
              </a:rPr>
              <a:t>Section 4</a:t>
            </a:r>
            <a:endParaRPr lang="en-US" sz="1600" dirty="0"/>
          </a:p>
        </p:txBody>
      </p:sp>
      <p:sp>
        <p:nvSpPr>
          <p:cNvPr id="6" name="Text 4"/>
          <p:cNvSpPr/>
          <p:nvPr/>
        </p:nvSpPr>
        <p:spPr>
          <a:xfrm>
            <a:off x="658368" y="1554480"/>
            <a:ext cx="7040880" cy="841248"/>
          </a:xfrm>
          <a:prstGeom prst="rect">
            <a:avLst/>
          </a:prstGeom>
          <a:noFill/>
          <a:ln/>
        </p:spPr>
        <p:txBody>
          <a:bodyPr wrap="square" lIns="0" tIns="0" rIns="0" bIns="0" rtlCol="0" anchor="ctr">
            <a:normAutofit/>
          </a:bodyPr>
          <a:lstStyle/>
          <a:p>
            <a:pPr indent="0" marL="0">
              <a:buNone/>
            </a:pPr>
            <a:r>
              <a:rPr lang="en-US" sz="3100" dirty="0">
                <a:solidFill>
                  <a:srgbClr val="172033"/>
                </a:solidFill>
                <a:latin typeface="Aptos Display" pitchFamily="34" charset="0"/>
                <a:ea typeface="Aptos Display" pitchFamily="34" charset="-122"/>
                <a:cs typeface="Aptos Display" pitchFamily="34" charset="-120"/>
              </a:rPr>
              <a:t>Build Enterprise Agents with Foundry Agent Service</a:t>
            </a:r>
            <a:endParaRPr lang="en-US" sz="3100" dirty="0"/>
          </a:p>
        </p:txBody>
      </p:sp>
      <p:sp>
        <p:nvSpPr>
          <p:cNvPr id="7" name="Text 5"/>
          <p:cNvSpPr/>
          <p:nvPr/>
        </p:nvSpPr>
        <p:spPr>
          <a:xfrm>
            <a:off x="658368" y="2578608"/>
            <a:ext cx="7132320" cy="640080"/>
          </a:xfrm>
          <a:prstGeom prst="rect">
            <a:avLst/>
          </a:prstGeom>
          <a:noFill/>
          <a:ln/>
        </p:spPr>
        <p:txBody>
          <a:bodyPr wrap="square" lIns="0" tIns="0" rIns="0" bIns="0" rtlCol="0" anchor="ctr">
            <a:normAutofit/>
          </a:bodyPr>
          <a:lstStyle/>
          <a:p>
            <a:pPr indent="0" marL="0">
              <a:buNone/>
            </a:pPr>
            <a:r>
              <a:rPr lang="en-US" sz="1550" dirty="0">
                <a:solidFill>
                  <a:srgbClr val="6B7280"/>
                </a:solidFill>
                <a:latin typeface="Aptos" pitchFamily="34" charset="0"/>
                <a:ea typeface="Aptos" pitchFamily="34" charset="-122"/>
                <a:cs typeface="Aptos" pitchFamily="34" charset="-120"/>
              </a:rPr>
              <a:t>Turn model deployments into governed agents with instructions, versions, publishing, identity, and approval boundaries.</a:t>
            </a:r>
            <a:endParaRPr lang="en-US" sz="1550" dirty="0"/>
          </a:p>
        </p:txBody>
      </p:sp>
      <p:pic>
        <p:nvPicPr>
          <p:cNvPr id="8" name="Image 0" descr="/mnt/data/ref_pptx/ppt/media/image1.png">    </p:cNvPr>
          <p:cNvPicPr>
            <a:picLocks noChangeAspect="1"/>
          </p:cNvPicPr>
          <p:nvPr/>
        </p:nvPicPr>
        <p:blipFill>
          <a:blip r:embed="rId1"/>
          <a:stretch>
            <a:fillRect/>
          </a:stretch>
        </p:blipFill>
        <p:spPr>
          <a:xfrm>
            <a:off x="8092440" y="1097280"/>
            <a:ext cx="2468880" cy="246888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4</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Section Overview</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Build Enterprise Agents with Foundry Agent Service</a:t>
            </a:r>
            <a:endParaRPr lang="en-US" sz="1500" dirty="0"/>
          </a:p>
        </p:txBody>
      </p:sp>
      <p:sp>
        <p:nvSpPr>
          <p:cNvPr id="8" name="Text 6"/>
          <p:cNvSpPr/>
          <p:nvPr/>
        </p:nvSpPr>
        <p:spPr>
          <a:xfrm>
            <a:off x="658368" y="1965960"/>
            <a:ext cx="8001000" cy="3429000"/>
          </a:xfrm>
          <a:prstGeom prst="rect">
            <a:avLst/>
          </a:prstGeom>
          <a:noFill/>
          <a:ln/>
        </p:spPr>
        <p:txBody>
          <a:bodyPr wrap="square" lIns="254" tIns="254" rIns="254" bIns="254" rtlCol="0" anchor="ctr">
            <a:normAutofit/>
          </a:bodyPr>
          <a:lstStyle/>
          <a:p>
            <a:pPr indent="0" marL="0">
              <a:buNone/>
            </a:pPr>
            <a:r>
              <a:rPr lang="en-US" sz="1850" dirty="0">
                <a:solidFill>
                  <a:srgbClr val="303846"/>
                </a:solidFill>
                <a:latin typeface="Aptos" pitchFamily="34" charset="0"/>
                <a:ea typeface="Aptos" pitchFamily="34" charset="-122"/>
                <a:cs typeface="Aptos" pitchFamily="34" charset="-120"/>
              </a:rPr>
              <a:t>▸ Compare prompt agents and hosted agents.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Manage instructions, versions, conversations, and publishing.</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Design reliable boundaries for agent behavior.</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Secure identity, tool access, approvals, and auditability.</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Create and publish a governed prompt agent in the lab.</a:t>
            </a:r>
            <a:endParaRPr lang="en-US" sz="1850" dirty="0"/>
          </a:p>
        </p:txBody>
      </p:sp>
      <p:sp>
        <p:nvSpPr>
          <p:cNvPr id="9" name="Shape 7"/>
          <p:cNvSpPr/>
          <p:nvPr/>
        </p:nvSpPr>
        <p:spPr>
          <a:xfrm>
            <a:off x="9144000" y="1965960"/>
            <a:ext cx="2331720" cy="1243584"/>
          </a:xfrm>
          <a:prstGeom prst="rect">
            <a:avLst/>
          </a:prstGeom>
          <a:solidFill>
            <a:srgbClr val="F4F8FB"/>
          </a:solidFill>
          <a:ln w="12700">
            <a:solidFill>
              <a:srgbClr val="E7EEF4"/>
            </a:solidFill>
            <a:prstDash val="solid"/>
          </a:ln>
        </p:spPr>
      </p:sp>
      <p:sp>
        <p:nvSpPr>
          <p:cNvPr id="10" name="Shape 8"/>
          <p:cNvSpPr/>
          <p:nvPr/>
        </p:nvSpPr>
        <p:spPr>
          <a:xfrm>
            <a:off x="9299448" y="2121408"/>
            <a:ext cx="219456" cy="219456"/>
          </a:xfrm>
          <a:prstGeom prst="ellipse">
            <a:avLst/>
          </a:prstGeom>
          <a:solidFill>
            <a:srgbClr val="06A9C8"/>
          </a:solidFill>
          <a:ln w="12700">
            <a:solidFill>
              <a:srgbClr val="06A9C8"/>
            </a:solidFill>
            <a:prstDash val="solid"/>
          </a:ln>
        </p:spPr>
      </p:sp>
      <p:sp>
        <p:nvSpPr>
          <p:cNvPr id="11" name="Text 9"/>
          <p:cNvSpPr/>
          <p:nvPr/>
        </p:nvSpPr>
        <p:spPr>
          <a:xfrm>
            <a:off x="9354312" y="213969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82912" y="209397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Section outcome</a:t>
            </a:r>
            <a:endParaRPr lang="en-US" sz="1080" dirty="0"/>
          </a:p>
        </p:txBody>
      </p:sp>
      <p:sp>
        <p:nvSpPr>
          <p:cNvPr id="13" name="Text 11"/>
          <p:cNvSpPr/>
          <p:nvPr/>
        </p:nvSpPr>
        <p:spPr>
          <a:xfrm>
            <a:off x="9354312" y="2423160"/>
            <a:ext cx="1920240" cy="676656"/>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configure a managed agent and explain how it should be governed.</a:t>
            </a:r>
            <a:endParaRPr lang="en-US" sz="96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4 · Lecture 16</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Foundry Agent Service: Prompt Agents and Hosted Agents</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Choose the agent style that matches the operating responsibility your team can own.</a:t>
            </a:r>
            <a:endParaRPr lang="en-US" sz="1500" dirty="0"/>
          </a:p>
        </p:txBody>
      </p:sp>
      <p:sp>
        <p:nvSpPr>
          <p:cNvPr id="8" name="Shape 6"/>
          <p:cNvSpPr/>
          <p:nvPr/>
        </p:nvSpPr>
        <p:spPr>
          <a:xfrm>
            <a:off x="658368" y="1874520"/>
            <a:ext cx="3886200" cy="3291840"/>
          </a:xfrm>
          <a:prstGeom prst="rect">
            <a:avLst/>
          </a:prstGeom>
          <a:solidFill>
            <a:srgbClr val="F4F8FB"/>
          </a:solidFill>
          <a:ln w="12700">
            <a:solidFill>
              <a:srgbClr val="DFEAF0"/>
            </a:solidFill>
            <a:prstDash val="solid"/>
          </a:ln>
        </p:spPr>
      </p:sp>
      <p:sp>
        <p:nvSpPr>
          <p:cNvPr id="9" name="Text 7"/>
          <p:cNvSpPr/>
          <p:nvPr/>
        </p:nvSpPr>
        <p:spPr>
          <a:xfrm>
            <a:off x="886968" y="2075688"/>
            <a:ext cx="3429000" cy="320040"/>
          </a:xfrm>
          <a:prstGeom prst="rect">
            <a:avLst/>
          </a:prstGeom>
          <a:noFill/>
          <a:ln/>
        </p:spPr>
        <p:txBody>
          <a:bodyPr wrap="square" lIns="0" tIns="0" rIns="0" bIns="0" rtlCol="0" anchor="ctr"/>
          <a:lstStyle/>
          <a:p>
            <a:pPr indent="0" marL="0">
              <a:buNone/>
            </a:pPr>
            <a:r>
              <a:rPr lang="en-US" sz="1600" b="1" dirty="0">
                <a:solidFill>
                  <a:srgbClr val="172033"/>
                </a:solidFill>
                <a:latin typeface="Aptos" pitchFamily="34" charset="0"/>
                <a:ea typeface="Aptos" pitchFamily="34" charset="-122"/>
                <a:cs typeface="Aptos" pitchFamily="34" charset="-120"/>
              </a:rPr>
              <a:t>Prompt agents</a:t>
            </a:r>
            <a:endParaRPr lang="en-US" sz="1600" dirty="0"/>
          </a:p>
        </p:txBody>
      </p:sp>
      <p:sp>
        <p:nvSpPr>
          <p:cNvPr id="10" name="Text 8"/>
          <p:cNvSpPr/>
          <p:nvPr/>
        </p:nvSpPr>
        <p:spPr>
          <a:xfrm>
            <a:off x="886968" y="2532888"/>
            <a:ext cx="3429000" cy="2377440"/>
          </a:xfrm>
          <a:prstGeom prst="rect">
            <a:avLst/>
          </a:prstGeom>
          <a:noFill/>
          <a:ln/>
        </p:spPr>
        <p:txBody>
          <a:bodyPr wrap="square" lIns="0" tIns="0" rIns="0" bIns="0" rtlCol="0" anchor="ctr">
            <a:normAutofit/>
          </a:bodyPr>
          <a:lstStyle/>
          <a:p>
            <a:pPr indent="0" marL="0">
              <a:buNone/>
            </a:pPr>
            <a:r>
              <a:rPr lang="en-US" sz="1280" dirty="0">
                <a:solidFill>
                  <a:srgbClr val="303846"/>
                </a:solidFill>
                <a:latin typeface="Aptos" pitchFamily="34" charset="0"/>
                <a:ea typeface="Aptos" pitchFamily="34" charset="-122"/>
                <a:cs typeface="Aptos" pitchFamily="34" charset="-120"/>
              </a:rPr>
              <a:t>▸ Configured through Foundry</a:t>
            </a:r>
            <a:endParaRPr lang="en-US" sz="1280" dirty="0"/>
          </a:p>
          <a:p>
            <a:pPr indent="0" marL="0">
              <a:buNone/>
            </a:pPr>
            <a:r>
              <a:rPr lang="en-US" sz="1280" dirty="0">
                <a:solidFill>
                  <a:srgbClr val="303846"/>
                </a:solidFill>
                <a:latin typeface="Aptos" pitchFamily="34" charset="0"/>
                <a:ea typeface="Aptos" pitchFamily="34" charset="-122"/>
                <a:cs typeface="Aptos" pitchFamily="34" charset="-120"/>
              </a:rPr>
              <a:t>▸ Best for managed platform patterns</a:t>
            </a:r>
            <a:endParaRPr lang="en-US" sz="1280" dirty="0"/>
          </a:p>
          <a:p>
            <a:pPr indent="0" marL="0">
              <a:buNone/>
            </a:pPr>
            <a:r>
              <a:rPr lang="en-US" sz="1280" dirty="0">
                <a:solidFill>
                  <a:srgbClr val="303846"/>
                </a:solidFill>
                <a:latin typeface="Aptos" pitchFamily="34" charset="0"/>
                <a:ea typeface="Aptos" pitchFamily="34" charset="-122"/>
                <a:cs typeface="Aptos" pitchFamily="34" charset="-120"/>
              </a:rPr>
              <a:t>▸ Useful for portal-led labs</a:t>
            </a:r>
            <a:endParaRPr lang="en-US" sz="1280" dirty="0"/>
          </a:p>
          <a:p>
            <a:pPr indent="0" marL="0">
              <a:buNone/>
            </a:pPr>
            <a:r>
              <a:rPr lang="en-US" sz="1280" dirty="0">
                <a:solidFill>
                  <a:srgbClr val="303846"/>
                </a:solidFill>
                <a:latin typeface="Aptos" pitchFamily="34" charset="0"/>
                <a:ea typeface="Aptos" pitchFamily="34" charset="-122"/>
                <a:cs typeface="Aptos" pitchFamily="34" charset="-120"/>
              </a:rPr>
              <a:t>▸ Lower operational burden</a:t>
            </a:r>
            <a:endParaRPr lang="en-US" sz="1280" dirty="0"/>
          </a:p>
        </p:txBody>
      </p:sp>
      <p:sp>
        <p:nvSpPr>
          <p:cNvPr id="11" name="Shape 9"/>
          <p:cNvSpPr/>
          <p:nvPr/>
        </p:nvSpPr>
        <p:spPr>
          <a:xfrm>
            <a:off x="4800600" y="1874520"/>
            <a:ext cx="3886200" cy="3291840"/>
          </a:xfrm>
          <a:prstGeom prst="rect">
            <a:avLst/>
          </a:prstGeom>
          <a:solidFill>
            <a:srgbClr val="EDF6FA"/>
          </a:solidFill>
          <a:ln w="12700">
            <a:solidFill>
              <a:srgbClr val="DFEAF0"/>
            </a:solidFill>
            <a:prstDash val="solid"/>
          </a:ln>
        </p:spPr>
      </p:sp>
      <p:sp>
        <p:nvSpPr>
          <p:cNvPr id="12" name="Text 10"/>
          <p:cNvSpPr/>
          <p:nvPr/>
        </p:nvSpPr>
        <p:spPr>
          <a:xfrm>
            <a:off x="5029200" y="2075688"/>
            <a:ext cx="3429000" cy="320040"/>
          </a:xfrm>
          <a:prstGeom prst="rect">
            <a:avLst/>
          </a:prstGeom>
          <a:noFill/>
          <a:ln/>
        </p:spPr>
        <p:txBody>
          <a:bodyPr wrap="square" lIns="0" tIns="0" rIns="0" bIns="0" rtlCol="0" anchor="ctr"/>
          <a:lstStyle/>
          <a:p>
            <a:pPr indent="0" marL="0">
              <a:buNone/>
            </a:pPr>
            <a:r>
              <a:rPr lang="en-US" sz="1600" b="1" dirty="0">
                <a:solidFill>
                  <a:srgbClr val="172033"/>
                </a:solidFill>
                <a:latin typeface="Aptos" pitchFamily="34" charset="0"/>
                <a:ea typeface="Aptos" pitchFamily="34" charset="-122"/>
                <a:cs typeface="Aptos" pitchFamily="34" charset="-120"/>
              </a:rPr>
              <a:t>Hosted agents</a:t>
            </a:r>
            <a:endParaRPr lang="en-US" sz="1600" dirty="0"/>
          </a:p>
        </p:txBody>
      </p:sp>
      <p:sp>
        <p:nvSpPr>
          <p:cNvPr id="13" name="Text 11"/>
          <p:cNvSpPr/>
          <p:nvPr/>
        </p:nvSpPr>
        <p:spPr>
          <a:xfrm>
            <a:off x="5029200" y="2532888"/>
            <a:ext cx="3429000" cy="2377440"/>
          </a:xfrm>
          <a:prstGeom prst="rect">
            <a:avLst/>
          </a:prstGeom>
          <a:noFill/>
          <a:ln/>
        </p:spPr>
        <p:txBody>
          <a:bodyPr wrap="square" lIns="0" tIns="0" rIns="0" bIns="0" rtlCol="0" anchor="ctr">
            <a:normAutofit/>
          </a:bodyPr>
          <a:lstStyle/>
          <a:p>
            <a:pPr indent="0" marL="0">
              <a:buNone/>
            </a:pPr>
            <a:r>
              <a:rPr lang="en-US" sz="1280" dirty="0">
                <a:solidFill>
                  <a:srgbClr val="303846"/>
                </a:solidFill>
                <a:latin typeface="Aptos" pitchFamily="34" charset="0"/>
                <a:ea typeface="Aptos" pitchFamily="34" charset="-122"/>
                <a:cs typeface="Aptos" pitchFamily="34" charset="-120"/>
              </a:rPr>
              <a:t>▸ Containerized agentic applications</a:t>
            </a:r>
            <a:endParaRPr lang="en-US" sz="1280" dirty="0"/>
          </a:p>
          <a:p>
            <a:pPr indent="0" marL="0">
              <a:buNone/>
            </a:pPr>
            <a:r>
              <a:rPr lang="en-US" sz="1280" dirty="0">
                <a:solidFill>
                  <a:srgbClr val="303846"/>
                </a:solidFill>
                <a:latin typeface="Aptos" pitchFamily="34" charset="0"/>
                <a:ea typeface="Aptos" pitchFamily="34" charset="-122"/>
                <a:cs typeface="Aptos" pitchFamily="34" charset="-120"/>
              </a:rPr>
              <a:t>▸ Built with supported frameworks or custom code</a:t>
            </a:r>
            <a:endParaRPr lang="en-US" sz="1280" dirty="0"/>
          </a:p>
          <a:p>
            <a:pPr indent="0" marL="0">
              <a:buNone/>
            </a:pPr>
            <a:r>
              <a:rPr lang="en-US" sz="1280" dirty="0">
                <a:solidFill>
                  <a:srgbClr val="303846"/>
                </a:solidFill>
                <a:latin typeface="Aptos" pitchFamily="34" charset="0"/>
                <a:ea typeface="Aptos" pitchFamily="34" charset="-122"/>
                <a:cs typeface="Aptos" pitchFamily="34" charset="-120"/>
              </a:rPr>
              <a:t>▸ More runtime control</a:t>
            </a:r>
            <a:endParaRPr lang="en-US" sz="1280" dirty="0"/>
          </a:p>
          <a:p>
            <a:pPr indent="0" marL="0">
              <a:buNone/>
            </a:pPr>
            <a:r>
              <a:rPr lang="en-US" sz="1280" dirty="0">
                <a:solidFill>
                  <a:srgbClr val="303846"/>
                </a:solidFill>
                <a:latin typeface="Aptos" pitchFamily="34" charset="0"/>
                <a:ea typeface="Aptos" pitchFamily="34" charset="-122"/>
                <a:cs typeface="Aptos" pitchFamily="34" charset="-120"/>
              </a:rPr>
              <a:t>▸ Higher ownership responsibility</a:t>
            </a:r>
            <a:endParaRPr lang="en-US" sz="1280" dirty="0"/>
          </a:p>
        </p:txBody>
      </p:sp>
      <p:sp>
        <p:nvSpPr>
          <p:cNvPr id="14" name="Shape 12"/>
          <p:cNvSpPr/>
          <p:nvPr/>
        </p:nvSpPr>
        <p:spPr>
          <a:xfrm>
            <a:off x="9098280" y="2331720"/>
            <a:ext cx="2331720" cy="1234440"/>
          </a:xfrm>
          <a:prstGeom prst="rect">
            <a:avLst/>
          </a:prstGeom>
          <a:solidFill>
            <a:srgbClr val="F4F8FB"/>
          </a:solidFill>
          <a:ln w="12700">
            <a:solidFill>
              <a:srgbClr val="E7EEF4"/>
            </a:solidFill>
            <a:prstDash val="solid"/>
          </a:ln>
        </p:spPr>
      </p:sp>
      <p:sp>
        <p:nvSpPr>
          <p:cNvPr id="15" name="Shape 13"/>
          <p:cNvSpPr/>
          <p:nvPr/>
        </p:nvSpPr>
        <p:spPr>
          <a:xfrm>
            <a:off x="9253728" y="2487168"/>
            <a:ext cx="219456" cy="219456"/>
          </a:xfrm>
          <a:prstGeom prst="ellipse">
            <a:avLst/>
          </a:prstGeom>
          <a:solidFill>
            <a:srgbClr val="06A9C8"/>
          </a:solidFill>
          <a:ln w="12700">
            <a:solidFill>
              <a:srgbClr val="06A9C8"/>
            </a:solidFill>
            <a:prstDash val="solid"/>
          </a:ln>
        </p:spPr>
      </p:sp>
      <p:sp>
        <p:nvSpPr>
          <p:cNvPr id="16" name="Text 14"/>
          <p:cNvSpPr/>
          <p:nvPr/>
        </p:nvSpPr>
        <p:spPr>
          <a:xfrm>
            <a:off x="9308592" y="250545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7" name="Text 15"/>
          <p:cNvSpPr/>
          <p:nvPr/>
        </p:nvSpPr>
        <p:spPr>
          <a:xfrm>
            <a:off x="9537192" y="245973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Outcome</a:t>
            </a:r>
            <a:endParaRPr lang="en-US" sz="1080" dirty="0"/>
          </a:p>
        </p:txBody>
      </p:sp>
      <p:sp>
        <p:nvSpPr>
          <p:cNvPr id="18" name="Text 16"/>
          <p:cNvSpPr/>
          <p:nvPr/>
        </p:nvSpPr>
        <p:spPr>
          <a:xfrm>
            <a:off x="9308592" y="2788920"/>
            <a:ext cx="1920240" cy="667512"/>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You can explain which agent type fits a given enterprise scenario.</a:t>
            </a:r>
            <a:endParaRPr lang="en-US" sz="96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4 · Lecture 16</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Prompt Agents vs Hosted Agents</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The decision is about responsibility, not which option sounds more advanced.</a:t>
            </a:r>
            <a:endParaRPr lang="en-US" sz="1500" dirty="0"/>
          </a:p>
        </p:txBody>
      </p:sp>
      <p:sp>
        <p:nvSpPr>
          <p:cNvPr id="8" name="Text 6"/>
          <p:cNvSpPr/>
          <p:nvPr/>
        </p:nvSpPr>
        <p:spPr>
          <a:xfrm>
            <a:off x="658368" y="1965960"/>
            <a:ext cx="8001000" cy="3429000"/>
          </a:xfrm>
          <a:prstGeom prst="rect">
            <a:avLst/>
          </a:prstGeom>
          <a:noFill/>
          <a:ln/>
        </p:spPr>
        <p:txBody>
          <a:bodyPr wrap="square" lIns="254" tIns="254" rIns="254" bIns="254" rtlCol="0" anchor="ctr">
            <a:normAutofit/>
          </a:bodyPr>
          <a:lstStyle/>
          <a:p>
            <a:pPr indent="0" marL="0">
              <a:buNone/>
            </a:pPr>
            <a:r>
              <a:rPr lang="en-US" sz="1850" dirty="0">
                <a:solidFill>
                  <a:srgbClr val="303846"/>
                </a:solidFill>
                <a:latin typeface="Aptos" pitchFamily="34" charset="0"/>
                <a:ea typeface="Aptos" pitchFamily="34" charset="-122"/>
                <a:cs typeface="Aptos" pitchFamily="34" charset="-120"/>
              </a:rPr>
              <a:t>▸ Use prompt agents when portal configuration, tools, and knowledge meet the need.</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Use hosted agents when custom orchestration or framework logic is required.</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Use external integration when another system already owns the agent runtime.</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Keep managed configuration preferred when it reduces operational burden.</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Do not add custom hosting just to appear more technical.</a:t>
            </a:r>
            <a:endParaRPr lang="en-US" sz="1850" dirty="0"/>
          </a:p>
        </p:txBody>
      </p:sp>
      <p:sp>
        <p:nvSpPr>
          <p:cNvPr id="9" name="Shape 7"/>
          <p:cNvSpPr/>
          <p:nvPr/>
        </p:nvSpPr>
        <p:spPr>
          <a:xfrm>
            <a:off x="9144000" y="1965960"/>
            <a:ext cx="2331720" cy="1243584"/>
          </a:xfrm>
          <a:prstGeom prst="rect">
            <a:avLst/>
          </a:prstGeom>
          <a:solidFill>
            <a:srgbClr val="F4F8FB"/>
          </a:solidFill>
          <a:ln w="12700">
            <a:solidFill>
              <a:srgbClr val="E7EEF4"/>
            </a:solidFill>
            <a:prstDash val="solid"/>
          </a:ln>
        </p:spPr>
      </p:sp>
      <p:sp>
        <p:nvSpPr>
          <p:cNvPr id="10" name="Shape 8"/>
          <p:cNvSpPr/>
          <p:nvPr/>
        </p:nvSpPr>
        <p:spPr>
          <a:xfrm>
            <a:off x="9299448" y="2121408"/>
            <a:ext cx="219456" cy="219456"/>
          </a:xfrm>
          <a:prstGeom prst="ellipse">
            <a:avLst/>
          </a:prstGeom>
          <a:solidFill>
            <a:srgbClr val="06A9C8"/>
          </a:solidFill>
          <a:ln w="12700">
            <a:solidFill>
              <a:srgbClr val="06A9C8"/>
            </a:solidFill>
            <a:prstDash val="solid"/>
          </a:ln>
        </p:spPr>
      </p:sp>
      <p:sp>
        <p:nvSpPr>
          <p:cNvPr id="11" name="Text 9"/>
          <p:cNvSpPr/>
          <p:nvPr/>
        </p:nvSpPr>
        <p:spPr>
          <a:xfrm>
            <a:off x="9354312" y="213969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82912" y="209397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Decision rule</a:t>
            </a:r>
            <a:endParaRPr lang="en-US" sz="1080" dirty="0"/>
          </a:p>
        </p:txBody>
      </p:sp>
      <p:sp>
        <p:nvSpPr>
          <p:cNvPr id="13" name="Text 11"/>
          <p:cNvSpPr/>
          <p:nvPr/>
        </p:nvSpPr>
        <p:spPr>
          <a:xfrm>
            <a:off x="9354312" y="2423160"/>
            <a:ext cx="1920240" cy="676656"/>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Choose the simplest agent architecture that still meets security, tool, and workflow requirements.</a:t>
            </a:r>
            <a:endParaRPr lang="en-US" sz="96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4 · Lecture 17</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Agent Instructions, Versions, Conversations, and Publishing</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An agent becomes manageable when its behavior and lifecycle are versioned.</a:t>
            </a:r>
            <a:endParaRPr lang="en-US" sz="1500" dirty="0"/>
          </a:p>
        </p:txBody>
      </p:sp>
      <p:sp>
        <p:nvSpPr>
          <p:cNvPr id="8" name="Text 6"/>
          <p:cNvSpPr/>
          <p:nvPr/>
        </p:nvSpPr>
        <p:spPr>
          <a:xfrm>
            <a:off x="658368" y="1965960"/>
            <a:ext cx="8001000" cy="3429000"/>
          </a:xfrm>
          <a:prstGeom prst="rect">
            <a:avLst/>
          </a:prstGeom>
          <a:noFill/>
          <a:ln/>
        </p:spPr>
        <p:txBody>
          <a:bodyPr wrap="square" lIns="254" tIns="254" rIns="254" bIns="254" rtlCol="0" anchor="ctr">
            <a:normAutofit/>
          </a:bodyPr>
          <a:lstStyle/>
          <a:p>
            <a:pPr indent="0" marL="0">
              <a:buNone/>
            </a:pPr>
            <a:r>
              <a:rPr lang="en-US" sz="1850" dirty="0">
                <a:solidFill>
                  <a:srgbClr val="303846"/>
                </a:solidFill>
                <a:latin typeface="Aptos" pitchFamily="34" charset="0"/>
                <a:ea typeface="Aptos" pitchFamily="34" charset="-122"/>
                <a:cs typeface="Aptos" pitchFamily="34" charset="-120"/>
              </a:rPr>
              <a:t>▸ Instructions define role, scope, tone, evidence expectations, and boundaries.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Conversations preserve interaction context for testing and usage flows.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Versions allow controlled changes and rollback planning.</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Stable endpoints let consumers use an agent without tracking every edit.</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Publishing should follow testing and approval, not experimentation.</a:t>
            </a:r>
            <a:endParaRPr lang="en-US" sz="1850" dirty="0"/>
          </a:p>
        </p:txBody>
      </p:sp>
      <p:sp>
        <p:nvSpPr>
          <p:cNvPr id="9" name="Shape 7"/>
          <p:cNvSpPr/>
          <p:nvPr/>
        </p:nvSpPr>
        <p:spPr>
          <a:xfrm>
            <a:off x="9144000" y="1965960"/>
            <a:ext cx="2331720" cy="1243584"/>
          </a:xfrm>
          <a:prstGeom prst="rect">
            <a:avLst/>
          </a:prstGeom>
          <a:solidFill>
            <a:srgbClr val="F4F8FB"/>
          </a:solidFill>
          <a:ln w="12700">
            <a:solidFill>
              <a:srgbClr val="E7EEF4"/>
            </a:solidFill>
            <a:prstDash val="solid"/>
          </a:ln>
        </p:spPr>
      </p:sp>
      <p:sp>
        <p:nvSpPr>
          <p:cNvPr id="10" name="Shape 8"/>
          <p:cNvSpPr/>
          <p:nvPr/>
        </p:nvSpPr>
        <p:spPr>
          <a:xfrm>
            <a:off x="9299448" y="2121408"/>
            <a:ext cx="219456" cy="219456"/>
          </a:xfrm>
          <a:prstGeom prst="ellipse">
            <a:avLst/>
          </a:prstGeom>
          <a:solidFill>
            <a:srgbClr val="06A9C8"/>
          </a:solidFill>
          <a:ln w="12700">
            <a:solidFill>
              <a:srgbClr val="06A9C8"/>
            </a:solidFill>
            <a:prstDash val="solid"/>
          </a:ln>
        </p:spPr>
      </p:sp>
      <p:sp>
        <p:nvSpPr>
          <p:cNvPr id="11" name="Text 9"/>
          <p:cNvSpPr/>
          <p:nvPr/>
        </p:nvSpPr>
        <p:spPr>
          <a:xfrm>
            <a:off x="9354312" y="213969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82912" y="209397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Demonstration</a:t>
            </a:r>
            <a:endParaRPr lang="en-US" sz="1080" dirty="0"/>
          </a:p>
        </p:txBody>
      </p:sp>
      <p:sp>
        <p:nvSpPr>
          <p:cNvPr id="13" name="Text 11"/>
          <p:cNvSpPr/>
          <p:nvPr/>
        </p:nvSpPr>
        <p:spPr>
          <a:xfrm>
            <a:off x="9354312" y="2423160"/>
            <a:ext cx="1920240" cy="676656"/>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Configure an agent, inspect versions, test behavior, and review publishing controls.</a:t>
            </a:r>
            <a:endParaRPr lang="en-US" sz="96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4 · Lecture 17</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Agent Lifecycle Controls</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Treat agent changes like production configuration changes.</a:t>
            </a:r>
            <a:endParaRPr lang="en-US" sz="1500" dirty="0"/>
          </a:p>
        </p:txBody>
      </p:sp>
      <p:sp>
        <p:nvSpPr>
          <p:cNvPr id="8" name="Shape 6"/>
          <p:cNvSpPr/>
          <p:nvPr/>
        </p:nvSpPr>
        <p:spPr>
          <a:xfrm>
            <a:off x="658368" y="2103120"/>
            <a:ext cx="1417320" cy="868680"/>
          </a:xfrm>
          <a:prstGeom prst="roundRect">
            <a:avLst>
              <a:gd name="adj" fmla="val 8421"/>
            </a:avLst>
          </a:prstGeom>
          <a:solidFill>
            <a:srgbClr val="F4F8FB"/>
          </a:solidFill>
          <a:ln w="12700">
            <a:solidFill>
              <a:srgbClr val="D6E7EF"/>
            </a:solidFill>
            <a:prstDash val="solid"/>
          </a:ln>
        </p:spPr>
      </p:sp>
      <p:sp>
        <p:nvSpPr>
          <p:cNvPr id="9" name="Text 7"/>
          <p:cNvSpPr/>
          <p:nvPr/>
        </p:nvSpPr>
        <p:spPr>
          <a:xfrm>
            <a:off x="749808" y="2258568"/>
            <a:ext cx="1234440" cy="228600"/>
          </a:xfrm>
          <a:prstGeom prst="rect">
            <a:avLst/>
          </a:prstGeom>
          <a:noFill/>
          <a:ln/>
        </p:spPr>
        <p:txBody>
          <a:bodyPr wrap="square" lIns="0" tIns="0" rIns="0" bIns="0" rtlCol="0" anchor="ctr">
            <a:normAutofit/>
          </a:bodyPr>
          <a:lstStyle/>
          <a:p>
            <a:pPr algn="ctr" indent="0" marL="0">
              <a:buNone/>
            </a:pPr>
            <a:r>
              <a:rPr lang="en-US" sz="1150" b="1" dirty="0">
                <a:solidFill>
                  <a:srgbClr val="172033"/>
                </a:solidFill>
                <a:latin typeface="Aptos" pitchFamily="34" charset="0"/>
                <a:ea typeface="Aptos" pitchFamily="34" charset="-122"/>
                <a:cs typeface="Aptos" pitchFamily="34" charset="-120"/>
              </a:rPr>
              <a:t>Draft</a:t>
            </a:r>
            <a:endParaRPr lang="en-US" sz="1150" dirty="0"/>
          </a:p>
        </p:txBody>
      </p:sp>
      <p:sp>
        <p:nvSpPr>
          <p:cNvPr id="10" name="Text 8"/>
          <p:cNvSpPr/>
          <p:nvPr/>
        </p:nvSpPr>
        <p:spPr>
          <a:xfrm>
            <a:off x="768096" y="2532888"/>
            <a:ext cx="1197864" cy="256032"/>
          </a:xfrm>
          <a:prstGeom prst="rect">
            <a:avLst/>
          </a:prstGeom>
          <a:noFill/>
          <a:ln/>
        </p:spPr>
        <p:txBody>
          <a:bodyPr wrap="square" lIns="0" tIns="0" rIns="0" bIns="0" rtlCol="0" anchor="ctr">
            <a:normAutofit/>
          </a:bodyPr>
          <a:lstStyle/>
          <a:p>
            <a:pPr algn="ctr" indent="0" marL="0">
              <a:buNone/>
            </a:pPr>
            <a:r>
              <a:rPr lang="en-US" sz="850" dirty="0">
                <a:solidFill>
                  <a:srgbClr val="6B7280"/>
                </a:solidFill>
                <a:latin typeface="Aptos" pitchFamily="34" charset="0"/>
                <a:ea typeface="Aptos" pitchFamily="34" charset="-122"/>
                <a:cs typeface="Aptos" pitchFamily="34" charset="-120"/>
              </a:rPr>
              <a:t>instructions</a:t>
            </a:r>
            <a:endParaRPr lang="en-US" sz="850" dirty="0"/>
          </a:p>
        </p:txBody>
      </p:sp>
      <p:sp>
        <p:nvSpPr>
          <p:cNvPr id="11" name="Text 9"/>
          <p:cNvSpPr/>
          <p:nvPr/>
        </p:nvSpPr>
        <p:spPr>
          <a:xfrm>
            <a:off x="2121408" y="2340864"/>
            <a:ext cx="164592" cy="228600"/>
          </a:xfrm>
          <a:prstGeom prst="rect">
            <a:avLst/>
          </a:prstGeom>
          <a:noFill/>
          <a:ln/>
        </p:spPr>
        <p:txBody>
          <a:bodyPr wrap="square" lIns="0" tIns="0" rIns="0" bIns="0" rtlCol="0" anchor="ctr"/>
          <a:lstStyle/>
          <a:p>
            <a:pPr indent="0" marL="0">
              <a:buNone/>
            </a:pPr>
            <a:r>
              <a:rPr lang="en-US" sz="1600" b="1" dirty="0">
                <a:solidFill>
                  <a:srgbClr val="06A9C8"/>
                </a:solidFill>
                <a:latin typeface="Aptos" pitchFamily="34" charset="0"/>
                <a:ea typeface="Aptos" pitchFamily="34" charset="-122"/>
                <a:cs typeface="Aptos" pitchFamily="34" charset="-120"/>
              </a:rPr>
              <a:t>→</a:t>
            </a:r>
            <a:endParaRPr lang="en-US" sz="1600" dirty="0"/>
          </a:p>
        </p:txBody>
      </p:sp>
      <p:sp>
        <p:nvSpPr>
          <p:cNvPr id="12" name="Shape 10"/>
          <p:cNvSpPr/>
          <p:nvPr/>
        </p:nvSpPr>
        <p:spPr>
          <a:xfrm>
            <a:off x="2331720" y="2103120"/>
            <a:ext cx="1417320" cy="868680"/>
          </a:xfrm>
          <a:prstGeom prst="roundRect">
            <a:avLst>
              <a:gd name="adj" fmla="val 8421"/>
            </a:avLst>
          </a:prstGeom>
          <a:solidFill>
            <a:srgbClr val="F4F8FB"/>
          </a:solidFill>
          <a:ln w="12700">
            <a:solidFill>
              <a:srgbClr val="D6E7EF"/>
            </a:solidFill>
            <a:prstDash val="solid"/>
          </a:ln>
        </p:spPr>
      </p:sp>
      <p:sp>
        <p:nvSpPr>
          <p:cNvPr id="13" name="Text 11"/>
          <p:cNvSpPr/>
          <p:nvPr/>
        </p:nvSpPr>
        <p:spPr>
          <a:xfrm>
            <a:off x="2423160" y="2258568"/>
            <a:ext cx="1234440" cy="228600"/>
          </a:xfrm>
          <a:prstGeom prst="rect">
            <a:avLst/>
          </a:prstGeom>
          <a:noFill/>
          <a:ln/>
        </p:spPr>
        <p:txBody>
          <a:bodyPr wrap="square" lIns="0" tIns="0" rIns="0" bIns="0" rtlCol="0" anchor="ctr">
            <a:normAutofit/>
          </a:bodyPr>
          <a:lstStyle/>
          <a:p>
            <a:pPr algn="ctr" indent="0" marL="0">
              <a:buNone/>
            </a:pPr>
            <a:r>
              <a:rPr lang="en-US" sz="1150" b="1" dirty="0">
                <a:solidFill>
                  <a:srgbClr val="172033"/>
                </a:solidFill>
                <a:latin typeface="Aptos" pitchFamily="34" charset="0"/>
                <a:ea typeface="Aptos" pitchFamily="34" charset="-122"/>
                <a:cs typeface="Aptos" pitchFamily="34" charset="-120"/>
              </a:rPr>
              <a:t>Test</a:t>
            </a:r>
            <a:endParaRPr lang="en-US" sz="1150" dirty="0"/>
          </a:p>
        </p:txBody>
      </p:sp>
      <p:sp>
        <p:nvSpPr>
          <p:cNvPr id="14" name="Text 12"/>
          <p:cNvSpPr/>
          <p:nvPr/>
        </p:nvSpPr>
        <p:spPr>
          <a:xfrm>
            <a:off x="2441448" y="2532888"/>
            <a:ext cx="1197864" cy="256032"/>
          </a:xfrm>
          <a:prstGeom prst="rect">
            <a:avLst/>
          </a:prstGeom>
          <a:noFill/>
          <a:ln/>
        </p:spPr>
        <p:txBody>
          <a:bodyPr wrap="square" lIns="0" tIns="0" rIns="0" bIns="0" rtlCol="0" anchor="ctr">
            <a:normAutofit/>
          </a:bodyPr>
          <a:lstStyle/>
          <a:p>
            <a:pPr algn="ctr" indent="0" marL="0">
              <a:buNone/>
            </a:pPr>
            <a:r>
              <a:rPr lang="en-US" sz="850" dirty="0">
                <a:solidFill>
                  <a:srgbClr val="6B7280"/>
                </a:solidFill>
                <a:latin typeface="Aptos" pitchFamily="34" charset="0"/>
                <a:ea typeface="Aptos" pitchFamily="34" charset="-122"/>
                <a:cs typeface="Aptos" pitchFamily="34" charset="-120"/>
              </a:rPr>
              <a:t>expected/blocked</a:t>
            </a:r>
            <a:endParaRPr lang="en-US" sz="850" dirty="0"/>
          </a:p>
        </p:txBody>
      </p:sp>
      <p:sp>
        <p:nvSpPr>
          <p:cNvPr id="15" name="Text 13"/>
          <p:cNvSpPr/>
          <p:nvPr/>
        </p:nvSpPr>
        <p:spPr>
          <a:xfrm>
            <a:off x="3794760" y="2340864"/>
            <a:ext cx="164592" cy="228600"/>
          </a:xfrm>
          <a:prstGeom prst="rect">
            <a:avLst/>
          </a:prstGeom>
          <a:noFill/>
          <a:ln/>
        </p:spPr>
        <p:txBody>
          <a:bodyPr wrap="square" lIns="0" tIns="0" rIns="0" bIns="0" rtlCol="0" anchor="ctr"/>
          <a:lstStyle/>
          <a:p>
            <a:pPr indent="0" marL="0">
              <a:buNone/>
            </a:pPr>
            <a:r>
              <a:rPr lang="en-US" sz="1600" b="1" dirty="0">
                <a:solidFill>
                  <a:srgbClr val="06A9C8"/>
                </a:solidFill>
                <a:latin typeface="Aptos" pitchFamily="34" charset="0"/>
                <a:ea typeface="Aptos" pitchFamily="34" charset="-122"/>
                <a:cs typeface="Aptos" pitchFamily="34" charset="-120"/>
              </a:rPr>
              <a:t>→</a:t>
            </a:r>
            <a:endParaRPr lang="en-US" sz="1600" dirty="0"/>
          </a:p>
        </p:txBody>
      </p:sp>
      <p:sp>
        <p:nvSpPr>
          <p:cNvPr id="16" name="Shape 14"/>
          <p:cNvSpPr/>
          <p:nvPr/>
        </p:nvSpPr>
        <p:spPr>
          <a:xfrm>
            <a:off x="4005072" y="2103120"/>
            <a:ext cx="1417320" cy="868680"/>
          </a:xfrm>
          <a:prstGeom prst="roundRect">
            <a:avLst>
              <a:gd name="adj" fmla="val 8421"/>
            </a:avLst>
          </a:prstGeom>
          <a:solidFill>
            <a:srgbClr val="F4F8FB"/>
          </a:solidFill>
          <a:ln w="12700">
            <a:solidFill>
              <a:srgbClr val="D6E7EF"/>
            </a:solidFill>
            <a:prstDash val="solid"/>
          </a:ln>
        </p:spPr>
      </p:sp>
      <p:sp>
        <p:nvSpPr>
          <p:cNvPr id="17" name="Text 15"/>
          <p:cNvSpPr/>
          <p:nvPr/>
        </p:nvSpPr>
        <p:spPr>
          <a:xfrm>
            <a:off x="4096512" y="2258568"/>
            <a:ext cx="1234440" cy="228600"/>
          </a:xfrm>
          <a:prstGeom prst="rect">
            <a:avLst/>
          </a:prstGeom>
          <a:noFill/>
          <a:ln/>
        </p:spPr>
        <p:txBody>
          <a:bodyPr wrap="square" lIns="0" tIns="0" rIns="0" bIns="0" rtlCol="0" anchor="ctr">
            <a:normAutofit/>
          </a:bodyPr>
          <a:lstStyle/>
          <a:p>
            <a:pPr algn="ctr" indent="0" marL="0">
              <a:buNone/>
            </a:pPr>
            <a:r>
              <a:rPr lang="en-US" sz="1150" b="1" dirty="0">
                <a:solidFill>
                  <a:srgbClr val="172033"/>
                </a:solidFill>
                <a:latin typeface="Aptos" pitchFamily="34" charset="0"/>
                <a:ea typeface="Aptos" pitchFamily="34" charset="-122"/>
                <a:cs typeface="Aptos" pitchFamily="34" charset="-120"/>
              </a:rPr>
              <a:t>Approve</a:t>
            </a:r>
            <a:endParaRPr lang="en-US" sz="1150" dirty="0"/>
          </a:p>
        </p:txBody>
      </p:sp>
      <p:sp>
        <p:nvSpPr>
          <p:cNvPr id="18" name="Text 16"/>
          <p:cNvSpPr/>
          <p:nvPr/>
        </p:nvSpPr>
        <p:spPr>
          <a:xfrm>
            <a:off x="4114800" y="2532888"/>
            <a:ext cx="1197864" cy="256032"/>
          </a:xfrm>
          <a:prstGeom prst="rect">
            <a:avLst/>
          </a:prstGeom>
          <a:noFill/>
          <a:ln/>
        </p:spPr>
        <p:txBody>
          <a:bodyPr wrap="square" lIns="0" tIns="0" rIns="0" bIns="0" rtlCol="0" anchor="ctr">
            <a:normAutofit/>
          </a:bodyPr>
          <a:lstStyle/>
          <a:p>
            <a:pPr algn="ctr" indent="0" marL="0">
              <a:buNone/>
            </a:pPr>
            <a:r>
              <a:rPr lang="en-US" sz="850" dirty="0">
                <a:solidFill>
                  <a:srgbClr val="6B7280"/>
                </a:solidFill>
                <a:latin typeface="Aptos" pitchFamily="34" charset="0"/>
                <a:ea typeface="Aptos" pitchFamily="34" charset="-122"/>
                <a:cs typeface="Aptos" pitchFamily="34" charset="-120"/>
              </a:rPr>
              <a:t>identity + risk</a:t>
            </a:r>
            <a:endParaRPr lang="en-US" sz="850" dirty="0"/>
          </a:p>
        </p:txBody>
      </p:sp>
      <p:sp>
        <p:nvSpPr>
          <p:cNvPr id="19" name="Text 17"/>
          <p:cNvSpPr/>
          <p:nvPr/>
        </p:nvSpPr>
        <p:spPr>
          <a:xfrm>
            <a:off x="5468112" y="2340864"/>
            <a:ext cx="164592" cy="228600"/>
          </a:xfrm>
          <a:prstGeom prst="rect">
            <a:avLst/>
          </a:prstGeom>
          <a:noFill/>
          <a:ln/>
        </p:spPr>
        <p:txBody>
          <a:bodyPr wrap="square" lIns="0" tIns="0" rIns="0" bIns="0" rtlCol="0" anchor="ctr"/>
          <a:lstStyle/>
          <a:p>
            <a:pPr indent="0" marL="0">
              <a:buNone/>
            </a:pPr>
            <a:r>
              <a:rPr lang="en-US" sz="1600" b="1" dirty="0">
                <a:solidFill>
                  <a:srgbClr val="06A9C8"/>
                </a:solidFill>
                <a:latin typeface="Aptos" pitchFamily="34" charset="0"/>
                <a:ea typeface="Aptos" pitchFamily="34" charset="-122"/>
                <a:cs typeface="Aptos" pitchFamily="34" charset="-120"/>
              </a:rPr>
              <a:t>→</a:t>
            </a:r>
            <a:endParaRPr lang="en-US" sz="1600" dirty="0"/>
          </a:p>
        </p:txBody>
      </p:sp>
      <p:sp>
        <p:nvSpPr>
          <p:cNvPr id="20" name="Shape 18"/>
          <p:cNvSpPr/>
          <p:nvPr/>
        </p:nvSpPr>
        <p:spPr>
          <a:xfrm>
            <a:off x="5678424" y="2103120"/>
            <a:ext cx="1417320" cy="868680"/>
          </a:xfrm>
          <a:prstGeom prst="roundRect">
            <a:avLst>
              <a:gd name="adj" fmla="val 8421"/>
            </a:avLst>
          </a:prstGeom>
          <a:solidFill>
            <a:srgbClr val="F4F8FB"/>
          </a:solidFill>
          <a:ln w="12700">
            <a:solidFill>
              <a:srgbClr val="D6E7EF"/>
            </a:solidFill>
            <a:prstDash val="solid"/>
          </a:ln>
        </p:spPr>
      </p:sp>
      <p:sp>
        <p:nvSpPr>
          <p:cNvPr id="21" name="Text 19"/>
          <p:cNvSpPr/>
          <p:nvPr/>
        </p:nvSpPr>
        <p:spPr>
          <a:xfrm>
            <a:off x="5769864" y="2258568"/>
            <a:ext cx="1234440" cy="228600"/>
          </a:xfrm>
          <a:prstGeom prst="rect">
            <a:avLst/>
          </a:prstGeom>
          <a:noFill/>
          <a:ln/>
        </p:spPr>
        <p:txBody>
          <a:bodyPr wrap="square" lIns="0" tIns="0" rIns="0" bIns="0" rtlCol="0" anchor="ctr">
            <a:normAutofit/>
          </a:bodyPr>
          <a:lstStyle/>
          <a:p>
            <a:pPr algn="ctr" indent="0" marL="0">
              <a:buNone/>
            </a:pPr>
            <a:r>
              <a:rPr lang="en-US" sz="1150" b="1" dirty="0">
                <a:solidFill>
                  <a:srgbClr val="172033"/>
                </a:solidFill>
                <a:latin typeface="Aptos" pitchFamily="34" charset="0"/>
                <a:ea typeface="Aptos" pitchFamily="34" charset="-122"/>
                <a:cs typeface="Aptos" pitchFamily="34" charset="-120"/>
              </a:rPr>
              <a:t>Publish</a:t>
            </a:r>
            <a:endParaRPr lang="en-US" sz="1150" dirty="0"/>
          </a:p>
        </p:txBody>
      </p:sp>
      <p:sp>
        <p:nvSpPr>
          <p:cNvPr id="22" name="Text 20"/>
          <p:cNvSpPr/>
          <p:nvPr/>
        </p:nvSpPr>
        <p:spPr>
          <a:xfrm>
            <a:off x="5788152" y="2532888"/>
            <a:ext cx="1197864" cy="256032"/>
          </a:xfrm>
          <a:prstGeom prst="rect">
            <a:avLst/>
          </a:prstGeom>
          <a:noFill/>
          <a:ln/>
        </p:spPr>
        <p:txBody>
          <a:bodyPr wrap="square" lIns="0" tIns="0" rIns="0" bIns="0" rtlCol="0" anchor="ctr">
            <a:normAutofit/>
          </a:bodyPr>
          <a:lstStyle/>
          <a:p>
            <a:pPr algn="ctr" indent="0" marL="0">
              <a:buNone/>
            </a:pPr>
            <a:r>
              <a:rPr lang="en-US" sz="850" dirty="0">
                <a:solidFill>
                  <a:srgbClr val="6B7280"/>
                </a:solidFill>
                <a:latin typeface="Aptos" pitchFamily="34" charset="0"/>
                <a:ea typeface="Aptos" pitchFamily="34" charset="-122"/>
                <a:cs typeface="Aptos" pitchFamily="34" charset="-120"/>
              </a:rPr>
              <a:t>stable version</a:t>
            </a:r>
            <a:endParaRPr lang="en-US" sz="850" dirty="0"/>
          </a:p>
        </p:txBody>
      </p:sp>
      <p:sp>
        <p:nvSpPr>
          <p:cNvPr id="23" name="Text 21"/>
          <p:cNvSpPr/>
          <p:nvPr/>
        </p:nvSpPr>
        <p:spPr>
          <a:xfrm>
            <a:off x="7141464" y="2340864"/>
            <a:ext cx="164592" cy="228600"/>
          </a:xfrm>
          <a:prstGeom prst="rect">
            <a:avLst/>
          </a:prstGeom>
          <a:noFill/>
          <a:ln/>
        </p:spPr>
        <p:txBody>
          <a:bodyPr wrap="square" lIns="0" tIns="0" rIns="0" bIns="0" rtlCol="0" anchor="ctr"/>
          <a:lstStyle/>
          <a:p>
            <a:pPr indent="0" marL="0">
              <a:buNone/>
            </a:pPr>
            <a:r>
              <a:rPr lang="en-US" sz="1600" b="1" dirty="0">
                <a:solidFill>
                  <a:srgbClr val="06A9C8"/>
                </a:solidFill>
                <a:latin typeface="Aptos" pitchFamily="34" charset="0"/>
                <a:ea typeface="Aptos" pitchFamily="34" charset="-122"/>
                <a:cs typeface="Aptos" pitchFamily="34" charset="-120"/>
              </a:rPr>
              <a:t>→</a:t>
            </a:r>
            <a:endParaRPr lang="en-US" sz="1600" dirty="0"/>
          </a:p>
        </p:txBody>
      </p:sp>
      <p:sp>
        <p:nvSpPr>
          <p:cNvPr id="24" name="Shape 22"/>
          <p:cNvSpPr/>
          <p:nvPr/>
        </p:nvSpPr>
        <p:spPr>
          <a:xfrm>
            <a:off x="7351776" y="2103120"/>
            <a:ext cx="1417320" cy="868680"/>
          </a:xfrm>
          <a:prstGeom prst="roundRect">
            <a:avLst>
              <a:gd name="adj" fmla="val 8421"/>
            </a:avLst>
          </a:prstGeom>
          <a:solidFill>
            <a:srgbClr val="F4F8FB"/>
          </a:solidFill>
          <a:ln w="12700">
            <a:solidFill>
              <a:srgbClr val="D6E7EF"/>
            </a:solidFill>
            <a:prstDash val="solid"/>
          </a:ln>
        </p:spPr>
      </p:sp>
      <p:sp>
        <p:nvSpPr>
          <p:cNvPr id="25" name="Text 23"/>
          <p:cNvSpPr/>
          <p:nvPr/>
        </p:nvSpPr>
        <p:spPr>
          <a:xfrm>
            <a:off x="7443216" y="2258568"/>
            <a:ext cx="1234440" cy="228600"/>
          </a:xfrm>
          <a:prstGeom prst="rect">
            <a:avLst/>
          </a:prstGeom>
          <a:noFill/>
          <a:ln/>
        </p:spPr>
        <p:txBody>
          <a:bodyPr wrap="square" lIns="0" tIns="0" rIns="0" bIns="0" rtlCol="0" anchor="ctr">
            <a:normAutofit/>
          </a:bodyPr>
          <a:lstStyle/>
          <a:p>
            <a:pPr algn="ctr" indent="0" marL="0">
              <a:buNone/>
            </a:pPr>
            <a:r>
              <a:rPr lang="en-US" sz="1150" b="1" dirty="0">
                <a:solidFill>
                  <a:srgbClr val="172033"/>
                </a:solidFill>
                <a:latin typeface="Aptos" pitchFamily="34" charset="0"/>
                <a:ea typeface="Aptos" pitchFamily="34" charset="-122"/>
                <a:cs typeface="Aptos" pitchFamily="34" charset="-120"/>
              </a:rPr>
              <a:t>Monitor</a:t>
            </a:r>
            <a:endParaRPr lang="en-US" sz="1150" dirty="0"/>
          </a:p>
        </p:txBody>
      </p:sp>
      <p:sp>
        <p:nvSpPr>
          <p:cNvPr id="26" name="Text 24"/>
          <p:cNvSpPr/>
          <p:nvPr/>
        </p:nvSpPr>
        <p:spPr>
          <a:xfrm>
            <a:off x="7461504" y="2532888"/>
            <a:ext cx="1197864" cy="256032"/>
          </a:xfrm>
          <a:prstGeom prst="rect">
            <a:avLst/>
          </a:prstGeom>
          <a:noFill/>
          <a:ln/>
        </p:spPr>
        <p:txBody>
          <a:bodyPr wrap="square" lIns="0" tIns="0" rIns="0" bIns="0" rtlCol="0" anchor="ctr">
            <a:normAutofit/>
          </a:bodyPr>
          <a:lstStyle/>
          <a:p>
            <a:pPr algn="ctr" indent="0" marL="0">
              <a:buNone/>
            </a:pPr>
            <a:r>
              <a:rPr lang="en-US" sz="850" dirty="0">
                <a:solidFill>
                  <a:srgbClr val="6B7280"/>
                </a:solidFill>
                <a:latin typeface="Aptos" pitchFamily="34" charset="0"/>
                <a:ea typeface="Aptos" pitchFamily="34" charset="-122"/>
                <a:cs typeface="Aptos" pitchFamily="34" charset="-120"/>
              </a:rPr>
              <a:t>quality/cost</a:t>
            </a:r>
            <a:endParaRPr lang="en-US" sz="850" dirty="0"/>
          </a:p>
        </p:txBody>
      </p:sp>
      <p:sp>
        <p:nvSpPr>
          <p:cNvPr id="27" name="Text 25"/>
          <p:cNvSpPr/>
          <p:nvPr/>
        </p:nvSpPr>
        <p:spPr>
          <a:xfrm>
            <a:off x="8814816" y="2340864"/>
            <a:ext cx="164592" cy="228600"/>
          </a:xfrm>
          <a:prstGeom prst="rect">
            <a:avLst/>
          </a:prstGeom>
          <a:noFill/>
          <a:ln/>
        </p:spPr>
        <p:txBody>
          <a:bodyPr wrap="square" lIns="0" tIns="0" rIns="0" bIns="0" rtlCol="0" anchor="ctr"/>
          <a:lstStyle/>
          <a:p>
            <a:pPr indent="0" marL="0">
              <a:buNone/>
            </a:pPr>
            <a:r>
              <a:rPr lang="en-US" sz="1600" b="1" dirty="0">
                <a:solidFill>
                  <a:srgbClr val="06A9C8"/>
                </a:solidFill>
                <a:latin typeface="Aptos" pitchFamily="34" charset="0"/>
                <a:ea typeface="Aptos" pitchFamily="34" charset="-122"/>
                <a:cs typeface="Aptos" pitchFamily="34" charset="-120"/>
              </a:rPr>
              <a:t>→</a:t>
            </a:r>
            <a:endParaRPr lang="en-US" sz="1600" dirty="0"/>
          </a:p>
        </p:txBody>
      </p:sp>
      <p:sp>
        <p:nvSpPr>
          <p:cNvPr id="28" name="Shape 26"/>
          <p:cNvSpPr/>
          <p:nvPr/>
        </p:nvSpPr>
        <p:spPr>
          <a:xfrm>
            <a:off x="9025128" y="2103120"/>
            <a:ext cx="1417320" cy="868680"/>
          </a:xfrm>
          <a:prstGeom prst="roundRect">
            <a:avLst>
              <a:gd name="adj" fmla="val 8421"/>
            </a:avLst>
          </a:prstGeom>
          <a:solidFill>
            <a:srgbClr val="F4F8FB"/>
          </a:solidFill>
          <a:ln w="12700">
            <a:solidFill>
              <a:srgbClr val="D6E7EF"/>
            </a:solidFill>
            <a:prstDash val="solid"/>
          </a:ln>
        </p:spPr>
      </p:sp>
      <p:sp>
        <p:nvSpPr>
          <p:cNvPr id="29" name="Text 27"/>
          <p:cNvSpPr/>
          <p:nvPr/>
        </p:nvSpPr>
        <p:spPr>
          <a:xfrm>
            <a:off x="9116568" y="2258568"/>
            <a:ext cx="1234440" cy="228600"/>
          </a:xfrm>
          <a:prstGeom prst="rect">
            <a:avLst/>
          </a:prstGeom>
          <a:noFill/>
          <a:ln/>
        </p:spPr>
        <p:txBody>
          <a:bodyPr wrap="square" lIns="0" tIns="0" rIns="0" bIns="0" rtlCol="0" anchor="ctr">
            <a:normAutofit/>
          </a:bodyPr>
          <a:lstStyle/>
          <a:p>
            <a:pPr algn="ctr" indent="0" marL="0">
              <a:buNone/>
            </a:pPr>
            <a:r>
              <a:rPr lang="en-US" sz="1150" b="1" dirty="0">
                <a:solidFill>
                  <a:srgbClr val="172033"/>
                </a:solidFill>
                <a:latin typeface="Aptos" pitchFamily="34" charset="0"/>
                <a:ea typeface="Aptos" pitchFamily="34" charset="-122"/>
                <a:cs typeface="Aptos" pitchFamily="34" charset="-120"/>
              </a:rPr>
              <a:t>Rollback</a:t>
            </a:r>
            <a:endParaRPr lang="en-US" sz="1150" dirty="0"/>
          </a:p>
        </p:txBody>
      </p:sp>
      <p:sp>
        <p:nvSpPr>
          <p:cNvPr id="30" name="Text 28"/>
          <p:cNvSpPr/>
          <p:nvPr/>
        </p:nvSpPr>
        <p:spPr>
          <a:xfrm>
            <a:off x="9134856" y="2532888"/>
            <a:ext cx="1197864" cy="256032"/>
          </a:xfrm>
          <a:prstGeom prst="rect">
            <a:avLst/>
          </a:prstGeom>
          <a:noFill/>
          <a:ln/>
        </p:spPr>
        <p:txBody>
          <a:bodyPr wrap="square" lIns="0" tIns="0" rIns="0" bIns="0" rtlCol="0" anchor="ctr">
            <a:normAutofit/>
          </a:bodyPr>
          <a:lstStyle/>
          <a:p>
            <a:pPr algn="ctr" indent="0" marL="0">
              <a:buNone/>
            </a:pPr>
            <a:r>
              <a:rPr lang="en-US" sz="850" dirty="0">
                <a:solidFill>
                  <a:srgbClr val="6B7280"/>
                </a:solidFill>
                <a:latin typeface="Aptos" pitchFamily="34" charset="0"/>
                <a:ea typeface="Aptos" pitchFamily="34" charset="-122"/>
                <a:cs typeface="Aptos" pitchFamily="34" charset="-120"/>
              </a:rPr>
              <a:t>safe version</a:t>
            </a:r>
            <a:endParaRPr lang="en-US" sz="850" dirty="0"/>
          </a:p>
        </p:txBody>
      </p:sp>
      <p:sp>
        <p:nvSpPr>
          <p:cNvPr id="31" name="Shape 29"/>
          <p:cNvSpPr/>
          <p:nvPr/>
        </p:nvSpPr>
        <p:spPr>
          <a:xfrm>
            <a:off x="9144000" y="3886200"/>
            <a:ext cx="2331720" cy="1051560"/>
          </a:xfrm>
          <a:prstGeom prst="rect">
            <a:avLst/>
          </a:prstGeom>
          <a:solidFill>
            <a:srgbClr val="F4F8FB"/>
          </a:solidFill>
          <a:ln w="12700">
            <a:solidFill>
              <a:srgbClr val="E7EEF4"/>
            </a:solidFill>
            <a:prstDash val="solid"/>
          </a:ln>
        </p:spPr>
      </p:sp>
      <p:sp>
        <p:nvSpPr>
          <p:cNvPr id="32" name="Shape 30"/>
          <p:cNvSpPr/>
          <p:nvPr/>
        </p:nvSpPr>
        <p:spPr>
          <a:xfrm>
            <a:off x="9299448" y="4041648"/>
            <a:ext cx="219456" cy="219456"/>
          </a:xfrm>
          <a:prstGeom prst="ellipse">
            <a:avLst/>
          </a:prstGeom>
          <a:solidFill>
            <a:srgbClr val="06A9C8"/>
          </a:solidFill>
          <a:ln w="12700">
            <a:solidFill>
              <a:srgbClr val="06A9C8"/>
            </a:solidFill>
            <a:prstDash val="solid"/>
          </a:ln>
        </p:spPr>
      </p:sp>
      <p:sp>
        <p:nvSpPr>
          <p:cNvPr id="33" name="Text 31"/>
          <p:cNvSpPr/>
          <p:nvPr/>
        </p:nvSpPr>
        <p:spPr>
          <a:xfrm>
            <a:off x="9354312" y="405993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34" name="Text 32"/>
          <p:cNvSpPr/>
          <p:nvPr/>
        </p:nvSpPr>
        <p:spPr>
          <a:xfrm>
            <a:off x="9582912" y="401421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Lifecycle habit</a:t>
            </a:r>
            <a:endParaRPr lang="en-US" sz="1080" dirty="0"/>
          </a:p>
        </p:txBody>
      </p:sp>
      <p:sp>
        <p:nvSpPr>
          <p:cNvPr id="35" name="Text 33"/>
          <p:cNvSpPr/>
          <p:nvPr/>
        </p:nvSpPr>
        <p:spPr>
          <a:xfrm>
            <a:off x="9354312" y="4343400"/>
            <a:ext cx="1920240" cy="484632"/>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Version history matters because agent behavior can change without source-code changes.</a:t>
            </a:r>
            <a:endParaRPr lang="en-US" sz="96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4 · Lecture 18</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Design Reliable Agent Instructions</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Clear instructions reduce ambiguity and support consistent behavior.</a:t>
            </a:r>
            <a:endParaRPr lang="en-US" sz="1500" dirty="0"/>
          </a:p>
        </p:txBody>
      </p:sp>
      <p:sp>
        <p:nvSpPr>
          <p:cNvPr id="8" name="Text 6"/>
          <p:cNvSpPr/>
          <p:nvPr/>
        </p:nvSpPr>
        <p:spPr>
          <a:xfrm>
            <a:off x="658368" y="1965960"/>
            <a:ext cx="8001000" cy="3429000"/>
          </a:xfrm>
          <a:prstGeom prst="rect">
            <a:avLst/>
          </a:prstGeom>
          <a:noFill/>
          <a:ln/>
        </p:spPr>
        <p:txBody>
          <a:bodyPr wrap="square" lIns="254" tIns="254" rIns="254" bIns="254" rtlCol="0" anchor="ctr">
            <a:normAutofit/>
          </a:bodyPr>
          <a:lstStyle/>
          <a:p>
            <a:pPr indent="0" marL="0">
              <a:buNone/>
            </a:pPr>
            <a:r>
              <a:rPr lang="en-US" sz="1850" dirty="0">
                <a:solidFill>
                  <a:srgbClr val="303846"/>
                </a:solidFill>
                <a:latin typeface="Aptos" pitchFamily="34" charset="0"/>
                <a:ea typeface="Aptos" pitchFamily="34" charset="-122"/>
                <a:cs typeface="Aptos" pitchFamily="34" charset="-120"/>
              </a:rPr>
              <a:t>▸ State the agent role in business terms.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Define what the agent may and may not answer.</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Require evidence, citations, or escalation where needed.</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Specify refusal behavior for unsafe or unsupported requests.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Separate read-only advice from actions that change data.</a:t>
            </a:r>
            <a:endParaRPr lang="en-US" sz="1850" dirty="0"/>
          </a:p>
        </p:txBody>
      </p:sp>
      <p:sp>
        <p:nvSpPr>
          <p:cNvPr id="9" name="Shape 7"/>
          <p:cNvSpPr/>
          <p:nvPr/>
        </p:nvSpPr>
        <p:spPr>
          <a:xfrm>
            <a:off x="9144000" y="1965960"/>
            <a:ext cx="2331720" cy="1243584"/>
          </a:xfrm>
          <a:prstGeom prst="rect">
            <a:avLst/>
          </a:prstGeom>
          <a:solidFill>
            <a:srgbClr val="F4F8FB"/>
          </a:solidFill>
          <a:ln w="12700">
            <a:solidFill>
              <a:srgbClr val="E7EEF4"/>
            </a:solidFill>
            <a:prstDash val="solid"/>
          </a:ln>
        </p:spPr>
      </p:sp>
      <p:sp>
        <p:nvSpPr>
          <p:cNvPr id="10" name="Shape 8"/>
          <p:cNvSpPr/>
          <p:nvPr/>
        </p:nvSpPr>
        <p:spPr>
          <a:xfrm>
            <a:off x="9299448" y="2121408"/>
            <a:ext cx="219456" cy="219456"/>
          </a:xfrm>
          <a:prstGeom prst="ellipse">
            <a:avLst/>
          </a:prstGeom>
          <a:solidFill>
            <a:srgbClr val="06A9C8"/>
          </a:solidFill>
          <a:ln w="12700">
            <a:solidFill>
              <a:srgbClr val="06A9C8"/>
            </a:solidFill>
            <a:prstDash val="solid"/>
          </a:ln>
        </p:spPr>
      </p:sp>
      <p:sp>
        <p:nvSpPr>
          <p:cNvPr id="11" name="Text 9"/>
          <p:cNvSpPr/>
          <p:nvPr/>
        </p:nvSpPr>
        <p:spPr>
          <a:xfrm>
            <a:off x="9354312" y="213969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82912" y="209397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Instruction outcome</a:t>
            </a:r>
            <a:endParaRPr lang="en-US" sz="1080" dirty="0"/>
          </a:p>
        </p:txBody>
      </p:sp>
      <p:sp>
        <p:nvSpPr>
          <p:cNvPr id="13" name="Text 11"/>
          <p:cNvSpPr/>
          <p:nvPr/>
        </p:nvSpPr>
        <p:spPr>
          <a:xfrm>
            <a:off x="9354312" y="2423160"/>
            <a:ext cx="1920240" cy="676656"/>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Learners should be able to draft instructions that are useful and reviewable.</a:t>
            </a:r>
            <a:endParaRPr lang="en-US" sz="96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4 · Lecture 18</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Decision Boundaries and Escalation Rules</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Agents need explicit stopping points.</a:t>
            </a:r>
            <a:endParaRPr lang="en-US" sz="1500" dirty="0"/>
          </a:p>
        </p:txBody>
      </p:sp>
      <p:sp>
        <p:nvSpPr>
          <p:cNvPr id="8" name="Text 6"/>
          <p:cNvSpPr/>
          <p:nvPr/>
        </p:nvSpPr>
        <p:spPr>
          <a:xfrm>
            <a:off x="658368" y="1965960"/>
            <a:ext cx="8001000" cy="3429000"/>
          </a:xfrm>
          <a:prstGeom prst="rect">
            <a:avLst/>
          </a:prstGeom>
          <a:noFill/>
          <a:ln/>
        </p:spPr>
        <p:txBody>
          <a:bodyPr wrap="square" lIns="254" tIns="254" rIns="254" bIns="254" rtlCol="0" anchor="ctr">
            <a:normAutofit/>
          </a:bodyPr>
          <a:lstStyle/>
          <a:p>
            <a:pPr indent="0" marL="0">
              <a:buNone/>
            </a:pPr>
            <a:r>
              <a:rPr lang="en-US" sz="1850" dirty="0">
                <a:solidFill>
                  <a:srgbClr val="303846"/>
                </a:solidFill>
                <a:latin typeface="Aptos" pitchFamily="34" charset="0"/>
                <a:ea typeface="Aptos" pitchFamily="34" charset="-122"/>
                <a:cs typeface="Aptos" pitchFamily="34" charset="-120"/>
              </a:rPr>
              <a:t>▸ Escalate when evidence is missing or permissions are unclear.</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Refuse when a request violates security, policy, or scope.</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Ask clarifying questions when task intent is ambiguous.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Require human approval before high-impact tool actions.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Log unsupported requests as improvement signals.</a:t>
            </a:r>
            <a:endParaRPr lang="en-US" sz="1850" dirty="0"/>
          </a:p>
        </p:txBody>
      </p:sp>
      <p:sp>
        <p:nvSpPr>
          <p:cNvPr id="9" name="Shape 7"/>
          <p:cNvSpPr/>
          <p:nvPr/>
        </p:nvSpPr>
        <p:spPr>
          <a:xfrm>
            <a:off x="9144000" y="1965960"/>
            <a:ext cx="2331720" cy="1243584"/>
          </a:xfrm>
          <a:prstGeom prst="rect">
            <a:avLst/>
          </a:prstGeom>
          <a:solidFill>
            <a:srgbClr val="F4F8FB"/>
          </a:solidFill>
          <a:ln w="12700">
            <a:solidFill>
              <a:srgbClr val="E7EEF4"/>
            </a:solidFill>
            <a:prstDash val="solid"/>
          </a:ln>
        </p:spPr>
      </p:sp>
      <p:sp>
        <p:nvSpPr>
          <p:cNvPr id="10" name="Shape 8"/>
          <p:cNvSpPr/>
          <p:nvPr/>
        </p:nvSpPr>
        <p:spPr>
          <a:xfrm>
            <a:off x="9299448" y="2121408"/>
            <a:ext cx="219456" cy="219456"/>
          </a:xfrm>
          <a:prstGeom prst="ellipse">
            <a:avLst/>
          </a:prstGeom>
          <a:solidFill>
            <a:srgbClr val="06A9C8"/>
          </a:solidFill>
          <a:ln w="12700">
            <a:solidFill>
              <a:srgbClr val="06A9C8"/>
            </a:solidFill>
            <a:prstDash val="solid"/>
          </a:ln>
        </p:spPr>
      </p:sp>
      <p:sp>
        <p:nvSpPr>
          <p:cNvPr id="11" name="Text 9"/>
          <p:cNvSpPr/>
          <p:nvPr/>
        </p:nvSpPr>
        <p:spPr>
          <a:xfrm>
            <a:off x="9354312" y="213969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82912" y="209397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Boundary rule</a:t>
            </a:r>
            <a:endParaRPr lang="en-US" sz="1080" dirty="0"/>
          </a:p>
        </p:txBody>
      </p:sp>
      <p:sp>
        <p:nvSpPr>
          <p:cNvPr id="13" name="Text 11"/>
          <p:cNvSpPr/>
          <p:nvPr/>
        </p:nvSpPr>
        <p:spPr>
          <a:xfrm>
            <a:off x="9354312" y="2423160"/>
            <a:ext cx="1920240" cy="676656"/>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A trustworthy agent knows when not to act.</a:t>
            </a:r>
            <a:endParaRPr lang="en-US" sz="96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4 · Lecture 19</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Secure Agent Identity, Tool Access, and Human Approvals</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Agent security combines identity, permissions, tool limits, and review points.</a:t>
            </a:r>
            <a:endParaRPr lang="en-US" sz="1500" dirty="0"/>
          </a:p>
        </p:txBody>
      </p:sp>
      <p:sp>
        <p:nvSpPr>
          <p:cNvPr id="8" name="Text 6"/>
          <p:cNvSpPr/>
          <p:nvPr/>
        </p:nvSpPr>
        <p:spPr>
          <a:xfrm>
            <a:off x="658368" y="1965960"/>
            <a:ext cx="8001000" cy="3429000"/>
          </a:xfrm>
          <a:prstGeom prst="rect">
            <a:avLst/>
          </a:prstGeom>
          <a:noFill/>
          <a:ln/>
        </p:spPr>
        <p:txBody>
          <a:bodyPr wrap="square" lIns="254" tIns="254" rIns="254" bIns="254" rtlCol="0" anchor="ctr">
            <a:normAutofit/>
          </a:bodyPr>
          <a:lstStyle/>
          <a:p>
            <a:pPr indent="0" marL="0">
              <a:buNone/>
            </a:pPr>
            <a:r>
              <a:rPr lang="en-US" sz="1850" dirty="0">
                <a:solidFill>
                  <a:srgbClr val="303846"/>
                </a:solidFill>
                <a:latin typeface="Aptos" pitchFamily="34" charset="0"/>
                <a:ea typeface="Aptos" pitchFamily="34" charset="-122"/>
                <a:cs typeface="Aptos" pitchFamily="34" charset="-120"/>
              </a:rPr>
              <a:t>▸ Assign only the access required for the agent’s purpose.</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Use delegated authorization when user-specific data access is required.</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Limit tools to the actions required by the scenario.</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Use approval gates for state-changing or sensitive operations.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Keep audit evidence for tool calls and published changes.</a:t>
            </a:r>
            <a:endParaRPr lang="en-US" sz="1850" dirty="0"/>
          </a:p>
        </p:txBody>
      </p:sp>
      <p:sp>
        <p:nvSpPr>
          <p:cNvPr id="9" name="Shape 7"/>
          <p:cNvSpPr/>
          <p:nvPr/>
        </p:nvSpPr>
        <p:spPr>
          <a:xfrm>
            <a:off x="9144000" y="1965960"/>
            <a:ext cx="2331720" cy="1243584"/>
          </a:xfrm>
          <a:prstGeom prst="rect">
            <a:avLst/>
          </a:prstGeom>
          <a:solidFill>
            <a:srgbClr val="F4F8FB"/>
          </a:solidFill>
          <a:ln w="12700">
            <a:solidFill>
              <a:srgbClr val="E7EEF4"/>
            </a:solidFill>
            <a:prstDash val="solid"/>
          </a:ln>
        </p:spPr>
      </p:sp>
      <p:sp>
        <p:nvSpPr>
          <p:cNvPr id="10" name="Shape 8"/>
          <p:cNvSpPr/>
          <p:nvPr/>
        </p:nvSpPr>
        <p:spPr>
          <a:xfrm>
            <a:off x="9299448" y="2121408"/>
            <a:ext cx="219456" cy="219456"/>
          </a:xfrm>
          <a:prstGeom prst="ellipse">
            <a:avLst/>
          </a:prstGeom>
          <a:solidFill>
            <a:srgbClr val="06A9C8"/>
          </a:solidFill>
          <a:ln w="12700">
            <a:solidFill>
              <a:srgbClr val="06A9C8"/>
            </a:solidFill>
            <a:prstDash val="solid"/>
          </a:ln>
        </p:spPr>
      </p:sp>
      <p:sp>
        <p:nvSpPr>
          <p:cNvPr id="11" name="Text 9"/>
          <p:cNvSpPr/>
          <p:nvPr/>
        </p:nvSpPr>
        <p:spPr>
          <a:xfrm>
            <a:off x="9354312" y="213969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82912" y="209397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Demonstration</a:t>
            </a:r>
            <a:endParaRPr lang="en-US" sz="1080" dirty="0"/>
          </a:p>
        </p:txBody>
      </p:sp>
      <p:sp>
        <p:nvSpPr>
          <p:cNvPr id="13" name="Text 11"/>
          <p:cNvSpPr/>
          <p:nvPr/>
        </p:nvSpPr>
        <p:spPr>
          <a:xfrm>
            <a:off x="9354312" y="2423160"/>
            <a:ext cx="1920240" cy="676656"/>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Review where identity, tool access, and approval settings appear in Foundry.</a:t>
            </a:r>
            <a:endParaRPr lang="en-US" sz="96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4 · Lecture 19</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Agent Risk Controls</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Reliable agents need both technical and operational safeguards.</a:t>
            </a:r>
            <a:endParaRPr lang="en-US" sz="1500" dirty="0"/>
          </a:p>
        </p:txBody>
      </p:sp>
      <p:sp>
        <p:nvSpPr>
          <p:cNvPr id="8" name="Text 6"/>
          <p:cNvSpPr/>
          <p:nvPr/>
        </p:nvSpPr>
        <p:spPr>
          <a:xfrm>
            <a:off x="658368" y="1965960"/>
            <a:ext cx="8001000" cy="3429000"/>
          </a:xfrm>
          <a:prstGeom prst="rect">
            <a:avLst/>
          </a:prstGeom>
          <a:noFill/>
          <a:ln/>
        </p:spPr>
        <p:txBody>
          <a:bodyPr wrap="square" lIns="254" tIns="254" rIns="254" bIns="254" rtlCol="0" anchor="ctr">
            <a:normAutofit/>
          </a:bodyPr>
          <a:lstStyle/>
          <a:p>
            <a:pPr indent="0" marL="0">
              <a:buNone/>
            </a:pPr>
            <a:r>
              <a:rPr lang="en-US" sz="1850" dirty="0">
                <a:solidFill>
                  <a:srgbClr val="303846"/>
                </a:solidFill>
                <a:latin typeface="Aptos" pitchFamily="34" charset="0"/>
                <a:ea typeface="Aptos" pitchFamily="34" charset="-122"/>
                <a:cs typeface="Aptos" pitchFamily="34" charset="-120"/>
              </a:rPr>
              <a:t>▸ Identity limits what the agent can reach.</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Tool allowlists limit what the agent can do.</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Instructions guide how the agent should respond.</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Approvals stop the highest-risk actions from becoming automatic.</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Monitoring reveals when the agent drifts from expected behavior.</a:t>
            </a:r>
            <a:endParaRPr lang="en-US" sz="1850" dirty="0"/>
          </a:p>
        </p:txBody>
      </p:sp>
      <p:sp>
        <p:nvSpPr>
          <p:cNvPr id="9" name="Shape 7"/>
          <p:cNvSpPr/>
          <p:nvPr/>
        </p:nvSpPr>
        <p:spPr>
          <a:xfrm>
            <a:off x="9144000" y="1965960"/>
            <a:ext cx="2331720" cy="1243584"/>
          </a:xfrm>
          <a:prstGeom prst="rect">
            <a:avLst/>
          </a:prstGeom>
          <a:solidFill>
            <a:srgbClr val="F4F8FB"/>
          </a:solidFill>
          <a:ln w="12700">
            <a:solidFill>
              <a:srgbClr val="E7EEF4"/>
            </a:solidFill>
            <a:prstDash val="solid"/>
          </a:ln>
        </p:spPr>
      </p:sp>
      <p:sp>
        <p:nvSpPr>
          <p:cNvPr id="10" name="Shape 8"/>
          <p:cNvSpPr/>
          <p:nvPr/>
        </p:nvSpPr>
        <p:spPr>
          <a:xfrm>
            <a:off x="9299448" y="2121408"/>
            <a:ext cx="219456" cy="219456"/>
          </a:xfrm>
          <a:prstGeom prst="ellipse">
            <a:avLst/>
          </a:prstGeom>
          <a:solidFill>
            <a:srgbClr val="06A9C8"/>
          </a:solidFill>
          <a:ln w="12700">
            <a:solidFill>
              <a:srgbClr val="06A9C8"/>
            </a:solidFill>
            <a:prstDash val="solid"/>
          </a:ln>
        </p:spPr>
      </p:sp>
      <p:sp>
        <p:nvSpPr>
          <p:cNvPr id="11" name="Text 9"/>
          <p:cNvSpPr/>
          <p:nvPr/>
        </p:nvSpPr>
        <p:spPr>
          <a:xfrm>
            <a:off x="9354312" y="213969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82912" y="209397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Control stack</a:t>
            </a:r>
            <a:endParaRPr lang="en-US" sz="1080" dirty="0"/>
          </a:p>
        </p:txBody>
      </p:sp>
      <p:sp>
        <p:nvSpPr>
          <p:cNvPr id="13" name="Text 11"/>
          <p:cNvSpPr/>
          <p:nvPr/>
        </p:nvSpPr>
        <p:spPr>
          <a:xfrm>
            <a:off x="9354312" y="2423160"/>
            <a:ext cx="1920240" cy="676656"/>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Identity, instructions, tools, approvals, and monitoring work together.</a:t>
            </a:r>
            <a:endParaRPr lang="en-US" sz="96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4 · Lecture 20</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Lab: Create and Publish a Governed Prompt Agent</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This lab turns the deployed model into a controlled prompt agent.</a:t>
            </a:r>
            <a:endParaRPr lang="en-US" sz="1500" dirty="0"/>
          </a:p>
        </p:txBody>
      </p:sp>
      <p:sp>
        <p:nvSpPr>
          <p:cNvPr id="8" name="Text 6"/>
          <p:cNvSpPr/>
          <p:nvPr/>
        </p:nvSpPr>
        <p:spPr>
          <a:xfrm>
            <a:off x="658368" y="1874520"/>
            <a:ext cx="8138160" cy="3291840"/>
          </a:xfrm>
          <a:prstGeom prst="rect">
            <a:avLst/>
          </a:prstGeom>
          <a:noFill/>
          <a:ln/>
        </p:spPr>
        <p:txBody>
          <a:bodyPr wrap="square" lIns="254" tIns="254" rIns="254" bIns="254" rtlCol="0" anchor="ctr">
            <a:normAutofit/>
          </a:bodyPr>
          <a:lstStyle/>
          <a:p>
            <a:pPr indent="0" marL="0">
              <a:buNone/>
            </a:pPr>
            <a:r>
              <a:rPr lang="en-US" sz="1800" dirty="0">
                <a:solidFill>
                  <a:srgbClr val="303846"/>
                </a:solidFill>
                <a:latin typeface="Aptos" pitchFamily="34" charset="0"/>
                <a:ea typeface="Aptos" pitchFamily="34" charset="-122"/>
                <a:cs typeface="Aptos" pitchFamily="34" charset="-120"/>
              </a:rPr>
              <a:t>▸ Create a prompt agent with a clear business role.</a:t>
            </a:r>
            <a:endParaRPr lang="en-US" sz="1800" dirty="0"/>
          </a:p>
          <a:p>
            <a:pPr indent="0" marL="0">
              <a:buNone/>
            </a:pPr>
            <a:r>
              <a:rPr lang="en-US" sz="1800" dirty="0">
                <a:solidFill>
                  <a:srgbClr val="303846"/>
                </a:solidFill>
                <a:latin typeface="Aptos" pitchFamily="34" charset="0"/>
                <a:ea typeface="Aptos" pitchFamily="34" charset="-122"/>
                <a:cs typeface="Aptos" pitchFamily="34" charset="-120"/>
              </a:rPr>
              <a:t>▸ Add instructions, boundaries, and escalation behavior.</a:t>
            </a:r>
            <a:endParaRPr lang="en-US" sz="1800" dirty="0"/>
          </a:p>
          <a:p>
            <a:pPr indent="0" marL="0">
              <a:buNone/>
            </a:pPr>
            <a:r>
              <a:rPr lang="en-US" sz="1800" dirty="0">
                <a:solidFill>
                  <a:srgbClr val="303846"/>
                </a:solidFill>
                <a:latin typeface="Aptos" pitchFamily="34" charset="0"/>
                <a:ea typeface="Aptos" pitchFamily="34" charset="-122"/>
                <a:cs typeface="Aptos" pitchFamily="34" charset="-120"/>
              </a:rPr>
              <a:t>▸ Test approved and prohibited requests.</a:t>
            </a:r>
            <a:endParaRPr lang="en-US" sz="1800" dirty="0"/>
          </a:p>
          <a:p>
            <a:pPr indent="0" marL="0">
              <a:buNone/>
            </a:pPr>
            <a:r>
              <a:rPr lang="en-US" sz="1800" dirty="0">
                <a:solidFill>
                  <a:srgbClr val="303846"/>
                </a:solidFill>
                <a:latin typeface="Aptos" pitchFamily="34" charset="0"/>
                <a:ea typeface="Aptos" pitchFamily="34" charset="-122"/>
                <a:cs typeface="Aptos" pitchFamily="34" charset="-120"/>
              </a:rPr>
              <a:t>▸ Create or inspect a version.</a:t>
            </a:r>
            <a:endParaRPr lang="en-US" sz="1800" dirty="0"/>
          </a:p>
          <a:p>
            <a:pPr indent="0" marL="0">
              <a:buNone/>
            </a:pPr>
            <a:r>
              <a:rPr lang="en-US" sz="1800" dirty="0">
                <a:solidFill>
                  <a:srgbClr val="303846"/>
                </a:solidFill>
                <a:latin typeface="Aptos" pitchFamily="34" charset="0"/>
                <a:ea typeface="Aptos" pitchFamily="34" charset="-122"/>
                <a:cs typeface="Aptos" pitchFamily="34" charset="-120"/>
              </a:rPr>
              <a:t>▸ Publish the agent endpoint for controlled use.</a:t>
            </a:r>
            <a:endParaRPr lang="en-US" sz="1800" dirty="0"/>
          </a:p>
        </p:txBody>
      </p:sp>
      <p:sp>
        <p:nvSpPr>
          <p:cNvPr id="9" name="Shape 7"/>
          <p:cNvSpPr/>
          <p:nvPr/>
        </p:nvSpPr>
        <p:spPr>
          <a:xfrm>
            <a:off x="9098280" y="2148840"/>
            <a:ext cx="2331720" cy="1371600"/>
          </a:xfrm>
          <a:prstGeom prst="rect">
            <a:avLst/>
          </a:prstGeom>
          <a:solidFill>
            <a:srgbClr val="F4F8FB"/>
          </a:solidFill>
          <a:ln w="12700">
            <a:solidFill>
              <a:srgbClr val="E7EEF4"/>
            </a:solidFill>
            <a:prstDash val="solid"/>
          </a:ln>
        </p:spPr>
      </p:sp>
      <p:sp>
        <p:nvSpPr>
          <p:cNvPr id="10" name="Shape 8"/>
          <p:cNvSpPr/>
          <p:nvPr/>
        </p:nvSpPr>
        <p:spPr>
          <a:xfrm>
            <a:off x="9253728" y="2304288"/>
            <a:ext cx="219456" cy="219456"/>
          </a:xfrm>
          <a:prstGeom prst="ellipse">
            <a:avLst/>
          </a:prstGeom>
          <a:solidFill>
            <a:srgbClr val="06A9C8"/>
          </a:solidFill>
          <a:ln w="12700">
            <a:solidFill>
              <a:srgbClr val="06A9C8"/>
            </a:solidFill>
            <a:prstDash val="solid"/>
          </a:ln>
        </p:spPr>
      </p:sp>
      <p:sp>
        <p:nvSpPr>
          <p:cNvPr id="11" name="Text 9"/>
          <p:cNvSpPr/>
          <p:nvPr/>
        </p:nvSpPr>
        <p:spPr>
          <a:xfrm>
            <a:off x="9308592" y="232257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37192" y="227685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Lab outcome</a:t>
            </a:r>
            <a:endParaRPr lang="en-US" sz="1080" dirty="0"/>
          </a:p>
        </p:txBody>
      </p:sp>
      <p:sp>
        <p:nvSpPr>
          <p:cNvPr id="13" name="Text 11"/>
          <p:cNvSpPr/>
          <p:nvPr/>
        </p:nvSpPr>
        <p:spPr>
          <a:xfrm>
            <a:off x="9308592" y="2606040"/>
            <a:ext cx="1920240" cy="804672"/>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A governed prompt agent with tested behavior and a stable endpoint.</a:t>
            </a:r>
            <a:endParaRPr lang="en-US" sz="96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4 · Lecture 20</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Lab Validation Checklist</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The lab is complete only when behavior and governance are both verified.</a:t>
            </a:r>
            <a:endParaRPr lang="en-US" sz="1500" dirty="0"/>
          </a:p>
        </p:txBody>
      </p:sp>
      <p:sp>
        <p:nvSpPr>
          <p:cNvPr id="8" name="Text 6"/>
          <p:cNvSpPr/>
          <p:nvPr/>
        </p:nvSpPr>
        <p:spPr>
          <a:xfrm>
            <a:off x="658368" y="1874520"/>
            <a:ext cx="8138160" cy="3291840"/>
          </a:xfrm>
          <a:prstGeom prst="rect">
            <a:avLst/>
          </a:prstGeom>
          <a:noFill/>
          <a:ln/>
        </p:spPr>
        <p:txBody>
          <a:bodyPr wrap="square" lIns="254" tIns="254" rIns="254" bIns="254" rtlCol="0" anchor="ctr">
            <a:normAutofit/>
          </a:bodyPr>
          <a:lstStyle/>
          <a:p>
            <a:pPr indent="0" marL="0">
              <a:buNone/>
            </a:pPr>
            <a:r>
              <a:rPr lang="en-US" sz="1800" dirty="0">
                <a:solidFill>
                  <a:srgbClr val="303846"/>
                </a:solidFill>
                <a:latin typeface="Aptos" pitchFamily="34" charset="0"/>
                <a:ea typeface="Aptos" pitchFamily="34" charset="-122"/>
                <a:cs typeface="Aptos" pitchFamily="34" charset="-120"/>
              </a:rPr>
              <a:t>▸ The agent answers expected business questions clearly.</a:t>
            </a:r>
            <a:endParaRPr lang="en-US" sz="1800" dirty="0"/>
          </a:p>
          <a:p>
            <a:pPr indent="0" marL="0">
              <a:buNone/>
            </a:pPr>
            <a:r>
              <a:rPr lang="en-US" sz="1800" dirty="0">
                <a:solidFill>
                  <a:srgbClr val="303846"/>
                </a:solidFill>
                <a:latin typeface="Aptos" pitchFamily="34" charset="0"/>
                <a:ea typeface="Aptos" pitchFamily="34" charset="-122"/>
                <a:cs typeface="Aptos" pitchFamily="34" charset="-120"/>
              </a:rPr>
              <a:t>▸ The agent refuses or escalates prohibited requests.</a:t>
            </a:r>
            <a:endParaRPr lang="en-US" sz="1800" dirty="0"/>
          </a:p>
          <a:p>
            <a:pPr indent="0" marL="0">
              <a:buNone/>
            </a:pPr>
            <a:r>
              <a:rPr lang="en-US" sz="1800" dirty="0">
                <a:solidFill>
                  <a:srgbClr val="303846"/>
                </a:solidFill>
                <a:latin typeface="Aptos" pitchFamily="34" charset="0"/>
                <a:ea typeface="Aptos" pitchFamily="34" charset="-122"/>
                <a:cs typeface="Aptos" pitchFamily="34" charset="-120"/>
              </a:rPr>
              <a:t>▸ The agent version reflects the tested configuration.</a:t>
            </a:r>
            <a:endParaRPr lang="en-US" sz="1800" dirty="0"/>
          </a:p>
          <a:p>
            <a:pPr indent="0" marL="0">
              <a:buNone/>
            </a:pPr>
            <a:r>
              <a:rPr lang="en-US" sz="1800" dirty="0">
                <a:solidFill>
                  <a:srgbClr val="303846"/>
                </a:solidFill>
                <a:latin typeface="Aptos" pitchFamily="34" charset="0"/>
                <a:ea typeface="Aptos" pitchFamily="34" charset="-122"/>
                <a:cs typeface="Aptos" pitchFamily="34" charset="-120"/>
              </a:rPr>
              <a:t>▸ The endpoint is stable and ready for later sections.</a:t>
            </a:r>
            <a:endParaRPr lang="en-US" sz="1800" dirty="0"/>
          </a:p>
          <a:p>
            <a:pPr indent="0" marL="0">
              <a:buNone/>
            </a:pPr>
            <a:r>
              <a:rPr lang="en-US" sz="1800" dirty="0">
                <a:solidFill>
                  <a:srgbClr val="303846"/>
                </a:solidFill>
                <a:latin typeface="Aptos" pitchFamily="34" charset="0"/>
                <a:ea typeface="Aptos" pitchFamily="34" charset="-122"/>
                <a:cs typeface="Aptos" pitchFamily="34" charset="-120"/>
              </a:rPr>
              <a:t>▸ The learner can explain which controls were applied.</a:t>
            </a:r>
            <a:endParaRPr lang="en-US" sz="1800" dirty="0"/>
          </a:p>
        </p:txBody>
      </p:sp>
      <p:sp>
        <p:nvSpPr>
          <p:cNvPr id="9" name="Shape 7"/>
          <p:cNvSpPr/>
          <p:nvPr/>
        </p:nvSpPr>
        <p:spPr>
          <a:xfrm>
            <a:off x="9098280" y="2148840"/>
            <a:ext cx="2331720" cy="1371600"/>
          </a:xfrm>
          <a:prstGeom prst="rect">
            <a:avLst/>
          </a:prstGeom>
          <a:solidFill>
            <a:srgbClr val="F4F8FB"/>
          </a:solidFill>
          <a:ln w="12700">
            <a:solidFill>
              <a:srgbClr val="E7EEF4"/>
            </a:solidFill>
            <a:prstDash val="solid"/>
          </a:ln>
        </p:spPr>
      </p:sp>
      <p:sp>
        <p:nvSpPr>
          <p:cNvPr id="10" name="Shape 8"/>
          <p:cNvSpPr/>
          <p:nvPr/>
        </p:nvSpPr>
        <p:spPr>
          <a:xfrm>
            <a:off x="9253728" y="2304288"/>
            <a:ext cx="219456" cy="219456"/>
          </a:xfrm>
          <a:prstGeom prst="ellipse">
            <a:avLst/>
          </a:prstGeom>
          <a:solidFill>
            <a:srgbClr val="06A9C8"/>
          </a:solidFill>
          <a:ln w="12700">
            <a:solidFill>
              <a:srgbClr val="06A9C8"/>
            </a:solidFill>
            <a:prstDash val="solid"/>
          </a:ln>
        </p:spPr>
      </p:sp>
      <p:sp>
        <p:nvSpPr>
          <p:cNvPr id="11" name="Text 9"/>
          <p:cNvSpPr/>
          <p:nvPr/>
        </p:nvSpPr>
        <p:spPr>
          <a:xfrm>
            <a:off x="9308592" y="232257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37192" y="227685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Lab outcome</a:t>
            </a:r>
            <a:endParaRPr lang="en-US" sz="1080" dirty="0"/>
          </a:p>
        </p:txBody>
      </p:sp>
      <p:sp>
        <p:nvSpPr>
          <p:cNvPr id="13" name="Text 11"/>
          <p:cNvSpPr/>
          <p:nvPr/>
        </p:nvSpPr>
        <p:spPr>
          <a:xfrm>
            <a:off x="9308592" y="2606040"/>
            <a:ext cx="1920240" cy="804672"/>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Capture the agent name, version, and one passing and failing test prompt.</a:t>
            </a:r>
            <a:endParaRPr lang="en-US" sz="96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4 Review</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Section 4 — Section Review</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Key takeaways and transition to the next section.</a:t>
            </a:r>
            <a:endParaRPr lang="en-US" sz="1500" dirty="0"/>
          </a:p>
        </p:txBody>
      </p:sp>
      <p:sp>
        <p:nvSpPr>
          <p:cNvPr id="8" name="Shape 6"/>
          <p:cNvSpPr/>
          <p:nvPr/>
        </p:nvSpPr>
        <p:spPr>
          <a:xfrm>
            <a:off x="658368" y="1938528"/>
            <a:ext cx="2423160" cy="1234440"/>
          </a:xfrm>
          <a:prstGeom prst="rect">
            <a:avLst/>
          </a:prstGeom>
          <a:solidFill>
            <a:srgbClr val="F4F8FB"/>
          </a:solidFill>
          <a:ln w="12700">
            <a:solidFill>
              <a:srgbClr val="E4EEF4"/>
            </a:solidFill>
            <a:prstDash val="solid"/>
          </a:ln>
        </p:spPr>
      </p:sp>
      <p:sp>
        <p:nvSpPr>
          <p:cNvPr id="9" name="Text 7"/>
          <p:cNvSpPr/>
          <p:nvPr/>
        </p:nvSpPr>
        <p:spPr>
          <a:xfrm>
            <a:off x="822960" y="2075688"/>
            <a:ext cx="2093976" cy="182880"/>
          </a:xfrm>
          <a:prstGeom prst="rect">
            <a:avLst/>
          </a:prstGeom>
          <a:noFill/>
          <a:ln/>
        </p:spPr>
        <p:txBody>
          <a:bodyPr wrap="square" lIns="0" tIns="0" rIns="0" bIns="0" rtlCol="0" anchor="ctr"/>
          <a:lstStyle/>
          <a:p>
            <a:pPr indent="0" marL="0">
              <a:buNone/>
            </a:pPr>
            <a:r>
              <a:rPr lang="en-US" sz="1050" b="1" dirty="0">
                <a:solidFill>
                  <a:srgbClr val="06A9C8"/>
                </a:solidFill>
                <a:latin typeface="Aptos" pitchFamily="34" charset="0"/>
                <a:ea typeface="Aptos" pitchFamily="34" charset="-122"/>
                <a:cs typeface="Aptos" pitchFamily="34" charset="-120"/>
              </a:rPr>
              <a:t>Takeaway 1</a:t>
            </a:r>
            <a:endParaRPr lang="en-US" sz="1050" dirty="0"/>
          </a:p>
        </p:txBody>
      </p:sp>
      <p:sp>
        <p:nvSpPr>
          <p:cNvPr id="10" name="Text 8"/>
          <p:cNvSpPr/>
          <p:nvPr/>
        </p:nvSpPr>
        <p:spPr>
          <a:xfrm>
            <a:off x="822960" y="2368296"/>
            <a:ext cx="2093976" cy="621792"/>
          </a:xfrm>
          <a:prstGeom prst="rect">
            <a:avLst/>
          </a:prstGeom>
          <a:noFill/>
          <a:ln/>
        </p:spPr>
        <p:txBody>
          <a:bodyPr wrap="square" lIns="254" tIns="254" rIns="254" bIns="254" rtlCol="0" anchor="ctr">
            <a:normAutofit/>
          </a:bodyPr>
          <a:lstStyle/>
          <a:p>
            <a:pPr indent="0" marL="0">
              <a:buNone/>
            </a:pPr>
            <a:r>
              <a:rPr lang="en-US" sz="1150" dirty="0">
                <a:solidFill>
                  <a:srgbClr val="303846"/>
                </a:solidFill>
                <a:latin typeface="Aptos" pitchFamily="34" charset="0"/>
                <a:ea typeface="Aptos" pitchFamily="34" charset="-122"/>
                <a:cs typeface="Aptos" pitchFamily="34" charset="-120"/>
              </a:rPr>
              <a:t>Prompt agents are appropriate when managed configuration meets the business need.</a:t>
            </a:r>
            <a:endParaRPr lang="en-US" sz="1150" dirty="0"/>
          </a:p>
        </p:txBody>
      </p:sp>
      <p:sp>
        <p:nvSpPr>
          <p:cNvPr id="11" name="Shape 9"/>
          <p:cNvSpPr/>
          <p:nvPr/>
        </p:nvSpPr>
        <p:spPr>
          <a:xfrm>
            <a:off x="3310128" y="1938528"/>
            <a:ext cx="2423160" cy="1234440"/>
          </a:xfrm>
          <a:prstGeom prst="rect">
            <a:avLst/>
          </a:prstGeom>
          <a:solidFill>
            <a:srgbClr val="EDF6FA"/>
          </a:solidFill>
          <a:ln w="12700">
            <a:solidFill>
              <a:srgbClr val="E4EEF4"/>
            </a:solidFill>
            <a:prstDash val="solid"/>
          </a:ln>
        </p:spPr>
      </p:sp>
      <p:sp>
        <p:nvSpPr>
          <p:cNvPr id="12" name="Text 10"/>
          <p:cNvSpPr/>
          <p:nvPr/>
        </p:nvSpPr>
        <p:spPr>
          <a:xfrm>
            <a:off x="3474720" y="2075688"/>
            <a:ext cx="2093976" cy="182880"/>
          </a:xfrm>
          <a:prstGeom prst="rect">
            <a:avLst/>
          </a:prstGeom>
          <a:noFill/>
          <a:ln/>
        </p:spPr>
        <p:txBody>
          <a:bodyPr wrap="square" lIns="0" tIns="0" rIns="0" bIns="0" rtlCol="0" anchor="ctr"/>
          <a:lstStyle/>
          <a:p>
            <a:pPr indent="0" marL="0">
              <a:buNone/>
            </a:pPr>
            <a:r>
              <a:rPr lang="en-US" sz="1050" b="1" dirty="0">
                <a:solidFill>
                  <a:srgbClr val="06A9C8"/>
                </a:solidFill>
                <a:latin typeface="Aptos" pitchFamily="34" charset="0"/>
                <a:ea typeface="Aptos" pitchFamily="34" charset="-122"/>
                <a:cs typeface="Aptos" pitchFamily="34" charset="-120"/>
              </a:rPr>
              <a:t>Takeaway 2</a:t>
            </a:r>
            <a:endParaRPr lang="en-US" sz="1050" dirty="0"/>
          </a:p>
        </p:txBody>
      </p:sp>
      <p:sp>
        <p:nvSpPr>
          <p:cNvPr id="13" name="Text 11"/>
          <p:cNvSpPr/>
          <p:nvPr/>
        </p:nvSpPr>
        <p:spPr>
          <a:xfrm>
            <a:off x="3474720" y="2368296"/>
            <a:ext cx="2093976" cy="621792"/>
          </a:xfrm>
          <a:prstGeom prst="rect">
            <a:avLst/>
          </a:prstGeom>
          <a:noFill/>
          <a:ln/>
        </p:spPr>
        <p:txBody>
          <a:bodyPr wrap="square" lIns="254" tIns="254" rIns="254" bIns="254" rtlCol="0" anchor="ctr">
            <a:normAutofit/>
          </a:bodyPr>
          <a:lstStyle/>
          <a:p>
            <a:pPr indent="0" marL="0">
              <a:buNone/>
            </a:pPr>
            <a:r>
              <a:rPr lang="en-US" sz="1150" dirty="0">
                <a:solidFill>
                  <a:srgbClr val="303846"/>
                </a:solidFill>
                <a:latin typeface="Aptos" pitchFamily="34" charset="0"/>
                <a:ea typeface="Aptos" pitchFamily="34" charset="-122"/>
                <a:cs typeface="Aptos" pitchFamily="34" charset="-120"/>
              </a:rPr>
              <a:t>Hosted agents add control but also increase ownership responsibility.</a:t>
            </a:r>
            <a:endParaRPr lang="en-US" sz="1150" dirty="0"/>
          </a:p>
        </p:txBody>
      </p:sp>
      <p:sp>
        <p:nvSpPr>
          <p:cNvPr id="14" name="Shape 12"/>
          <p:cNvSpPr/>
          <p:nvPr/>
        </p:nvSpPr>
        <p:spPr>
          <a:xfrm>
            <a:off x="5961888" y="1938528"/>
            <a:ext cx="2423160" cy="1234440"/>
          </a:xfrm>
          <a:prstGeom prst="rect">
            <a:avLst/>
          </a:prstGeom>
          <a:solidFill>
            <a:srgbClr val="F4F8FB"/>
          </a:solidFill>
          <a:ln w="12700">
            <a:solidFill>
              <a:srgbClr val="E4EEF4"/>
            </a:solidFill>
            <a:prstDash val="solid"/>
          </a:ln>
        </p:spPr>
      </p:sp>
      <p:sp>
        <p:nvSpPr>
          <p:cNvPr id="15" name="Text 13"/>
          <p:cNvSpPr/>
          <p:nvPr/>
        </p:nvSpPr>
        <p:spPr>
          <a:xfrm>
            <a:off x="6126480" y="2075688"/>
            <a:ext cx="2093976" cy="182880"/>
          </a:xfrm>
          <a:prstGeom prst="rect">
            <a:avLst/>
          </a:prstGeom>
          <a:noFill/>
          <a:ln/>
        </p:spPr>
        <p:txBody>
          <a:bodyPr wrap="square" lIns="0" tIns="0" rIns="0" bIns="0" rtlCol="0" anchor="ctr"/>
          <a:lstStyle/>
          <a:p>
            <a:pPr indent="0" marL="0">
              <a:buNone/>
            </a:pPr>
            <a:r>
              <a:rPr lang="en-US" sz="1050" b="1" dirty="0">
                <a:solidFill>
                  <a:srgbClr val="06A9C8"/>
                </a:solidFill>
                <a:latin typeface="Aptos" pitchFamily="34" charset="0"/>
                <a:ea typeface="Aptos" pitchFamily="34" charset="-122"/>
                <a:cs typeface="Aptos" pitchFamily="34" charset="-120"/>
              </a:rPr>
              <a:t>Takeaway 3</a:t>
            </a:r>
            <a:endParaRPr lang="en-US" sz="1050" dirty="0"/>
          </a:p>
        </p:txBody>
      </p:sp>
      <p:sp>
        <p:nvSpPr>
          <p:cNvPr id="16" name="Text 14"/>
          <p:cNvSpPr/>
          <p:nvPr/>
        </p:nvSpPr>
        <p:spPr>
          <a:xfrm>
            <a:off x="6126480" y="2368296"/>
            <a:ext cx="2093976" cy="621792"/>
          </a:xfrm>
          <a:prstGeom prst="rect">
            <a:avLst/>
          </a:prstGeom>
          <a:noFill/>
          <a:ln/>
        </p:spPr>
        <p:txBody>
          <a:bodyPr wrap="square" lIns="254" tIns="254" rIns="254" bIns="254" rtlCol="0" anchor="ctr">
            <a:normAutofit/>
          </a:bodyPr>
          <a:lstStyle/>
          <a:p>
            <a:pPr indent="0" marL="0">
              <a:buNone/>
            </a:pPr>
            <a:r>
              <a:rPr lang="en-US" sz="1150" dirty="0">
                <a:solidFill>
                  <a:srgbClr val="303846"/>
                </a:solidFill>
                <a:latin typeface="Aptos" pitchFamily="34" charset="0"/>
                <a:ea typeface="Aptos" pitchFamily="34" charset="-122"/>
                <a:cs typeface="Aptos" pitchFamily="34" charset="-120"/>
              </a:rPr>
              <a:t>Agent versions and publishing make behavior manageable over time.</a:t>
            </a:r>
            <a:endParaRPr lang="en-US" sz="1150" dirty="0"/>
          </a:p>
        </p:txBody>
      </p:sp>
      <p:sp>
        <p:nvSpPr>
          <p:cNvPr id="17" name="Shape 15"/>
          <p:cNvSpPr/>
          <p:nvPr/>
        </p:nvSpPr>
        <p:spPr>
          <a:xfrm>
            <a:off x="8613648" y="1938528"/>
            <a:ext cx="2423160" cy="1234440"/>
          </a:xfrm>
          <a:prstGeom prst="rect">
            <a:avLst/>
          </a:prstGeom>
          <a:solidFill>
            <a:srgbClr val="EDF6FA"/>
          </a:solidFill>
          <a:ln w="12700">
            <a:solidFill>
              <a:srgbClr val="E4EEF4"/>
            </a:solidFill>
            <a:prstDash val="solid"/>
          </a:ln>
        </p:spPr>
      </p:sp>
      <p:sp>
        <p:nvSpPr>
          <p:cNvPr id="18" name="Text 16"/>
          <p:cNvSpPr/>
          <p:nvPr/>
        </p:nvSpPr>
        <p:spPr>
          <a:xfrm>
            <a:off x="8778240" y="2075688"/>
            <a:ext cx="2093976" cy="182880"/>
          </a:xfrm>
          <a:prstGeom prst="rect">
            <a:avLst/>
          </a:prstGeom>
          <a:noFill/>
          <a:ln/>
        </p:spPr>
        <p:txBody>
          <a:bodyPr wrap="square" lIns="0" tIns="0" rIns="0" bIns="0" rtlCol="0" anchor="ctr"/>
          <a:lstStyle/>
          <a:p>
            <a:pPr indent="0" marL="0">
              <a:buNone/>
            </a:pPr>
            <a:r>
              <a:rPr lang="en-US" sz="1050" b="1" dirty="0">
                <a:solidFill>
                  <a:srgbClr val="06A9C8"/>
                </a:solidFill>
                <a:latin typeface="Aptos" pitchFamily="34" charset="0"/>
                <a:ea typeface="Aptos" pitchFamily="34" charset="-122"/>
                <a:cs typeface="Aptos" pitchFamily="34" charset="-120"/>
              </a:rPr>
              <a:t>Takeaway 4</a:t>
            </a:r>
            <a:endParaRPr lang="en-US" sz="1050" dirty="0"/>
          </a:p>
        </p:txBody>
      </p:sp>
      <p:sp>
        <p:nvSpPr>
          <p:cNvPr id="19" name="Text 17"/>
          <p:cNvSpPr/>
          <p:nvPr/>
        </p:nvSpPr>
        <p:spPr>
          <a:xfrm>
            <a:off x="8778240" y="2368296"/>
            <a:ext cx="2093976" cy="621792"/>
          </a:xfrm>
          <a:prstGeom prst="rect">
            <a:avLst/>
          </a:prstGeom>
          <a:noFill/>
          <a:ln/>
        </p:spPr>
        <p:txBody>
          <a:bodyPr wrap="square" lIns="254" tIns="254" rIns="254" bIns="254" rtlCol="0" anchor="ctr">
            <a:normAutofit/>
          </a:bodyPr>
          <a:lstStyle/>
          <a:p>
            <a:pPr indent="0" marL="0">
              <a:buNone/>
            </a:pPr>
            <a:r>
              <a:rPr lang="en-US" sz="1150" dirty="0">
                <a:solidFill>
                  <a:srgbClr val="303846"/>
                </a:solidFill>
                <a:latin typeface="Aptos" pitchFamily="34" charset="0"/>
                <a:ea typeface="Aptos" pitchFamily="34" charset="-122"/>
                <a:cs typeface="Aptos" pitchFamily="34" charset="-120"/>
              </a:rPr>
              <a:t>Identity, tool limits, approvals, and monitoring form the control stack.</a:t>
            </a:r>
            <a:endParaRPr lang="en-US" sz="1150" dirty="0"/>
          </a:p>
        </p:txBody>
      </p:sp>
      <p:sp>
        <p:nvSpPr>
          <p:cNvPr id="20" name="Shape 18"/>
          <p:cNvSpPr/>
          <p:nvPr/>
        </p:nvSpPr>
        <p:spPr>
          <a:xfrm>
            <a:off x="9966960" y="4206240"/>
            <a:ext cx="1280160" cy="530352"/>
          </a:xfrm>
          <a:prstGeom prst="chevron">
            <a:avLst/>
          </a:prstGeom>
          <a:solidFill>
            <a:srgbClr val="06A9C8"/>
          </a:solidFill>
          <a:ln w="12700">
            <a:solidFill>
              <a:srgbClr val="06A9C8"/>
            </a:solidFill>
            <a:prstDash val="solid"/>
          </a:ln>
        </p:spPr>
      </p:sp>
      <p:sp>
        <p:nvSpPr>
          <p:cNvPr id="21" name="Text 19"/>
          <p:cNvSpPr/>
          <p:nvPr/>
        </p:nvSpPr>
        <p:spPr>
          <a:xfrm>
            <a:off x="10040112" y="4370832"/>
            <a:ext cx="1024128" cy="201168"/>
          </a:xfrm>
          <a:prstGeom prst="rect">
            <a:avLst/>
          </a:prstGeom>
          <a:noFill/>
          <a:ln/>
        </p:spPr>
        <p:txBody>
          <a:bodyPr wrap="square" lIns="0" tIns="0" rIns="0" bIns="0" rtlCol="0" anchor="ctr">
            <a:normAutofit/>
          </a:bodyPr>
          <a:lstStyle/>
          <a:p>
            <a:pPr algn="ctr" indent="0" marL="0">
              <a:buNone/>
            </a:pPr>
            <a:r>
              <a:rPr lang="en-US" sz="950" b="1" dirty="0">
                <a:solidFill>
                  <a:srgbClr val="FFFFFF"/>
                </a:solidFill>
                <a:latin typeface="Aptos" pitchFamily="34" charset="0"/>
                <a:ea typeface="Aptos" pitchFamily="34" charset="-122"/>
                <a:cs typeface="Aptos" pitchFamily="34" charset="-120"/>
              </a:rPr>
              <a:t>Next: grounding agents with Foundry IQ.</a:t>
            </a:r>
            <a:endParaRPr lang="en-US" sz="9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658368" y="1024128"/>
            <a:ext cx="2194560" cy="329184"/>
          </a:xfrm>
          <a:prstGeom prst="rect">
            <a:avLst/>
          </a:prstGeom>
          <a:noFill/>
          <a:ln/>
        </p:spPr>
        <p:txBody>
          <a:bodyPr wrap="square" lIns="0" tIns="0" rIns="0" bIns="0" rtlCol="0" anchor="ctr"/>
          <a:lstStyle/>
          <a:p>
            <a:pPr indent="0" marL="0">
              <a:buNone/>
            </a:pPr>
            <a:r>
              <a:rPr lang="en-US" sz="1600" dirty="0">
                <a:solidFill>
                  <a:srgbClr val="06A9C8"/>
                </a:solidFill>
                <a:latin typeface="Aptos" pitchFamily="34" charset="0"/>
                <a:ea typeface="Aptos" pitchFamily="34" charset="-122"/>
                <a:cs typeface="Aptos" pitchFamily="34" charset="-120"/>
              </a:rPr>
              <a:t>Section 5</a:t>
            </a:r>
            <a:endParaRPr lang="en-US" sz="1600" dirty="0"/>
          </a:p>
        </p:txBody>
      </p:sp>
      <p:sp>
        <p:nvSpPr>
          <p:cNvPr id="6" name="Text 4"/>
          <p:cNvSpPr/>
          <p:nvPr/>
        </p:nvSpPr>
        <p:spPr>
          <a:xfrm>
            <a:off x="658368" y="1554480"/>
            <a:ext cx="7040880" cy="841248"/>
          </a:xfrm>
          <a:prstGeom prst="rect">
            <a:avLst/>
          </a:prstGeom>
          <a:noFill/>
          <a:ln/>
        </p:spPr>
        <p:txBody>
          <a:bodyPr wrap="square" lIns="0" tIns="0" rIns="0" bIns="0" rtlCol="0" anchor="ctr">
            <a:normAutofit/>
          </a:bodyPr>
          <a:lstStyle/>
          <a:p>
            <a:pPr indent="0" marL="0">
              <a:buNone/>
            </a:pPr>
            <a:r>
              <a:rPr lang="en-US" sz="3100" dirty="0">
                <a:solidFill>
                  <a:srgbClr val="172033"/>
                </a:solidFill>
                <a:latin typeface="Aptos Display" pitchFamily="34" charset="0"/>
                <a:ea typeface="Aptos Display" pitchFamily="34" charset="-122"/>
                <a:cs typeface="Aptos Display" pitchFamily="34" charset="-120"/>
              </a:rPr>
              <a:t>Ground Agents with Foundry IQ</a:t>
            </a:r>
            <a:endParaRPr lang="en-US" sz="3100" dirty="0"/>
          </a:p>
        </p:txBody>
      </p:sp>
      <p:sp>
        <p:nvSpPr>
          <p:cNvPr id="7" name="Text 5"/>
          <p:cNvSpPr/>
          <p:nvPr/>
        </p:nvSpPr>
        <p:spPr>
          <a:xfrm>
            <a:off x="658368" y="2578608"/>
            <a:ext cx="7132320" cy="640080"/>
          </a:xfrm>
          <a:prstGeom prst="rect">
            <a:avLst/>
          </a:prstGeom>
          <a:noFill/>
          <a:ln/>
        </p:spPr>
        <p:txBody>
          <a:bodyPr wrap="square" lIns="0" tIns="0" rIns="0" bIns="0" rtlCol="0" anchor="ctr">
            <a:normAutofit/>
          </a:bodyPr>
          <a:lstStyle/>
          <a:p>
            <a:pPr indent="0" marL="0">
              <a:buNone/>
            </a:pPr>
            <a:r>
              <a:rPr lang="en-US" sz="1550" dirty="0">
                <a:solidFill>
                  <a:srgbClr val="6B7280"/>
                </a:solidFill>
                <a:latin typeface="Aptos" pitchFamily="34" charset="0"/>
                <a:ea typeface="Aptos" pitchFamily="34" charset="-122"/>
                <a:cs typeface="Aptos" pitchFamily="34" charset="-120"/>
              </a:rPr>
              <a:t>Connect agents to trusted enterprise knowledge so their answers can be grounded, cited, and permission-aware.</a:t>
            </a:r>
            <a:endParaRPr lang="en-US" sz="1550" dirty="0"/>
          </a:p>
        </p:txBody>
      </p:sp>
      <p:pic>
        <p:nvPicPr>
          <p:cNvPr id="8" name="Image 0" descr="/mnt/data/ref_pptx/ppt/media/image1.png">    </p:cNvPr>
          <p:cNvPicPr>
            <a:picLocks noChangeAspect="1"/>
          </p:cNvPicPr>
          <p:nvPr/>
        </p:nvPicPr>
        <p:blipFill>
          <a:blip r:embed="rId1"/>
          <a:stretch>
            <a:fillRect/>
          </a:stretch>
        </p:blipFill>
        <p:spPr>
          <a:xfrm>
            <a:off x="8092440" y="1097280"/>
            <a:ext cx="2468880" cy="246888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5</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Section Overview</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Ground Agents with Foundry IQ</a:t>
            </a:r>
            <a:endParaRPr lang="en-US" sz="1500" dirty="0"/>
          </a:p>
        </p:txBody>
      </p:sp>
      <p:sp>
        <p:nvSpPr>
          <p:cNvPr id="8" name="Text 6"/>
          <p:cNvSpPr/>
          <p:nvPr/>
        </p:nvSpPr>
        <p:spPr>
          <a:xfrm>
            <a:off x="658368" y="1965960"/>
            <a:ext cx="8001000" cy="3429000"/>
          </a:xfrm>
          <a:prstGeom prst="rect">
            <a:avLst/>
          </a:prstGeom>
          <a:noFill/>
          <a:ln/>
        </p:spPr>
        <p:txBody>
          <a:bodyPr wrap="square" lIns="254" tIns="254" rIns="254" bIns="254" rtlCol="0" anchor="ctr">
            <a:normAutofit/>
          </a:bodyPr>
          <a:lstStyle/>
          <a:p>
            <a:pPr indent="0" marL="0">
              <a:buNone/>
            </a:pPr>
            <a:r>
              <a:rPr lang="en-US" sz="1850" dirty="0">
                <a:solidFill>
                  <a:srgbClr val="303846"/>
                </a:solidFill>
                <a:latin typeface="Aptos" pitchFamily="34" charset="0"/>
                <a:ea typeface="Aptos" pitchFamily="34" charset="-122"/>
                <a:cs typeface="Aptos" pitchFamily="34" charset="-120"/>
              </a:rPr>
              <a:t>▸ Compare classic RAG with agentic retrieval.</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Create reusable knowledge sources and knowledge bases.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Understand how Azure AI Search supports indexing and retrieval.</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Validate citations and permission-aware access.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Ground a prompt agent using supplied enterprise documents.</a:t>
            </a:r>
            <a:endParaRPr lang="en-US" sz="1850" dirty="0"/>
          </a:p>
        </p:txBody>
      </p:sp>
      <p:sp>
        <p:nvSpPr>
          <p:cNvPr id="9" name="Shape 7"/>
          <p:cNvSpPr/>
          <p:nvPr/>
        </p:nvSpPr>
        <p:spPr>
          <a:xfrm>
            <a:off x="9144000" y="1965960"/>
            <a:ext cx="2331720" cy="1243584"/>
          </a:xfrm>
          <a:prstGeom prst="rect">
            <a:avLst/>
          </a:prstGeom>
          <a:solidFill>
            <a:srgbClr val="F4F8FB"/>
          </a:solidFill>
          <a:ln w="12700">
            <a:solidFill>
              <a:srgbClr val="E7EEF4"/>
            </a:solidFill>
            <a:prstDash val="solid"/>
          </a:ln>
        </p:spPr>
      </p:sp>
      <p:sp>
        <p:nvSpPr>
          <p:cNvPr id="10" name="Shape 8"/>
          <p:cNvSpPr/>
          <p:nvPr/>
        </p:nvSpPr>
        <p:spPr>
          <a:xfrm>
            <a:off x="9299448" y="2121408"/>
            <a:ext cx="219456" cy="219456"/>
          </a:xfrm>
          <a:prstGeom prst="ellipse">
            <a:avLst/>
          </a:prstGeom>
          <a:solidFill>
            <a:srgbClr val="06A9C8"/>
          </a:solidFill>
          <a:ln w="12700">
            <a:solidFill>
              <a:srgbClr val="06A9C8"/>
            </a:solidFill>
            <a:prstDash val="solid"/>
          </a:ln>
        </p:spPr>
      </p:sp>
      <p:sp>
        <p:nvSpPr>
          <p:cNvPr id="11" name="Text 9"/>
          <p:cNvSpPr/>
          <p:nvPr/>
        </p:nvSpPr>
        <p:spPr>
          <a:xfrm>
            <a:off x="9354312" y="213969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82912" y="209397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Section outcome</a:t>
            </a:r>
            <a:endParaRPr lang="en-US" sz="1080" dirty="0"/>
          </a:p>
        </p:txBody>
      </p:sp>
      <p:sp>
        <p:nvSpPr>
          <p:cNvPr id="13" name="Text 11"/>
          <p:cNvSpPr/>
          <p:nvPr/>
        </p:nvSpPr>
        <p:spPr>
          <a:xfrm>
            <a:off x="9354312" y="2423160"/>
            <a:ext cx="1920240" cy="676656"/>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design a knowledge-grounded agent that returns supported answers.</a:t>
            </a:r>
            <a:endParaRPr lang="en-US" sz="96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5 · Lecture 23</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Traditional RAG vs Agentic Retrieval</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Agentic retrieval gives the system more structure than a basic search-and-answer flow.</a:t>
            </a:r>
            <a:endParaRPr lang="en-US" sz="1500" dirty="0"/>
          </a:p>
        </p:txBody>
      </p:sp>
      <p:sp>
        <p:nvSpPr>
          <p:cNvPr id="8" name="Text 6"/>
          <p:cNvSpPr/>
          <p:nvPr/>
        </p:nvSpPr>
        <p:spPr>
          <a:xfrm>
            <a:off x="658368" y="1965960"/>
            <a:ext cx="8001000" cy="3429000"/>
          </a:xfrm>
          <a:prstGeom prst="rect">
            <a:avLst/>
          </a:prstGeom>
          <a:noFill/>
          <a:ln/>
        </p:spPr>
        <p:txBody>
          <a:bodyPr wrap="square" lIns="254" tIns="254" rIns="254" bIns="254" rtlCol="0" anchor="ctr">
            <a:normAutofit/>
          </a:bodyPr>
          <a:lstStyle/>
          <a:p>
            <a:pPr indent="0" marL="0">
              <a:buNone/>
            </a:pPr>
            <a:r>
              <a:rPr lang="en-US" sz="1850" dirty="0">
                <a:solidFill>
                  <a:srgbClr val="303846"/>
                </a:solidFill>
                <a:latin typeface="Aptos" pitchFamily="34" charset="0"/>
                <a:ea typeface="Aptos" pitchFamily="34" charset="-122"/>
                <a:cs typeface="Aptos" pitchFamily="34" charset="-120"/>
              </a:rPr>
              <a:t>▸ Traditional RAG retrieves passages and asks a model to respond from them.</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Agentic retrieval can plan the query, search multiple sources, and rerank results.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Grounded responses should cite supporting evidence.</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Private enterprise data requires permission-aware retrieval.</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Retrieval quality should be evaluated before publishing an agent.</a:t>
            </a:r>
            <a:endParaRPr lang="en-US" sz="1850" dirty="0"/>
          </a:p>
        </p:txBody>
      </p:sp>
      <p:sp>
        <p:nvSpPr>
          <p:cNvPr id="9" name="Shape 7"/>
          <p:cNvSpPr/>
          <p:nvPr/>
        </p:nvSpPr>
        <p:spPr>
          <a:xfrm>
            <a:off x="9144000" y="1965960"/>
            <a:ext cx="2331720" cy="1243584"/>
          </a:xfrm>
          <a:prstGeom prst="rect">
            <a:avLst/>
          </a:prstGeom>
          <a:solidFill>
            <a:srgbClr val="F4F8FB"/>
          </a:solidFill>
          <a:ln w="12700">
            <a:solidFill>
              <a:srgbClr val="E7EEF4"/>
            </a:solidFill>
            <a:prstDash val="solid"/>
          </a:ln>
        </p:spPr>
      </p:sp>
      <p:sp>
        <p:nvSpPr>
          <p:cNvPr id="10" name="Shape 8"/>
          <p:cNvSpPr/>
          <p:nvPr/>
        </p:nvSpPr>
        <p:spPr>
          <a:xfrm>
            <a:off x="9299448" y="2121408"/>
            <a:ext cx="219456" cy="219456"/>
          </a:xfrm>
          <a:prstGeom prst="ellipse">
            <a:avLst/>
          </a:prstGeom>
          <a:solidFill>
            <a:srgbClr val="06A9C8"/>
          </a:solidFill>
          <a:ln w="12700">
            <a:solidFill>
              <a:srgbClr val="06A9C8"/>
            </a:solidFill>
            <a:prstDash val="solid"/>
          </a:ln>
        </p:spPr>
      </p:sp>
      <p:sp>
        <p:nvSpPr>
          <p:cNvPr id="11" name="Text 9"/>
          <p:cNvSpPr/>
          <p:nvPr/>
        </p:nvSpPr>
        <p:spPr>
          <a:xfrm>
            <a:off x="9354312" y="213969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82912" y="209397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Outcome</a:t>
            </a:r>
            <a:endParaRPr lang="en-US" sz="1080" dirty="0"/>
          </a:p>
        </p:txBody>
      </p:sp>
      <p:sp>
        <p:nvSpPr>
          <p:cNvPr id="13" name="Text 11"/>
          <p:cNvSpPr/>
          <p:nvPr/>
        </p:nvSpPr>
        <p:spPr>
          <a:xfrm>
            <a:off x="9354312" y="2423160"/>
            <a:ext cx="1920240" cy="676656"/>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You can explain why Foundry IQ is more than a basic document-upload feature.</a:t>
            </a:r>
            <a:endParaRPr lang="en-US" sz="96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5 · Lecture 23</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When Retrieval Fails</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Grounding is not automatic just because documents exist.</a:t>
            </a:r>
            <a:endParaRPr lang="en-US" sz="1500" dirty="0"/>
          </a:p>
        </p:txBody>
      </p:sp>
      <p:sp>
        <p:nvSpPr>
          <p:cNvPr id="8" name="Text 6"/>
          <p:cNvSpPr/>
          <p:nvPr/>
        </p:nvSpPr>
        <p:spPr>
          <a:xfrm>
            <a:off x="658368" y="1965960"/>
            <a:ext cx="8001000" cy="3429000"/>
          </a:xfrm>
          <a:prstGeom prst="rect">
            <a:avLst/>
          </a:prstGeom>
          <a:noFill/>
          <a:ln/>
        </p:spPr>
        <p:txBody>
          <a:bodyPr wrap="square" lIns="254" tIns="254" rIns="254" bIns="254" rtlCol="0" anchor="ctr">
            <a:normAutofit/>
          </a:bodyPr>
          <a:lstStyle/>
          <a:p>
            <a:pPr indent="0" marL="0">
              <a:buNone/>
            </a:pPr>
            <a:r>
              <a:rPr lang="en-US" sz="1850" dirty="0">
                <a:solidFill>
                  <a:srgbClr val="303846"/>
                </a:solidFill>
                <a:latin typeface="Aptos" pitchFamily="34" charset="0"/>
                <a:ea typeface="Aptos" pitchFamily="34" charset="-122"/>
                <a:cs typeface="Aptos" pitchFamily="34" charset="-120"/>
              </a:rPr>
              <a:t>▸ The relevant content may not be indexed or chunked effectively.</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The query may not match the terms used in the source documents.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Permissions may block the answer even when the document exists.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The agent may answer from general knowledge when grounding is weak.</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Evaluation questions reveal retrieval gaps before production use.</a:t>
            </a:r>
            <a:endParaRPr lang="en-US" sz="1850" dirty="0"/>
          </a:p>
        </p:txBody>
      </p:sp>
      <p:sp>
        <p:nvSpPr>
          <p:cNvPr id="9" name="Shape 7"/>
          <p:cNvSpPr/>
          <p:nvPr/>
        </p:nvSpPr>
        <p:spPr>
          <a:xfrm>
            <a:off x="9144000" y="1965960"/>
            <a:ext cx="2331720" cy="1243584"/>
          </a:xfrm>
          <a:prstGeom prst="rect">
            <a:avLst/>
          </a:prstGeom>
          <a:solidFill>
            <a:srgbClr val="F4F8FB"/>
          </a:solidFill>
          <a:ln w="12700">
            <a:solidFill>
              <a:srgbClr val="E7EEF4"/>
            </a:solidFill>
            <a:prstDash val="solid"/>
          </a:ln>
        </p:spPr>
      </p:sp>
      <p:sp>
        <p:nvSpPr>
          <p:cNvPr id="10" name="Shape 8"/>
          <p:cNvSpPr/>
          <p:nvPr/>
        </p:nvSpPr>
        <p:spPr>
          <a:xfrm>
            <a:off x="9299448" y="2121408"/>
            <a:ext cx="219456" cy="219456"/>
          </a:xfrm>
          <a:prstGeom prst="ellipse">
            <a:avLst/>
          </a:prstGeom>
          <a:solidFill>
            <a:srgbClr val="06A9C8"/>
          </a:solidFill>
          <a:ln w="12700">
            <a:solidFill>
              <a:srgbClr val="06A9C8"/>
            </a:solidFill>
            <a:prstDash val="solid"/>
          </a:ln>
        </p:spPr>
      </p:sp>
      <p:sp>
        <p:nvSpPr>
          <p:cNvPr id="11" name="Text 9"/>
          <p:cNvSpPr/>
          <p:nvPr/>
        </p:nvSpPr>
        <p:spPr>
          <a:xfrm>
            <a:off x="9354312" y="213969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82912" y="209397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Failure signal</a:t>
            </a:r>
            <a:endParaRPr lang="en-US" sz="1080" dirty="0"/>
          </a:p>
        </p:txBody>
      </p:sp>
      <p:sp>
        <p:nvSpPr>
          <p:cNvPr id="13" name="Text 11"/>
          <p:cNvSpPr/>
          <p:nvPr/>
        </p:nvSpPr>
        <p:spPr>
          <a:xfrm>
            <a:off x="9354312" y="2423160"/>
            <a:ext cx="1920240" cy="676656"/>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If the answer lacks citations, treat it as unverified.</a:t>
            </a:r>
            <a:endParaRPr lang="en-US" sz="96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5 · Lecture 24</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Foundry IQ Knowledge Sources and Knowledge Bases</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Foundry IQ organizes enterprise knowledge so multiple agents can reuse it safely.</a:t>
            </a:r>
            <a:endParaRPr lang="en-US" sz="1500" dirty="0"/>
          </a:p>
        </p:txBody>
      </p:sp>
      <p:sp>
        <p:nvSpPr>
          <p:cNvPr id="8" name="Text 6"/>
          <p:cNvSpPr/>
          <p:nvPr/>
        </p:nvSpPr>
        <p:spPr>
          <a:xfrm>
            <a:off x="658368" y="1965960"/>
            <a:ext cx="8001000" cy="3429000"/>
          </a:xfrm>
          <a:prstGeom prst="rect">
            <a:avLst/>
          </a:prstGeom>
          <a:noFill/>
          <a:ln/>
        </p:spPr>
        <p:txBody>
          <a:bodyPr wrap="square" lIns="254" tIns="254" rIns="254" bIns="254" rtlCol="0" anchor="ctr">
            <a:normAutofit/>
          </a:bodyPr>
          <a:lstStyle/>
          <a:p>
            <a:pPr indent="0" marL="0">
              <a:buNone/>
            </a:pPr>
            <a:r>
              <a:rPr lang="en-US" sz="1850" dirty="0">
                <a:solidFill>
                  <a:srgbClr val="303846"/>
                </a:solidFill>
                <a:latin typeface="Aptos" pitchFamily="34" charset="0"/>
                <a:ea typeface="Aptos" pitchFamily="34" charset="-122"/>
                <a:cs typeface="Aptos" pitchFamily="34" charset="-120"/>
              </a:rPr>
              <a:t>▸ Knowledge sources connect to internal or external data locations.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A knowledge base groups sources and retrieval settings.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Multiple agents can share a knowledge base when the domain is common.</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Knowledge bases should have ownership, update cadence, and validation rules.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Citations help users and reviewers trace the answer back to evidence.</a:t>
            </a:r>
            <a:endParaRPr lang="en-US" sz="1850" dirty="0"/>
          </a:p>
        </p:txBody>
      </p:sp>
      <p:sp>
        <p:nvSpPr>
          <p:cNvPr id="9" name="Shape 7"/>
          <p:cNvSpPr/>
          <p:nvPr/>
        </p:nvSpPr>
        <p:spPr>
          <a:xfrm>
            <a:off x="9144000" y="1965960"/>
            <a:ext cx="2331720" cy="1243584"/>
          </a:xfrm>
          <a:prstGeom prst="rect">
            <a:avLst/>
          </a:prstGeom>
          <a:solidFill>
            <a:srgbClr val="F4F8FB"/>
          </a:solidFill>
          <a:ln w="12700">
            <a:solidFill>
              <a:srgbClr val="E7EEF4"/>
            </a:solidFill>
            <a:prstDash val="solid"/>
          </a:ln>
        </p:spPr>
      </p:sp>
      <p:sp>
        <p:nvSpPr>
          <p:cNvPr id="10" name="Shape 8"/>
          <p:cNvSpPr/>
          <p:nvPr/>
        </p:nvSpPr>
        <p:spPr>
          <a:xfrm>
            <a:off x="9299448" y="2121408"/>
            <a:ext cx="219456" cy="219456"/>
          </a:xfrm>
          <a:prstGeom prst="ellipse">
            <a:avLst/>
          </a:prstGeom>
          <a:solidFill>
            <a:srgbClr val="06A9C8"/>
          </a:solidFill>
          <a:ln w="12700">
            <a:solidFill>
              <a:srgbClr val="06A9C8"/>
            </a:solidFill>
            <a:prstDash val="solid"/>
          </a:ln>
        </p:spPr>
      </p:sp>
      <p:sp>
        <p:nvSpPr>
          <p:cNvPr id="11" name="Text 9"/>
          <p:cNvSpPr/>
          <p:nvPr/>
        </p:nvSpPr>
        <p:spPr>
          <a:xfrm>
            <a:off x="9354312" y="213969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82912" y="209397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Demonstration</a:t>
            </a:r>
            <a:endParaRPr lang="en-US" sz="1080" dirty="0"/>
          </a:p>
        </p:txBody>
      </p:sp>
      <p:sp>
        <p:nvSpPr>
          <p:cNvPr id="13" name="Text 11"/>
          <p:cNvSpPr/>
          <p:nvPr/>
        </p:nvSpPr>
        <p:spPr>
          <a:xfrm>
            <a:off x="9354312" y="2423160"/>
            <a:ext cx="1920240" cy="676656"/>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Inspect how a knowledge source and knowledge base are configured for an agent.</a:t>
            </a:r>
            <a:endParaRPr lang="en-US" sz="96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5 · Lecture 24</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Knowledge Base Design Questions</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A knowledge base is a governed asset, not just a storage folder.</a:t>
            </a:r>
            <a:endParaRPr lang="en-US" sz="1500" dirty="0"/>
          </a:p>
        </p:txBody>
      </p:sp>
      <p:sp>
        <p:nvSpPr>
          <p:cNvPr id="8" name="Text 6"/>
          <p:cNvSpPr/>
          <p:nvPr/>
        </p:nvSpPr>
        <p:spPr>
          <a:xfrm>
            <a:off x="658368" y="1965960"/>
            <a:ext cx="8001000" cy="3429000"/>
          </a:xfrm>
          <a:prstGeom prst="rect">
            <a:avLst/>
          </a:prstGeom>
          <a:noFill/>
          <a:ln/>
        </p:spPr>
        <p:txBody>
          <a:bodyPr wrap="square" lIns="254" tIns="254" rIns="254" bIns="254" rtlCol="0" anchor="ctr">
            <a:normAutofit/>
          </a:bodyPr>
          <a:lstStyle/>
          <a:p>
            <a:pPr indent="0" marL="0">
              <a:buNone/>
            </a:pPr>
            <a:r>
              <a:rPr lang="en-US" sz="1850" dirty="0">
                <a:solidFill>
                  <a:srgbClr val="303846"/>
                </a:solidFill>
                <a:latin typeface="Aptos" pitchFamily="34" charset="0"/>
                <a:ea typeface="Aptos" pitchFamily="34" charset="-122"/>
                <a:cs typeface="Aptos" pitchFamily="34" charset="-120"/>
              </a:rPr>
              <a:t>▸ Which business domain does this knowledge base represent?</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Who owns source freshness and permission synchronization?</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Which agents are allowed to use it?</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Which citations should users expect to see?</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Which evaluation questions prove that retrieval is working?</a:t>
            </a:r>
            <a:endParaRPr lang="en-US" sz="1850" dirty="0"/>
          </a:p>
        </p:txBody>
      </p:sp>
      <p:sp>
        <p:nvSpPr>
          <p:cNvPr id="9" name="Shape 7"/>
          <p:cNvSpPr/>
          <p:nvPr/>
        </p:nvSpPr>
        <p:spPr>
          <a:xfrm>
            <a:off x="9144000" y="1965960"/>
            <a:ext cx="2331720" cy="1243584"/>
          </a:xfrm>
          <a:prstGeom prst="rect">
            <a:avLst/>
          </a:prstGeom>
          <a:solidFill>
            <a:srgbClr val="F4F8FB"/>
          </a:solidFill>
          <a:ln w="12700">
            <a:solidFill>
              <a:srgbClr val="E7EEF4"/>
            </a:solidFill>
            <a:prstDash val="solid"/>
          </a:ln>
        </p:spPr>
      </p:sp>
      <p:sp>
        <p:nvSpPr>
          <p:cNvPr id="10" name="Shape 8"/>
          <p:cNvSpPr/>
          <p:nvPr/>
        </p:nvSpPr>
        <p:spPr>
          <a:xfrm>
            <a:off x="9299448" y="2121408"/>
            <a:ext cx="219456" cy="219456"/>
          </a:xfrm>
          <a:prstGeom prst="ellipse">
            <a:avLst/>
          </a:prstGeom>
          <a:solidFill>
            <a:srgbClr val="06A9C8"/>
          </a:solidFill>
          <a:ln w="12700">
            <a:solidFill>
              <a:srgbClr val="06A9C8"/>
            </a:solidFill>
            <a:prstDash val="solid"/>
          </a:ln>
        </p:spPr>
      </p:sp>
      <p:sp>
        <p:nvSpPr>
          <p:cNvPr id="11" name="Text 9"/>
          <p:cNvSpPr/>
          <p:nvPr/>
        </p:nvSpPr>
        <p:spPr>
          <a:xfrm>
            <a:off x="9354312" y="213969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82912" y="209397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Design rule</a:t>
            </a:r>
            <a:endParaRPr lang="en-US" sz="1080" dirty="0"/>
          </a:p>
        </p:txBody>
      </p:sp>
      <p:sp>
        <p:nvSpPr>
          <p:cNvPr id="13" name="Text 11"/>
          <p:cNvSpPr/>
          <p:nvPr/>
        </p:nvSpPr>
        <p:spPr>
          <a:xfrm>
            <a:off x="9354312" y="2423160"/>
            <a:ext cx="1920240" cy="676656"/>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Do not share a knowledge base broadly until ownership and access rules are clear.</a:t>
            </a:r>
            <a:endParaRPr lang="en-US" sz="96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5 · Lecture 25</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Permission-Aware Retrieval with Azure AI Search and Entra ID</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Enterprise grounding must respect who the user is and what they are allowed to see.</a:t>
            </a:r>
            <a:endParaRPr lang="en-US" sz="1500" dirty="0"/>
          </a:p>
        </p:txBody>
      </p:sp>
      <p:sp>
        <p:nvSpPr>
          <p:cNvPr id="8" name="Text 6"/>
          <p:cNvSpPr/>
          <p:nvPr/>
        </p:nvSpPr>
        <p:spPr>
          <a:xfrm>
            <a:off x="658368" y="1965960"/>
            <a:ext cx="8001000" cy="3429000"/>
          </a:xfrm>
          <a:prstGeom prst="rect">
            <a:avLst/>
          </a:prstGeom>
          <a:noFill/>
          <a:ln/>
        </p:spPr>
        <p:txBody>
          <a:bodyPr wrap="square" lIns="254" tIns="254" rIns="254" bIns="254" rtlCol="0" anchor="ctr">
            <a:normAutofit/>
          </a:bodyPr>
          <a:lstStyle/>
          <a:p>
            <a:pPr indent="0" marL="0">
              <a:buNone/>
            </a:pPr>
            <a:r>
              <a:rPr lang="en-US" sz="1850" dirty="0">
                <a:solidFill>
                  <a:srgbClr val="303846"/>
                </a:solidFill>
                <a:latin typeface="Aptos" pitchFamily="34" charset="0"/>
                <a:ea typeface="Aptos" pitchFamily="34" charset="-122"/>
                <a:cs typeface="Aptos" pitchFamily="34" charset="-120"/>
              </a:rPr>
              <a:t>▸ Azure AI Search supports the indexing and retrieval foundation.</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Identity propagation helps retrieval reflect the caller’s access.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ACLs and document permissions prevent unauthorized answers.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Citations must not expose sources that the user cannot access.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Private retrieval should be validated with both allowed and denied scenarios.</a:t>
            </a:r>
            <a:endParaRPr lang="en-US" sz="1850" dirty="0"/>
          </a:p>
        </p:txBody>
      </p:sp>
      <p:sp>
        <p:nvSpPr>
          <p:cNvPr id="9" name="Shape 7"/>
          <p:cNvSpPr/>
          <p:nvPr/>
        </p:nvSpPr>
        <p:spPr>
          <a:xfrm>
            <a:off x="9144000" y="1965960"/>
            <a:ext cx="2331720" cy="1243584"/>
          </a:xfrm>
          <a:prstGeom prst="rect">
            <a:avLst/>
          </a:prstGeom>
          <a:solidFill>
            <a:srgbClr val="F4F8FB"/>
          </a:solidFill>
          <a:ln w="12700">
            <a:solidFill>
              <a:srgbClr val="E7EEF4"/>
            </a:solidFill>
            <a:prstDash val="solid"/>
          </a:ln>
        </p:spPr>
      </p:sp>
      <p:sp>
        <p:nvSpPr>
          <p:cNvPr id="10" name="Shape 8"/>
          <p:cNvSpPr/>
          <p:nvPr/>
        </p:nvSpPr>
        <p:spPr>
          <a:xfrm>
            <a:off x="9299448" y="2121408"/>
            <a:ext cx="219456" cy="219456"/>
          </a:xfrm>
          <a:prstGeom prst="ellipse">
            <a:avLst/>
          </a:prstGeom>
          <a:solidFill>
            <a:srgbClr val="06A9C8"/>
          </a:solidFill>
          <a:ln w="12700">
            <a:solidFill>
              <a:srgbClr val="06A9C8"/>
            </a:solidFill>
            <a:prstDash val="solid"/>
          </a:ln>
        </p:spPr>
      </p:sp>
      <p:sp>
        <p:nvSpPr>
          <p:cNvPr id="11" name="Text 9"/>
          <p:cNvSpPr/>
          <p:nvPr/>
        </p:nvSpPr>
        <p:spPr>
          <a:xfrm>
            <a:off x="9354312" y="213969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82912" y="209397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Demonstration</a:t>
            </a:r>
            <a:endParaRPr lang="en-US" sz="1080" dirty="0"/>
          </a:p>
        </p:txBody>
      </p:sp>
      <p:sp>
        <p:nvSpPr>
          <p:cNvPr id="13" name="Text 11"/>
          <p:cNvSpPr/>
          <p:nvPr/>
        </p:nvSpPr>
        <p:spPr>
          <a:xfrm>
            <a:off x="9354312" y="2423160"/>
            <a:ext cx="1920240" cy="676656"/>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Test a grounded answer and inspect whether citations support the response.</a:t>
            </a:r>
            <a:endParaRPr lang="en-US" sz="96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5 · Lecture 25</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Permission-Aware Retrieval Review</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Use this review frame before letting an agent answer from enterprise documents.</a:t>
            </a:r>
            <a:endParaRPr lang="en-US" sz="1500" dirty="0"/>
          </a:p>
        </p:txBody>
      </p:sp>
      <p:sp>
        <p:nvSpPr>
          <p:cNvPr id="8" name="Text 6"/>
          <p:cNvSpPr/>
          <p:nvPr/>
        </p:nvSpPr>
        <p:spPr>
          <a:xfrm>
            <a:off x="658368" y="1965960"/>
            <a:ext cx="8001000" cy="3429000"/>
          </a:xfrm>
          <a:prstGeom prst="rect">
            <a:avLst/>
          </a:prstGeom>
          <a:noFill/>
          <a:ln/>
        </p:spPr>
        <p:txBody>
          <a:bodyPr wrap="square" lIns="254" tIns="254" rIns="254" bIns="254" rtlCol="0" anchor="ctr">
            <a:normAutofit/>
          </a:bodyPr>
          <a:lstStyle/>
          <a:p>
            <a:pPr indent="0" marL="0">
              <a:buNone/>
            </a:pPr>
            <a:r>
              <a:rPr lang="en-US" sz="1850" dirty="0">
                <a:solidFill>
                  <a:srgbClr val="303846"/>
                </a:solidFill>
                <a:latin typeface="Aptos" pitchFamily="34" charset="0"/>
                <a:ea typeface="Aptos" pitchFamily="34" charset="-122"/>
                <a:cs typeface="Aptos" pitchFamily="34" charset="-120"/>
              </a:rPr>
              <a:t>▸ Can the agent reach only approved knowledge sources?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Does retrieval respect the user’s identity and data permissions?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Do answers include citations when enterprise data is used?</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What happens when the user asks about inaccessible content?</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Who reviews retrieval failures and stale answers?</a:t>
            </a:r>
            <a:endParaRPr lang="en-US" sz="1850" dirty="0"/>
          </a:p>
        </p:txBody>
      </p:sp>
      <p:sp>
        <p:nvSpPr>
          <p:cNvPr id="9" name="Shape 7"/>
          <p:cNvSpPr/>
          <p:nvPr/>
        </p:nvSpPr>
        <p:spPr>
          <a:xfrm>
            <a:off x="9144000" y="1965960"/>
            <a:ext cx="2331720" cy="1243584"/>
          </a:xfrm>
          <a:prstGeom prst="rect">
            <a:avLst/>
          </a:prstGeom>
          <a:solidFill>
            <a:srgbClr val="F4F8FB"/>
          </a:solidFill>
          <a:ln w="12700">
            <a:solidFill>
              <a:srgbClr val="E7EEF4"/>
            </a:solidFill>
            <a:prstDash val="solid"/>
          </a:ln>
        </p:spPr>
      </p:sp>
      <p:sp>
        <p:nvSpPr>
          <p:cNvPr id="10" name="Shape 8"/>
          <p:cNvSpPr/>
          <p:nvPr/>
        </p:nvSpPr>
        <p:spPr>
          <a:xfrm>
            <a:off x="9299448" y="2121408"/>
            <a:ext cx="219456" cy="219456"/>
          </a:xfrm>
          <a:prstGeom prst="ellipse">
            <a:avLst/>
          </a:prstGeom>
          <a:solidFill>
            <a:srgbClr val="06A9C8"/>
          </a:solidFill>
          <a:ln w="12700">
            <a:solidFill>
              <a:srgbClr val="06A9C8"/>
            </a:solidFill>
            <a:prstDash val="solid"/>
          </a:ln>
        </p:spPr>
      </p:sp>
      <p:sp>
        <p:nvSpPr>
          <p:cNvPr id="11" name="Text 9"/>
          <p:cNvSpPr/>
          <p:nvPr/>
        </p:nvSpPr>
        <p:spPr>
          <a:xfrm>
            <a:off x="9354312" y="213969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82912" y="209397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Security rule</a:t>
            </a:r>
            <a:endParaRPr lang="en-US" sz="1080" dirty="0"/>
          </a:p>
        </p:txBody>
      </p:sp>
      <p:sp>
        <p:nvSpPr>
          <p:cNvPr id="13" name="Text 11"/>
          <p:cNvSpPr/>
          <p:nvPr/>
        </p:nvSpPr>
        <p:spPr>
          <a:xfrm>
            <a:off x="9354312" y="2423160"/>
            <a:ext cx="1920240" cy="676656"/>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Grounding must never become a shortcut around data access controls.</a:t>
            </a:r>
            <a:endParaRPr lang="en-US" sz="96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5 · Lecture 26</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Lab: Ground an Enterprise Agent with Foundry IQ</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This lab connects the prompt agent to supplied documents and validates cited answers.</a:t>
            </a:r>
            <a:endParaRPr lang="en-US" sz="1500" dirty="0"/>
          </a:p>
        </p:txBody>
      </p:sp>
      <p:sp>
        <p:nvSpPr>
          <p:cNvPr id="8" name="Text 6"/>
          <p:cNvSpPr/>
          <p:nvPr/>
        </p:nvSpPr>
        <p:spPr>
          <a:xfrm>
            <a:off x="658368" y="1874520"/>
            <a:ext cx="8138160" cy="3291840"/>
          </a:xfrm>
          <a:prstGeom prst="rect">
            <a:avLst/>
          </a:prstGeom>
          <a:noFill/>
          <a:ln/>
        </p:spPr>
        <p:txBody>
          <a:bodyPr wrap="square" lIns="254" tIns="254" rIns="254" bIns="254" rtlCol="0" anchor="ctr">
            <a:normAutofit/>
          </a:bodyPr>
          <a:lstStyle/>
          <a:p>
            <a:pPr indent="0" marL="0">
              <a:buNone/>
            </a:pPr>
            <a:r>
              <a:rPr lang="en-US" sz="1800" dirty="0">
                <a:solidFill>
                  <a:srgbClr val="303846"/>
                </a:solidFill>
                <a:latin typeface="Aptos" pitchFamily="34" charset="0"/>
                <a:ea typeface="Aptos" pitchFamily="34" charset="-122"/>
                <a:cs typeface="Aptos" pitchFamily="34" charset="-120"/>
              </a:rPr>
              <a:t>▸ Review the supplied invoice and work-report documents.</a:t>
            </a:r>
            <a:endParaRPr lang="en-US" sz="1800" dirty="0"/>
          </a:p>
          <a:p>
            <a:pPr indent="0" marL="0">
              <a:buNone/>
            </a:pPr>
            <a:r>
              <a:rPr lang="en-US" sz="1800" dirty="0">
                <a:solidFill>
                  <a:srgbClr val="303846"/>
                </a:solidFill>
                <a:latin typeface="Aptos" pitchFamily="34" charset="0"/>
                <a:ea typeface="Aptos" pitchFamily="34" charset="-122"/>
                <a:cs typeface="Aptos" pitchFamily="34" charset="-120"/>
              </a:rPr>
              <a:t>▸ Create or use the knowledge source provided for the lab.</a:t>
            </a:r>
            <a:endParaRPr lang="en-US" sz="1800" dirty="0"/>
          </a:p>
          <a:p>
            <a:pPr indent="0" marL="0">
              <a:buNone/>
            </a:pPr>
            <a:r>
              <a:rPr lang="en-US" sz="1800" dirty="0">
                <a:solidFill>
                  <a:srgbClr val="303846"/>
                </a:solidFill>
                <a:latin typeface="Aptos" pitchFamily="34" charset="0"/>
                <a:ea typeface="Aptos" pitchFamily="34" charset="-122"/>
                <a:cs typeface="Aptos" pitchFamily="34" charset="-120"/>
              </a:rPr>
              <a:t>▸ Configure the knowledge base for the enterprise scenario.</a:t>
            </a:r>
            <a:endParaRPr lang="en-US" sz="1800" dirty="0"/>
          </a:p>
          <a:p>
            <a:pPr indent="0" marL="0">
              <a:buNone/>
            </a:pPr>
            <a:r>
              <a:rPr lang="en-US" sz="1800" dirty="0">
                <a:solidFill>
                  <a:srgbClr val="303846"/>
                </a:solidFill>
                <a:latin typeface="Aptos" pitchFamily="34" charset="0"/>
                <a:ea typeface="Aptos" pitchFamily="34" charset="-122"/>
                <a:cs typeface="Aptos" pitchFamily="34" charset="-120"/>
              </a:rPr>
              <a:t>▸ Attach the knowledge base to the agent.</a:t>
            </a:r>
            <a:endParaRPr lang="en-US" sz="1800" dirty="0"/>
          </a:p>
          <a:p>
            <a:pPr indent="0" marL="0">
              <a:buNone/>
            </a:pPr>
            <a:r>
              <a:rPr lang="en-US" sz="1800" dirty="0">
                <a:solidFill>
                  <a:srgbClr val="303846"/>
                </a:solidFill>
                <a:latin typeface="Aptos" pitchFamily="34" charset="0"/>
                <a:ea typeface="Aptos" pitchFamily="34" charset="-122"/>
                <a:cs typeface="Aptos" pitchFamily="34" charset="-120"/>
              </a:rPr>
              <a:t>▸ Ask validation questions that require citations.</a:t>
            </a:r>
            <a:endParaRPr lang="en-US" sz="1800" dirty="0"/>
          </a:p>
        </p:txBody>
      </p:sp>
      <p:sp>
        <p:nvSpPr>
          <p:cNvPr id="9" name="Shape 7"/>
          <p:cNvSpPr/>
          <p:nvPr/>
        </p:nvSpPr>
        <p:spPr>
          <a:xfrm>
            <a:off x="9098280" y="2148840"/>
            <a:ext cx="2331720" cy="1371600"/>
          </a:xfrm>
          <a:prstGeom prst="rect">
            <a:avLst/>
          </a:prstGeom>
          <a:solidFill>
            <a:srgbClr val="F4F8FB"/>
          </a:solidFill>
          <a:ln w="12700">
            <a:solidFill>
              <a:srgbClr val="E7EEF4"/>
            </a:solidFill>
            <a:prstDash val="solid"/>
          </a:ln>
        </p:spPr>
      </p:sp>
      <p:sp>
        <p:nvSpPr>
          <p:cNvPr id="10" name="Shape 8"/>
          <p:cNvSpPr/>
          <p:nvPr/>
        </p:nvSpPr>
        <p:spPr>
          <a:xfrm>
            <a:off x="9253728" y="2304288"/>
            <a:ext cx="219456" cy="219456"/>
          </a:xfrm>
          <a:prstGeom prst="ellipse">
            <a:avLst/>
          </a:prstGeom>
          <a:solidFill>
            <a:srgbClr val="06A9C8"/>
          </a:solidFill>
          <a:ln w="12700">
            <a:solidFill>
              <a:srgbClr val="06A9C8"/>
            </a:solidFill>
            <a:prstDash val="solid"/>
          </a:ln>
        </p:spPr>
      </p:sp>
      <p:sp>
        <p:nvSpPr>
          <p:cNvPr id="11" name="Text 9"/>
          <p:cNvSpPr/>
          <p:nvPr/>
        </p:nvSpPr>
        <p:spPr>
          <a:xfrm>
            <a:off x="9308592" y="232257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37192" y="227685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Lab outcome</a:t>
            </a:r>
            <a:endParaRPr lang="en-US" sz="1080" dirty="0"/>
          </a:p>
        </p:txBody>
      </p:sp>
      <p:sp>
        <p:nvSpPr>
          <p:cNvPr id="13" name="Text 11"/>
          <p:cNvSpPr/>
          <p:nvPr/>
        </p:nvSpPr>
        <p:spPr>
          <a:xfrm>
            <a:off x="9308592" y="2606040"/>
            <a:ext cx="1920240" cy="804672"/>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A grounded agent that answers from supplied enterprise documents with citations.</a:t>
            </a:r>
            <a:endParaRPr lang="en-US" sz="96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5 · Lecture 26</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Lab Validation Checklist</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Validation should prove both answer quality and evidence quality.</a:t>
            </a:r>
            <a:endParaRPr lang="en-US" sz="1500" dirty="0"/>
          </a:p>
        </p:txBody>
      </p:sp>
      <p:sp>
        <p:nvSpPr>
          <p:cNvPr id="8" name="Text 6"/>
          <p:cNvSpPr/>
          <p:nvPr/>
        </p:nvSpPr>
        <p:spPr>
          <a:xfrm>
            <a:off x="658368" y="1874520"/>
            <a:ext cx="8138160" cy="3291840"/>
          </a:xfrm>
          <a:prstGeom prst="rect">
            <a:avLst/>
          </a:prstGeom>
          <a:noFill/>
          <a:ln/>
        </p:spPr>
        <p:txBody>
          <a:bodyPr wrap="square" lIns="254" tIns="254" rIns="254" bIns="254" rtlCol="0" anchor="ctr">
            <a:normAutofit/>
          </a:bodyPr>
          <a:lstStyle/>
          <a:p>
            <a:pPr indent="0" marL="0">
              <a:buNone/>
            </a:pPr>
            <a:r>
              <a:rPr lang="en-US" sz="1800" dirty="0">
                <a:solidFill>
                  <a:srgbClr val="303846"/>
                </a:solidFill>
                <a:latin typeface="Aptos" pitchFamily="34" charset="0"/>
                <a:ea typeface="Aptos" pitchFamily="34" charset="-122"/>
                <a:cs typeface="Aptos" pitchFamily="34" charset="-120"/>
              </a:rPr>
              <a:t>▸ The agent uses the enterprise documents instead of general knowledge.</a:t>
            </a:r>
            <a:endParaRPr lang="en-US" sz="1800" dirty="0"/>
          </a:p>
          <a:p>
            <a:pPr indent="0" marL="0">
              <a:buNone/>
            </a:pPr>
            <a:r>
              <a:rPr lang="en-US" sz="1800" dirty="0">
                <a:solidFill>
                  <a:srgbClr val="303846"/>
                </a:solidFill>
                <a:latin typeface="Aptos" pitchFamily="34" charset="0"/>
                <a:ea typeface="Aptos" pitchFamily="34" charset="-122"/>
                <a:cs typeface="Aptos" pitchFamily="34" charset="-120"/>
              </a:rPr>
              <a:t>▸ The answer cites the relevant source content.</a:t>
            </a:r>
            <a:endParaRPr lang="en-US" sz="1800" dirty="0"/>
          </a:p>
          <a:p>
            <a:pPr indent="0" marL="0">
              <a:buNone/>
            </a:pPr>
            <a:r>
              <a:rPr lang="en-US" sz="1800" dirty="0">
                <a:solidFill>
                  <a:srgbClr val="303846"/>
                </a:solidFill>
                <a:latin typeface="Aptos" pitchFamily="34" charset="0"/>
                <a:ea typeface="Aptos" pitchFamily="34" charset="-122"/>
                <a:cs typeface="Aptos" pitchFamily="34" charset="-120"/>
              </a:rPr>
              <a:t>▸ The answer connects related evidence across the scenario.</a:t>
            </a:r>
            <a:endParaRPr lang="en-US" sz="1800" dirty="0"/>
          </a:p>
          <a:p>
            <a:pPr indent="0" marL="0">
              <a:buNone/>
            </a:pPr>
            <a:r>
              <a:rPr lang="en-US" sz="1800" dirty="0">
                <a:solidFill>
                  <a:srgbClr val="303846"/>
                </a:solidFill>
                <a:latin typeface="Aptos" pitchFamily="34" charset="0"/>
                <a:ea typeface="Aptos" pitchFamily="34" charset="-122"/>
                <a:cs typeface="Aptos" pitchFamily="34" charset="-120"/>
              </a:rPr>
              <a:t>▸ Unsupported questions are refused or answered with uncertainty.</a:t>
            </a:r>
            <a:endParaRPr lang="en-US" sz="1800" dirty="0"/>
          </a:p>
          <a:p>
            <a:pPr indent="0" marL="0">
              <a:buNone/>
            </a:pPr>
            <a:r>
              <a:rPr lang="en-US" sz="1800" dirty="0">
                <a:solidFill>
                  <a:srgbClr val="303846"/>
                </a:solidFill>
                <a:latin typeface="Aptos" pitchFamily="34" charset="0"/>
                <a:ea typeface="Aptos" pitchFamily="34" charset="-122"/>
                <a:cs typeface="Aptos" pitchFamily="34" charset="-120"/>
              </a:rPr>
              <a:t>▸ The learner can explain how the knowledge base supports the answer.</a:t>
            </a:r>
            <a:endParaRPr lang="en-US" sz="1800" dirty="0"/>
          </a:p>
        </p:txBody>
      </p:sp>
      <p:sp>
        <p:nvSpPr>
          <p:cNvPr id="9" name="Shape 7"/>
          <p:cNvSpPr/>
          <p:nvPr/>
        </p:nvSpPr>
        <p:spPr>
          <a:xfrm>
            <a:off x="9098280" y="2148840"/>
            <a:ext cx="2331720" cy="1371600"/>
          </a:xfrm>
          <a:prstGeom prst="rect">
            <a:avLst/>
          </a:prstGeom>
          <a:solidFill>
            <a:srgbClr val="F4F8FB"/>
          </a:solidFill>
          <a:ln w="12700">
            <a:solidFill>
              <a:srgbClr val="E7EEF4"/>
            </a:solidFill>
            <a:prstDash val="solid"/>
          </a:ln>
        </p:spPr>
      </p:sp>
      <p:sp>
        <p:nvSpPr>
          <p:cNvPr id="10" name="Shape 8"/>
          <p:cNvSpPr/>
          <p:nvPr/>
        </p:nvSpPr>
        <p:spPr>
          <a:xfrm>
            <a:off x="9253728" y="2304288"/>
            <a:ext cx="219456" cy="219456"/>
          </a:xfrm>
          <a:prstGeom prst="ellipse">
            <a:avLst/>
          </a:prstGeom>
          <a:solidFill>
            <a:srgbClr val="06A9C8"/>
          </a:solidFill>
          <a:ln w="12700">
            <a:solidFill>
              <a:srgbClr val="06A9C8"/>
            </a:solidFill>
            <a:prstDash val="solid"/>
          </a:ln>
        </p:spPr>
      </p:sp>
      <p:sp>
        <p:nvSpPr>
          <p:cNvPr id="11" name="Text 9"/>
          <p:cNvSpPr/>
          <p:nvPr/>
        </p:nvSpPr>
        <p:spPr>
          <a:xfrm>
            <a:off x="9308592" y="232257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37192" y="227685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Lab outcome</a:t>
            </a:r>
            <a:endParaRPr lang="en-US" sz="1080" dirty="0"/>
          </a:p>
        </p:txBody>
      </p:sp>
      <p:sp>
        <p:nvSpPr>
          <p:cNvPr id="13" name="Text 11"/>
          <p:cNvSpPr/>
          <p:nvPr/>
        </p:nvSpPr>
        <p:spPr>
          <a:xfrm>
            <a:off x="9308592" y="2606040"/>
            <a:ext cx="1920240" cy="804672"/>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Save one successful grounded answer and one unsupported-question response.</a:t>
            </a:r>
            <a:endParaRPr lang="en-US" sz="96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5 Review</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Section 5 — Section Review</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Key takeaways and transition to the next section.</a:t>
            </a:r>
            <a:endParaRPr lang="en-US" sz="1500" dirty="0"/>
          </a:p>
        </p:txBody>
      </p:sp>
      <p:sp>
        <p:nvSpPr>
          <p:cNvPr id="8" name="Shape 6"/>
          <p:cNvSpPr/>
          <p:nvPr/>
        </p:nvSpPr>
        <p:spPr>
          <a:xfrm>
            <a:off x="658368" y="1938528"/>
            <a:ext cx="2423160" cy="1234440"/>
          </a:xfrm>
          <a:prstGeom prst="rect">
            <a:avLst/>
          </a:prstGeom>
          <a:solidFill>
            <a:srgbClr val="F4F8FB"/>
          </a:solidFill>
          <a:ln w="12700">
            <a:solidFill>
              <a:srgbClr val="E4EEF4"/>
            </a:solidFill>
            <a:prstDash val="solid"/>
          </a:ln>
        </p:spPr>
      </p:sp>
      <p:sp>
        <p:nvSpPr>
          <p:cNvPr id="9" name="Text 7"/>
          <p:cNvSpPr/>
          <p:nvPr/>
        </p:nvSpPr>
        <p:spPr>
          <a:xfrm>
            <a:off x="822960" y="2075688"/>
            <a:ext cx="2093976" cy="182880"/>
          </a:xfrm>
          <a:prstGeom prst="rect">
            <a:avLst/>
          </a:prstGeom>
          <a:noFill/>
          <a:ln/>
        </p:spPr>
        <p:txBody>
          <a:bodyPr wrap="square" lIns="0" tIns="0" rIns="0" bIns="0" rtlCol="0" anchor="ctr"/>
          <a:lstStyle/>
          <a:p>
            <a:pPr indent="0" marL="0">
              <a:buNone/>
            </a:pPr>
            <a:r>
              <a:rPr lang="en-US" sz="1050" b="1" dirty="0">
                <a:solidFill>
                  <a:srgbClr val="06A9C8"/>
                </a:solidFill>
                <a:latin typeface="Aptos" pitchFamily="34" charset="0"/>
                <a:ea typeface="Aptos" pitchFamily="34" charset="-122"/>
                <a:cs typeface="Aptos" pitchFamily="34" charset="-120"/>
              </a:rPr>
              <a:t>Takeaway 1</a:t>
            </a:r>
            <a:endParaRPr lang="en-US" sz="1050" dirty="0"/>
          </a:p>
        </p:txBody>
      </p:sp>
      <p:sp>
        <p:nvSpPr>
          <p:cNvPr id="10" name="Text 8"/>
          <p:cNvSpPr/>
          <p:nvPr/>
        </p:nvSpPr>
        <p:spPr>
          <a:xfrm>
            <a:off x="822960" y="2368296"/>
            <a:ext cx="2093976" cy="621792"/>
          </a:xfrm>
          <a:prstGeom prst="rect">
            <a:avLst/>
          </a:prstGeom>
          <a:noFill/>
          <a:ln/>
        </p:spPr>
        <p:txBody>
          <a:bodyPr wrap="square" lIns="254" tIns="254" rIns="254" bIns="254" rtlCol="0" anchor="ctr">
            <a:normAutofit/>
          </a:bodyPr>
          <a:lstStyle/>
          <a:p>
            <a:pPr indent="0" marL="0">
              <a:buNone/>
            </a:pPr>
            <a:r>
              <a:rPr lang="en-US" sz="1150" dirty="0">
                <a:solidFill>
                  <a:srgbClr val="303846"/>
                </a:solidFill>
                <a:latin typeface="Aptos" pitchFamily="34" charset="0"/>
                <a:ea typeface="Aptos" pitchFamily="34" charset="-122"/>
                <a:cs typeface="Aptos" pitchFamily="34" charset="-120"/>
              </a:rPr>
              <a:t>Foundry IQ adds a governed knowledge layer rather than a simple file upload.</a:t>
            </a:r>
            <a:endParaRPr lang="en-US" sz="1150" dirty="0"/>
          </a:p>
        </p:txBody>
      </p:sp>
      <p:sp>
        <p:nvSpPr>
          <p:cNvPr id="11" name="Shape 9"/>
          <p:cNvSpPr/>
          <p:nvPr/>
        </p:nvSpPr>
        <p:spPr>
          <a:xfrm>
            <a:off x="3310128" y="1938528"/>
            <a:ext cx="2423160" cy="1234440"/>
          </a:xfrm>
          <a:prstGeom prst="rect">
            <a:avLst/>
          </a:prstGeom>
          <a:solidFill>
            <a:srgbClr val="EDF6FA"/>
          </a:solidFill>
          <a:ln w="12700">
            <a:solidFill>
              <a:srgbClr val="E4EEF4"/>
            </a:solidFill>
            <a:prstDash val="solid"/>
          </a:ln>
        </p:spPr>
      </p:sp>
      <p:sp>
        <p:nvSpPr>
          <p:cNvPr id="12" name="Text 10"/>
          <p:cNvSpPr/>
          <p:nvPr/>
        </p:nvSpPr>
        <p:spPr>
          <a:xfrm>
            <a:off x="3474720" y="2075688"/>
            <a:ext cx="2093976" cy="182880"/>
          </a:xfrm>
          <a:prstGeom prst="rect">
            <a:avLst/>
          </a:prstGeom>
          <a:noFill/>
          <a:ln/>
        </p:spPr>
        <p:txBody>
          <a:bodyPr wrap="square" lIns="0" tIns="0" rIns="0" bIns="0" rtlCol="0" anchor="ctr"/>
          <a:lstStyle/>
          <a:p>
            <a:pPr indent="0" marL="0">
              <a:buNone/>
            </a:pPr>
            <a:r>
              <a:rPr lang="en-US" sz="1050" b="1" dirty="0">
                <a:solidFill>
                  <a:srgbClr val="06A9C8"/>
                </a:solidFill>
                <a:latin typeface="Aptos" pitchFamily="34" charset="0"/>
                <a:ea typeface="Aptos" pitchFamily="34" charset="-122"/>
                <a:cs typeface="Aptos" pitchFamily="34" charset="-120"/>
              </a:rPr>
              <a:t>Takeaway 2</a:t>
            </a:r>
            <a:endParaRPr lang="en-US" sz="1050" dirty="0"/>
          </a:p>
        </p:txBody>
      </p:sp>
      <p:sp>
        <p:nvSpPr>
          <p:cNvPr id="13" name="Text 11"/>
          <p:cNvSpPr/>
          <p:nvPr/>
        </p:nvSpPr>
        <p:spPr>
          <a:xfrm>
            <a:off x="3474720" y="2368296"/>
            <a:ext cx="2093976" cy="621792"/>
          </a:xfrm>
          <a:prstGeom prst="rect">
            <a:avLst/>
          </a:prstGeom>
          <a:noFill/>
          <a:ln/>
        </p:spPr>
        <p:txBody>
          <a:bodyPr wrap="square" lIns="254" tIns="254" rIns="254" bIns="254" rtlCol="0" anchor="ctr">
            <a:normAutofit/>
          </a:bodyPr>
          <a:lstStyle/>
          <a:p>
            <a:pPr indent="0" marL="0">
              <a:buNone/>
            </a:pPr>
            <a:r>
              <a:rPr lang="en-US" sz="1150" dirty="0">
                <a:solidFill>
                  <a:srgbClr val="303846"/>
                </a:solidFill>
                <a:latin typeface="Aptos" pitchFamily="34" charset="0"/>
                <a:ea typeface="Aptos" pitchFamily="34" charset="-122"/>
                <a:cs typeface="Aptos" pitchFamily="34" charset="-120"/>
              </a:rPr>
              <a:t>Agentic retrieval plans, searches, reranks, and supports cited answers.</a:t>
            </a:r>
            <a:endParaRPr lang="en-US" sz="1150" dirty="0"/>
          </a:p>
        </p:txBody>
      </p:sp>
      <p:sp>
        <p:nvSpPr>
          <p:cNvPr id="14" name="Shape 12"/>
          <p:cNvSpPr/>
          <p:nvPr/>
        </p:nvSpPr>
        <p:spPr>
          <a:xfrm>
            <a:off x="5961888" y="1938528"/>
            <a:ext cx="2423160" cy="1234440"/>
          </a:xfrm>
          <a:prstGeom prst="rect">
            <a:avLst/>
          </a:prstGeom>
          <a:solidFill>
            <a:srgbClr val="F4F8FB"/>
          </a:solidFill>
          <a:ln w="12700">
            <a:solidFill>
              <a:srgbClr val="E4EEF4"/>
            </a:solidFill>
            <a:prstDash val="solid"/>
          </a:ln>
        </p:spPr>
      </p:sp>
      <p:sp>
        <p:nvSpPr>
          <p:cNvPr id="15" name="Text 13"/>
          <p:cNvSpPr/>
          <p:nvPr/>
        </p:nvSpPr>
        <p:spPr>
          <a:xfrm>
            <a:off x="6126480" y="2075688"/>
            <a:ext cx="2093976" cy="182880"/>
          </a:xfrm>
          <a:prstGeom prst="rect">
            <a:avLst/>
          </a:prstGeom>
          <a:noFill/>
          <a:ln/>
        </p:spPr>
        <p:txBody>
          <a:bodyPr wrap="square" lIns="0" tIns="0" rIns="0" bIns="0" rtlCol="0" anchor="ctr"/>
          <a:lstStyle/>
          <a:p>
            <a:pPr indent="0" marL="0">
              <a:buNone/>
            </a:pPr>
            <a:r>
              <a:rPr lang="en-US" sz="1050" b="1" dirty="0">
                <a:solidFill>
                  <a:srgbClr val="06A9C8"/>
                </a:solidFill>
                <a:latin typeface="Aptos" pitchFamily="34" charset="0"/>
                <a:ea typeface="Aptos" pitchFamily="34" charset="-122"/>
                <a:cs typeface="Aptos" pitchFamily="34" charset="-120"/>
              </a:rPr>
              <a:t>Takeaway 3</a:t>
            </a:r>
            <a:endParaRPr lang="en-US" sz="1050" dirty="0"/>
          </a:p>
        </p:txBody>
      </p:sp>
      <p:sp>
        <p:nvSpPr>
          <p:cNvPr id="16" name="Text 14"/>
          <p:cNvSpPr/>
          <p:nvPr/>
        </p:nvSpPr>
        <p:spPr>
          <a:xfrm>
            <a:off x="6126480" y="2368296"/>
            <a:ext cx="2093976" cy="621792"/>
          </a:xfrm>
          <a:prstGeom prst="rect">
            <a:avLst/>
          </a:prstGeom>
          <a:noFill/>
          <a:ln/>
        </p:spPr>
        <p:txBody>
          <a:bodyPr wrap="square" lIns="254" tIns="254" rIns="254" bIns="254" rtlCol="0" anchor="ctr">
            <a:normAutofit/>
          </a:bodyPr>
          <a:lstStyle/>
          <a:p>
            <a:pPr indent="0" marL="0">
              <a:buNone/>
            </a:pPr>
            <a:r>
              <a:rPr lang="en-US" sz="1150" dirty="0">
                <a:solidFill>
                  <a:srgbClr val="303846"/>
                </a:solidFill>
                <a:latin typeface="Aptos" pitchFamily="34" charset="0"/>
                <a:ea typeface="Aptos" pitchFamily="34" charset="-122"/>
                <a:cs typeface="Aptos" pitchFamily="34" charset="-120"/>
              </a:rPr>
              <a:t>Permission-aware retrieval must respect identity and source permissions.</a:t>
            </a:r>
            <a:endParaRPr lang="en-US" sz="1150" dirty="0"/>
          </a:p>
        </p:txBody>
      </p:sp>
      <p:sp>
        <p:nvSpPr>
          <p:cNvPr id="17" name="Shape 15"/>
          <p:cNvSpPr/>
          <p:nvPr/>
        </p:nvSpPr>
        <p:spPr>
          <a:xfrm>
            <a:off x="8613648" y="1938528"/>
            <a:ext cx="2423160" cy="1234440"/>
          </a:xfrm>
          <a:prstGeom prst="rect">
            <a:avLst/>
          </a:prstGeom>
          <a:solidFill>
            <a:srgbClr val="EDF6FA"/>
          </a:solidFill>
          <a:ln w="12700">
            <a:solidFill>
              <a:srgbClr val="E4EEF4"/>
            </a:solidFill>
            <a:prstDash val="solid"/>
          </a:ln>
        </p:spPr>
      </p:sp>
      <p:sp>
        <p:nvSpPr>
          <p:cNvPr id="18" name="Text 16"/>
          <p:cNvSpPr/>
          <p:nvPr/>
        </p:nvSpPr>
        <p:spPr>
          <a:xfrm>
            <a:off x="8778240" y="2075688"/>
            <a:ext cx="2093976" cy="182880"/>
          </a:xfrm>
          <a:prstGeom prst="rect">
            <a:avLst/>
          </a:prstGeom>
          <a:noFill/>
          <a:ln/>
        </p:spPr>
        <p:txBody>
          <a:bodyPr wrap="square" lIns="0" tIns="0" rIns="0" bIns="0" rtlCol="0" anchor="ctr"/>
          <a:lstStyle/>
          <a:p>
            <a:pPr indent="0" marL="0">
              <a:buNone/>
            </a:pPr>
            <a:r>
              <a:rPr lang="en-US" sz="1050" b="1" dirty="0">
                <a:solidFill>
                  <a:srgbClr val="06A9C8"/>
                </a:solidFill>
                <a:latin typeface="Aptos" pitchFamily="34" charset="0"/>
                <a:ea typeface="Aptos" pitchFamily="34" charset="-122"/>
                <a:cs typeface="Aptos" pitchFamily="34" charset="-120"/>
              </a:rPr>
              <a:t>Takeaway 4</a:t>
            </a:r>
            <a:endParaRPr lang="en-US" sz="1050" dirty="0"/>
          </a:p>
        </p:txBody>
      </p:sp>
      <p:sp>
        <p:nvSpPr>
          <p:cNvPr id="19" name="Text 17"/>
          <p:cNvSpPr/>
          <p:nvPr/>
        </p:nvSpPr>
        <p:spPr>
          <a:xfrm>
            <a:off x="8778240" y="2368296"/>
            <a:ext cx="2093976" cy="621792"/>
          </a:xfrm>
          <a:prstGeom prst="rect">
            <a:avLst/>
          </a:prstGeom>
          <a:noFill/>
          <a:ln/>
        </p:spPr>
        <p:txBody>
          <a:bodyPr wrap="square" lIns="254" tIns="254" rIns="254" bIns="254" rtlCol="0" anchor="ctr">
            <a:normAutofit/>
          </a:bodyPr>
          <a:lstStyle/>
          <a:p>
            <a:pPr indent="0" marL="0">
              <a:buNone/>
            </a:pPr>
            <a:r>
              <a:rPr lang="en-US" sz="1150" dirty="0">
                <a:solidFill>
                  <a:srgbClr val="303846"/>
                </a:solidFill>
                <a:latin typeface="Aptos" pitchFamily="34" charset="0"/>
                <a:ea typeface="Aptos" pitchFamily="34" charset="-122"/>
                <a:cs typeface="Aptos" pitchFamily="34" charset="-120"/>
              </a:rPr>
              <a:t>Grounded agents still require evaluation because retrieval can fail.</a:t>
            </a:r>
            <a:endParaRPr lang="en-US" sz="1150" dirty="0"/>
          </a:p>
        </p:txBody>
      </p:sp>
      <p:sp>
        <p:nvSpPr>
          <p:cNvPr id="20" name="Shape 18"/>
          <p:cNvSpPr/>
          <p:nvPr/>
        </p:nvSpPr>
        <p:spPr>
          <a:xfrm>
            <a:off x="9966960" y="4206240"/>
            <a:ext cx="1280160" cy="530352"/>
          </a:xfrm>
          <a:prstGeom prst="chevron">
            <a:avLst/>
          </a:prstGeom>
          <a:solidFill>
            <a:srgbClr val="06A9C8"/>
          </a:solidFill>
          <a:ln w="12700">
            <a:solidFill>
              <a:srgbClr val="06A9C8"/>
            </a:solidFill>
            <a:prstDash val="solid"/>
          </a:ln>
        </p:spPr>
      </p:sp>
      <p:sp>
        <p:nvSpPr>
          <p:cNvPr id="21" name="Text 19"/>
          <p:cNvSpPr/>
          <p:nvPr/>
        </p:nvSpPr>
        <p:spPr>
          <a:xfrm>
            <a:off x="10040112" y="4370832"/>
            <a:ext cx="1024128" cy="201168"/>
          </a:xfrm>
          <a:prstGeom prst="rect">
            <a:avLst/>
          </a:prstGeom>
          <a:noFill/>
          <a:ln/>
        </p:spPr>
        <p:txBody>
          <a:bodyPr wrap="square" lIns="0" tIns="0" rIns="0" bIns="0" rtlCol="0" anchor="ctr">
            <a:normAutofit/>
          </a:bodyPr>
          <a:lstStyle/>
          <a:p>
            <a:pPr algn="ctr" indent="0" marL="0">
              <a:buNone/>
            </a:pPr>
            <a:r>
              <a:rPr lang="en-US" sz="950" b="1" dirty="0">
                <a:solidFill>
                  <a:srgbClr val="FFFFFF"/>
                </a:solidFill>
                <a:latin typeface="Aptos" pitchFamily="34" charset="0"/>
                <a:ea typeface="Aptos" pitchFamily="34" charset="-122"/>
                <a:cs typeface="Aptos" pitchFamily="34" charset="-120"/>
              </a:rPr>
              <a:t>Next: tools, connectors, and MCP.</a:t>
            </a:r>
            <a:endParaRPr lang="en-US" sz="9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658368" y="1024128"/>
            <a:ext cx="2194560" cy="329184"/>
          </a:xfrm>
          <a:prstGeom prst="rect">
            <a:avLst/>
          </a:prstGeom>
          <a:noFill/>
          <a:ln/>
        </p:spPr>
        <p:txBody>
          <a:bodyPr wrap="square" lIns="0" tIns="0" rIns="0" bIns="0" rtlCol="0" anchor="ctr"/>
          <a:lstStyle/>
          <a:p>
            <a:pPr indent="0" marL="0">
              <a:buNone/>
            </a:pPr>
            <a:r>
              <a:rPr lang="en-US" sz="1600" dirty="0">
                <a:solidFill>
                  <a:srgbClr val="06A9C8"/>
                </a:solidFill>
                <a:latin typeface="Aptos" pitchFamily="34" charset="0"/>
                <a:ea typeface="Aptos" pitchFamily="34" charset="-122"/>
                <a:cs typeface="Aptos" pitchFamily="34" charset="-120"/>
              </a:rPr>
              <a:t>Section 6</a:t>
            </a:r>
            <a:endParaRPr lang="en-US" sz="1600" dirty="0"/>
          </a:p>
        </p:txBody>
      </p:sp>
      <p:sp>
        <p:nvSpPr>
          <p:cNvPr id="6" name="Text 4"/>
          <p:cNvSpPr/>
          <p:nvPr/>
        </p:nvSpPr>
        <p:spPr>
          <a:xfrm>
            <a:off x="658368" y="1554480"/>
            <a:ext cx="7040880" cy="841248"/>
          </a:xfrm>
          <a:prstGeom prst="rect">
            <a:avLst/>
          </a:prstGeom>
          <a:noFill/>
          <a:ln/>
        </p:spPr>
        <p:txBody>
          <a:bodyPr wrap="square" lIns="0" tIns="0" rIns="0" bIns="0" rtlCol="0" anchor="ctr">
            <a:normAutofit/>
          </a:bodyPr>
          <a:lstStyle/>
          <a:p>
            <a:pPr indent="0" marL="0">
              <a:buNone/>
            </a:pPr>
            <a:r>
              <a:rPr lang="en-US" sz="3100" dirty="0">
                <a:solidFill>
                  <a:srgbClr val="172033"/>
                </a:solidFill>
                <a:latin typeface="Aptos Display" pitchFamily="34" charset="0"/>
                <a:ea typeface="Aptos Display" pitchFamily="34" charset="-122"/>
                <a:cs typeface="Aptos Display" pitchFamily="34" charset="-120"/>
              </a:rPr>
              <a:t>Foundry Tools, Enterprise Connectors, and MCP</a:t>
            </a:r>
            <a:endParaRPr lang="en-US" sz="3100" dirty="0"/>
          </a:p>
        </p:txBody>
      </p:sp>
      <p:sp>
        <p:nvSpPr>
          <p:cNvPr id="7" name="Text 5"/>
          <p:cNvSpPr/>
          <p:nvPr/>
        </p:nvSpPr>
        <p:spPr>
          <a:xfrm>
            <a:off x="658368" y="2578608"/>
            <a:ext cx="7132320" cy="640080"/>
          </a:xfrm>
          <a:prstGeom prst="rect">
            <a:avLst/>
          </a:prstGeom>
          <a:noFill/>
          <a:ln/>
        </p:spPr>
        <p:txBody>
          <a:bodyPr wrap="square" lIns="0" tIns="0" rIns="0" bIns="0" rtlCol="0" anchor="ctr">
            <a:normAutofit/>
          </a:bodyPr>
          <a:lstStyle/>
          <a:p>
            <a:pPr indent="0" marL="0">
              <a:buNone/>
            </a:pPr>
            <a:r>
              <a:rPr lang="en-US" sz="1550" dirty="0">
                <a:solidFill>
                  <a:srgbClr val="6B7280"/>
                </a:solidFill>
                <a:latin typeface="Aptos" pitchFamily="34" charset="0"/>
                <a:ea typeface="Aptos" pitchFamily="34" charset="-122"/>
                <a:cs typeface="Aptos" pitchFamily="34" charset="-120"/>
              </a:rPr>
              <a:t>Extend agents beyond conversation by connecting approved tools, connectors, APIs, MCP endpoints, and other agents.</a:t>
            </a:r>
            <a:endParaRPr lang="en-US" sz="1550" dirty="0"/>
          </a:p>
        </p:txBody>
      </p:sp>
      <p:pic>
        <p:nvPicPr>
          <p:cNvPr id="8" name="Image 0" descr="/mnt/data/ref_pptx/ppt/media/image1.png">    </p:cNvPr>
          <p:cNvPicPr>
            <a:picLocks noChangeAspect="1"/>
          </p:cNvPicPr>
          <p:nvPr/>
        </p:nvPicPr>
        <p:blipFill>
          <a:blip r:embed="rId1"/>
          <a:stretch>
            <a:fillRect/>
          </a:stretch>
        </p:blipFill>
        <p:spPr>
          <a:xfrm>
            <a:off x="8092440" y="1097280"/>
            <a:ext cx="2468880" cy="2468880"/>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6</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Section Overview</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Foundry Tools, Enterprise Connectors, and MCP</a:t>
            </a:r>
            <a:endParaRPr lang="en-US" sz="1500" dirty="0"/>
          </a:p>
        </p:txBody>
      </p:sp>
      <p:sp>
        <p:nvSpPr>
          <p:cNvPr id="8" name="Text 6"/>
          <p:cNvSpPr/>
          <p:nvPr/>
        </p:nvSpPr>
        <p:spPr>
          <a:xfrm>
            <a:off x="658368" y="1965960"/>
            <a:ext cx="8001000" cy="3429000"/>
          </a:xfrm>
          <a:prstGeom prst="rect">
            <a:avLst/>
          </a:prstGeom>
          <a:noFill/>
          <a:ln/>
        </p:spPr>
        <p:txBody>
          <a:bodyPr wrap="square" lIns="254" tIns="254" rIns="254" bIns="254" rtlCol="0" anchor="ctr">
            <a:normAutofit/>
          </a:bodyPr>
          <a:lstStyle/>
          <a:p>
            <a:pPr indent="0" marL="0">
              <a:buNone/>
            </a:pPr>
            <a:r>
              <a:rPr lang="en-US" sz="1850" dirty="0">
                <a:solidFill>
                  <a:srgbClr val="303846"/>
                </a:solidFill>
                <a:latin typeface="Aptos" pitchFamily="34" charset="0"/>
                <a:ea typeface="Aptos" pitchFamily="34" charset="-122"/>
                <a:cs typeface="Aptos" pitchFamily="34" charset="-120"/>
              </a:rPr>
              <a:t>▸ Categorize built-in, catalog, and custom tool options.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Use the tool catalog and enterprise connectors where possible.</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Choose between Functions, OpenAPI, MCP, and A2A.</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Understand MCP server trust, authentication, and approval risks.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Connect approved tools to an agent in the lab.</a:t>
            </a:r>
            <a:endParaRPr lang="en-US" sz="1850" dirty="0"/>
          </a:p>
        </p:txBody>
      </p:sp>
      <p:sp>
        <p:nvSpPr>
          <p:cNvPr id="9" name="Shape 7"/>
          <p:cNvSpPr/>
          <p:nvPr/>
        </p:nvSpPr>
        <p:spPr>
          <a:xfrm>
            <a:off x="9144000" y="1965960"/>
            <a:ext cx="2331720" cy="1243584"/>
          </a:xfrm>
          <a:prstGeom prst="rect">
            <a:avLst/>
          </a:prstGeom>
          <a:solidFill>
            <a:srgbClr val="F4F8FB"/>
          </a:solidFill>
          <a:ln w="12700">
            <a:solidFill>
              <a:srgbClr val="E7EEF4"/>
            </a:solidFill>
            <a:prstDash val="solid"/>
          </a:ln>
        </p:spPr>
      </p:sp>
      <p:sp>
        <p:nvSpPr>
          <p:cNvPr id="10" name="Shape 8"/>
          <p:cNvSpPr/>
          <p:nvPr/>
        </p:nvSpPr>
        <p:spPr>
          <a:xfrm>
            <a:off x="9299448" y="2121408"/>
            <a:ext cx="219456" cy="219456"/>
          </a:xfrm>
          <a:prstGeom prst="ellipse">
            <a:avLst/>
          </a:prstGeom>
          <a:solidFill>
            <a:srgbClr val="06A9C8"/>
          </a:solidFill>
          <a:ln w="12700">
            <a:solidFill>
              <a:srgbClr val="06A9C8"/>
            </a:solidFill>
            <a:prstDash val="solid"/>
          </a:ln>
        </p:spPr>
      </p:sp>
      <p:sp>
        <p:nvSpPr>
          <p:cNvPr id="11" name="Text 9"/>
          <p:cNvSpPr/>
          <p:nvPr/>
        </p:nvSpPr>
        <p:spPr>
          <a:xfrm>
            <a:off x="9354312" y="213969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82912" y="209397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Section outcome</a:t>
            </a:r>
            <a:endParaRPr lang="en-US" sz="1080" dirty="0"/>
          </a:p>
        </p:txBody>
      </p:sp>
      <p:sp>
        <p:nvSpPr>
          <p:cNvPr id="13" name="Text 11"/>
          <p:cNvSpPr/>
          <p:nvPr/>
        </p:nvSpPr>
        <p:spPr>
          <a:xfrm>
            <a:off x="9354312" y="2423160"/>
            <a:ext cx="1920240" cy="676656"/>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select and govern the right integration pattern for an agent task.</a:t>
            </a:r>
            <a:endParaRPr lang="en-US" sz="96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6 · Lecture 29</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Foundry Agent Tools: Built-In, Catalog, and Custom Options</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Tools let agents retrieve, compute, call APIs, or delegate work through approved interfaces.</a:t>
            </a:r>
            <a:endParaRPr lang="en-US" sz="1500" dirty="0"/>
          </a:p>
        </p:txBody>
      </p:sp>
      <p:sp>
        <p:nvSpPr>
          <p:cNvPr id="8" name="Text 6"/>
          <p:cNvSpPr/>
          <p:nvPr/>
        </p:nvSpPr>
        <p:spPr>
          <a:xfrm>
            <a:off x="658368" y="1965960"/>
            <a:ext cx="8001000" cy="3429000"/>
          </a:xfrm>
          <a:prstGeom prst="rect">
            <a:avLst/>
          </a:prstGeom>
          <a:noFill/>
          <a:ln/>
        </p:spPr>
        <p:txBody>
          <a:bodyPr wrap="square" lIns="254" tIns="254" rIns="254" bIns="254" rtlCol="0" anchor="ctr">
            <a:normAutofit/>
          </a:bodyPr>
          <a:lstStyle/>
          <a:p>
            <a:pPr indent="0" marL="0">
              <a:buNone/>
            </a:pPr>
            <a:r>
              <a:rPr lang="en-US" sz="1850" dirty="0">
                <a:solidFill>
                  <a:srgbClr val="303846"/>
                </a:solidFill>
                <a:latin typeface="Aptos" pitchFamily="34" charset="0"/>
                <a:ea typeface="Aptos" pitchFamily="34" charset="-122"/>
                <a:cs typeface="Aptos" pitchFamily="34" charset="-120"/>
              </a:rPr>
              <a:t>▸ Built-in tools are enabled directly in Foundry after basic configuration.</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Catalog tools give teams discoverable approved capabilities.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OpenAPI tools connect agents to documented HTTP APIs.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MCP tools connect agents to remote MCP server endpoints.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A2A tools connect agents to other agent endpoints.</a:t>
            </a:r>
            <a:endParaRPr lang="en-US" sz="1850" dirty="0"/>
          </a:p>
        </p:txBody>
      </p:sp>
      <p:sp>
        <p:nvSpPr>
          <p:cNvPr id="9" name="Shape 7"/>
          <p:cNvSpPr/>
          <p:nvPr/>
        </p:nvSpPr>
        <p:spPr>
          <a:xfrm>
            <a:off x="9144000" y="1965960"/>
            <a:ext cx="2331720" cy="1243584"/>
          </a:xfrm>
          <a:prstGeom prst="rect">
            <a:avLst/>
          </a:prstGeom>
          <a:solidFill>
            <a:srgbClr val="F4F8FB"/>
          </a:solidFill>
          <a:ln w="12700">
            <a:solidFill>
              <a:srgbClr val="E7EEF4"/>
            </a:solidFill>
            <a:prstDash val="solid"/>
          </a:ln>
        </p:spPr>
      </p:sp>
      <p:sp>
        <p:nvSpPr>
          <p:cNvPr id="10" name="Shape 8"/>
          <p:cNvSpPr/>
          <p:nvPr/>
        </p:nvSpPr>
        <p:spPr>
          <a:xfrm>
            <a:off x="9299448" y="2121408"/>
            <a:ext cx="219456" cy="219456"/>
          </a:xfrm>
          <a:prstGeom prst="ellipse">
            <a:avLst/>
          </a:prstGeom>
          <a:solidFill>
            <a:srgbClr val="06A9C8"/>
          </a:solidFill>
          <a:ln w="12700">
            <a:solidFill>
              <a:srgbClr val="06A9C8"/>
            </a:solidFill>
            <a:prstDash val="solid"/>
          </a:ln>
        </p:spPr>
      </p:sp>
      <p:sp>
        <p:nvSpPr>
          <p:cNvPr id="11" name="Text 9"/>
          <p:cNvSpPr/>
          <p:nvPr/>
        </p:nvSpPr>
        <p:spPr>
          <a:xfrm>
            <a:off x="9354312" y="213969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82912" y="209397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Outcome</a:t>
            </a:r>
            <a:endParaRPr lang="en-US" sz="1080" dirty="0"/>
          </a:p>
        </p:txBody>
      </p:sp>
      <p:sp>
        <p:nvSpPr>
          <p:cNvPr id="13" name="Text 11"/>
          <p:cNvSpPr/>
          <p:nvPr/>
        </p:nvSpPr>
        <p:spPr>
          <a:xfrm>
            <a:off x="9354312" y="2423160"/>
            <a:ext cx="1920240" cy="676656"/>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You can explain the main tool categories without confusing tools with agents.</a:t>
            </a:r>
            <a:endParaRPr lang="en-US" sz="96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6 · Lecture 29</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Tool Governance Model</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A tool is a controlled capability, not just a convenience.</a:t>
            </a:r>
            <a:endParaRPr lang="en-US" sz="1500" dirty="0"/>
          </a:p>
        </p:txBody>
      </p:sp>
      <p:sp>
        <p:nvSpPr>
          <p:cNvPr id="8" name="Text 6"/>
          <p:cNvSpPr/>
          <p:nvPr/>
        </p:nvSpPr>
        <p:spPr>
          <a:xfrm>
            <a:off x="658368" y="1965960"/>
            <a:ext cx="8001000" cy="3429000"/>
          </a:xfrm>
          <a:prstGeom prst="rect">
            <a:avLst/>
          </a:prstGeom>
          <a:noFill/>
          <a:ln/>
        </p:spPr>
        <p:txBody>
          <a:bodyPr wrap="square" lIns="254" tIns="254" rIns="254" bIns="254" rtlCol="0" anchor="ctr">
            <a:normAutofit/>
          </a:bodyPr>
          <a:lstStyle/>
          <a:p>
            <a:pPr indent="0" marL="0">
              <a:buNone/>
            </a:pPr>
            <a:r>
              <a:rPr lang="en-US" sz="1850" dirty="0">
                <a:solidFill>
                  <a:srgbClr val="303846"/>
                </a:solidFill>
                <a:latin typeface="Aptos" pitchFamily="34" charset="0"/>
                <a:ea typeface="Aptos" pitchFamily="34" charset="-122"/>
                <a:cs typeface="Aptos" pitchFamily="34" charset="-120"/>
              </a:rPr>
              <a:t>▸ Tool descriptions influence when the model chooses the tool.</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Authentication controls who or what can invoke the backing capability.</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Input validation reduces unsafe or malformed requests.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Approval gates protect sensitive or state-changing operations.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Audit logs support review and incident response.</a:t>
            </a:r>
            <a:endParaRPr lang="en-US" sz="1850" dirty="0"/>
          </a:p>
        </p:txBody>
      </p:sp>
      <p:sp>
        <p:nvSpPr>
          <p:cNvPr id="9" name="Shape 7"/>
          <p:cNvSpPr/>
          <p:nvPr/>
        </p:nvSpPr>
        <p:spPr>
          <a:xfrm>
            <a:off x="9144000" y="1965960"/>
            <a:ext cx="2331720" cy="1243584"/>
          </a:xfrm>
          <a:prstGeom prst="rect">
            <a:avLst/>
          </a:prstGeom>
          <a:solidFill>
            <a:srgbClr val="F4F8FB"/>
          </a:solidFill>
          <a:ln w="12700">
            <a:solidFill>
              <a:srgbClr val="E7EEF4"/>
            </a:solidFill>
            <a:prstDash val="solid"/>
          </a:ln>
        </p:spPr>
      </p:sp>
      <p:sp>
        <p:nvSpPr>
          <p:cNvPr id="10" name="Shape 8"/>
          <p:cNvSpPr/>
          <p:nvPr/>
        </p:nvSpPr>
        <p:spPr>
          <a:xfrm>
            <a:off x="9299448" y="2121408"/>
            <a:ext cx="219456" cy="219456"/>
          </a:xfrm>
          <a:prstGeom prst="ellipse">
            <a:avLst/>
          </a:prstGeom>
          <a:solidFill>
            <a:srgbClr val="06A9C8"/>
          </a:solidFill>
          <a:ln w="12700">
            <a:solidFill>
              <a:srgbClr val="06A9C8"/>
            </a:solidFill>
            <a:prstDash val="solid"/>
          </a:ln>
        </p:spPr>
      </p:sp>
      <p:sp>
        <p:nvSpPr>
          <p:cNvPr id="11" name="Text 9"/>
          <p:cNvSpPr/>
          <p:nvPr/>
        </p:nvSpPr>
        <p:spPr>
          <a:xfrm>
            <a:off x="9354312" y="213969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82912" y="209397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Governance rule</a:t>
            </a:r>
            <a:endParaRPr lang="en-US" sz="1080" dirty="0"/>
          </a:p>
        </p:txBody>
      </p:sp>
      <p:sp>
        <p:nvSpPr>
          <p:cNvPr id="13" name="Text 11"/>
          <p:cNvSpPr/>
          <p:nvPr/>
        </p:nvSpPr>
        <p:spPr>
          <a:xfrm>
            <a:off x="9354312" y="2423160"/>
            <a:ext cx="1920240" cy="676656"/>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Never connect a tool unless you understand what it can do and who is accountable for it.</a:t>
            </a:r>
            <a:endParaRPr lang="en-US" sz="96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6 · Lecture 30</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Use the Foundry Tool Catalog and Enterprise Connectors</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The tool catalog supports reuse and standardization across teams.</a:t>
            </a:r>
            <a:endParaRPr lang="en-US" sz="1500" dirty="0"/>
          </a:p>
        </p:txBody>
      </p:sp>
      <p:sp>
        <p:nvSpPr>
          <p:cNvPr id="8" name="Text 6"/>
          <p:cNvSpPr/>
          <p:nvPr/>
        </p:nvSpPr>
        <p:spPr>
          <a:xfrm>
            <a:off x="658368" y="1965960"/>
            <a:ext cx="8001000" cy="3429000"/>
          </a:xfrm>
          <a:prstGeom prst="rect">
            <a:avLst/>
          </a:prstGeom>
          <a:noFill/>
          <a:ln/>
        </p:spPr>
        <p:txBody>
          <a:bodyPr wrap="square" lIns="254" tIns="254" rIns="254" bIns="254" rtlCol="0" anchor="ctr">
            <a:normAutofit/>
          </a:bodyPr>
          <a:lstStyle/>
          <a:p>
            <a:pPr indent="0" marL="0">
              <a:buNone/>
            </a:pPr>
            <a:r>
              <a:rPr lang="en-US" sz="1850" dirty="0">
                <a:solidFill>
                  <a:srgbClr val="303846"/>
                </a:solidFill>
                <a:latin typeface="Aptos" pitchFamily="34" charset="0"/>
                <a:ea typeface="Aptos" pitchFamily="34" charset="-122"/>
                <a:cs typeface="Aptos" pitchFamily="34" charset="-120"/>
              </a:rPr>
              <a:t>▸ Discover approved tools before creating custom integrations.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Review each tool’s status, permissions, and data access needs.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Use reusable connections to avoid one-off configuration drift.</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Favor catalog tools when they meet the business requirement.</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Document ownership for tools used by production agents.</a:t>
            </a:r>
            <a:endParaRPr lang="en-US" sz="1850" dirty="0"/>
          </a:p>
        </p:txBody>
      </p:sp>
      <p:sp>
        <p:nvSpPr>
          <p:cNvPr id="9" name="Shape 7"/>
          <p:cNvSpPr/>
          <p:nvPr/>
        </p:nvSpPr>
        <p:spPr>
          <a:xfrm>
            <a:off x="9144000" y="1965960"/>
            <a:ext cx="2331720" cy="1243584"/>
          </a:xfrm>
          <a:prstGeom prst="rect">
            <a:avLst/>
          </a:prstGeom>
          <a:solidFill>
            <a:srgbClr val="F4F8FB"/>
          </a:solidFill>
          <a:ln w="12700">
            <a:solidFill>
              <a:srgbClr val="E7EEF4"/>
            </a:solidFill>
            <a:prstDash val="solid"/>
          </a:ln>
        </p:spPr>
      </p:sp>
      <p:sp>
        <p:nvSpPr>
          <p:cNvPr id="10" name="Shape 8"/>
          <p:cNvSpPr/>
          <p:nvPr/>
        </p:nvSpPr>
        <p:spPr>
          <a:xfrm>
            <a:off x="9299448" y="2121408"/>
            <a:ext cx="219456" cy="219456"/>
          </a:xfrm>
          <a:prstGeom prst="ellipse">
            <a:avLst/>
          </a:prstGeom>
          <a:solidFill>
            <a:srgbClr val="06A9C8"/>
          </a:solidFill>
          <a:ln w="12700">
            <a:solidFill>
              <a:srgbClr val="06A9C8"/>
            </a:solidFill>
            <a:prstDash val="solid"/>
          </a:ln>
        </p:spPr>
      </p:sp>
      <p:sp>
        <p:nvSpPr>
          <p:cNvPr id="11" name="Text 9"/>
          <p:cNvSpPr/>
          <p:nvPr/>
        </p:nvSpPr>
        <p:spPr>
          <a:xfrm>
            <a:off x="9354312" y="213969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82912" y="209397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Demonstration</a:t>
            </a:r>
            <a:endParaRPr lang="en-US" sz="1080" dirty="0"/>
          </a:p>
        </p:txBody>
      </p:sp>
      <p:sp>
        <p:nvSpPr>
          <p:cNvPr id="13" name="Text 11"/>
          <p:cNvSpPr/>
          <p:nvPr/>
        </p:nvSpPr>
        <p:spPr>
          <a:xfrm>
            <a:off x="9354312" y="2423160"/>
            <a:ext cx="1920240" cy="676656"/>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Browse the tool catalog and inspect connection and permission requirements.</a:t>
            </a:r>
            <a:endParaRPr lang="en-US" sz="96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6 · Lecture 30</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Enterprise Connector Checklist</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Before connecting a tool, review the business and security implications.</a:t>
            </a:r>
            <a:endParaRPr lang="en-US" sz="1500" dirty="0"/>
          </a:p>
        </p:txBody>
      </p:sp>
      <p:sp>
        <p:nvSpPr>
          <p:cNvPr id="8" name="Text 6"/>
          <p:cNvSpPr/>
          <p:nvPr/>
        </p:nvSpPr>
        <p:spPr>
          <a:xfrm>
            <a:off x="658368" y="1965960"/>
            <a:ext cx="8001000" cy="3429000"/>
          </a:xfrm>
          <a:prstGeom prst="rect">
            <a:avLst/>
          </a:prstGeom>
          <a:noFill/>
          <a:ln/>
        </p:spPr>
        <p:txBody>
          <a:bodyPr wrap="square" lIns="254" tIns="254" rIns="254" bIns="254" rtlCol="0" anchor="ctr">
            <a:normAutofit/>
          </a:bodyPr>
          <a:lstStyle/>
          <a:p>
            <a:pPr indent="0" marL="0">
              <a:buNone/>
            </a:pPr>
            <a:r>
              <a:rPr lang="en-US" sz="1850" dirty="0">
                <a:solidFill>
                  <a:srgbClr val="303846"/>
                </a:solidFill>
                <a:latin typeface="Aptos" pitchFamily="34" charset="0"/>
                <a:ea typeface="Aptos" pitchFamily="34" charset="-122"/>
                <a:cs typeface="Aptos" pitchFamily="34" charset="-120"/>
              </a:rPr>
              <a:t>▸ What system does the connector reach?</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Which user or agent identity is used?</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What read or write actions are possible?</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Can the action be tested safely?</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Where will tool activity be logged and reviewed?</a:t>
            </a:r>
            <a:endParaRPr lang="en-US" sz="1850" dirty="0"/>
          </a:p>
        </p:txBody>
      </p:sp>
      <p:sp>
        <p:nvSpPr>
          <p:cNvPr id="9" name="Shape 7"/>
          <p:cNvSpPr/>
          <p:nvPr/>
        </p:nvSpPr>
        <p:spPr>
          <a:xfrm>
            <a:off x="9144000" y="1965960"/>
            <a:ext cx="2331720" cy="1243584"/>
          </a:xfrm>
          <a:prstGeom prst="rect">
            <a:avLst/>
          </a:prstGeom>
          <a:solidFill>
            <a:srgbClr val="F4F8FB"/>
          </a:solidFill>
          <a:ln w="12700">
            <a:solidFill>
              <a:srgbClr val="E7EEF4"/>
            </a:solidFill>
            <a:prstDash val="solid"/>
          </a:ln>
        </p:spPr>
      </p:sp>
      <p:sp>
        <p:nvSpPr>
          <p:cNvPr id="10" name="Shape 8"/>
          <p:cNvSpPr/>
          <p:nvPr/>
        </p:nvSpPr>
        <p:spPr>
          <a:xfrm>
            <a:off x="9299448" y="2121408"/>
            <a:ext cx="219456" cy="219456"/>
          </a:xfrm>
          <a:prstGeom prst="ellipse">
            <a:avLst/>
          </a:prstGeom>
          <a:solidFill>
            <a:srgbClr val="06A9C8"/>
          </a:solidFill>
          <a:ln w="12700">
            <a:solidFill>
              <a:srgbClr val="06A9C8"/>
            </a:solidFill>
            <a:prstDash val="solid"/>
          </a:ln>
        </p:spPr>
      </p:sp>
      <p:sp>
        <p:nvSpPr>
          <p:cNvPr id="11" name="Text 9"/>
          <p:cNvSpPr/>
          <p:nvPr/>
        </p:nvSpPr>
        <p:spPr>
          <a:xfrm>
            <a:off x="9354312" y="213969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82912" y="209397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Connector rule</a:t>
            </a:r>
            <a:endParaRPr lang="en-US" sz="1080" dirty="0"/>
          </a:p>
        </p:txBody>
      </p:sp>
      <p:sp>
        <p:nvSpPr>
          <p:cNvPr id="13" name="Text 11"/>
          <p:cNvSpPr/>
          <p:nvPr/>
        </p:nvSpPr>
        <p:spPr>
          <a:xfrm>
            <a:off x="9354312" y="2423160"/>
            <a:ext cx="1920240" cy="676656"/>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A connector should be easier to govern than a custom integration.</a:t>
            </a:r>
            <a:endParaRPr lang="en-US" sz="96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6 · Lecture 31</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Choose Between Functions, OpenAPI, MCP, and A2A</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Use the integration pattern that matches the ownership and interoperability requirement.</a:t>
            </a:r>
            <a:endParaRPr lang="en-US" sz="1500" dirty="0"/>
          </a:p>
        </p:txBody>
      </p:sp>
      <p:sp>
        <p:nvSpPr>
          <p:cNvPr id="8" name="Text 6"/>
          <p:cNvSpPr/>
          <p:nvPr/>
        </p:nvSpPr>
        <p:spPr>
          <a:xfrm>
            <a:off x="658368" y="1965960"/>
            <a:ext cx="8001000" cy="3429000"/>
          </a:xfrm>
          <a:prstGeom prst="rect">
            <a:avLst/>
          </a:prstGeom>
          <a:noFill/>
          <a:ln/>
        </p:spPr>
        <p:txBody>
          <a:bodyPr wrap="square" lIns="254" tIns="254" rIns="254" bIns="254" rtlCol="0" anchor="ctr">
            <a:normAutofit/>
          </a:bodyPr>
          <a:lstStyle/>
          <a:p>
            <a:pPr indent="0" marL="0">
              <a:buNone/>
            </a:pPr>
            <a:r>
              <a:rPr lang="en-US" sz="1850" dirty="0">
                <a:solidFill>
                  <a:srgbClr val="303846"/>
                </a:solidFill>
                <a:latin typeface="Aptos" pitchFamily="34" charset="0"/>
                <a:ea typeface="Aptos" pitchFamily="34" charset="-122"/>
                <a:cs typeface="Aptos" pitchFamily="34" charset="-120"/>
              </a:rPr>
              <a:t>▸ Functions work well for simple application-executed operations.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OpenAPI works well for documented HTTP APIs.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MCP works well for shared tools hosted by another team or platform.</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A2A works when the target is another agent, not just a tool.</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The safest option has the clearest contract and control boundary.</a:t>
            </a:r>
            <a:endParaRPr lang="en-US" sz="1850" dirty="0"/>
          </a:p>
        </p:txBody>
      </p:sp>
      <p:sp>
        <p:nvSpPr>
          <p:cNvPr id="9" name="Shape 7"/>
          <p:cNvSpPr/>
          <p:nvPr/>
        </p:nvSpPr>
        <p:spPr>
          <a:xfrm>
            <a:off x="9144000" y="1965960"/>
            <a:ext cx="2331720" cy="1243584"/>
          </a:xfrm>
          <a:prstGeom prst="rect">
            <a:avLst/>
          </a:prstGeom>
          <a:solidFill>
            <a:srgbClr val="F4F8FB"/>
          </a:solidFill>
          <a:ln w="12700">
            <a:solidFill>
              <a:srgbClr val="E7EEF4"/>
            </a:solidFill>
            <a:prstDash val="solid"/>
          </a:ln>
        </p:spPr>
      </p:sp>
      <p:sp>
        <p:nvSpPr>
          <p:cNvPr id="10" name="Shape 8"/>
          <p:cNvSpPr/>
          <p:nvPr/>
        </p:nvSpPr>
        <p:spPr>
          <a:xfrm>
            <a:off x="9299448" y="2121408"/>
            <a:ext cx="219456" cy="219456"/>
          </a:xfrm>
          <a:prstGeom prst="ellipse">
            <a:avLst/>
          </a:prstGeom>
          <a:solidFill>
            <a:srgbClr val="06A9C8"/>
          </a:solidFill>
          <a:ln w="12700">
            <a:solidFill>
              <a:srgbClr val="06A9C8"/>
            </a:solidFill>
            <a:prstDash val="solid"/>
          </a:ln>
        </p:spPr>
      </p:sp>
      <p:sp>
        <p:nvSpPr>
          <p:cNvPr id="11" name="Text 9"/>
          <p:cNvSpPr/>
          <p:nvPr/>
        </p:nvSpPr>
        <p:spPr>
          <a:xfrm>
            <a:off x="9354312" y="213969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82912" y="209397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Decision frame</a:t>
            </a:r>
            <a:endParaRPr lang="en-US" sz="1080" dirty="0"/>
          </a:p>
        </p:txBody>
      </p:sp>
      <p:sp>
        <p:nvSpPr>
          <p:cNvPr id="13" name="Text 11"/>
          <p:cNvSpPr/>
          <p:nvPr/>
        </p:nvSpPr>
        <p:spPr>
          <a:xfrm>
            <a:off x="9354312" y="2423160"/>
            <a:ext cx="1920240" cy="676656"/>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Tool patterns should reduce ambiguity, not add integration theater.</a:t>
            </a:r>
            <a:endParaRPr lang="en-US" sz="96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6 · Lecture 31</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Integration Pattern Decision Matrix</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Learners should leave with a practical architecture filter.</a:t>
            </a:r>
            <a:endParaRPr lang="en-US" sz="1500" dirty="0"/>
          </a:p>
        </p:txBody>
      </p:sp>
      <p:sp>
        <p:nvSpPr>
          <p:cNvPr id="8" name="Shape 6"/>
          <p:cNvSpPr/>
          <p:nvPr/>
        </p:nvSpPr>
        <p:spPr>
          <a:xfrm>
            <a:off x="658368" y="1828800"/>
            <a:ext cx="8183880" cy="3474720"/>
          </a:xfrm>
          <a:prstGeom prst="rect">
            <a:avLst/>
          </a:prstGeom>
          <a:solidFill>
            <a:srgbClr val="FFFFFF"/>
          </a:solidFill>
          <a:ln w="12700">
            <a:solidFill>
              <a:srgbClr val="DDEAF1"/>
            </a:solidFill>
            <a:prstDash val="solid"/>
          </a:ln>
        </p:spPr>
      </p:sp>
      <p:sp>
        <p:nvSpPr>
          <p:cNvPr id="9" name="Text 7"/>
          <p:cNvSpPr/>
          <p:nvPr/>
        </p:nvSpPr>
        <p:spPr>
          <a:xfrm>
            <a:off x="713232" y="1938528"/>
            <a:ext cx="1764792" cy="228600"/>
          </a:xfrm>
          <a:prstGeom prst="rect">
            <a:avLst/>
          </a:prstGeom>
          <a:noFill/>
          <a:ln/>
        </p:spPr>
        <p:txBody>
          <a:bodyPr wrap="square" lIns="0" tIns="0" rIns="0" bIns="0" rtlCol="0" anchor="ctr">
            <a:normAutofit/>
          </a:bodyPr>
          <a:lstStyle/>
          <a:p>
            <a:pPr indent="0" marL="0">
              <a:buNone/>
            </a:pPr>
            <a:r>
              <a:rPr lang="en-US" sz="1050" b="1" dirty="0">
                <a:solidFill>
                  <a:srgbClr val="06A9C8"/>
                </a:solidFill>
                <a:latin typeface="Aptos" pitchFamily="34" charset="0"/>
                <a:ea typeface="Aptos" pitchFamily="34" charset="-122"/>
                <a:cs typeface="Aptos" pitchFamily="34" charset="-120"/>
              </a:rPr>
              <a:t>Pattern</a:t>
            </a:r>
            <a:endParaRPr lang="en-US" sz="1050" dirty="0"/>
          </a:p>
        </p:txBody>
      </p:sp>
      <p:sp>
        <p:nvSpPr>
          <p:cNvPr id="10" name="Text 8"/>
          <p:cNvSpPr/>
          <p:nvPr/>
        </p:nvSpPr>
        <p:spPr>
          <a:xfrm>
            <a:off x="2587752" y="1938528"/>
            <a:ext cx="1947672" cy="228600"/>
          </a:xfrm>
          <a:prstGeom prst="rect">
            <a:avLst/>
          </a:prstGeom>
          <a:noFill/>
          <a:ln/>
        </p:spPr>
        <p:txBody>
          <a:bodyPr wrap="square" lIns="0" tIns="0" rIns="0" bIns="0" rtlCol="0" anchor="ctr">
            <a:normAutofit/>
          </a:bodyPr>
          <a:lstStyle/>
          <a:p>
            <a:pPr indent="0" marL="0">
              <a:buNone/>
            </a:pPr>
            <a:r>
              <a:rPr lang="en-US" sz="1050" b="1" dirty="0">
                <a:solidFill>
                  <a:srgbClr val="06A9C8"/>
                </a:solidFill>
                <a:latin typeface="Aptos" pitchFamily="34" charset="0"/>
                <a:ea typeface="Aptos" pitchFamily="34" charset="-122"/>
                <a:cs typeface="Aptos" pitchFamily="34" charset="-120"/>
              </a:rPr>
              <a:t>Use when</a:t>
            </a:r>
            <a:endParaRPr lang="en-US" sz="1050" dirty="0"/>
          </a:p>
        </p:txBody>
      </p:sp>
      <p:sp>
        <p:nvSpPr>
          <p:cNvPr id="11" name="Text 9"/>
          <p:cNvSpPr/>
          <p:nvPr/>
        </p:nvSpPr>
        <p:spPr>
          <a:xfrm>
            <a:off x="4645152" y="1938528"/>
            <a:ext cx="1947672" cy="228600"/>
          </a:xfrm>
          <a:prstGeom prst="rect">
            <a:avLst/>
          </a:prstGeom>
          <a:noFill/>
          <a:ln/>
        </p:spPr>
        <p:txBody>
          <a:bodyPr wrap="square" lIns="0" tIns="0" rIns="0" bIns="0" rtlCol="0" anchor="ctr">
            <a:normAutofit/>
          </a:bodyPr>
          <a:lstStyle/>
          <a:p>
            <a:pPr indent="0" marL="0">
              <a:buNone/>
            </a:pPr>
            <a:r>
              <a:rPr lang="en-US" sz="1050" b="1" dirty="0">
                <a:solidFill>
                  <a:srgbClr val="06A9C8"/>
                </a:solidFill>
                <a:latin typeface="Aptos" pitchFamily="34" charset="0"/>
                <a:ea typeface="Aptos" pitchFamily="34" charset="-122"/>
                <a:cs typeface="Aptos" pitchFamily="34" charset="-120"/>
              </a:rPr>
              <a:t>Watch for</a:t>
            </a:r>
            <a:endParaRPr lang="en-US" sz="1050" dirty="0"/>
          </a:p>
        </p:txBody>
      </p:sp>
      <p:sp>
        <p:nvSpPr>
          <p:cNvPr id="12" name="Text 10"/>
          <p:cNvSpPr/>
          <p:nvPr/>
        </p:nvSpPr>
        <p:spPr>
          <a:xfrm>
            <a:off x="6702552" y="1938528"/>
            <a:ext cx="1947672" cy="228600"/>
          </a:xfrm>
          <a:prstGeom prst="rect">
            <a:avLst/>
          </a:prstGeom>
          <a:noFill/>
          <a:ln/>
        </p:spPr>
        <p:txBody>
          <a:bodyPr wrap="square" lIns="0" tIns="0" rIns="0" bIns="0" rtlCol="0" anchor="ctr">
            <a:normAutofit/>
          </a:bodyPr>
          <a:lstStyle/>
          <a:p>
            <a:pPr indent="0" marL="0">
              <a:buNone/>
            </a:pPr>
            <a:r>
              <a:rPr lang="en-US" sz="1050" b="1" dirty="0">
                <a:solidFill>
                  <a:srgbClr val="06A9C8"/>
                </a:solidFill>
                <a:latin typeface="Aptos" pitchFamily="34" charset="0"/>
                <a:ea typeface="Aptos" pitchFamily="34" charset="-122"/>
                <a:cs typeface="Aptos" pitchFamily="34" charset="-120"/>
              </a:rPr>
              <a:t>Govern with</a:t>
            </a:r>
            <a:endParaRPr lang="en-US" sz="1050" dirty="0"/>
          </a:p>
        </p:txBody>
      </p:sp>
      <p:sp>
        <p:nvSpPr>
          <p:cNvPr id="13" name="Text 11"/>
          <p:cNvSpPr/>
          <p:nvPr/>
        </p:nvSpPr>
        <p:spPr>
          <a:xfrm>
            <a:off x="713232" y="2331720"/>
            <a:ext cx="1764792" cy="502920"/>
          </a:xfrm>
          <a:prstGeom prst="rect">
            <a:avLst/>
          </a:prstGeom>
          <a:noFill/>
          <a:ln/>
        </p:spPr>
        <p:txBody>
          <a:bodyPr wrap="square" lIns="127" tIns="127" rIns="127" bIns="127" rtlCol="0" anchor="ctr">
            <a:normAutofit/>
          </a:bodyPr>
          <a:lstStyle/>
          <a:p>
            <a:pPr indent="0" marL="0">
              <a:buNone/>
            </a:pPr>
            <a:r>
              <a:rPr lang="en-US" sz="950" b="1" dirty="0">
                <a:solidFill>
                  <a:srgbClr val="172033"/>
                </a:solidFill>
                <a:latin typeface="Aptos" pitchFamily="34" charset="0"/>
                <a:ea typeface="Aptos" pitchFamily="34" charset="-122"/>
                <a:cs typeface="Aptos" pitchFamily="34" charset="-120"/>
              </a:rPr>
              <a:t>Function</a:t>
            </a:r>
            <a:endParaRPr lang="en-US" sz="950" dirty="0"/>
          </a:p>
        </p:txBody>
      </p:sp>
      <p:sp>
        <p:nvSpPr>
          <p:cNvPr id="14" name="Text 12"/>
          <p:cNvSpPr/>
          <p:nvPr/>
        </p:nvSpPr>
        <p:spPr>
          <a:xfrm>
            <a:off x="2587752" y="2331720"/>
            <a:ext cx="1947672" cy="502920"/>
          </a:xfrm>
          <a:prstGeom prst="rect">
            <a:avLst/>
          </a:prstGeom>
          <a:noFill/>
          <a:ln/>
        </p:spPr>
        <p:txBody>
          <a:bodyPr wrap="square" lIns="127" tIns="127" rIns="127" bIns="127" rtlCol="0" anchor="ctr">
            <a:normAutofit/>
          </a:bodyPr>
          <a:lstStyle/>
          <a:p>
            <a:pPr indent="0" marL="0">
              <a:buNone/>
            </a:pPr>
            <a:r>
              <a:rPr lang="en-US" sz="950" dirty="0">
                <a:solidFill>
                  <a:srgbClr val="303846"/>
                </a:solidFill>
                <a:latin typeface="Aptos" pitchFamily="34" charset="0"/>
                <a:ea typeface="Aptos" pitchFamily="34" charset="-122"/>
                <a:cs typeface="Aptos" pitchFamily="34" charset="-120"/>
              </a:rPr>
              <a:t>single local action</a:t>
            </a:r>
            <a:endParaRPr lang="en-US" sz="950" dirty="0"/>
          </a:p>
        </p:txBody>
      </p:sp>
      <p:sp>
        <p:nvSpPr>
          <p:cNvPr id="15" name="Text 13"/>
          <p:cNvSpPr/>
          <p:nvPr/>
        </p:nvSpPr>
        <p:spPr>
          <a:xfrm>
            <a:off x="4645152" y="2331720"/>
            <a:ext cx="1947672" cy="502920"/>
          </a:xfrm>
          <a:prstGeom prst="rect">
            <a:avLst/>
          </a:prstGeom>
          <a:noFill/>
          <a:ln/>
        </p:spPr>
        <p:txBody>
          <a:bodyPr wrap="square" lIns="127" tIns="127" rIns="127" bIns="127" rtlCol="0" anchor="ctr">
            <a:normAutofit/>
          </a:bodyPr>
          <a:lstStyle/>
          <a:p>
            <a:pPr indent="0" marL="0">
              <a:buNone/>
            </a:pPr>
            <a:r>
              <a:rPr lang="en-US" sz="950" dirty="0">
                <a:solidFill>
                  <a:srgbClr val="303846"/>
                </a:solidFill>
                <a:latin typeface="Aptos" pitchFamily="34" charset="0"/>
                <a:ea typeface="Aptos" pitchFamily="34" charset="-122"/>
                <a:cs typeface="Aptos" pitchFamily="34" charset="-120"/>
              </a:rPr>
              <a:t>hidden side effects</a:t>
            </a:r>
            <a:endParaRPr lang="en-US" sz="950" dirty="0"/>
          </a:p>
        </p:txBody>
      </p:sp>
      <p:sp>
        <p:nvSpPr>
          <p:cNvPr id="16" name="Text 14"/>
          <p:cNvSpPr/>
          <p:nvPr/>
        </p:nvSpPr>
        <p:spPr>
          <a:xfrm>
            <a:off x="6702552" y="2331720"/>
            <a:ext cx="1947672" cy="502920"/>
          </a:xfrm>
          <a:prstGeom prst="rect">
            <a:avLst/>
          </a:prstGeom>
          <a:noFill/>
          <a:ln/>
        </p:spPr>
        <p:txBody>
          <a:bodyPr wrap="square" lIns="127" tIns="127" rIns="127" bIns="127" rtlCol="0" anchor="ctr">
            <a:normAutofit/>
          </a:bodyPr>
          <a:lstStyle/>
          <a:p>
            <a:pPr indent="0" marL="0">
              <a:buNone/>
            </a:pPr>
            <a:r>
              <a:rPr lang="en-US" sz="950" dirty="0">
                <a:solidFill>
                  <a:srgbClr val="303846"/>
                </a:solidFill>
                <a:latin typeface="Aptos" pitchFamily="34" charset="0"/>
                <a:ea typeface="Aptos" pitchFamily="34" charset="-122"/>
                <a:cs typeface="Aptos" pitchFamily="34" charset="-120"/>
              </a:rPr>
              <a:t>approval + validation</a:t>
            </a:r>
            <a:endParaRPr lang="en-US" sz="950" dirty="0"/>
          </a:p>
        </p:txBody>
      </p:sp>
      <p:sp>
        <p:nvSpPr>
          <p:cNvPr id="17" name="Text 15"/>
          <p:cNvSpPr/>
          <p:nvPr/>
        </p:nvSpPr>
        <p:spPr>
          <a:xfrm>
            <a:off x="713232" y="3044952"/>
            <a:ext cx="1764792" cy="502920"/>
          </a:xfrm>
          <a:prstGeom prst="rect">
            <a:avLst/>
          </a:prstGeom>
          <a:noFill/>
          <a:ln/>
        </p:spPr>
        <p:txBody>
          <a:bodyPr wrap="square" lIns="127" tIns="127" rIns="127" bIns="127" rtlCol="0" anchor="ctr">
            <a:normAutofit/>
          </a:bodyPr>
          <a:lstStyle/>
          <a:p>
            <a:pPr indent="0" marL="0">
              <a:buNone/>
            </a:pPr>
            <a:r>
              <a:rPr lang="en-US" sz="950" b="1" dirty="0">
                <a:solidFill>
                  <a:srgbClr val="172033"/>
                </a:solidFill>
                <a:latin typeface="Aptos" pitchFamily="34" charset="0"/>
                <a:ea typeface="Aptos" pitchFamily="34" charset="-122"/>
                <a:cs typeface="Aptos" pitchFamily="34" charset="-120"/>
              </a:rPr>
              <a:t>OpenAPI</a:t>
            </a:r>
            <a:endParaRPr lang="en-US" sz="950" dirty="0"/>
          </a:p>
        </p:txBody>
      </p:sp>
      <p:sp>
        <p:nvSpPr>
          <p:cNvPr id="18" name="Text 16"/>
          <p:cNvSpPr/>
          <p:nvPr/>
        </p:nvSpPr>
        <p:spPr>
          <a:xfrm>
            <a:off x="2587752" y="3044952"/>
            <a:ext cx="1947672" cy="502920"/>
          </a:xfrm>
          <a:prstGeom prst="rect">
            <a:avLst/>
          </a:prstGeom>
          <a:noFill/>
          <a:ln/>
        </p:spPr>
        <p:txBody>
          <a:bodyPr wrap="square" lIns="127" tIns="127" rIns="127" bIns="127" rtlCol="0" anchor="ctr">
            <a:normAutofit/>
          </a:bodyPr>
          <a:lstStyle/>
          <a:p>
            <a:pPr indent="0" marL="0">
              <a:buNone/>
            </a:pPr>
            <a:r>
              <a:rPr lang="en-US" sz="950" dirty="0">
                <a:solidFill>
                  <a:srgbClr val="303846"/>
                </a:solidFill>
                <a:latin typeface="Aptos" pitchFamily="34" charset="0"/>
                <a:ea typeface="Aptos" pitchFamily="34" charset="-122"/>
                <a:cs typeface="Aptos" pitchFamily="34" charset="-120"/>
              </a:rPr>
              <a:t>formal HTTP API</a:t>
            </a:r>
            <a:endParaRPr lang="en-US" sz="950" dirty="0"/>
          </a:p>
        </p:txBody>
      </p:sp>
      <p:sp>
        <p:nvSpPr>
          <p:cNvPr id="19" name="Text 17"/>
          <p:cNvSpPr/>
          <p:nvPr/>
        </p:nvSpPr>
        <p:spPr>
          <a:xfrm>
            <a:off x="4645152" y="3044952"/>
            <a:ext cx="1947672" cy="502920"/>
          </a:xfrm>
          <a:prstGeom prst="rect">
            <a:avLst/>
          </a:prstGeom>
          <a:noFill/>
          <a:ln/>
        </p:spPr>
        <p:txBody>
          <a:bodyPr wrap="square" lIns="127" tIns="127" rIns="127" bIns="127" rtlCol="0" anchor="ctr">
            <a:normAutofit/>
          </a:bodyPr>
          <a:lstStyle/>
          <a:p>
            <a:pPr indent="0" marL="0">
              <a:buNone/>
            </a:pPr>
            <a:r>
              <a:rPr lang="en-US" sz="950" dirty="0">
                <a:solidFill>
                  <a:srgbClr val="303846"/>
                </a:solidFill>
                <a:latin typeface="Aptos" pitchFamily="34" charset="0"/>
                <a:ea typeface="Aptos" pitchFamily="34" charset="-122"/>
                <a:cs typeface="Aptos" pitchFamily="34" charset="-120"/>
              </a:rPr>
              <a:t>overbroad operations</a:t>
            </a:r>
            <a:endParaRPr lang="en-US" sz="950" dirty="0"/>
          </a:p>
        </p:txBody>
      </p:sp>
      <p:sp>
        <p:nvSpPr>
          <p:cNvPr id="20" name="Text 18"/>
          <p:cNvSpPr/>
          <p:nvPr/>
        </p:nvSpPr>
        <p:spPr>
          <a:xfrm>
            <a:off x="6702552" y="3044952"/>
            <a:ext cx="1947672" cy="502920"/>
          </a:xfrm>
          <a:prstGeom prst="rect">
            <a:avLst/>
          </a:prstGeom>
          <a:noFill/>
          <a:ln/>
        </p:spPr>
        <p:txBody>
          <a:bodyPr wrap="square" lIns="127" tIns="127" rIns="127" bIns="127" rtlCol="0" anchor="ctr">
            <a:normAutofit/>
          </a:bodyPr>
          <a:lstStyle/>
          <a:p>
            <a:pPr indent="0" marL="0">
              <a:buNone/>
            </a:pPr>
            <a:r>
              <a:rPr lang="en-US" sz="950" dirty="0">
                <a:solidFill>
                  <a:srgbClr val="303846"/>
                </a:solidFill>
                <a:latin typeface="Aptos" pitchFamily="34" charset="0"/>
                <a:ea typeface="Aptos" pitchFamily="34" charset="-122"/>
                <a:cs typeface="Aptos" pitchFamily="34" charset="-120"/>
              </a:rPr>
              <a:t>API contract + auth</a:t>
            </a:r>
            <a:endParaRPr lang="en-US" sz="950" dirty="0"/>
          </a:p>
        </p:txBody>
      </p:sp>
      <p:sp>
        <p:nvSpPr>
          <p:cNvPr id="21" name="Text 19"/>
          <p:cNvSpPr/>
          <p:nvPr/>
        </p:nvSpPr>
        <p:spPr>
          <a:xfrm>
            <a:off x="713232" y="3758184"/>
            <a:ext cx="1764792" cy="502920"/>
          </a:xfrm>
          <a:prstGeom prst="rect">
            <a:avLst/>
          </a:prstGeom>
          <a:noFill/>
          <a:ln/>
        </p:spPr>
        <p:txBody>
          <a:bodyPr wrap="square" lIns="127" tIns="127" rIns="127" bIns="127" rtlCol="0" anchor="ctr">
            <a:normAutofit/>
          </a:bodyPr>
          <a:lstStyle/>
          <a:p>
            <a:pPr indent="0" marL="0">
              <a:buNone/>
            </a:pPr>
            <a:r>
              <a:rPr lang="en-US" sz="950" b="1" dirty="0">
                <a:solidFill>
                  <a:srgbClr val="172033"/>
                </a:solidFill>
                <a:latin typeface="Aptos" pitchFamily="34" charset="0"/>
                <a:ea typeface="Aptos" pitchFamily="34" charset="-122"/>
                <a:cs typeface="Aptos" pitchFamily="34" charset="-120"/>
              </a:rPr>
              <a:t>MCP</a:t>
            </a:r>
            <a:endParaRPr lang="en-US" sz="950" dirty="0"/>
          </a:p>
        </p:txBody>
      </p:sp>
      <p:sp>
        <p:nvSpPr>
          <p:cNvPr id="22" name="Text 20"/>
          <p:cNvSpPr/>
          <p:nvPr/>
        </p:nvSpPr>
        <p:spPr>
          <a:xfrm>
            <a:off x="2587752" y="3758184"/>
            <a:ext cx="1947672" cy="502920"/>
          </a:xfrm>
          <a:prstGeom prst="rect">
            <a:avLst/>
          </a:prstGeom>
          <a:noFill/>
          <a:ln/>
        </p:spPr>
        <p:txBody>
          <a:bodyPr wrap="square" lIns="127" tIns="127" rIns="127" bIns="127" rtlCol="0" anchor="ctr">
            <a:normAutofit/>
          </a:bodyPr>
          <a:lstStyle/>
          <a:p>
            <a:pPr indent="0" marL="0">
              <a:buNone/>
            </a:pPr>
            <a:r>
              <a:rPr lang="en-US" sz="950" dirty="0">
                <a:solidFill>
                  <a:srgbClr val="303846"/>
                </a:solidFill>
                <a:latin typeface="Aptos" pitchFamily="34" charset="0"/>
                <a:ea typeface="Aptos" pitchFamily="34" charset="-122"/>
                <a:cs typeface="Aptos" pitchFamily="34" charset="-120"/>
              </a:rPr>
              <a:t>shared external tools</a:t>
            </a:r>
            <a:endParaRPr lang="en-US" sz="950" dirty="0"/>
          </a:p>
        </p:txBody>
      </p:sp>
      <p:sp>
        <p:nvSpPr>
          <p:cNvPr id="23" name="Text 21"/>
          <p:cNvSpPr/>
          <p:nvPr/>
        </p:nvSpPr>
        <p:spPr>
          <a:xfrm>
            <a:off x="4645152" y="3758184"/>
            <a:ext cx="1947672" cy="502920"/>
          </a:xfrm>
          <a:prstGeom prst="rect">
            <a:avLst/>
          </a:prstGeom>
          <a:noFill/>
          <a:ln/>
        </p:spPr>
        <p:txBody>
          <a:bodyPr wrap="square" lIns="127" tIns="127" rIns="127" bIns="127" rtlCol="0" anchor="ctr">
            <a:normAutofit/>
          </a:bodyPr>
          <a:lstStyle/>
          <a:p>
            <a:pPr indent="0" marL="0">
              <a:buNone/>
            </a:pPr>
            <a:r>
              <a:rPr lang="en-US" sz="950" dirty="0">
                <a:solidFill>
                  <a:srgbClr val="303846"/>
                </a:solidFill>
                <a:latin typeface="Aptos" pitchFamily="34" charset="0"/>
                <a:ea typeface="Aptos" pitchFamily="34" charset="-122"/>
                <a:cs typeface="Aptos" pitchFamily="34" charset="-120"/>
              </a:rPr>
              <a:t>server trust + drift</a:t>
            </a:r>
            <a:endParaRPr lang="en-US" sz="950" dirty="0"/>
          </a:p>
        </p:txBody>
      </p:sp>
      <p:sp>
        <p:nvSpPr>
          <p:cNvPr id="24" name="Text 22"/>
          <p:cNvSpPr/>
          <p:nvPr/>
        </p:nvSpPr>
        <p:spPr>
          <a:xfrm>
            <a:off x="6702552" y="3758184"/>
            <a:ext cx="1947672" cy="502920"/>
          </a:xfrm>
          <a:prstGeom prst="rect">
            <a:avLst/>
          </a:prstGeom>
          <a:noFill/>
          <a:ln/>
        </p:spPr>
        <p:txBody>
          <a:bodyPr wrap="square" lIns="127" tIns="127" rIns="127" bIns="127" rtlCol="0" anchor="ctr">
            <a:normAutofit/>
          </a:bodyPr>
          <a:lstStyle/>
          <a:p>
            <a:pPr indent="0" marL="0">
              <a:buNone/>
            </a:pPr>
            <a:r>
              <a:rPr lang="en-US" sz="950" dirty="0">
                <a:solidFill>
                  <a:srgbClr val="303846"/>
                </a:solidFill>
                <a:latin typeface="Aptos" pitchFamily="34" charset="0"/>
                <a:ea typeface="Aptos" pitchFamily="34" charset="-122"/>
                <a:cs typeface="Aptos" pitchFamily="34" charset="-120"/>
              </a:rPr>
              <a:t>tool allowlist + audit</a:t>
            </a:r>
            <a:endParaRPr lang="en-US" sz="950" dirty="0"/>
          </a:p>
        </p:txBody>
      </p:sp>
      <p:sp>
        <p:nvSpPr>
          <p:cNvPr id="25" name="Text 23"/>
          <p:cNvSpPr/>
          <p:nvPr/>
        </p:nvSpPr>
        <p:spPr>
          <a:xfrm>
            <a:off x="713232" y="4471416"/>
            <a:ext cx="1764792" cy="502920"/>
          </a:xfrm>
          <a:prstGeom prst="rect">
            <a:avLst/>
          </a:prstGeom>
          <a:noFill/>
          <a:ln/>
        </p:spPr>
        <p:txBody>
          <a:bodyPr wrap="square" lIns="127" tIns="127" rIns="127" bIns="127" rtlCol="0" anchor="ctr">
            <a:normAutofit/>
          </a:bodyPr>
          <a:lstStyle/>
          <a:p>
            <a:pPr indent="0" marL="0">
              <a:buNone/>
            </a:pPr>
            <a:r>
              <a:rPr lang="en-US" sz="950" b="1" dirty="0">
                <a:solidFill>
                  <a:srgbClr val="172033"/>
                </a:solidFill>
                <a:latin typeface="Aptos" pitchFamily="34" charset="0"/>
                <a:ea typeface="Aptos" pitchFamily="34" charset="-122"/>
                <a:cs typeface="Aptos" pitchFamily="34" charset="-120"/>
              </a:rPr>
              <a:t>A2A</a:t>
            </a:r>
            <a:endParaRPr lang="en-US" sz="950" dirty="0"/>
          </a:p>
        </p:txBody>
      </p:sp>
      <p:sp>
        <p:nvSpPr>
          <p:cNvPr id="26" name="Text 24"/>
          <p:cNvSpPr/>
          <p:nvPr/>
        </p:nvSpPr>
        <p:spPr>
          <a:xfrm>
            <a:off x="2587752" y="4471416"/>
            <a:ext cx="1947672" cy="502920"/>
          </a:xfrm>
          <a:prstGeom prst="rect">
            <a:avLst/>
          </a:prstGeom>
          <a:noFill/>
          <a:ln/>
        </p:spPr>
        <p:txBody>
          <a:bodyPr wrap="square" lIns="127" tIns="127" rIns="127" bIns="127" rtlCol="0" anchor="ctr">
            <a:normAutofit/>
          </a:bodyPr>
          <a:lstStyle/>
          <a:p>
            <a:pPr indent="0" marL="0">
              <a:buNone/>
            </a:pPr>
            <a:r>
              <a:rPr lang="en-US" sz="950" dirty="0">
                <a:solidFill>
                  <a:srgbClr val="303846"/>
                </a:solidFill>
                <a:latin typeface="Aptos" pitchFamily="34" charset="0"/>
                <a:ea typeface="Aptos" pitchFamily="34" charset="-122"/>
                <a:cs typeface="Aptos" pitchFamily="34" charset="-120"/>
              </a:rPr>
              <a:t>specialist agent</a:t>
            </a:r>
            <a:endParaRPr lang="en-US" sz="950" dirty="0"/>
          </a:p>
        </p:txBody>
      </p:sp>
      <p:sp>
        <p:nvSpPr>
          <p:cNvPr id="27" name="Text 25"/>
          <p:cNvSpPr/>
          <p:nvPr/>
        </p:nvSpPr>
        <p:spPr>
          <a:xfrm>
            <a:off x="4645152" y="4471416"/>
            <a:ext cx="1947672" cy="502920"/>
          </a:xfrm>
          <a:prstGeom prst="rect">
            <a:avLst/>
          </a:prstGeom>
          <a:noFill/>
          <a:ln/>
        </p:spPr>
        <p:txBody>
          <a:bodyPr wrap="square" lIns="127" tIns="127" rIns="127" bIns="127" rtlCol="0" anchor="ctr">
            <a:normAutofit/>
          </a:bodyPr>
          <a:lstStyle/>
          <a:p>
            <a:pPr indent="0" marL="0">
              <a:buNone/>
            </a:pPr>
            <a:r>
              <a:rPr lang="en-US" sz="950" dirty="0">
                <a:solidFill>
                  <a:srgbClr val="303846"/>
                </a:solidFill>
                <a:latin typeface="Aptos" pitchFamily="34" charset="0"/>
                <a:ea typeface="Aptos" pitchFamily="34" charset="-122"/>
                <a:cs typeface="Aptos" pitchFamily="34" charset="-120"/>
              </a:rPr>
              <a:t>unclear delegation</a:t>
            </a:r>
            <a:endParaRPr lang="en-US" sz="950" dirty="0"/>
          </a:p>
        </p:txBody>
      </p:sp>
      <p:sp>
        <p:nvSpPr>
          <p:cNvPr id="28" name="Text 26"/>
          <p:cNvSpPr/>
          <p:nvPr/>
        </p:nvSpPr>
        <p:spPr>
          <a:xfrm>
            <a:off x="6702552" y="4471416"/>
            <a:ext cx="1947672" cy="502920"/>
          </a:xfrm>
          <a:prstGeom prst="rect">
            <a:avLst/>
          </a:prstGeom>
          <a:noFill/>
          <a:ln/>
        </p:spPr>
        <p:txBody>
          <a:bodyPr wrap="square" lIns="127" tIns="127" rIns="127" bIns="127" rtlCol="0" anchor="ctr">
            <a:normAutofit/>
          </a:bodyPr>
          <a:lstStyle/>
          <a:p>
            <a:pPr indent="0" marL="0">
              <a:buNone/>
            </a:pPr>
            <a:r>
              <a:rPr lang="en-US" sz="950" dirty="0">
                <a:solidFill>
                  <a:srgbClr val="303846"/>
                </a:solidFill>
                <a:latin typeface="Aptos" pitchFamily="34" charset="0"/>
                <a:ea typeface="Aptos" pitchFamily="34" charset="-122"/>
                <a:cs typeface="Aptos" pitchFamily="34" charset="-120"/>
              </a:rPr>
              <a:t>agent card + auth</a:t>
            </a:r>
            <a:endParaRPr lang="en-US" sz="950" dirty="0"/>
          </a:p>
        </p:txBody>
      </p:sp>
      <p:sp>
        <p:nvSpPr>
          <p:cNvPr id="29" name="Shape 27"/>
          <p:cNvSpPr/>
          <p:nvPr/>
        </p:nvSpPr>
        <p:spPr>
          <a:xfrm>
            <a:off x="9098280" y="2240280"/>
            <a:ext cx="2331720" cy="1325880"/>
          </a:xfrm>
          <a:prstGeom prst="rect">
            <a:avLst/>
          </a:prstGeom>
          <a:solidFill>
            <a:srgbClr val="F4F8FB"/>
          </a:solidFill>
          <a:ln w="12700">
            <a:solidFill>
              <a:srgbClr val="E7EEF4"/>
            </a:solidFill>
            <a:prstDash val="solid"/>
          </a:ln>
        </p:spPr>
      </p:sp>
      <p:sp>
        <p:nvSpPr>
          <p:cNvPr id="30" name="Shape 28"/>
          <p:cNvSpPr/>
          <p:nvPr/>
        </p:nvSpPr>
        <p:spPr>
          <a:xfrm>
            <a:off x="9253728" y="2395728"/>
            <a:ext cx="219456" cy="219456"/>
          </a:xfrm>
          <a:prstGeom prst="ellipse">
            <a:avLst/>
          </a:prstGeom>
          <a:solidFill>
            <a:srgbClr val="06A9C8"/>
          </a:solidFill>
          <a:ln w="12700">
            <a:solidFill>
              <a:srgbClr val="06A9C8"/>
            </a:solidFill>
            <a:prstDash val="solid"/>
          </a:ln>
        </p:spPr>
      </p:sp>
      <p:sp>
        <p:nvSpPr>
          <p:cNvPr id="31" name="Text 29"/>
          <p:cNvSpPr/>
          <p:nvPr/>
        </p:nvSpPr>
        <p:spPr>
          <a:xfrm>
            <a:off x="9308592" y="241401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32" name="Text 30"/>
          <p:cNvSpPr/>
          <p:nvPr/>
        </p:nvSpPr>
        <p:spPr>
          <a:xfrm>
            <a:off x="9537192" y="236829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Outcome</a:t>
            </a:r>
            <a:endParaRPr lang="en-US" sz="1080" dirty="0"/>
          </a:p>
        </p:txBody>
      </p:sp>
      <p:sp>
        <p:nvSpPr>
          <p:cNvPr id="33" name="Text 31"/>
          <p:cNvSpPr/>
          <p:nvPr/>
        </p:nvSpPr>
        <p:spPr>
          <a:xfrm>
            <a:off x="9308592" y="2697480"/>
            <a:ext cx="1920240" cy="758952"/>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You can explain why an integration pattern was chosen.</a:t>
            </a:r>
            <a:endParaRPr lang="en-US" sz="96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6 · Lecture 32</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Secure MCP Integrations for Enterprise Agents</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MCP is powerful because it exposes tools; that is also why it must be governed carefully.</a:t>
            </a:r>
            <a:endParaRPr lang="en-US" sz="1500" dirty="0"/>
          </a:p>
        </p:txBody>
      </p:sp>
      <p:sp>
        <p:nvSpPr>
          <p:cNvPr id="8" name="Text 6"/>
          <p:cNvSpPr/>
          <p:nvPr/>
        </p:nvSpPr>
        <p:spPr>
          <a:xfrm>
            <a:off x="658368" y="1965960"/>
            <a:ext cx="8001000" cy="3429000"/>
          </a:xfrm>
          <a:prstGeom prst="rect">
            <a:avLst/>
          </a:prstGeom>
          <a:noFill/>
          <a:ln/>
        </p:spPr>
        <p:txBody>
          <a:bodyPr wrap="square" lIns="254" tIns="254" rIns="254" bIns="254" rtlCol="0" anchor="ctr">
            <a:normAutofit/>
          </a:bodyPr>
          <a:lstStyle/>
          <a:p>
            <a:pPr indent="0" marL="0">
              <a:buNone/>
            </a:pPr>
            <a:r>
              <a:rPr lang="en-US" sz="1850" dirty="0">
                <a:solidFill>
                  <a:srgbClr val="303846"/>
                </a:solidFill>
                <a:latin typeface="Aptos" pitchFamily="34" charset="0"/>
                <a:ea typeface="Aptos" pitchFamily="34" charset="-122"/>
                <a:cs typeface="Aptos" pitchFamily="34" charset="-120"/>
              </a:rPr>
              <a:t>▸ Treat the MCP server as a trusted external capability boundary.</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Verify server ownership, authentication, and transport security.</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Review tool schemas and descriptions for overbroad capability exposure.</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Use input validation and approval for sensitive operations.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Monitor tool calls and keep audit evidence.</a:t>
            </a:r>
            <a:endParaRPr lang="en-US" sz="1850" dirty="0"/>
          </a:p>
        </p:txBody>
      </p:sp>
      <p:sp>
        <p:nvSpPr>
          <p:cNvPr id="9" name="Shape 7"/>
          <p:cNvSpPr/>
          <p:nvPr/>
        </p:nvSpPr>
        <p:spPr>
          <a:xfrm>
            <a:off x="9144000" y="1965960"/>
            <a:ext cx="2331720" cy="1243584"/>
          </a:xfrm>
          <a:prstGeom prst="rect">
            <a:avLst/>
          </a:prstGeom>
          <a:solidFill>
            <a:srgbClr val="F4F8FB"/>
          </a:solidFill>
          <a:ln w="12700">
            <a:solidFill>
              <a:srgbClr val="E7EEF4"/>
            </a:solidFill>
            <a:prstDash val="solid"/>
          </a:ln>
        </p:spPr>
      </p:sp>
      <p:sp>
        <p:nvSpPr>
          <p:cNvPr id="10" name="Shape 8"/>
          <p:cNvSpPr/>
          <p:nvPr/>
        </p:nvSpPr>
        <p:spPr>
          <a:xfrm>
            <a:off x="9299448" y="2121408"/>
            <a:ext cx="219456" cy="219456"/>
          </a:xfrm>
          <a:prstGeom prst="ellipse">
            <a:avLst/>
          </a:prstGeom>
          <a:solidFill>
            <a:srgbClr val="06A9C8"/>
          </a:solidFill>
          <a:ln w="12700">
            <a:solidFill>
              <a:srgbClr val="06A9C8"/>
            </a:solidFill>
            <a:prstDash val="solid"/>
          </a:ln>
        </p:spPr>
      </p:sp>
      <p:sp>
        <p:nvSpPr>
          <p:cNvPr id="11" name="Text 9"/>
          <p:cNvSpPr/>
          <p:nvPr/>
        </p:nvSpPr>
        <p:spPr>
          <a:xfrm>
            <a:off x="9354312" y="213969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82912" y="209397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Outcome</a:t>
            </a:r>
            <a:endParaRPr lang="en-US" sz="1080" dirty="0"/>
          </a:p>
        </p:txBody>
      </p:sp>
      <p:sp>
        <p:nvSpPr>
          <p:cNvPr id="13" name="Text 11"/>
          <p:cNvSpPr/>
          <p:nvPr/>
        </p:nvSpPr>
        <p:spPr>
          <a:xfrm>
            <a:off x="9354312" y="2423160"/>
            <a:ext cx="1920240" cy="676656"/>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You can identify the main risks before connecting an MCP endpoint.</a:t>
            </a:r>
            <a:endParaRPr lang="en-US" sz="96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6 · Lecture 32</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MCP Risk Review</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Use this checklist before trusting a remote MCP endpoint.</a:t>
            </a:r>
            <a:endParaRPr lang="en-US" sz="1500" dirty="0"/>
          </a:p>
        </p:txBody>
      </p:sp>
      <p:sp>
        <p:nvSpPr>
          <p:cNvPr id="8" name="Text 6"/>
          <p:cNvSpPr/>
          <p:nvPr/>
        </p:nvSpPr>
        <p:spPr>
          <a:xfrm>
            <a:off x="658368" y="1965960"/>
            <a:ext cx="8001000" cy="3429000"/>
          </a:xfrm>
          <a:prstGeom prst="rect">
            <a:avLst/>
          </a:prstGeom>
          <a:noFill/>
          <a:ln/>
        </p:spPr>
        <p:txBody>
          <a:bodyPr wrap="square" lIns="254" tIns="254" rIns="254" bIns="254" rtlCol="0" anchor="ctr">
            <a:normAutofit/>
          </a:bodyPr>
          <a:lstStyle/>
          <a:p>
            <a:pPr indent="0" marL="0">
              <a:buNone/>
            </a:pPr>
            <a:r>
              <a:rPr lang="en-US" sz="1850" dirty="0">
                <a:solidFill>
                  <a:srgbClr val="303846"/>
                </a:solidFill>
                <a:latin typeface="Aptos" pitchFamily="34" charset="0"/>
                <a:ea typeface="Aptos" pitchFamily="34" charset="-122"/>
                <a:cs typeface="Aptos" pitchFamily="34" charset="-120"/>
              </a:rPr>
              <a:t>▸ Who owns and maintains the server?</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Which tools are exposed and are any destructive?</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How is authentication configured?</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Can the tool return sensitive data?</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How will failures, abuse, and drift be detected?</a:t>
            </a:r>
            <a:endParaRPr lang="en-US" sz="1850" dirty="0"/>
          </a:p>
        </p:txBody>
      </p:sp>
      <p:sp>
        <p:nvSpPr>
          <p:cNvPr id="9" name="Shape 7"/>
          <p:cNvSpPr/>
          <p:nvPr/>
        </p:nvSpPr>
        <p:spPr>
          <a:xfrm>
            <a:off x="9144000" y="1965960"/>
            <a:ext cx="2331720" cy="1243584"/>
          </a:xfrm>
          <a:prstGeom prst="rect">
            <a:avLst/>
          </a:prstGeom>
          <a:solidFill>
            <a:srgbClr val="F4F8FB"/>
          </a:solidFill>
          <a:ln w="12700">
            <a:solidFill>
              <a:srgbClr val="E7EEF4"/>
            </a:solidFill>
            <a:prstDash val="solid"/>
          </a:ln>
        </p:spPr>
      </p:sp>
      <p:sp>
        <p:nvSpPr>
          <p:cNvPr id="10" name="Shape 8"/>
          <p:cNvSpPr/>
          <p:nvPr/>
        </p:nvSpPr>
        <p:spPr>
          <a:xfrm>
            <a:off x="9299448" y="2121408"/>
            <a:ext cx="219456" cy="219456"/>
          </a:xfrm>
          <a:prstGeom prst="ellipse">
            <a:avLst/>
          </a:prstGeom>
          <a:solidFill>
            <a:srgbClr val="06A9C8"/>
          </a:solidFill>
          <a:ln w="12700">
            <a:solidFill>
              <a:srgbClr val="06A9C8"/>
            </a:solidFill>
            <a:prstDash val="solid"/>
          </a:ln>
        </p:spPr>
      </p:sp>
      <p:sp>
        <p:nvSpPr>
          <p:cNvPr id="11" name="Text 9"/>
          <p:cNvSpPr/>
          <p:nvPr/>
        </p:nvSpPr>
        <p:spPr>
          <a:xfrm>
            <a:off x="9354312" y="213969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82912" y="209397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Risk rule</a:t>
            </a:r>
            <a:endParaRPr lang="en-US" sz="1080" dirty="0"/>
          </a:p>
        </p:txBody>
      </p:sp>
      <p:sp>
        <p:nvSpPr>
          <p:cNvPr id="13" name="Text 11"/>
          <p:cNvSpPr/>
          <p:nvPr/>
        </p:nvSpPr>
        <p:spPr>
          <a:xfrm>
            <a:off x="9354312" y="2423160"/>
            <a:ext cx="1920240" cy="676656"/>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MCP expands agent capability; it must also expand review discipline.</a:t>
            </a:r>
            <a:endParaRPr lang="en-US" sz="96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6 · Lecture 33</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Lab: Connect Catalog and MCP Tools to a Foundry Agent</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This lab adds approved capabilities without building custom tool code.</a:t>
            </a:r>
            <a:endParaRPr lang="en-US" sz="1500" dirty="0"/>
          </a:p>
        </p:txBody>
      </p:sp>
      <p:sp>
        <p:nvSpPr>
          <p:cNvPr id="8" name="Text 6"/>
          <p:cNvSpPr/>
          <p:nvPr/>
        </p:nvSpPr>
        <p:spPr>
          <a:xfrm>
            <a:off x="658368" y="1874520"/>
            <a:ext cx="8138160" cy="3291840"/>
          </a:xfrm>
          <a:prstGeom prst="rect">
            <a:avLst/>
          </a:prstGeom>
          <a:noFill/>
          <a:ln/>
        </p:spPr>
        <p:txBody>
          <a:bodyPr wrap="square" lIns="254" tIns="254" rIns="254" bIns="254" rtlCol="0" anchor="ctr">
            <a:normAutofit/>
          </a:bodyPr>
          <a:lstStyle/>
          <a:p>
            <a:pPr indent="0" marL="0">
              <a:buNone/>
            </a:pPr>
            <a:r>
              <a:rPr lang="en-US" sz="1800" dirty="0">
                <a:solidFill>
                  <a:srgbClr val="303846"/>
                </a:solidFill>
                <a:latin typeface="Aptos" pitchFamily="34" charset="0"/>
                <a:ea typeface="Aptos" pitchFamily="34" charset="-122"/>
                <a:cs typeface="Aptos" pitchFamily="34" charset="-120"/>
              </a:rPr>
              <a:t>▸ Add an approved catalog tool or connection.</a:t>
            </a:r>
            <a:endParaRPr lang="en-US" sz="1800" dirty="0"/>
          </a:p>
          <a:p>
            <a:pPr indent="0" marL="0">
              <a:buNone/>
            </a:pPr>
            <a:r>
              <a:rPr lang="en-US" sz="1800" dirty="0">
                <a:solidFill>
                  <a:srgbClr val="303846"/>
                </a:solidFill>
                <a:latin typeface="Aptos" pitchFamily="34" charset="0"/>
                <a:ea typeface="Aptos" pitchFamily="34" charset="-122"/>
                <a:cs typeface="Aptos" pitchFamily="34" charset="-120"/>
              </a:rPr>
              <a:t>▸ Register the supplied MCP endpoint.</a:t>
            </a:r>
            <a:endParaRPr lang="en-US" sz="1800" dirty="0"/>
          </a:p>
          <a:p>
            <a:pPr indent="0" marL="0">
              <a:buNone/>
            </a:pPr>
            <a:r>
              <a:rPr lang="en-US" sz="1800" dirty="0">
                <a:solidFill>
                  <a:srgbClr val="303846"/>
                </a:solidFill>
                <a:latin typeface="Aptos" pitchFamily="34" charset="0"/>
                <a:ea typeface="Aptos" pitchFamily="34" charset="-122"/>
                <a:cs typeface="Aptos" pitchFamily="34" charset="-120"/>
              </a:rPr>
              <a:t>▸ Limit the agent to the actions required by the scenario.</a:t>
            </a:r>
            <a:endParaRPr lang="en-US" sz="1800" dirty="0"/>
          </a:p>
          <a:p>
            <a:pPr indent="0" marL="0">
              <a:buNone/>
            </a:pPr>
            <a:r>
              <a:rPr lang="en-US" sz="1800" dirty="0">
                <a:solidFill>
                  <a:srgbClr val="303846"/>
                </a:solidFill>
                <a:latin typeface="Aptos" pitchFamily="34" charset="0"/>
                <a:ea typeface="Aptos" pitchFamily="34" charset="-122"/>
                <a:cs typeface="Aptos" pitchFamily="34" charset="-120"/>
              </a:rPr>
              <a:t>▸ Test when the agent should and should not call a tool.</a:t>
            </a:r>
            <a:endParaRPr lang="en-US" sz="1800" dirty="0"/>
          </a:p>
          <a:p>
            <a:pPr indent="0" marL="0">
              <a:buNone/>
            </a:pPr>
            <a:r>
              <a:rPr lang="en-US" sz="1800" dirty="0">
                <a:solidFill>
                  <a:srgbClr val="303846"/>
                </a:solidFill>
                <a:latin typeface="Aptos" pitchFamily="34" charset="0"/>
                <a:ea typeface="Aptos" pitchFamily="34" charset="-122"/>
                <a:cs typeface="Aptos" pitchFamily="34" charset="-120"/>
              </a:rPr>
              <a:t>▸ Inspect the evidence from tool usage.</a:t>
            </a:r>
            <a:endParaRPr lang="en-US" sz="1800" dirty="0"/>
          </a:p>
        </p:txBody>
      </p:sp>
      <p:sp>
        <p:nvSpPr>
          <p:cNvPr id="9" name="Shape 7"/>
          <p:cNvSpPr/>
          <p:nvPr/>
        </p:nvSpPr>
        <p:spPr>
          <a:xfrm>
            <a:off x="9098280" y="2148840"/>
            <a:ext cx="2331720" cy="1371600"/>
          </a:xfrm>
          <a:prstGeom prst="rect">
            <a:avLst/>
          </a:prstGeom>
          <a:solidFill>
            <a:srgbClr val="F4F8FB"/>
          </a:solidFill>
          <a:ln w="12700">
            <a:solidFill>
              <a:srgbClr val="E7EEF4"/>
            </a:solidFill>
            <a:prstDash val="solid"/>
          </a:ln>
        </p:spPr>
      </p:sp>
      <p:sp>
        <p:nvSpPr>
          <p:cNvPr id="10" name="Shape 8"/>
          <p:cNvSpPr/>
          <p:nvPr/>
        </p:nvSpPr>
        <p:spPr>
          <a:xfrm>
            <a:off x="9253728" y="2304288"/>
            <a:ext cx="219456" cy="219456"/>
          </a:xfrm>
          <a:prstGeom prst="ellipse">
            <a:avLst/>
          </a:prstGeom>
          <a:solidFill>
            <a:srgbClr val="06A9C8"/>
          </a:solidFill>
          <a:ln w="12700">
            <a:solidFill>
              <a:srgbClr val="06A9C8"/>
            </a:solidFill>
            <a:prstDash val="solid"/>
          </a:ln>
        </p:spPr>
      </p:sp>
      <p:sp>
        <p:nvSpPr>
          <p:cNvPr id="11" name="Text 9"/>
          <p:cNvSpPr/>
          <p:nvPr/>
        </p:nvSpPr>
        <p:spPr>
          <a:xfrm>
            <a:off x="9308592" y="232257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37192" y="227685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Lab outcome</a:t>
            </a:r>
            <a:endParaRPr lang="en-US" sz="1080" dirty="0"/>
          </a:p>
        </p:txBody>
      </p:sp>
      <p:sp>
        <p:nvSpPr>
          <p:cNvPr id="13" name="Text 11"/>
          <p:cNvSpPr/>
          <p:nvPr/>
        </p:nvSpPr>
        <p:spPr>
          <a:xfrm>
            <a:off x="9308592" y="2606040"/>
            <a:ext cx="1920240" cy="804672"/>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An agent connected to approved catalog and MCP tools with restricted actions.</a:t>
            </a:r>
            <a:endParaRPr lang="en-US" sz="96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6 · Lecture 33</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Lab Validation Checklist</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A tool lab is successful only if the agent chooses tools appropriately.</a:t>
            </a:r>
            <a:endParaRPr lang="en-US" sz="1500" dirty="0"/>
          </a:p>
        </p:txBody>
      </p:sp>
      <p:sp>
        <p:nvSpPr>
          <p:cNvPr id="8" name="Text 6"/>
          <p:cNvSpPr/>
          <p:nvPr/>
        </p:nvSpPr>
        <p:spPr>
          <a:xfrm>
            <a:off x="658368" y="1874520"/>
            <a:ext cx="8138160" cy="3291840"/>
          </a:xfrm>
          <a:prstGeom prst="rect">
            <a:avLst/>
          </a:prstGeom>
          <a:noFill/>
          <a:ln/>
        </p:spPr>
        <p:txBody>
          <a:bodyPr wrap="square" lIns="254" tIns="254" rIns="254" bIns="254" rtlCol="0" anchor="ctr">
            <a:normAutofit/>
          </a:bodyPr>
          <a:lstStyle/>
          <a:p>
            <a:pPr indent="0" marL="0">
              <a:buNone/>
            </a:pPr>
            <a:r>
              <a:rPr lang="en-US" sz="1800" dirty="0">
                <a:solidFill>
                  <a:srgbClr val="303846"/>
                </a:solidFill>
                <a:latin typeface="Aptos" pitchFamily="34" charset="0"/>
                <a:ea typeface="Aptos" pitchFamily="34" charset="-122"/>
                <a:cs typeface="Aptos" pitchFamily="34" charset="-120"/>
              </a:rPr>
              <a:t>▸ The agent selects the correct tool for the matching request.</a:t>
            </a:r>
            <a:endParaRPr lang="en-US" sz="1800" dirty="0"/>
          </a:p>
          <a:p>
            <a:pPr indent="0" marL="0">
              <a:buNone/>
            </a:pPr>
            <a:r>
              <a:rPr lang="en-US" sz="1800" dirty="0">
                <a:solidFill>
                  <a:srgbClr val="303846"/>
                </a:solidFill>
                <a:latin typeface="Aptos" pitchFamily="34" charset="0"/>
                <a:ea typeface="Aptos" pitchFamily="34" charset="-122"/>
                <a:cs typeface="Aptos" pitchFamily="34" charset="-120"/>
              </a:rPr>
              <a:t>▸ The agent does not call tools for unrelated questions.</a:t>
            </a:r>
            <a:endParaRPr lang="en-US" sz="1800" dirty="0"/>
          </a:p>
          <a:p>
            <a:pPr indent="0" marL="0">
              <a:buNone/>
            </a:pPr>
            <a:r>
              <a:rPr lang="en-US" sz="1800" dirty="0">
                <a:solidFill>
                  <a:srgbClr val="303846"/>
                </a:solidFill>
                <a:latin typeface="Aptos" pitchFamily="34" charset="0"/>
                <a:ea typeface="Aptos" pitchFamily="34" charset="-122"/>
                <a:cs typeface="Aptos" pitchFamily="34" charset="-120"/>
              </a:rPr>
              <a:t>▸ The MCP endpoint is connected using the supplied configuration.</a:t>
            </a:r>
            <a:endParaRPr lang="en-US" sz="1800" dirty="0"/>
          </a:p>
          <a:p>
            <a:pPr indent="0" marL="0">
              <a:buNone/>
            </a:pPr>
            <a:r>
              <a:rPr lang="en-US" sz="1800" dirty="0">
                <a:solidFill>
                  <a:srgbClr val="303846"/>
                </a:solidFill>
                <a:latin typeface="Aptos" pitchFamily="34" charset="0"/>
                <a:ea typeface="Aptos" pitchFamily="34" charset="-122"/>
                <a:cs typeface="Aptos" pitchFamily="34" charset="-120"/>
              </a:rPr>
              <a:t>▸ Sensitive or unsupported actions are blocked or escalated.</a:t>
            </a:r>
            <a:endParaRPr lang="en-US" sz="1800" dirty="0"/>
          </a:p>
          <a:p>
            <a:pPr indent="0" marL="0">
              <a:buNone/>
            </a:pPr>
            <a:r>
              <a:rPr lang="en-US" sz="1800" dirty="0">
                <a:solidFill>
                  <a:srgbClr val="303846"/>
                </a:solidFill>
                <a:latin typeface="Aptos" pitchFamily="34" charset="0"/>
                <a:ea typeface="Aptos" pitchFamily="34" charset="-122"/>
                <a:cs typeface="Aptos" pitchFamily="34" charset="-120"/>
              </a:rPr>
              <a:t>▸ Tool-call evidence is visible for review.</a:t>
            </a:r>
            <a:endParaRPr lang="en-US" sz="1800" dirty="0"/>
          </a:p>
        </p:txBody>
      </p:sp>
      <p:sp>
        <p:nvSpPr>
          <p:cNvPr id="9" name="Shape 7"/>
          <p:cNvSpPr/>
          <p:nvPr/>
        </p:nvSpPr>
        <p:spPr>
          <a:xfrm>
            <a:off x="9098280" y="2148840"/>
            <a:ext cx="2331720" cy="1371600"/>
          </a:xfrm>
          <a:prstGeom prst="rect">
            <a:avLst/>
          </a:prstGeom>
          <a:solidFill>
            <a:srgbClr val="F4F8FB"/>
          </a:solidFill>
          <a:ln w="12700">
            <a:solidFill>
              <a:srgbClr val="E7EEF4"/>
            </a:solidFill>
            <a:prstDash val="solid"/>
          </a:ln>
        </p:spPr>
      </p:sp>
      <p:sp>
        <p:nvSpPr>
          <p:cNvPr id="10" name="Shape 8"/>
          <p:cNvSpPr/>
          <p:nvPr/>
        </p:nvSpPr>
        <p:spPr>
          <a:xfrm>
            <a:off x="9253728" y="2304288"/>
            <a:ext cx="219456" cy="219456"/>
          </a:xfrm>
          <a:prstGeom prst="ellipse">
            <a:avLst/>
          </a:prstGeom>
          <a:solidFill>
            <a:srgbClr val="06A9C8"/>
          </a:solidFill>
          <a:ln w="12700">
            <a:solidFill>
              <a:srgbClr val="06A9C8"/>
            </a:solidFill>
            <a:prstDash val="solid"/>
          </a:ln>
        </p:spPr>
      </p:sp>
      <p:sp>
        <p:nvSpPr>
          <p:cNvPr id="11" name="Text 9"/>
          <p:cNvSpPr/>
          <p:nvPr/>
        </p:nvSpPr>
        <p:spPr>
          <a:xfrm>
            <a:off x="9308592" y="232257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37192" y="227685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Lab outcome</a:t>
            </a:r>
            <a:endParaRPr lang="en-US" sz="1080" dirty="0"/>
          </a:p>
        </p:txBody>
      </p:sp>
      <p:sp>
        <p:nvSpPr>
          <p:cNvPr id="13" name="Text 11"/>
          <p:cNvSpPr/>
          <p:nvPr/>
        </p:nvSpPr>
        <p:spPr>
          <a:xfrm>
            <a:off x="9308592" y="2606040"/>
            <a:ext cx="1920240" cy="804672"/>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Record one successful tool call and one request that should not call a tool.</a:t>
            </a:r>
            <a:endParaRPr lang="en-US" sz="96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6 Review</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Section 6 — Section Review</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Key takeaways and transition to the next section.</a:t>
            </a:r>
            <a:endParaRPr lang="en-US" sz="1500" dirty="0"/>
          </a:p>
        </p:txBody>
      </p:sp>
      <p:sp>
        <p:nvSpPr>
          <p:cNvPr id="8" name="Shape 6"/>
          <p:cNvSpPr/>
          <p:nvPr/>
        </p:nvSpPr>
        <p:spPr>
          <a:xfrm>
            <a:off x="658368" y="1938528"/>
            <a:ext cx="2423160" cy="1234440"/>
          </a:xfrm>
          <a:prstGeom prst="rect">
            <a:avLst/>
          </a:prstGeom>
          <a:solidFill>
            <a:srgbClr val="F4F8FB"/>
          </a:solidFill>
          <a:ln w="12700">
            <a:solidFill>
              <a:srgbClr val="E4EEF4"/>
            </a:solidFill>
            <a:prstDash val="solid"/>
          </a:ln>
        </p:spPr>
      </p:sp>
      <p:sp>
        <p:nvSpPr>
          <p:cNvPr id="9" name="Text 7"/>
          <p:cNvSpPr/>
          <p:nvPr/>
        </p:nvSpPr>
        <p:spPr>
          <a:xfrm>
            <a:off x="822960" y="2075688"/>
            <a:ext cx="2093976" cy="182880"/>
          </a:xfrm>
          <a:prstGeom prst="rect">
            <a:avLst/>
          </a:prstGeom>
          <a:noFill/>
          <a:ln/>
        </p:spPr>
        <p:txBody>
          <a:bodyPr wrap="square" lIns="0" tIns="0" rIns="0" bIns="0" rtlCol="0" anchor="ctr"/>
          <a:lstStyle/>
          <a:p>
            <a:pPr indent="0" marL="0">
              <a:buNone/>
            </a:pPr>
            <a:r>
              <a:rPr lang="en-US" sz="1050" b="1" dirty="0">
                <a:solidFill>
                  <a:srgbClr val="06A9C8"/>
                </a:solidFill>
                <a:latin typeface="Aptos" pitchFamily="34" charset="0"/>
                <a:ea typeface="Aptos" pitchFamily="34" charset="-122"/>
                <a:cs typeface="Aptos" pitchFamily="34" charset="-120"/>
              </a:rPr>
              <a:t>Takeaway 1</a:t>
            </a:r>
            <a:endParaRPr lang="en-US" sz="1050" dirty="0"/>
          </a:p>
        </p:txBody>
      </p:sp>
      <p:sp>
        <p:nvSpPr>
          <p:cNvPr id="10" name="Text 8"/>
          <p:cNvSpPr/>
          <p:nvPr/>
        </p:nvSpPr>
        <p:spPr>
          <a:xfrm>
            <a:off x="822960" y="2368296"/>
            <a:ext cx="2093976" cy="621792"/>
          </a:xfrm>
          <a:prstGeom prst="rect">
            <a:avLst/>
          </a:prstGeom>
          <a:noFill/>
          <a:ln/>
        </p:spPr>
        <p:txBody>
          <a:bodyPr wrap="square" lIns="254" tIns="254" rIns="254" bIns="254" rtlCol="0" anchor="ctr">
            <a:normAutofit/>
          </a:bodyPr>
          <a:lstStyle/>
          <a:p>
            <a:pPr indent="0" marL="0">
              <a:buNone/>
            </a:pPr>
            <a:r>
              <a:rPr lang="en-US" sz="1150" dirty="0">
                <a:solidFill>
                  <a:srgbClr val="303846"/>
                </a:solidFill>
                <a:latin typeface="Aptos" pitchFamily="34" charset="0"/>
                <a:ea typeface="Aptos" pitchFamily="34" charset="-122"/>
                <a:cs typeface="Aptos" pitchFamily="34" charset="-120"/>
              </a:rPr>
              <a:t>Tools extend agents into real actions and therefore require stronger controls.</a:t>
            </a:r>
            <a:endParaRPr lang="en-US" sz="1150" dirty="0"/>
          </a:p>
        </p:txBody>
      </p:sp>
      <p:sp>
        <p:nvSpPr>
          <p:cNvPr id="11" name="Shape 9"/>
          <p:cNvSpPr/>
          <p:nvPr/>
        </p:nvSpPr>
        <p:spPr>
          <a:xfrm>
            <a:off x="3310128" y="1938528"/>
            <a:ext cx="2423160" cy="1234440"/>
          </a:xfrm>
          <a:prstGeom prst="rect">
            <a:avLst/>
          </a:prstGeom>
          <a:solidFill>
            <a:srgbClr val="EDF6FA"/>
          </a:solidFill>
          <a:ln w="12700">
            <a:solidFill>
              <a:srgbClr val="E4EEF4"/>
            </a:solidFill>
            <a:prstDash val="solid"/>
          </a:ln>
        </p:spPr>
      </p:sp>
      <p:sp>
        <p:nvSpPr>
          <p:cNvPr id="12" name="Text 10"/>
          <p:cNvSpPr/>
          <p:nvPr/>
        </p:nvSpPr>
        <p:spPr>
          <a:xfrm>
            <a:off x="3474720" y="2075688"/>
            <a:ext cx="2093976" cy="182880"/>
          </a:xfrm>
          <a:prstGeom prst="rect">
            <a:avLst/>
          </a:prstGeom>
          <a:noFill/>
          <a:ln/>
        </p:spPr>
        <p:txBody>
          <a:bodyPr wrap="square" lIns="0" tIns="0" rIns="0" bIns="0" rtlCol="0" anchor="ctr"/>
          <a:lstStyle/>
          <a:p>
            <a:pPr indent="0" marL="0">
              <a:buNone/>
            </a:pPr>
            <a:r>
              <a:rPr lang="en-US" sz="1050" b="1" dirty="0">
                <a:solidFill>
                  <a:srgbClr val="06A9C8"/>
                </a:solidFill>
                <a:latin typeface="Aptos" pitchFamily="34" charset="0"/>
                <a:ea typeface="Aptos" pitchFamily="34" charset="-122"/>
                <a:cs typeface="Aptos" pitchFamily="34" charset="-120"/>
              </a:rPr>
              <a:t>Takeaway 2</a:t>
            </a:r>
            <a:endParaRPr lang="en-US" sz="1050" dirty="0"/>
          </a:p>
        </p:txBody>
      </p:sp>
      <p:sp>
        <p:nvSpPr>
          <p:cNvPr id="13" name="Text 11"/>
          <p:cNvSpPr/>
          <p:nvPr/>
        </p:nvSpPr>
        <p:spPr>
          <a:xfrm>
            <a:off x="3474720" y="2368296"/>
            <a:ext cx="2093976" cy="621792"/>
          </a:xfrm>
          <a:prstGeom prst="rect">
            <a:avLst/>
          </a:prstGeom>
          <a:noFill/>
          <a:ln/>
        </p:spPr>
        <p:txBody>
          <a:bodyPr wrap="square" lIns="254" tIns="254" rIns="254" bIns="254" rtlCol="0" anchor="ctr">
            <a:normAutofit/>
          </a:bodyPr>
          <a:lstStyle/>
          <a:p>
            <a:pPr indent="0" marL="0">
              <a:buNone/>
            </a:pPr>
            <a:r>
              <a:rPr lang="en-US" sz="1150" dirty="0">
                <a:solidFill>
                  <a:srgbClr val="303846"/>
                </a:solidFill>
                <a:latin typeface="Aptos" pitchFamily="34" charset="0"/>
                <a:ea typeface="Aptos" pitchFamily="34" charset="-122"/>
                <a:cs typeface="Aptos" pitchFamily="34" charset="-120"/>
              </a:rPr>
              <a:t>The tool catalog should be checked before building custom integrations.</a:t>
            </a:r>
            <a:endParaRPr lang="en-US" sz="1150" dirty="0"/>
          </a:p>
        </p:txBody>
      </p:sp>
      <p:sp>
        <p:nvSpPr>
          <p:cNvPr id="14" name="Shape 12"/>
          <p:cNvSpPr/>
          <p:nvPr/>
        </p:nvSpPr>
        <p:spPr>
          <a:xfrm>
            <a:off x="5961888" y="1938528"/>
            <a:ext cx="2423160" cy="1234440"/>
          </a:xfrm>
          <a:prstGeom prst="rect">
            <a:avLst/>
          </a:prstGeom>
          <a:solidFill>
            <a:srgbClr val="F4F8FB"/>
          </a:solidFill>
          <a:ln w="12700">
            <a:solidFill>
              <a:srgbClr val="E4EEF4"/>
            </a:solidFill>
            <a:prstDash val="solid"/>
          </a:ln>
        </p:spPr>
      </p:sp>
      <p:sp>
        <p:nvSpPr>
          <p:cNvPr id="15" name="Text 13"/>
          <p:cNvSpPr/>
          <p:nvPr/>
        </p:nvSpPr>
        <p:spPr>
          <a:xfrm>
            <a:off x="6126480" y="2075688"/>
            <a:ext cx="2093976" cy="182880"/>
          </a:xfrm>
          <a:prstGeom prst="rect">
            <a:avLst/>
          </a:prstGeom>
          <a:noFill/>
          <a:ln/>
        </p:spPr>
        <p:txBody>
          <a:bodyPr wrap="square" lIns="0" tIns="0" rIns="0" bIns="0" rtlCol="0" anchor="ctr"/>
          <a:lstStyle/>
          <a:p>
            <a:pPr indent="0" marL="0">
              <a:buNone/>
            </a:pPr>
            <a:r>
              <a:rPr lang="en-US" sz="1050" b="1" dirty="0">
                <a:solidFill>
                  <a:srgbClr val="06A9C8"/>
                </a:solidFill>
                <a:latin typeface="Aptos" pitchFamily="34" charset="0"/>
                <a:ea typeface="Aptos" pitchFamily="34" charset="-122"/>
                <a:cs typeface="Aptos" pitchFamily="34" charset="-120"/>
              </a:rPr>
              <a:t>Takeaway 3</a:t>
            </a:r>
            <a:endParaRPr lang="en-US" sz="1050" dirty="0"/>
          </a:p>
        </p:txBody>
      </p:sp>
      <p:sp>
        <p:nvSpPr>
          <p:cNvPr id="16" name="Text 14"/>
          <p:cNvSpPr/>
          <p:nvPr/>
        </p:nvSpPr>
        <p:spPr>
          <a:xfrm>
            <a:off x="6126480" y="2368296"/>
            <a:ext cx="2093976" cy="621792"/>
          </a:xfrm>
          <a:prstGeom prst="rect">
            <a:avLst/>
          </a:prstGeom>
          <a:noFill/>
          <a:ln/>
        </p:spPr>
        <p:txBody>
          <a:bodyPr wrap="square" lIns="254" tIns="254" rIns="254" bIns="254" rtlCol="0" anchor="ctr">
            <a:normAutofit/>
          </a:bodyPr>
          <a:lstStyle/>
          <a:p>
            <a:pPr indent="0" marL="0">
              <a:buNone/>
            </a:pPr>
            <a:r>
              <a:rPr lang="en-US" sz="1150" dirty="0">
                <a:solidFill>
                  <a:srgbClr val="303846"/>
                </a:solidFill>
                <a:latin typeface="Aptos" pitchFamily="34" charset="0"/>
                <a:ea typeface="Aptos" pitchFamily="34" charset="-122"/>
                <a:cs typeface="Aptos" pitchFamily="34" charset="-120"/>
              </a:rPr>
              <a:t>MCP connects agents to tool servers; A2A connects agents to other agents.</a:t>
            </a:r>
            <a:endParaRPr lang="en-US" sz="1150" dirty="0"/>
          </a:p>
        </p:txBody>
      </p:sp>
      <p:sp>
        <p:nvSpPr>
          <p:cNvPr id="17" name="Shape 15"/>
          <p:cNvSpPr/>
          <p:nvPr/>
        </p:nvSpPr>
        <p:spPr>
          <a:xfrm>
            <a:off x="8613648" y="1938528"/>
            <a:ext cx="2423160" cy="1234440"/>
          </a:xfrm>
          <a:prstGeom prst="rect">
            <a:avLst/>
          </a:prstGeom>
          <a:solidFill>
            <a:srgbClr val="EDF6FA"/>
          </a:solidFill>
          <a:ln w="12700">
            <a:solidFill>
              <a:srgbClr val="E4EEF4"/>
            </a:solidFill>
            <a:prstDash val="solid"/>
          </a:ln>
        </p:spPr>
      </p:sp>
      <p:sp>
        <p:nvSpPr>
          <p:cNvPr id="18" name="Text 16"/>
          <p:cNvSpPr/>
          <p:nvPr/>
        </p:nvSpPr>
        <p:spPr>
          <a:xfrm>
            <a:off x="8778240" y="2075688"/>
            <a:ext cx="2093976" cy="182880"/>
          </a:xfrm>
          <a:prstGeom prst="rect">
            <a:avLst/>
          </a:prstGeom>
          <a:noFill/>
          <a:ln/>
        </p:spPr>
        <p:txBody>
          <a:bodyPr wrap="square" lIns="0" tIns="0" rIns="0" bIns="0" rtlCol="0" anchor="ctr"/>
          <a:lstStyle/>
          <a:p>
            <a:pPr indent="0" marL="0">
              <a:buNone/>
            </a:pPr>
            <a:r>
              <a:rPr lang="en-US" sz="1050" b="1" dirty="0">
                <a:solidFill>
                  <a:srgbClr val="06A9C8"/>
                </a:solidFill>
                <a:latin typeface="Aptos" pitchFamily="34" charset="0"/>
                <a:ea typeface="Aptos" pitchFamily="34" charset="-122"/>
                <a:cs typeface="Aptos" pitchFamily="34" charset="-120"/>
              </a:rPr>
              <a:t>Takeaway 4</a:t>
            </a:r>
            <a:endParaRPr lang="en-US" sz="1050" dirty="0"/>
          </a:p>
        </p:txBody>
      </p:sp>
      <p:sp>
        <p:nvSpPr>
          <p:cNvPr id="19" name="Text 17"/>
          <p:cNvSpPr/>
          <p:nvPr/>
        </p:nvSpPr>
        <p:spPr>
          <a:xfrm>
            <a:off x="8778240" y="2368296"/>
            <a:ext cx="2093976" cy="621792"/>
          </a:xfrm>
          <a:prstGeom prst="rect">
            <a:avLst/>
          </a:prstGeom>
          <a:noFill/>
          <a:ln/>
        </p:spPr>
        <p:txBody>
          <a:bodyPr wrap="square" lIns="254" tIns="254" rIns="254" bIns="254" rtlCol="0" anchor="ctr">
            <a:normAutofit/>
          </a:bodyPr>
          <a:lstStyle/>
          <a:p>
            <a:pPr indent="0" marL="0">
              <a:buNone/>
            </a:pPr>
            <a:r>
              <a:rPr lang="en-US" sz="1150" dirty="0">
                <a:solidFill>
                  <a:srgbClr val="303846"/>
                </a:solidFill>
                <a:latin typeface="Aptos" pitchFamily="34" charset="0"/>
                <a:ea typeface="Aptos" pitchFamily="34" charset="-122"/>
                <a:cs typeface="Aptos" pitchFamily="34" charset="-120"/>
              </a:rPr>
              <a:t>Authentication, approval, validation, and audit evidence define safe tool use.</a:t>
            </a:r>
            <a:endParaRPr lang="en-US" sz="1150" dirty="0"/>
          </a:p>
        </p:txBody>
      </p:sp>
      <p:sp>
        <p:nvSpPr>
          <p:cNvPr id="20" name="Shape 18"/>
          <p:cNvSpPr/>
          <p:nvPr/>
        </p:nvSpPr>
        <p:spPr>
          <a:xfrm>
            <a:off x="9966960" y="4206240"/>
            <a:ext cx="1280160" cy="530352"/>
          </a:xfrm>
          <a:prstGeom prst="chevron">
            <a:avLst/>
          </a:prstGeom>
          <a:solidFill>
            <a:srgbClr val="06A9C8"/>
          </a:solidFill>
          <a:ln w="12700">
            <a:solidFill>
              <a:srgbClr val="06A9C8"/>
            </a:solidFill>
            <a:prstDash val="solid"/>
          </a:ln>
        </p:spPr>
      </p:sp>
      <p:sp>
        <p:nvSpPr>
          <p:cNvPr id="21" name="Text 19"/>
          <p:cNvSpPr/>
          <p:nvPr/>
        </p:nvSpPr>
        <p:spPr>
          <a:xfrm>
            <a:off x="10040112" y="4370832"/>
            <a:ext cx="1024128" cy="201168"/>
          </a:xfrm>
          <a:prstGeom prst="rect">
            <a:avLst/>
          </a:prstGeom>
          <a:noFill/>
          <a:ln/>
        </p:spPr>
        <p:txBody>
          <a:bodyPr wrap="square" lIns="0" tIns="0" rIns="0" bIns="0" rtlCol="0" anchor="ctr">
            <a:normAutofit/>
          </a:bodyPr>
          <a:lstStyle/>
          <a:p>
            <a:pPr algn="ctr" indent="0" marL="0">
              <a:buNone/>
            </a:pPr>
            <a:r>
              <a:rPr lang="en-US" sz="950" b="1" dirty="0">
                <a:solidFill>
                  <a:srgbClr val="FFFFFF"/>
                </a:solidFill>
                <a:latin typeface="Aptos" pitchFamily="34" charset="0"/>
                <a:ea typeface="Aptos" pitchFamily="34" charset="-122"/>
                <a:cs typeface="Aptos" pitchFamily="34" charset="-120"/>
              </a:rPr>
              <a:t>Next: multi-agent architecture and A2A.</a:t>
            </a:r>
            <a:endParaRPr lang="en-US" sz="9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658368" y="1024128"/>
            <a:ext cx="2194560" cy="329184"/>
          </a:xfrm>
          <a:prstGeom prst="rect">
            <a:avLst/>
          </a:prstGeom>
          <a:noFill/>
          <a:ln/>
        </p:spPr>
        <p:txBody>
          <a:bodyPr wrap="square" lIns="0" tIns="0" rIns="0" bIns="0" rtlCol="0" anchor="ctr"/>
          <a:lstStyle/>
          <a:p>
            <a:pPr indent="0" marL="0">
              <a:buNone/>
            </a:pPr>
            <a:r>
              <a:rPr lang="en-US" sz="1600" dirty="0">
                <a:solidFill>
                  <a:srgbClr val="06A9C8"/>
                </a:solidFill>
                <a:latin typeface="Aptos" pitchFamily="34" charset="0"/>
                <a:ea typeface="Aptos" pitchFamily="34" charset="-122"/>
                <a:cs typeface="Aptos" pitchFamily="34" charset="-120"/>
              </a:rPr>
              <a:t>Section 7</a:t>
            </a:r>
            <a:endParaRPr lang="en-US" sz="1600" dirty="0"/>
          </a:p>
        </p:txBody>
      </p:sp>
      <p:sp>
        <p:nvSpPr>
          <p:cNvPr id="6" name="Text 4"/>
          <p:cNvSpPr/>
          <p:nvPr/>
        </p:nvSpPr>
        <p:spPr>
          <a:xfrm>
            <a:off x="658368" y="1554480"/>
            <a:ext cx="7040880" cy="841248"/>
          </a:xfrm>
          <a:prstGeom prst="rect">
            <a:avLst/>
          </a:prstGeom>
          <a:noFill/>
          <a:ln/>
        </p:spPr>
        <p:txBody>
          <a:bodyPr wrap="square" lIns="0" tIns="0" rIns="0" bIns="0" rtlCol="0" anchor="ctr">
            <a:normAutofit/>
          </a:bodyPr>
          <a:lstStyle/>
          <a:p>
            <a:pPr indent="0" marL="0">
              <a:buNone/>
            </a:pPr>
            <a:r>
              <a:rPr lang="en-US" sz="3100" dirty="0">
                <a:solidFill>
                  <a:srgbClr val="172033"/>
                </a:solidFill>
                <a:latin typeface="Aptos Display" pitchFamily="34" charset="0"/>
                <a:ea typeface="Aptos Display" pitchFamily="34" charset="-122"/>
                <a:cs typeface="Aptos Display" pitchFamily="34" charset="-120"/>
              </a:rPr>
              <a:t>Multi-Agent Architecture and A2A</a:t>
            </a:r>
            <a:endParaRPr lang="en-US" sz="3100" dirty="0"/>
          </a:p>
        </p:txBody>
      </p:sp>
      <p:sp>
        <p:nvSpPr>
          <p:cNvPr id="7" name="Text 5"/>
          <p:cNvSpPr/>
          <p:nvPr/>
        </p:nvSpPr>
        <p:spPr>
          <a:xfrm>
            <a:off x="658368" y="2578608"/>
            <a:ext cx="7132320" cy="640080"/>
          </a:xfrm>
          <a:prstGeom prst="rect">
            <a:avLst/>
          </a:prstGeom>
          <a:noFill/>
          <a:ln/>
        </p:spPr>
        <p:txBody>
          <a:bodyPr wrap="square" lIns="0" tIns="0" rIns="0" bIns="0" rtlCol="0" anchor="ctr">
            <a:normAutofit/>
          </a:bodyPr>
          <a:lstStyle/>
          <a:p>
            <a:pPr indent="0" marL="0">
              <a:buNone/>
            </a:pPr>
            <a:r>
              <a:rPr lang="en-US" sz="1550" dirty="0">
                <a:solidFill>
                  <a:srgbClr val="6B7280"/>
                </a:solidFill>
                <a:latin typeface="Aptos" pitchFamily="34" charset="0"/>
                <a:ea typeface="Aptos" pitchFamily="34" charset="-122"/>
                <a:cs typeface="Aptos" pitchFamily="34" charset="-120"/>
              </a:rPr>
              <a:t>Design multi-agent systems only when specialization, delegation, and governance justify the complexity.</a:t>
            </a:r>
            <a:endParaRPr lang="en-US" sz="1550" dirty="0"/>
          </a:p>
        </p:txBody>
      </p:sp>
      <p:pic>
        <p:nvPicPr>
          <p:cNvPr id="8" name="Image 0" descr="/mnt/data/ref_pptx/ppt/media/image1.png">    </p:cNvPr>
          <p:cNvPicPr>
            <a:picLocks noChangeAspect="1"/>
          </p:cNvPicPr>
          <p:nvPr/>
        </p:nvPicPr>
        <p:blipFill>
          <a:blip r:embed="rId1"/>
          <a:stretch>
            <a:fillRect/>
          </a:stretch>
        </p:blipFill>
        <p:spPr>
          <a:xfrm>
            <a:off x="8092440" y="1097280"/>
            <a:ext cx="2468880" cy="2468880"/>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7</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Section Overview</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Multi-Agent Architecture and A2A</a:t>
            </a:r>
            <a:endParaRPr lang="en-US" sz="1500" dirty="0"/>
          </a:p>
        </p:txBody>
      </p:sp>
      <p:sp>
        <p:nvSpPr>
          <p:cNvPr id="8" name="Text 6"/>
          <p:cNvSpPr/>
          <p:nvPr/>
        </p:nvSpPr>
        <p:spPr>
          <a:xfrm>
            <a:off x="658368" y="1965960"/>
            <a:ext cx="8001000" cy="3429000"/>
          </a:xfrm>
          <a:prstGeom prst="rect">
            <a:avLst/>
          </a:prstGeom>
          <a:noFill/>
          <a:ln/>
        </p:spPr>
        <p:txBody>
          <a:bodyPr wrap="square" lIns="254" tIns="254" rIns="254" bIns="254" rtlCol="0" anchor="ctr">
            <a:normAutofit/>
          </a:bodyPr>
          <a:lstStyle/>
          <a:p>
            <a:pPr indent="0" marL="0">
              <a:buNone/>
            </a:pPr>
            <a:r>
              <a:rPr lang="en-US" sz="1850" dirty="0">
                <a:solidFill>
                  <a:srgbClr val="303846"/>
                </a:solidFill>
                <a:latin typeface="Aptos" pitchFamily="34" charset="0"/>
                <a:ea typeface="Aptos" pitchFamily="34" charset="-122"/>
                <a:cs typeface="Aptos" pitchFamily="34" charset="-120"/>
              </a:rPr>
              <a:t>▸ Identify when multi-agent systems add value.</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Avoid unnecessary agent networks for deterministic workflows.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Understand Agent Framework’s relationship to Semantic Kernel and AutoGen.</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Explain A2A discovery, agent cards, skills, and trust boundaries.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Use a supplied REST or PowerShell command for the minimal A2A demo.</a:t>
            </a:r>
            <a:endParaRPr lang="en-US" sz="1850" dirty="0"/>
          </a:p>
        </p:txBody>
      </p:sp>
      <p:sp>
        <p:nvSpPr>
          <p:cNvPr id="9" name="Shape 7"/>
          <p:cNvSpPr/>
          <p:nvPr/>
        </p:nvSpPr>
        <p:spPr>
          <a:xfrm>
            <a:off x="9144000" y="1965960"/>
            <a:ext cx="2331720" cy="1243584"/>
          </a:xfrm>
          <a:prstGeom prst="rect">
            <a:avLst/>
          </a:prstGeom>
          <a:solidFill>
            <a:srgbClr val="F4F8FB"/>
          </a:solidFill>
          <a:ln w="12700">
            <a:solidFill>
              <a:srgbClr val="E7EEF4"/>
            </a:solidFill>
            <a:prstDash val="solid"/>
          </a:ln>
        </p:spPr>
      </p:sp>
      <p:sp>
        <p:nvSpPr>
          <p:cNvPr id="10" name="Shape 8"/>
          <p:cNvSpPr/>
          <p:nvPr/>
        </p:nvSpPr>
        <p:spPr>
          <a:xfrm>
            <a:off x="9299448" y="2121408"/>
            <a:ext cx="219456" cy="219456"/>
          </a:xfrm>
          <a:prstGeom prst="ellipse">
            <a:avLst/>
          </a:prstGeom>
          <a:solidFill>
            <a:srgbClr val="06A9C8"/>
          </a:solidFill>
          <a:ln w="12700">
            <a:solidFill>
              <a:srgbClr val="06A9C8"/>
            </a:solidFill>
            <a:prstDash val="solid"/>
          </a:ln>
        </p:spPr>
      </p:sp>
      <p:sp>
        <p:nvSpPr>
          <p:cNvPr id="11" name="Text 9"/>
          <p:cNvSpPr/>
          <p:nvPr/>
        </p:nvSpPr>
        <p:spPr>
          <a:xfrm>
            <a:off x="9354312" y="213969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82912" y="209397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Section outcome</a:t>
            </a:r>
            <a:endParaRPr lang="en-US" sz="1080" dirty="0"/>
          </a:p>
        </p:txBody>
      </p:sp>
      <p:sp>
        <p:nvSpPr>
          <p:cNvPr id="13" name="Text 11"/>
          <p:cNvSpPr/>
          <p:nvPr/>
        </p:nvSpPr>
        <p:spPr>
          <a:xfrm>
            <a:off x="9354312" y="2423160"/>
            <a:ext cx="1920240" cy="676656"/>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judge whether a multi-agent architecture is justified.</a:t>
            </a:r>
            <a:endParaRPr lang="en-US" sz="96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7 · Lecture 36</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When Enterprise Solutions Need Multiple AI Agents</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Multiple agents are useful when specialization creates a measurable advantage.</a:t>
            </a:r>
            <a:endParaRPr lang="en-US" sz="1500" dirty="0"/>
          </a:p>
        </p:txBody>
      </p:sp>
      <p:sp>
        <p:nvSpPr>
          <p:cNvPr id="8" name="Text 6"/>
          <p:cNvSpPr/>
          <p:nvPr/>
        </p:nvSpPr>
        <p:spPr>
          <a:xfrm>
            <a:off x="658368" y="1965960"/>
            <a:ext cx="8001000" cy="3429000"/>
          </a:xfrm>
          <a:prstGeom prst="rect">
            <a:avLst/>
          </a:prstGeom>
          <a:noFill/>
          <a:ln/>
        </p:spPr>
        <p:txBody>
          <a:bodyPr wrap="square" lIns="254" tIns="254" rIns="254" bIns="254" rtlCol="0" anchor="ctr">
            <a:normAutofit/>
          </a:bodyPr>
          <a:lstStyle/>
          <a:p>
            <a:pPr indent="0" marL="0">
              <a:buNone/>
            </a:pPr>
            <a:r>
              <a:rPr lang="en-US" sz="1850" dirty="0">
                <a:solidFill>
                  <a:srgbClr val="303846"/>
                </a:solidFill>
                <a:latin typeface="Aptos" pitchFamily="34" charset="0"/>
                <a:ea typeface="Aptos" pitchFamily="34" charset="-122"/>
                <a:cs typeface="Aptos" pitchFamily="34" charset="-120"/>
              </a:rPr>
              <a:t>▸ Use specialists when roles, tools, data, or approvals differ significantly.</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Avoid multi-agent designs when a single agent and deterministic workflow is simpler.</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Define ownership boundaries before agents delegate work to each other.</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Plan observability across handoffs, not only final answers.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Expect cost and latency to increase with unnecessary delegation.</a:t>
            </a:r>
            <a:endParaRPr lang="en-US" sz="1850" dirty="0"/>
          </a:p>
        </p:txBody>
      </p:sp>
      <p:sp>
        <p:nvSpPr>
          <p:cNvPr id="9" name="Shape 7"/>
          <p:cNvSpPr/>
          <p:nvPr/>
        </p:nvSpPr>
        <p:spPr>
          <a:xfrm>
            <a:off x="9144000" y="1965960"/>
            <a:ext cx="2331720" cy="1243584"/>
          </a:xfrm>
          <a:prstGeom prst="rect">
            <a:avLst/>
          </a:prstGeom>
          <a:solidFill>
            <a:srgbClr val="F4F8FB"/>
          </a:solidFill>
          <a:ln w="12700">
            <a:solidFill>
              <a:srgbClr val="E7EEF4"/>
            </a:solidFill>
            <a:prstDash val="solid"/>
          </a:ln>
        </p:spPr>
      </p:sp>
      <p:sp>
        <p:nvSpPr>
          <p:cNvPr id="10" name="Shape 8"/>
          <p:cNvSpPr/>
          <p:nvPr/>
        </p:nvSpPr>
        <p:spPr>
          <a:xfrm>
            <a:off x="9299448" y="2121408"/>
            <a:ext cx="219456" cy="219456"/>
          </a:xfrm>
          <a:prstGeom prst="ellipse">
            <a:avLst/>
          </a:prstGeom>
          <a:solidFill>
            <a:srgbClr val="06A9C8"/>
          </a:solidFill>
          <a:ln w="12700">
            <a:solidFill>
              <a:srgbClr val="06A9C8"/>
            </a:solidFill>
            <a:prstDash val="solid"/>
          </a:ln>
        </p:spPr>
      </p:sp>
      <p:sp>
        <p:nvSpPr>
          <p:cNvPr id="11" name="Text 9"/>
          <p:cNvSpPr/>
          <p:nvPr/>
        </p:nvSpPr>
        <p:spPr>
          <a:xfrm>
            <a:off x="9354312" y="213969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82912" y="209397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Decision rule</a:t>
            </a:r>
            <a:endParaRPr lang="en-US" sz="1080" dirty="0"/>
          </a:p>
        </p:txBody>
      </p:sp>
      <p:sp>
        <p:nvSpPr>
          <p:cNvPr id="13" name="Text 11"/>
          <p:cNvSpPr/>
          <p:nvPr/>
        </p:nvSpPr>
        <p:spPr>
          <a:xfrm>
            <a:off x="9354312" y="2423160"/>
            <a:ext cx="1920240" cy="676656"/>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Use multiple agents for specialization and governance—not for novelty.</a:t>
            </a:r>
            <a:endParaRPr lang="en-US" sz="96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7 · Lecture 36</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Multi-Agent Anti-Patterns</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Recognize designs that look impressive but are hard to trust.</a:t>
            </a:r>
            <a:endParaRPr lang="en-US" sz="1500" dirty="0"/>
          </a:p>
        </p:txBody>
      </p:sp>
      <p:sp>
        <p:nvSpPr>
          <p:cNvPr id="8" name="Text 6"/>
          <p:cNvSpPr/>
          <p:nvPr/>
        </p:nvSpPr>
        <p:spPr>
          <a:xfrm>
            <a:off x="658368" y="1965960"/>
            <a:ext cx="8001000" cy="3429000"/>
          </a:xfrm>
          <a:prstGeom prst="rect">
            <a:avLst/>
          </a:prstGeom>
          <a:noFill/>
          <a:ln/>
        </p:spPr>
        <p:txBody>
          <a:bodyPr wrap="square" lIns="254" tIns="254" rIns="254" bIns="254" rtlCol="0" anchor="ctr">
            <a:normAutofit/>
          </a:bodyPr>
          <a:lstStyle/>
          <a:p>
            <a:pPr indent="0" marL="0">
              <a:buNone/>
            </a:pPr>
            <a:r>
              <a:rPr lang="en-US" sz="1850" dirty="0">
                <a:solidFill>
                  <a:srgbClr val="303846"/>
                </a:solidFill>
                <a:latin typeface="Aptos" pitchFamily="34" charset="0"/>
                <a:ea typeface="Aptos" pitchFamily="34" charset="-122"/>
                <a:cs typeface="Aptos" pitchFamily="34" charset="-120"/>
              </a:rPr>
              <a:t>▸ Agents hand off work without a clear business reason.</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Every agent can call every tool.</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No one can explain why the final answer was produced.</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Failures are hidden inside agent-to-agent chatter.</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Human approval is missing from high-impact decisions.</a:t>
            </a:r>
            <a:endParaRPr lang="en-US" sz="1850" dirty="0"/>
          </a:p>
        </p:txBody>
      </p:sp>
      <p:sp>
        <p:nvSpPr>
          <p:cNvPr id="9" name="Shape 7"/>
          <p:cNvSpPr/>
          <p:nvPr/>
        </p:nvSpPr>
        <p:spPr>
          <a:xfrm>
            <a:off x="9144000" y="1965960"/>
            <a:ext cx="2331720" cy="1243584"/>
          </a:xfrm>
          <a:prstGeom prst="rect">
            <a:avLst/>
          </a:prstGeom>
          <a:solidFill>
            <a:srgbClr val="F4F8FB"/>
          </a:solidFill>
          <a:ln w="12700">
            <a:solidFill>
              <a:srgbClr val="E7EEF4"/>
            </a:solidFill>
            <a:prstDash val="solid"/>
          </a:ln>
        </p:spPr>
      </p:sp>
      <p:sp>
        <p:nvSpPr>
          <p:cNvPr id="10" name="Shape 8"/>
          <p:cNvSpPr/>
          <p:nvPr/>
        </p:nvSpPr>
        <p:spPr>
          <a:xfrm>
            <a:off x="9299448" y="2121408"/>
            <a:ext cx="219456" cy="219456"/>
          </a:xfrm>
          <a:prstGeom prst="ellipse">
            <a:avLst/>
          </a:prstGeom>
          <a:solidFill>
            <a:srgbClr val="06A9C8"/>
          </a:solidFill>
          <a:ln w="12700">
            <a:solidFill>
              <a:srgbClr val="06A9C8"/>
            </a:solidFill>
            <a:prstDash val="solid"/>
          </a:ln>
        </p:spPr>
      </p:sp>
      <p:sp>
        <p:nvSpPr>
          <p:cNvPr id="11" name="Text 9"/>
          <p:cNvSpPr/>
          <p:nvPr/>
        </p:nvSpPr>
        <p:spPr>
          <a:xfrm>
            <a:off x="9354312" y="213969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82912" y="209397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Review frame</a:t>
            </a:r>
            <a:endParaRPr lang="en-US" sz="1080" dirty="0"/>
          </a:p>
        </p:txBody>
      </p:sp>
      <p:sp>
        <p:nvSpPr>
          <p:cNvPr id="13" name="Text 11"/>
          <p:cNvSpPr/>
          <p:nvPr/>
        </p:nvSpPr>
        <p:spPr>
          <a:xfrm>
            <a:off x="9354312" y="2423160"/>
            <a:ext cx="1920240" cy="676656"/>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If you cannot audit the handoff, you cannot operate the system responsibly.</a:t>
            </a:r>
            <a:endParaRPr lang="en-US" sz="96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7 · Lecture 37</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Microsoft Agent Framework and the Semantic Kernel Transition</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Microsoft Agent Framework is the strategic successor path for many agent patterns.</a:t>
            </a:r>
            <a:endParaRPr lang="en-US" sz="1500" dirty="0"/>
          </a:p>
        </p:txBody>
      </p:sp>
      <p:sp>
        <p:nvSpPr>
          <p:cNvPr id="8" name="Text 6"/>
          <p:cNvSpPr/>
          <p:nvPr/>
        </p:nvSpPr>
        <p:spPr>
          <a:xfrm>
            <a:off x="658368" y="1965960"/>
            <a:ext cx="8001000" cy="3429000"/>
          </a:xfrm>
          <a:prstGeom prst="rect">
            <a:avLst/>
          </a:prstGeom>
          <a:noFill/>
          <a:ln/>
        </p:spPr>
        <p:txBody>
          <a:bodyPr wrap="square" lIns="254" tIns="254" rIns="254" bIns="254" rtlCol="0" anchor="ctr">
            <a:normAutofit/>
          </a:bodyPr>
          <a:lstStyle/>
          <a:p>
            <a:pPr indent="0" marL="0">
              <a:buNone/>
            </a:pPr>
            <a:r>
              <a:rPr lang="en-US" sz="1850" dirty="0">
                <a:solidFill>
                  <a:srgbClr val="303846"/>
                </a:solidFill>
                <a:latin typeface="Aptos" pitchFamily="34" charset="0"/>
                <a:ea typeface="Aptos" pitchFamily="34" charset="-122"/>
                <a:cs typeface="Aptos" pitchFamily="34" charset="-120"/>
              </a:rPr>
              <a:t>▸ Semantic Kernel and AutoGen shaped earlier agent and orchestration work.</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Agent Framework brings together enterprise controls and agent abstractions.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Existing Semantic Kernel investments should be evaluated, not discarded blindly.</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The course explains the transition without teaching framework coding.</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Current package and SDK details should always be checked in Microsoft Learn.</a:t>
            </a:r>
            <a:endParaRPr lang="en-US" sz="1850" dirty="0"/>
          </a:p>
        </p:txBody>
      </p:sp>
      <p:sp>
        <p:nvSpPr>
          <p:cNvPr id="9" name="Shape 7"/>
          <p:cNvSpPr/>
          <p:nvPr/>
        </p:nvSpPr>
        <p:spPr>
          <a:xfrm>
            <a:off x="9144000" y="1965960"/>
            <a:ext cx="2331720" cy="1243584"/>
          </a:xfrm>
          <a:prstGeom prst="rect">
            <a:avLst/>
          </a:prstGeom>
          <a:solidFill>
            <a:srgbClr val="F4F8FB"/>
          </a:solidFill>
          <a:ln w="12700">
            <a:solidFill>
              <a:srgbClr val="E7EEF4"/>
            </a:solidFill>
            <a:prstDash val="solid"/>
          </a:ln>
        </p:spPr>
      </p:sp>
      <p:sp>
        <p:nvSpPr>
          <p:cNvPr id="10" name="Shape 8"/>
          <p:cNvSpPr/>
          <p:nvPr/>
        </p:nvSpPr>
        <p:spPr>
          <a:xfrm>
            <a:off x="9299448" y="2121408"/>
            <a:ext cx="219456" cy="219456"/>
          </a:xfrm>
          <a:prstGeom prst="ellipse">
            <a:avLst/>
          </a:prstGeom>
          <a:solidFill>
            <a:srgbClr val="06A9C8"/>
          </a:solidFill>
          <a:ln w="12700">
            <a:solidFill>
              <a:srgbClr val="06A9C8"/>
            </a:solidFill>
            <a:prstDash val="solid"/>
          </a:ln>
        </p:spPr>
      </p:sp>
      <p:sp>
        <p:nvSpPr>
          <p:cNvPr id="11" name="Text 9"/>
          <p:cNvSpPr/>
          <p:nvPr/>
        </p:nvSpPr>
        <p:spPr>
          <a:xfrm>
            <a:off x="9354312" y="213969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82912" y="209397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Outcome</a:t>
            </a:r>
            <a:endParaRPr lang="en-US" sz="1080" dirty="0"/>
          </a:p>
        </p:txBody>
      </p:sp>
      <p:sp>
        <p:nvSpPr>
          <p:cNvPr id="13" name="Text 11"/>
          <p:cNvSpPr/>
          <p:nvPr/>
        </p:nvSpPr>
        <p:spPr>
          <a:xfrm>
            <a:off x="9354312" y="2423160"/>
            <a:ext cx="1920240" cy="676656"/>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You can explain the roadmap without turning the course into an SDK migration workshop.</a:t>
            </a:r>
            <a:endParaRPr lang="en-US" sz="96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7 · Lecture 37</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How to Discuss Existing Investments</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Enterprise teams need a practical transition message.</a:t>
            </a:r>
            <a:endParaRPr lang="en-US" sz="1500" dirty="0"/>
          </a:p>
        </p:txBody>
      </p:sp>
      <p:sp>
        <p:nvSpPr>
          <p:cNvPr id="8" name="Text 6"/>
          <p:cNvSpPr/>
          <p:nvPr/>
        </p:nvSpPr>
        <p:spPr>
          <a:xfrm>
            <a:off x="658368" y="1965960"/>
            <a:ext cx="8001000" cy="3429000"/>
          </a:xfrm>
          <a:prstGeom prst="rect">
            <a:avLst/>
          </a:prstGeom>
          <a:noFill/>
          <a:ln/>
        </p:spPr>
        <p:txBody>
          <a:bodyPr wrap="square" lIns="254" tIns="254" rIns="254" bIns="254" rtlCol="0" anchor="ctr">
            <a:normAutofit/>
          </a:bodyPr>
          <a:lstStyle/>
          <a:p>
            <a:pPr indent="0" marL="0">
              <a:buNone/>
            </a:pPr>
            <a:r>
              <a:rPr lang="en-US" sz="1850" dirty="0">
                <a:solidFill>
                  <a:srgbClr val="303846"/>
                </a:solidFill>
                <a:latin typeface="Aptos" pitchFamily="34" charset="0"/>
                <a:ea typeface="Aptos" pitchFamily="34" charset="-122"/>
                <a:cs typeface="Aptos" pitchFamily="34" charset="-120"/>
              </a:rPr>
              <a:t>▸ Inventory current Semantic Kernel or AutoGen solutions.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Identify which concepts carry forward: state, tools, orchestration, telemetry.</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Avoid rewriting working systems without a business driver.</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Use new projects to evaluate current Foundry and Agent Framework direction.</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Record preview dependencies before planning production adoption.</a:t>
            </a:r>
            <a:endParaRPr lang="en-US" sz="1850" dirty="0"/>
          </a:p>
        </p:txBody>
      </p:sp>
      <p:sp>
        <p:nvSpPr>
          <p:cNvPr id="9" name="Shape 7"/>
          <p:cNvSpPr/>
          <p:nvPr/>
        </p:nvSpPr>
        <p:spPr>
          <a:xfrm>
            <a:off x="9144000" y="1965960"/>
            <a:ext cx="2331720" cy="1243584"/>
          </a:xfrm>
          <a:prstGeom prst="rect">
            <a:avLst/>
          </a:prstGeom>
          <a:solidFill>
            <a:srgbClr val="F4F8FB"/>
          </a:solidFill>
          <a:ln w="12700">
            <a:solidFill>
              <a:srgbClr val="E7EEF4"/>
            </a:solidFill>
            <a:prstDash val="solid"/>
          </a:ln>
        </p:spPr>
      </p:sp>
      <p:sp>
        <p:nvSpPr>
          <p:cNvPr id="10" name="Shape 8"/>
          <p:cNvSpPr/>
          <p:nvPr/>
        </p:nvSpPr>
        <p:spPr>
          <a:xfrm>
            <a:off x="9299448" y="2121408"/>
            <a:ext cx="219456" cy="219456"/>
          </a:xfrm>
          <a:prstGeom prst="ellipse">
            <a:avLst/>
          </a:prstGeom>
          <a:solidFill>
            <a:srgbClr val="06A9C8"/>
          </a:solidFill>
          <a:ln w="12700">
            <a:solidFill>
              <a:srgbClr val="06A9C8"/>
            </a:solidFill>
            <a:prstDash val="solid"/>
          </a:ln>
        </p:spPr>
      </p:sp>
      <p:sp>
        <p:nvSpPr>
          <p:cNvPr id="11" name="Text 9"/>
          <p:cNvSpPr/>
          <p:nvPr/>
        </p:nvSpPr>
        <p:spPr>
          <a:xfrm>
            <a:off x="9354312" y="213969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82912" y="209397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Transition posture</a:t>
            </a:r>
            <a:endParaRPr lang="en-US" sz="1080" dirty="0"/>
          </a:p>
        </p:txBody>
      </p:sp>
      <p:sp>
        <p:nvSpPr>
          <p:cNvPr id="13" name="Text 11"/>
          <p:cNvSpPr/>
          <p:nvPr/>
        </p:nvSpPr>
        <p:spPr>
          <a:xfrm>
            <a:off x="9354312" y="2423160"/>
            <a:ext cx="1920240" cy="676656"/>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Modernization should be deliberate, not reactive.</a:t>
            </a:r>
            <a:endParaRPr lang="en-US" sz="96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7 · Lecture 38</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Agent2Agent Protocol: Discovery, Delegation, and Trust</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A2A lets agents expose skills and delegate work through a defined endpoint.</a:t>
            </a:r>
            <a:endParaRPr lang="en-US" sz="1500" dirty="0"/>
          </a:p>
        </p:txBody>
      </p:sp>
      <p:sp>
        <p:nvSpPr>
          <p:cNvPr id="8" name="Text 6"/>
          <p:cNvSpPr/>
          <p:nvPr/>
        </p:nvSpPr>
        <p:spPr>
          <a:xfrm>
            <a:off x="658368" y="1965960"/>
            <a:ext cx="8001000" cy="3429000"/>
          </a:xfrm>
          <a:prstGeom prst="rect">
            <a:avLst/>
          </a:prstGeom>
          <a:noFill/>
          <a:ln/>
        </p:spPr>
        <p:txBody>
          <a:bodyPr wrap="square" lIns="254" tIns="254" rIns="254" bIns="254" rtlCol="0" anchor="ctr">
            <a:normAutofit/>
          </a:bodyPr>
          <a:lstStyle/>
          <a:p>
            <a:pPr indent="0" marL="0">
              <a:buNone/>
            </a:pPr>
            <a:r>
              <a:rPr lang="en-US" sz="1850" dirty="0">
                <a:solidFill>
                  <a:srgbClr val="303846"/>
                </a:solidFill>
                <a:latin typeface="Aptos" pitchFamily="34" charset="0"/>
                <a:ea typeface="Aptos" pitchFamily="34" charset="-122"/>
                <a:cs typeface="Aptos" pitchFamily="34" charset="-120"/>
              </a:rPr>
              <a:t>▸ Agent cards describe what an agent can do and how to reach it.</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Skills define the capabilities another agent may request.</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Authentication protects the endpoint from unauthorized callers.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Delegation should be traceable across the requesting and responding agents.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A2A is treated carefully because capabilities and portal support can evolve.</a:t>
            </a:r>
            <a:endParaRPr lang="en-US" sz="1850" dirty="0"/>
          </a:p>
        </p:txBody>
      </p:sp>
      <p:sp>
        <p:nvSpPr>
          <p:cNvPr id="9" name="Shape 7"/>
          <p:cNvSpPr/>
          <p:nvPr/>
        </p:nvSpPr>
        <p:spPr>
          <a:xfrm>
            <a:off x="9144000" y="1965960"/>
            <a:ext cx="2331720" cy="1243584"/>
          </a:xfrm>
          <a:prstGeom prst="rect">
            <a:avLst/>
          </a:prstGeom>
          <a:solidFill>
            <a:srgbClr val="F4F8FB"/>
          </a:solidFill>
          <a:ln w="12700">
            <a:solidFill>
              <a:srgbClr val="E7EEF4"/>
            </a:solidFill>
            <a:prstDash val="solid"/>
          </a:ln>
        </p:spPr>
      </p:sp>
      <p:sp>
        <p:nvSpPr>
          <p:cNvPr id="10" name="Shape 8"/>
          <p:cNvSpPr/>
          <p:nvPr/>
        </p:nvSpPr>
        <p:spPr>
          <a:xfrm>
            <a:off x="9299448" y="2121408"/>
            <a:ext cx="219456" cy="219456"/>
          </a:xfrm>
          <a:prstGeom prst="ellipse">
            <a:avLst/>
          </a:prstGeom>
          <a:solidFill>
            <a:srgbClr val="06A9C8"/>
          </a:solidFill>
          <a:ln w="12700">
            <a:solidFill>
              <a:srgbClr val="06A9C8"/>
            </a:solidFill>
            <a:prstDash val="solid"/>
          </a:ln>
        </p:spPr>
      </p:sp>
      <p:sp>
        <p:nvSpPr>
          <p:cNvPr id="11" name="Text 9"/>
          <p:cNvSpPr/>
          <p:nvPr/>
        </p:nvSpPr>
        <p:spPr>
          <a:xfrm>
            <a:off x="9354312" y="213969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82912" y="209397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Outcome</a:t>
            </a:r>
            <a:endParaRPr lang="en-US" sz="1080" dirty="0"/>
          </a:p>
        </p:txBody>
      </p:sp>
      <p:sp>
        <p:nvSpPr>
          <p:cNvPr id="13" name="Text 11"/>
          <p:cNvSpPr/>
          <p:nvPr/>
        </p:nvSpPr>
        <p:spPr>
          <a:xfrm>
            <a:off x="9354312" y="2423160"/>
            <a:ext cx="1920240" cy="676656"/>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You can distinguish agent-to-agent communication from ordinary tool calling.</a:t>
            </a:r>
            <a:endParaRPr lang="en-US" sz="96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7 · Lecture 38</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A2A Trust Boundaries</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Agent-to-agent communication introduces a new operating boundary.</a:t>
            </a:r>
            <a:endParaRPr lang="en-US" sz="1500" dirty="0"/>
          </a:p>
        </p:txBody>
      </p:sp>
      <p:sp>
        <p:nvSpPr>
          <p:cNvPr id="8" name="Text 6"/>
          <p:cNvSpPr/>
          <p:nvPr/>
        </p:nvSpPr>
        <p:spPr>
          <a:xfrm>
            <a:off x="658368" y="1965960"/>
            <a:ext cx="8001000" cy="3429000"/>
          </a:xfrm>
          <a:prstGeom prst="rect">
            <a:avLst/>
          </a:prstGeom>
          <a:noFill/>
          <a:ln/>
        </p:spPr>
        <p:txBody>
          <a:bodyPr wrap="square" lIns="254" tIns="254" rIns="254" bIns="254" rtlCol="0" anchor="ctr">
            <a:normAutofit/>
          </a:bodyPr>
          <a:lstStyle/>
          <a:p>
            <a:pPr indent="0" marL="0">
              <a:buNone/>
            </a:pPr>
            <a:r>
              <a:rPr lang="en-US" sz="1850" dirty="0">
                <a:solidFill>
                  <a:srgbClr val="303846"/>
                </a:solidFill>
                <a:latin typeface="Aptos" pitchFamily="34" charset="0"/>
                <a:ea typeface="Aptos" pitchFamily="34" charset="-122"/>
                <a:cs typeface="Aptos" pitchFamily="34" charset="-120"/>
              </a:rPr>
              <a:t>▸ Which agent is allowed to call the endpoint?</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Which skills are exposed through the agent card?</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Which identity is used for the delegated request?</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What data crosses the boundary?</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How is the handoff logged and monitored?</a:t>
            </a:r>
            <a:endParaRPr lang="en-US" sz="1850" dirty="0"/>
          </a:p>
        </p:txBody>
      </p:sp>
      <p:sp>
        <p:nvSpPr>
          <p:cNvPr id="9" name="Shape 7"/>
          <p:cNvSpPr/>
          <p:nvPr/>
        </p:nvSpPr>
        <p:spPr>
          <a:xfrm>
            <a:off x="9144000" y="1965960"/>
            <a:ext cx="2331720" cy="1243584"/>
          </a:xfrm>
          <a:prstGeom prst="rect">
            <a:avLst/>
          </a:prstGeom>
          <a:solidFill>
            <a:srgbClr val="F4F8FB"/>
          </a:solidFill>
          <a:ln w="12700">
            <a:solidFill>
              <a:srgbClr val="E7EEF4"/>
            </a:solidFill>
            <a:prstDash val="solid"/>
          </a:ln>
        </p:spPr>
      </p:sp>
      <p:sp>
        <p:nvSpPr>
          <p:cNvPr id="10" name="Shape 8"/>
          <p:cNvSpPr/>
          <p:nvPr/>
        </p:nvSpPr>
        <p:spPr>
          <a:xfrm>
            <a:off x="9299448" y="2121408"/>
            <a:ext cx="219456" cy="219456"/>
          </a:xfrm>
          <a:prstGeom prst="ellipse">
            <a:avLst/>
          </a:prstGeom>
          <a:solidFill>
            <a:srgbClr val="06A9C8"/>
          </a:solidFill>
          <a:ln w="12700">
            <a:solidFill>
              <a:srgbClr val="06A9C8"/>
            </a:solidFill>
            <a:prstDash val="solid"/>
          </a:ln>
        </p:spPr>
      </p:sp>
      <p:sp>
        <p:nvSpPr>
          <p:cNvPr id="11" name="Text 9"/>
          <p:cNvSpPr/>
          <p:nvPr/>
        </p:nvSpPr>
        <p:spPr>
          <a:xfrm>
            <a:off x="9354312" y="213969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82912" y="209397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Trust rule</a:t>
            </a:r>
            <a:endParaRPr lang="en-US" sz="1080" dirty="0"/>
          </a:p>
        </p:txBody>
      </p:sp>
      <p:sp>
        <p:nvSpPr>
          <p:cNvPr id="13" name="Text 11"/>
          <p:cNvSpPr/>
          <p:nvPr/>
        </p:nvSpPr>
        <p:spPr>
          <a:xfrm>
            <a:off x="9354312" y="2423160"/>
            <a:ext cx="1920240" cy="676656"/>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An agent card should advertise only the skills the enterprise is ready to support.</a:t>
            </a:r>
            <a:endParaRPr lang="en-US" sz="96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7 · Lecture 39</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Guided Exercise: Connect Specialist Agents with A2A</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This is a constrained demonstration using supplied REST or PowerShell, not a coding lesson.</a:t>
            </a:r>
            <a:endParaRPr lang="en-US" sz="1500" dirty="0"/>
          </a:p>
        </p:txBody>
      </p:sp>
      <p:sp>
        <p:nvSpPr>
          <p:cNvPr id="8" name="Text 6"/>
          <p:cNvSpPr/>
          <p:nvPr/>
        </p:nvSpPr>
        <p:spPr>
          <a:xfrm>
            <a:off x="658368" y="1965960"/>
            <a:ext cx="8001000" cy="3429000"/>
          </a:xfrm>
          <a:prstGeom prst="rect">
            <a:avLst/>
          </a:prstGeom>
          <a:noFill/>
          <a:ln/>
        </p:spPr>
        <p:txBody>
          <a:bodyPr wrap="square" lIns="254" tIns="254" rIns="254" bIns="254" rtlCol="0" anchor="ctr">
            <a:normAutofit/>
          </a:bodyPr>
          <a:lstStyle/>
          <a:p>
            <a:pPr indent="0" marL="0">
              <a:buNone/>
            </a:pPr>
            <a:r>
              <a:rPr lang="en-US" sz="1850" dirty="0">
                <a:solidFill>
                  <a:srgbClr val="303846"/>
                </a:solidFill>
                <a:latin typeface="Aptos" pitchFamily="34" charset="0"/>
                <a:ea typeface="Aptos" pitchFamily="34" charset="-122"/>
                <a:cs typeface="Aptos" pitchFamily="34" charset="-120"/>
              </a:rPr>
              <a:t>▸ Use the supplied command to expose or connect an A2A endpoint as required.</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Inspect the agent card and the declared skills.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Connect one specialist agent to another controlled endpoint.</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Send a request that requires delegation.</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Review the result and the trust boundary.</a:t>
            </a:r>
            <a:endParaRPr lang="en-US" sz="1850" dirty="0"/>
          </a:p>
        </p:txBody>
      </p:sp>
      <p:sp>
        <p:nvSpPr>
          <p:cNvPr id="9" name="Shape 7"/>
          <p:cNvSpPr/>
          <p:nvPr/>
        </p:nvSpPr>
        <p:spPr>
          <a:xfrm>
            <a:off x="9144000" y="1965960"/>
            <a:ext cx="2331720" cy="1243584"/>
          </a:xfrm>
          <a:prstGeom prst="rect">
            <a:avLst/>
          </a:prstGeom>
          <a:solidFill>
            <a:srgbClr val="F4F8FB"/>
          </a:solidFill>
          <a:ln w="12700">
            <a:solidFill>
              <a:srgbClr val="E7EEF4"/>
            </a:solidFill>
            <a:prstDash val="solid"/>
          </a:ln>
        </p:spPr>
      </p:sp>
      <p:sp>
        <p:nvSpPr>
          <p:cNvPr id="10" name="Shape 8"/>
          <p:cNvSpPr/>
          <p:nvPr/>
        </p:nvSpPr>
        <p:spPr>
          <a:xfrm>
            <a:off x="9299448" y="2121408"/>
            <a:ext cx="219456" cy="219456"/>
          </a:xfrm>
          <a:prstGeom prst="ellipse">
            <a:avLst/>
          </a:prstGeom>
          <a:solidFill>
            <a:srgbClr val="06A9C8"/>
          </a:solidFill>
          <a:ln w="12700">
            <a:solidFill>
              <a:srgbClr val="06A9C8"/>
            </a:solidFill>
            <a:prstDash val="solid"/>
          </a:ln>
        </p:spPr>
      </p:sp>
      <p:sp>
        <p:nvSpPr>
          <p:cNvPr id="11" name="Text 9"/>
          <p:cNvSpPr/>
          <p:nvPr/>
        </p:nvSpPr>
        <p:spPr>
          <a:xfrm>
            <a:off x="9354312" y="213969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82912" y="209397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Demonstration</a:t>
            </a:r>
            <a:endParaRPr lang="en-US" sz="1080" dirty="0"/>
          </a:p>
        </p:txBody>
      </p:sp>
      <p:sp>
        <p:nvSpPr>
          <p:cNvPr id="13" name="Text 11"/>
          <p:cNvSpPr/>
          <p:nvPr/>
        </p:nvSpPr>
        <p:spPr>
          <a:xfrm>
            <a:off x="9354312" y="2423160"/>
            <a:ext cx="1920240" cy="676656"/>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Minimal command execution is included only because this A2A path is not fully portal-only.</a:t>
            </a:r>
            <a:endParaRPr lang="en-US" sz="96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7 · Lecture 39</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A2A Demonstration Validation</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Validation focuses on what the architecture proves, not on writing code.</a:t>
            </a:r>
            <a:endParaRPr lang="en-US" sz="1500" dirty="0"/>
          </a:p>
        </p:txBody>
      </p:sp>
      <p:sp>
        <p:nvSpPr>
          <p:cNvPr id="8" name="Text 6"/>
          <p:cNvSpPr/>
          <p:nvPr/>
        </p:nvSpPr>
        <p:spPr>
          <a:xfrm>
            <a:off x="658368" y="1965960"/>
            <a:ext cx="8001000" cy="3429000"/>
          </a:xfrm>
          <a:prstGeom prst="rect">
            <a:avLst/>
          </a:prstGeom>
          <a:noFill/>
          <a:ln/>
        </p:spPr>
        <p:txBody>
          <a:bodyPr wrap="square" lIns="254" tIns="254" rIns="254" bIns="254" rtlCol="0" anchor="ctr">
            <a:normAutofit/>
          </a:bodyPr>
          <a:lstStyle/>
          <a:p>
            <a:pPr indent="0" marL="0">
              <a:buNone/>
            </a:pPr>
            <a:r>
              <a:rPr lang="en-US" sz="1850" dirty="0">
                <a:solidFill>
                  <a:srgbClr val="303846"/>
                </a:solidFill>
                <a:latin typeface="Aptos" pitchFamily="34" charset="0"/>
                <a:ea typeface="Aptos" pitchFamily="34" charset="-122"/>
                <a:cs typeface="Aptos" pitchFamily="34" charset="-120"/>
              </a:rPr>
              <a:t>▸ The endpoint or tool connection is created with the supplied command.</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The agent card shows the intended specialist capability.</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Authentication and endpoint values are not exposed carelessly.</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The caller delegates only the intended task.</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The final response shows controlled specialist involvement.</a:t>
            </a:r>
            <a:endParaRPr lang="en-US" sz="1850" dirty="0"/>
          </a:p>
        </p:txBody>
      </p:sp>
      <p:sp>
        <p:nvSpPr>
          <p:cNvPr id="9" name="Shape 7"/>
          <p:cNvSpPr/>
          <p:nvPr/>
        </p:nvSpPr>
        <p:spPr>
          <a:xfrm>
            <a:off x="9144000" y="1965960"/>
            <a:ext cx="2331720" cy="1243584"/>
          </a:xfrm>
          <a:prstGeom prst="rect">
            <a:avLst/>
          </a:prstGeom>
          <a:solidFill>
            <a:srgbClr val="F4F8FB"/>
          </a:solidFill>
          <a:ln w="12700">
            <a:solidFill>
              <a:srgbClr val="E7EEF4"/>
            </a:solidFill>
            <a:prstDash val="solid"/>
          </a:ln>
        </p:spPr>
      </p:sp>
      <p:sp>
        <p:nvSpPr>
          <p:cNvPr id="10" name="Shape 8"/>
          <p:cNvSpPr/>
          <p:nvPr/>
        </p:nvSpPr>
        <p:spPr>
          <a:xfrm>
            <a:off x="9299448" y="2121408"/>
            <a:ext cx="219456" cy="219456"/>
          </a:xfrm>
          <a:prstGeom prst="ellipse">
            <a:avLst/>
          </a:prstGeom>
          <a:solidFill>
            <a:srgbClr val="06A9C8"/>
          </a:solidFill>
          <a:ln w="12700">
            <a:solidFill>
              <a:srgbClr val="06A9C8"/>
            </a:solidFill>
            <a:prstDash val="solid"/>
          </a:ln>
        </p:spPr>
      </p:sp>
      <p:sp>
        <p:nvSpPr>
          <p:cNvPr id="11" name="Text 9"/>
          <p:cNvSpPr/>
          <p:nvPr/>
        </p:nvSpPr>
        <p:spPr>
          <a:xfrm>
            <a:off x="9354312" y="213969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82912" y="209397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Demonstration</a:t>
            </a:r>
            <a:endParaRPr lang="en-US" sz="1080" dirty="0"/>
          </a:p>
        </p:txBody>
      </p:sp>
      <p:sp>
        <p:nvSpPr>
          <p:cNvPr id="13" name="Text 11"/>
          <p:cNvSpPr/>
          <p:nvPr/>
        </p:nvSpPr>
        <p:spPr>
          <a:xfrm>
            <a:off x="9354312" y="2423160"/>
            <a:ext cx="1920240" cy="676656"/>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Capture the agent card and one successful delegated interaction.</a:t>
            </a:r>
            <a:endParaRPr lang="en-US" sz="96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7 Review</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Section 7 — Section Review</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Key takeaways and transition to the next section.</a:t>
            </a:r>
            <a:endParaRPr lang="en-US" sz="1500" dirty="0"/>
          </a:p>
        </p:txBody>
      </p:sp>
      <p:sp>
        <p:nvSpPr>
          <p:cNvPr id="8" name="Shape 6"/>
          <p:cNvSpPr/>
          <p:nvPr/>
        </p:nvSpPr>
        <p:spPr>
          <a:xfrm>
            <a:off x="658368" y="1938528"/>
            <a:ext cx="2423160" cy="1234440"/>
          </a:xfrm>
          <a:prstGeom prst="rect">
            <a:avLst/>
          </a:prstGeom>
          <a:solidFill>
            <a:srgbClr val="F4F8FB"/>
          </a:solidFill>
          <a:ln w="12700">
            <a:solidFill>
              <a:srgbClr val="E4EEF4"/>
            </a:solidFill>
            <a:prstDash val="solid"/>
          </a:ln>
        </p:spPr>
      </p:sp>
      <p:sp>
        <p:nvSpPr>
          <p:cNvPr id="9" name="Text 7"/>
          <p:cNvSpPr/>
          <p:nvPr/>
        </p:nvSpPr>
        <p:spPr>
          <a:xfrm>
            <a:off x="822960" y="2075688"/>
            <a:ext cx="2093976" cy="182880"/>
          </a:xfrm>
          <a:prstGeom prst="rect">
            <a:avLst/>
          </a:prstGeom>
          <a:noFill/>
          <a:ln/>
        </p:spPr>
        <p:txBody>
          <a:bodyPr wrap="square" lIns="0" tIns="0" rIns="0" bIns="0" rtlCol="0" anchor="ctr"/>
          <a:lstStyle/>
          <a:p>
            <a:pPr indent="0" marL="0">
              <a:buNone/>
            </a:pPr>
            <a:r>
              <a:rPr lang="en-US" sz="1050" b="1" dirty="0">
                <a:solidFill>
                  <a:srgbClr val="06A9C8"/>
                </a:solidFill>
                <a:latin typeface="Aptos" pitchFamily="34" charset="0"/>
                <a:ea typeface="Aptos" pitchFamily="34" charset="-122"/>
                <a:cs typeface="Aptos" pitchFamily="34" charset="-120"/>
              </a:rPr>
              <a:t>Takeaway 1</a:t>
            </a:r>
            <a:endParaRPr lang="en-US" sz="1050" dirty="0"/>
          </a:p>
        </p:txBody>
      </p:sp>
      <p:sp>
        <p:nvSpPr>
          <p:cNvPr id="10" name="Text 8"/>
          <p:cNvSpPr/>
          <p:nvPr/>
        </p:nvSpPr>
        <p:spPr>
          <a:xfrm>
            <a:off x="822960" y="2368296"/>
            <a:ext cx="2093976" cy="621792"/>
          </a:xfrm>
          <a:prstGeom prst="rect">
            <a:avLst/>
          </a:prstGeom>
          <a:noFill/>
          <a:ln/>
        </p:spPr>
        <p:txBody>
          <a:bodyPr wrap="square" lIns="254" tIns="254" rIns="254" bIns="254" rtlCol="0" anchor="ctr">
            <a:normAutofit/>
          </a:bodyPr>
          <a:lstStyle/>
          <a:p>
            <a:pPr indent="0" marL="0">
              <a:buNone/>
            </a:pPr>
            <a:r>
              <a:rPr lang="en-US" sz="1150" dirty="0">
                <a:solidFill>
                  <a:srgbClr val="303846"/>
                </a:solidFill>
                <a:latin typeface="Aptos" pitchFamily="34" charset="0"/>
                <a:ea typeface="Aptos" pitchFamily="34" charset="-122"/>
                <a:cs typeface="Aptos" pitchFamily="34" charset="-120"/>
              </a:rPr>
              <a:t>Use multiple agents only when specialization creates real value.</a:t>
            </a:r>
            <a:endParaRPr lang="en-US" sz="1150" dirty="0"/>
          </a:p>
        </p:txBody>
      </p:sp>
      <p:sp>
        <p:nvSpPr>
          <p:cNvPr id="11" name="Shape 9"/>
          <p:cNvSpPr/>
          <p:nvPr/>
        </p:nvSpPr>
        <p:spPr>
          <a:xfrm>
            <a:off x="3310128" y="1938528"/>
            <a:ext cx="2423160" cy="1234440"/>
          </a:xfrm>
          <a:prstGeom prst="rect">
            <a:avLst/>
          </a:prstGeom>
          <a:solidFill>
            <a:srgbClr val="EDF6FA"/>
          </a:solidFill>
          <a:ln w="12700">
            <a:solidFill>
              <a:srgbClr val="E4EEF4"/>
            </a:solidFill>
            <a:prstDash val="solid"/>
          </a:ln>
        </p:spPr>
      </p:sp>
      <p:sp>
        <p:nvSpPr>
          <p:cNvPr id="12" name="Text 10"/>
          <p:cNvSpPr/>
          <p:nvPr/>
        </p:nvSpPr>
        <p:spPr>
          <a:xfrm>
            <a:off x="3474720" y="2075688"/>
            <a:ext cx="2093976" cy="182880"/>
          </a:xfrm>
          <a:prstGeom prst="rect">
            <a:avLst/>
          </a:prstGeom>
          <a:noFill/>
          <a:ln/>
        </p:spPr>
        <p:txBody>
          <a:bodyPr wrap="square" lIns="0" tIns="0" rIns="0" bIns="0" rtlCol="0" anchor="ctr"/>
          <a:lstStyle/>
          <a:p>
            <a:pPr indent="0" marL="0">
              <a:buNone/>
            </a:pPr>
            <a:r>
              <a:rPr lang="en-US" sz="1050" b="1" dirty="0">
                <a:solidFill>
                  <a:srgbClr val="06A9C8"/>
                </a:solidFill>
                <a:latin typeface="Aptos" pitchFamily="34" charset="0"/>
                <a:ea typeface="Aptos" pitchFamily="34" charset="-122"/>
                <a:cs typeface="Aptos" pitchFamily="34" charset="-120"/>
              </a:rPr>
              <a:t>Takeaway 2</a:t>
            </a:r>
            <a:endParaRPr lang="en-US" sz="1050" dirty="0"/>
          </a:p>
        </p:txBody>
      </p:sp>
      <p:sp>
        <p:nvSpPr>
          <p:cNvPr id="13" name="Text 11"/>
          <p:cNvSpPr/>
          <p:nvPr/>
        </p:nvSpPr>
        <p:spPr>
          <a:xfrm>
            <a:off x="3474720" y="2368296"/>
            <a:ext cx="2093976" cy="621792"/>
          </a:xfrm>
          <a:prstGeom prst="rect">
            <a:avLst/>
          </a:prstGeom>
          <a:noFill/>
          <a:ln/>
        </p:spPr>
        <p:txBody>
          <a:bodyPr wrap="square" lIns="254" tIns="254" rIns="254" bIns="254" rtlCol="0" anchor="ctr">
            <a:normAutofit/>
          </a:bodyPr>
          <a:lstStyle/>
          <a:p>
            <a:pPr indent="0" marL="0">
              <a:buNone/>
            </a:pPr>
            <a:r>
              <a:rPr lang="en-US" sz="1150" dirty="0">
                <a:solidFill>
                  <a:srgbClr val="303846"/>
                </a:solidFill>
                <a:latin typeface="Aptos" pitchFamily="34" charset="0"/>
                <a:ea typeface="Aptos" pitchFamily="34" charset="-122"/>
                <a:cs typeface="Aptos" pitchFamily="34" charset="-120"/>
              </a:rPr>
              <a:t>Agent Framework is the strategic path, but this course avoids SDK implementation.</a:t>
            </a:r>
            <a:endParaRPr lang="en-US" sz="1150" dirty="0"/>
          </a:p>
        </p:txBody>
      </p:sp>
      <p:sp>
        <p:nvSpPr>
          <p:cNvPr id="14" name="Shape 12"/>
          <p:cNvSpPr/>
          <p:nvPr/>
        </p:nvSpPr>
        <p:spPr>
          <a:xfrm>
            <a:off x="5961888" y="1938528"/>
            <a:ext cx="2423160" cy="1234440"/>
          </a:xfrm>
          <a:prstGeom prst="rect">
            <a:avLst/>
          </a:prstGeom>
          <a:solidFill>
            <a:srgbClr val="F4F8FB"/>
          </a:solidFill>
          <a:ln w="12700">
            <a:solidFill>
              <a:srgbClr val="E4EEF4"/>
            </a:solidFill>
            <a:prstDash val="solid"/>
          </a:ln>
        </p:spPr>
      </p:sp>
      <p:sp>
        <p:nvSpPr>
          <p:cNvPr id="15" name="Text 13"/>
          <p:cNvSpPr/>
          <p:nvPr/>
        </p:nvSpPr>
        <p:spPr>
          <a:xfrm>
            <a:off x="6126480" y="2075688"/>
            <a:ext cx="2093976" cy="182880"/>
          </a:xfrm>
          <a:prstGeom prst="rect">
            <a:avLst/>
          </a:prstGeom>
          <a:noFill/>
          <a:ln/>
        </p:spPr>
        <p:txBody>
          <a:bodyPr wrap="square" lIns="0" tIns="0" rIns="0" bIns="0" rtlCol="0" anchor="ctr"/>
          <a:lstStyle/>
          <a:p>
            <a:pPr indent="0" marL="0">
              <a:buNone/>
            </a:pPr>
            <a:r>
              <a:rPr lang="en-US" sz="1050" b="1" dirty="0">
                <a:solidFill>
                  <a:srgbClr val="06A9C8"/>
                </a:solidFill>
                <a:latin typeface="Aptos" pitchFamily="34" charset="0"/>
                <a:ea typeface="Aptos" pitchFamily="34" charset="-122"/>
                <a:cs typeface="Aptos" pitchFamily="34" charset="-120"/>
              </a:rPr>
              <a:t>Takeaway 3</a:t>
            </a:r>
            <a:endParaRPr lang="en-US" sz="1050" dirty="0"/>
          </a:p>
        </p:txBody>
      </p:sp>
      <p:sp>
        <p:nvSpPr>
          <p:cNvPr id="16" name="Text 14"/>
          <p:cNvSpPr/>
          <p:nvPr/>
        </p:nvSpPr>
        <p:spPr>
          <a:xfrm>
            <a:off x="6126480" y="2368296"/>
            <a:ext cx="2093976" cy="621792"/>
          </a:xfrm>
          <a:prstGeom prst="rect">
            <a:avLst/>
          </a:prstGeom>
          <a:noFill/>
          <a:ln/>
        </p:spPr>
        <p:txBody>
          <a:bodyPr wrap="square" lIns="254" tIns="254" rIns="254" bIns="254" rtlCol="0" anchor="ctr">
            <a:normAutofit/>
          </a:bodyPr>
          <a:lstStyle/>
          <a:p>
            <a:pPr indent="0" marL="0">
              <a:buNone/>
            </a:pPr>
            <a:r>
              <a:rPr lang="en-US" sz="1150" dirty="0">
                <a:solidFill>
                  <a:srgbClr val="303846"/>
                </a:solidFill>
                <a:latin typeface="Aptos" pitchFamily="34" charset="0"/>
                <a:ea typeface="Aptos" pitchFamily="34" charset="-122"/>
                <a:cs typeface="Aptos" pitchFamily="34" charset="-120"/>
              </a:rPr>
              <a:t>A2A is about agent-to-agent discovery and delegation, not ordinary tool calling.</a:t>
            </a:r>
            <a:endParaRPr lang="en-US" sz="1150" dirty="0"/>
          </a:p>
        </p:txBody>
      </p:sp>
      <p:sp>
        <p:nvSpPr>
          <p:cNvPr id="17" name="Shape 15"/>
          <p:cNvSpPr/>
          <p:nvPr/>
        </p:nvSpPr>
        <p:spPr>
          <a:xfrm>
            <a:off x="8613648" y="1938528"/>
            <a:ext cx="2423160" cy="1234440"/>
          </a:xfrm>
          <a:prstGeom prst="rect">
            <a:avLst/>
          </a:prstGeom>
          <a:solidFill>
            <a:srgbClr val="EDF6FA"/>
          </a:solidFill>
          <a:ln w="12700">
            <a:solidFill>
              <a:srgbClr val="E4EEF4"/>
            </a:solidFill>
            <a:prstDash val="solid"/>
          </a:ln>
        </p:spPr>
      </p:sp>
      <p:sp>
        <p:nvSpPr>
          <p:cNvPr id="18" name="Text 16"/>
          <p:cNvSpPr/>
          <p:nvPr/>
        </p:nvSpPr>
        <p:spPr>
          <a:xfrm>
            <a:off x="8778240" y="2075688"/>
            <a:ext cx="2093976" cy="182880"/>
          </a:xfrm>
          <a:prstGeom prst="rect">
            <a:avLst/>
          </a:prstGeom>
          <a:noFill/>
          <a:ln/>
        </p:spPr>
        <p:txBody>
          <a:bodyPr wrap="square" lIns="0" tIns="0" rIns="0" bIns="0" rtlCol="0" anchor="ctr"/>
          <a:lstStyle/>
          <a:p>
            <a:pPr indent="0" marL="0">
              <a:buNone/>
            </a:pPr>
            <a:r>
              <a:rPr lang="en-US" sz="1050" b="1" dirty="0">
                <a:solidFill>
                  <a:srgbClr val="06A9C8"/>
                </a:solidFill>
                <a:latin typeface="Aptos" pitchFamily="34" charset="0"/>
                <a:ea typeface="Aptos" pitchFamily="34" charset="-122"/>
                <a:cs typeface="Aptos" pitchFamily="34" charset="-120"/>
              </a:rPr>
              <a:t>Takeaway 4</a:t>
            </a:r>
            <a:endParaRPr lang="en-US" sz="1050" dirty="0"/>
          </a:p>
        </p:txBody>
      </p:sp>
      <p:sp>
        <p:nvSpPr>
          <p:cNvPr id="19" name="Text 17"/>
          <p:cNvSpPr/>
          <p:nvPr/>
        </p:nvSpPr>
        <p:spPr>
          <a:xfrm>
            <a:off x="8778240" y="2368296"/>
            <a:ext cx="2093976" cy="621792"/>
          </a:xfrm>
          <a:prstGeom prst="rect">
            <a:avLst/>
          </a:prstGeom>
          <a:noFill/>
          <a:ln/>
        </p:spPr>
        <p:txBody>
          <a:bodyPr wrap="square" lIns="254" tIns="254" rIns="254" bIns="254" rtlCol="0" anchor="ctr">
            <a:normAutofit/>
          </a:bodyPr>
          <a:lstStyle/>
          <a:p>
            <a:pPr indent="0" marL="0">
              <a:buNone/>
            </a:pPr>
            <a:r>
              <a:rPr lang="en-US" sz="1150" dirty="0">
                <a:solidFill>
                  <a:srgbClr val="303846"/>
                </a:solidFill>
                <a:latin typeface="Aptos" pitchFamily="34" charset="0"/>
                <a:ea typeface="Aptos" pitchFamily="34" charset="-122"/>
                <a:cs typeface="Aptos" pitchFamily="34" charset="-120"/>
              </a:rPr>
              <a:t>Trust boundaries and handoff observability are central to multi-agent design.</a:t>
            </a:r>
            <a:endParaRPr lang="en-US" sz="1150" dirty="0"/>
          </a:p>
        </p:txBody>
      </p:sp>
      <p:sp>
        <p:nvSpPr>
          <p:cNvPr id="20" name="Shape 18"/>
          <p:cNvSpPr/>
          <p:nvPr/>
        </p:nvSpPr>
        <p:spPr>
          <a:xfrm>
            <a:off x="9966960" y="4206240"/>
            <a:ext cx="1280160" cy="530352"/>
          </a:xfrm>
          <a:prstGeom prst="chevron">
            <a:avLst/>
          </a:prstGeom>
          <a:solidFill>
            <a:srgbClr val="06A9C8"/>
          </a:solidFill>
          <a:ln w="12700">
            <a:solidFill>
              <a:srgbClr val="06A9C8"/>
            </a:solidFill>
            <a:prstDash val="solid"/>
          </a:ln>
        </p:spPr>
      </p:sp>
      <p:sp>
        <p:nvSpPr>
          <p:cNvPr id="21" name="Text 19"/>
          <p:cNvSpPr/>
          <p:nvPr/>
        </p:nvSpPr>
        <p:spPr>
          <a:xfrm>
            <a:off x="10040112" y="4370832"/>
            <a:ext cx="1024128" cy="201168"/>
          </a:xfrm>
          <a:prstGeom prst="rect">
            <a:avLst/>
          </a:prstGeom>
          <a:noFill/>
          <a:ln/>
        </p:spPr>
        <p:txBody>
          <a:bodyPr wrap="square" lIns="0" tIns="0" rIns="0" bIns="0" rtlCol="0" anchor="ctr">
            <a:normAutofit/>
          </a:bodyPr>
          <a:lstStyle/>
          <a:p>
            <a:pPr algn="ctr" indent="0" marL="0">
              <a:buNone/>
            </a:pPr>
            <a:r>
              <a:rPr lang="en-US" sz="950" b="1" dirty="0">
                <a:solidFill>
                  <a:srgbClr val="FFFFFF"/>
                </a:solidFill>
                <a:latin typeface="Aptos" pitchFamily="34" charset="0"/>
                <a:ea typeface="Aptos" pitchFamily="34" charset="-122"/>
                <a:cs typeface="Aptos" pitchFamily="34" charset="-120"/>
              </a:rPr>
              <a:t>Next: LLMOps, evaluation, and observability.</a:t>
            </a:r>
            <a:endParaRPr lang="en-US" sz="95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658368" y="1024128"/>
            <a:ext cx="2194560" cy="329184"/>
          </a:xfrm>
          <a:prstGeom prst="rect">
            <a:avLst/>
          </a:prstGeom>
          <a:noFill/>
          <a:ln/>
        </p:spPr>
        <p:txBody>
          <a:bodyPr wrap="square" lIns="0" tIns="0" rIns="0" bIns="0" rtlCol="0" anchor="ctr"/>
          <a:lstStyle/>
          <a:p>
            <a:pPr indent="0" marL="0">
              <a:buNone/>
            </a:pPr>
            <a:r>
              <a:rPr lang="en-US" sz="1600" dirty="0">
                <a:solidFill>
                  <a:srgbClr val="06A9C8"/>
                </a:solidFill>
                <a:latin typeface="Aptos" pitchFamily="34" charset="0"/>
                <a:ea typeface="Aptos" pitchFamily="34" charset="-122"/>
                <a:cs typeface="Aptos" pitchFamily="34" charset="-120"/>
              </a:rPr>
              <a:t>Section 8</a:t>
            </a:r>
            <a:endParaRPr lang="en-US" sz="1600" dirty="0"/>
          </a:p>
        </p:txBody>
      </p:sp>
      <p:sp>
        <p:nvSpPr>
          <p:cNvPr id="6" name="Text 4"/>
          <p:cNvSpPr/>
          <p:nvPr/>
        </p:nvSpPr>
        <p:spPr>
          <a:xfrm>
            <a:off x="658368" y="1554480"/>
            <a:ext cx="7040880" cy="841248"/>
          </a:xfrm>
          <a:prstGeom prst="rect">
            <a:avLst/>
          </a:prstGeom>
          <a:noFill/>
          <a:ln/>
        </p:spPr>
        <p:txBody>
          <a:bodyPr wrap="square" lIns="0" tIns="0" rIns="0" bIns="0" rtlCol="0" anchor="ctr">
            <a:normAutofit/>
          </a:bodyPr>
          <a:lstStyle/>
          <a:p>
            <a:pPr indent="0" marL="0">
              <a:buNone/>
            </a:pPr>
            <a:r>
              <a:rPr lang="en-US" sz="3100" dirty="0">
                <a:solidFill>
                  <a:srgbClr val="172033"/>
                </a:solidFill>
                <a:latin typeface="Aptos Display" pitchFamily="34" charset="0"/>
                <a:ea typeface="Aptos Display" pitchFamily="34" charset="-122"/>
                <a:cs typeface="Aptos Display" pitchFamily="34" charset="-120"/>
              </a:rPr>
              <a:t>LLMOps, Evaluation, and Observability</a:t>
            </a:r>
            <a:endParaRPr lang="en-US" sz="3100" dirty="0"/>
          </a:p>
        </p:txBody>
      </p:sp>
      <p:sp>
        <p:nvSpPr>
          <p:cNvPr id="7" name="Text 5"/>
          <p:cNvSpPr/>
          <p:nvPr/>
        </p:nvSpPr>
        <p:spPr>
          <a:xfrm>
            <a:off x="658368" y="2578608"/>
            <a:ext cx="7132320" cy="640080"/>
          </a:xfrm>
          <a:prstGeom prst="rect">
            <a:avLst/>
          </a:prstGeom>
          <a:noFill/>
          <a:ln/>
        </p:spPr>
        <p:txBody>
          <a:bodyPr wrap="square" lIns="0" tIns="0" rIns="0" bIns="0" rtlCol="0" anchor="ctr">
            <a:normAutofit/>
          </a:bodyPr>
          <a:lstStyle/>
          <a:p>
            <a:pPr indent="0" marL="0">
              <a:buNone/>
            </a:pPr>
            <a:r>
              <a:rPr lang="en-US" sz="1550" dirty="0">
                <a:solidFill>
                  <a:srgbClr val="6B7280"/>
                </a:solidFill>
                <a:latin typeface="Aptos" pitchFamily="34" charset="0"/>
                <a:ea typeface="Aptos" pitchFamily="34" charset="-122"/>
                <a:cs typeface="Aptos" pitchFamily="34" charset="-120"/>
              </a:rPr>
              <a:t>Add the operating lifecycle after agents, knowledge, and tools exist.</a:t>
            </a:r>
            <a:endParaRPr lang="en-US" sz="1550" dirty="0"/>
          </a:p>
        </p:txBody>
      </p:sp>
      <p:pic>
        <p:nvPicPr>
          <p:cNvPr id="8" name="Image 0" descr="/mnt/data/ref_pptx/ppt/media/image1.png">    </p:cNvPr>
          <p:cNvPicPr>
            <a:picLocks noChangeAspect="1"/>
          </p:cNvPicPr>
          <p:nvPr/>
        </p:nvPicPr>
        <p:blipFill>
          <a:blip r:embed="rId1"/>
          <a:stretch>
            <a:fillRect/>
          </a:stretch>
        </p:blipFill>
        <p:spPr>
          <a:xfrm>
            <a:off x="8092440" y="1097280"/>
            <a:ext cx="2468880" cy="2468880"/>
          </a:xfrm>
          <a:prstGeom prst="rect">
            <a:avLst/>
          </a:prstGeom>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8</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Section Overview</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LLMOps, Evaluation, and Observability</a:t>
            </a:r>
            <a:endParaRPr lang="en-US" sz="1500" dirty="0"/>
          </a:p>
        </p:txBody>
      </p:sp>
      <p:sp>
        <p:nvSpPr>
          <p:cNvPr id="8" name="Text 6"/>
          <p:cNvSpPr/>
          <p:nvPr/>
        </p:nvSpPr>
        <p:spPr>
          <a:xfrm>
            <a:off x="658368" y="1965960"/>
            <a:ext cx="8001000" cy="3429000"/>
          </a:xfrm>
          <a:prstGeom prst="rect">
            <a:avLst/>
          </a:prstGeom>
          <a:noFill/>
          <a:ln/>
        </p:spPr>
        <p:txBody>
          <a:bodyPr wrap="square" lIns="254" tIns="254" rIns="254" bIns="254" rtlCol="0" anchor="ctr">
            <a:normAutofit/>
          </a:bodyPr>
          <a:lstStyle/>
          <a:p>
            <a:pPr indent="0" marL="0">
              <a:buNone/>
            </a:pPr>
            <a:r>
              <a:rPr lang="en-US" sz="1850" dirty="0">
                <a:solidFill>
                  <a:srgbClr val="303846"/>
                </a:solidFill>
                <a:latin typeface="Aptos" pitchFamily="34" charset="0"/>
                <a:ea typeface="Aptos" pitchFamily="34" charset="-122"/>
                <a:cs typeface="Aptos" pitchFamily="34" charset="-120"/>
              </a:rPr>
              <a:t>▸ Manage changes to models, instructions, knowledge, tools, and versions.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Evaluate agents using representative enterprise test cases.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Monitor quality, performance, token usage, and cost.</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Use safety testing and red teaming before and after release.</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Run an evaluation and monitoring lab.</a:t>
            </a:r>
            <a:endParaRPr lang="en-US" sz="1850" dirty="0"/>
          </a:p>
        </p:txBody>
      </p:sp>
      <p:sp>
        <p:nvSpPr>
          <p:cNvPr id="9" name="Shape 7"/>
          <p:cNvSpPr/>
          <p:nvPr/>
        </p:nvSpPr>
        <p:spPr>
          <a:xfrm>
            <a:off x="9144000" y="1965960"/>
            <a:ext cx="2331720" cy="1243584"/>
          </a:xfrm>
          <a:prstGeom prst="rect">
            <a:avLst/>
          </a:prstGeom>
          <a:solidFill>
            <a:srgbClr val="F4F8FB"/>
          </a:solidFill>
          <a:ln w="12700">
            <a:solidFill>
              <a:srgbClr val="E7EEF4"/>
            </a:solidFill>
            <a:prstDash val="solid"/>
          </a:ln>
        </p:spPr>
      </p:sp>
      <p:sp>
        <p:nvSpPr>
          <p:cNvPr id="10" name="Shape 8"/>
          <p:cNvSpPr/>
          <p:nvPr/>
        </p:nvSpPr>
        <p:spPr>
          <a:xfrm>
            <a:off x="9299448" y="2121408"/>
            <a:ext cx="219456" cy="219456"/>
          </a:xfrm>
          <a:prstGeom prst="ellipse">
            <a:avLst/>
          </a:prstGeom>
          <a:solidFill>
            <a:srgbClr val="06A9C8"/>
          </a:solidFill>
          <a:ln w="12700">
            <a:solidFill>
              <a:srgbClr val="06A9C8"/>
            </a:solidFill>
            <a:prstDash val="solid"/>
          </a:ln>
        </p:spPr>
      </p:sp>
      <p:sp>
        <p:nvSpPr>
          <p:cNvPr id="11" name="Text 9"/>
          <p:cNvSpPr/>
          <p:nvPr/>
        </p:nvSpPr>
        <p:spPr>
          <a:xfrm>
            <a:off x="9354312" y="213969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82912" y="209397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Section outcome</a:t>
            </a:r>
            <a:endParaRPr lang="en-US" sz="1080" dirty="0"/>
          </a:p>
        </p:txBody>
      </p:sp>
      <p:sp>
        <p:nvSpPr>
          <p:cNvPr id="13" name="Text 11"/>
          <p:cNvSpPr/>
          <p:nvPr/>
        </p:nvSpPr>
        <p:spPr>
          <a:xfrm>
            <a:off x="9354312" y="2423160"/>
            <a:ext cx="1920240" cy="676656"/>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explain how an agent is tested and observed before production trust.</a:t>
            </a:r>
            <a:endParaRPr lang="en-US" sz="96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8 · Lecture 42</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Modern LLMOps for Microsoft Foundry Agents</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LLMOps is the change-control discipline for agent behavior.</a:t>
            </a:r>
            <a:endParaRPr lang="en-US" sz="1500" dirty="0"/>
          </a:p>
        </p:txBody>
      </p:sp>
      <p:sp>
        <p:nvSpPr>
          <p:cNvPr id="8" name="Text 6"/>
          <p:cNvSpPr/>
          <p:nvPr/>
        </p:nvSpPr>
        <p:spPr>
          <a:xfrm>
            <a:off x="658368" y="1965960"/>
            <a:ext cx="8001000" cy="3429000"/>
          </a:xfrm>
          <a:prstGeom prst="rect">
            <a:avLst/>
          </a:prstGeom>
          <a:noFill/>
          <a:ln/>
        </p:spPr>
        <p:txBody>
          <a:bodyPr wrap="square" lIns="254" tIns="254" rIns="254" bIns="254" rtlCol="0" anchor="ctr">
            <a:normAutofit/>
          </a:bodyPr>
          <a:lstStyle/>
          <a:p>
            <a:pPr indent="0" marL="0">
              <a:buNone/>
            </a:pPr>
            <a:r>
              <a:rPr lang="en-US" sz="1850" dirty="0">
                <a:solidFill>
                  <a:srgbClr val="303846"/>
                </a:solidFill>
                <a:latin typeface="Aptos" pitchFamily="34" charset="0"/>
                <a:ea typeface="Aptos" pitchFamily="34" charset="-122"/>
                <a:cs typeface="Aptos" pitchFamily="34" charset="-120"/>
              </a:rPr>
              <a:t>▸ Version model deployments, instructions, knowledge, tools, and agent endpoints.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Test changes before publishing to intended consumers.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Use evaluations to catch regressions in quality and safety.</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Approve releases using evidence rather than confidence alone.</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Rollback when quality, safety, or cost behavior degrades.</a:t>
            </a:r>
            <a:endParaRPr lang="en-US" sz="1850" dirty="0"/>
          </a:p>
        </p:txBody>
      </p:sp>
      <p:sp>
        <p:nvSpPr>
          <p:cNvPr id="9" name="Shape 7"/>
          <p:cNvSpPr/>
          <p:nvPr/>
        </p:nvSpPr>
        <p:spPr>
          <a:xfrm>
            <a:off x="9144000" y="1965960"/>
            <a:ext cx="2331720" cy="1243584"/>
          </a:xfrm>
          <a:prstGeom prst="rect">
            <a:avLst/>
          </a:prstGeom>
          <a:solidFill>
            <a:srgbClr val="F4F8FB"/>
          </a:solidFill>
          <a:ln w="12700">
            <a:solidFill>
              <a:srgbClr val="E7EEF4"/>
            </a:solidFill>
            <a:prstDash val="solid"/>
          </a:ln>
        </p:spPr>
      </p:sp>
      <p:sp>
        <p:nvSpPr>
          <p:cNvPr id="10" name="Shape 8"/>
          <p:cNvSpPr/>
          <p:nvPr/>
        </p:nvSpPr>
        <p:spPr>
          <a:xfrm>
            <a:off x="9299448" y="2121408"/>
            <a:ext cx="219456" cy="219456"/>
          </a:xfrm>
          <a:prstGeom prst="ellipse">
            <a:avLst/>
          </a:prstGeom>
          <a:solidFill>
            <a:srgbClr val="06A9C8"/>
          </a:solidFill>
          <a:ln w="12700">
            <a:solidFill>
              <a:srgbClr val="06A9C8"/>
            </a:solidFill>
            <a:prstDash val="solid"/>
          </a:ln>
        </p:spPr>
      </p:sp>
      <p:sp>
        <p:nvSpPr>
          <p:cNvPr id="11" name="Text 9"/>
          <p:cNvSpPr/>
          <p:nvPr/>
        </p:nvSpPr>
        <p:spPr>
          <a:xfrm>
            <a:off x="9354312" y="213969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82912" y="209397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Prompt Flow note</a:t>
            </a:r>
            <a:endParaRPr lang="en-US" sz="1080" dirty="0"/>
          </a:p>
        </p:txBody>
      </p:sp>
      <p:sp>
        <p:nvSpPr>
          <p:cNvPr id="13" name="Text 11"/>
          <p:cNvSpPr/>
          <p:nvPr/>
        </p:nvSpPr>
        <p:spPr>
          <a:xfrm>
            <a:off x="9354312" y="2423160"/>
            <a:ext cx="1920240" cy="676656"/>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Prompt Flow is migration context only; new work should align with current Foundry and Agent Framework direction.</a:t>
            </a:r>
            <a:endParaRPr lang="en-US" sz="96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8 · Lecture 42</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Agent Release Lifecycle</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A governed release path prevents silent behavior drift.</a:t>
            </a:r>
            <a:endParaRPr lang="en-US" sz="1500" dirty="0"/>
          </a:p>
        </p:txBody>
      </p:sp>
      <p:sp>
        <p:nvSpPr>
          <p:cNvPr id="8" name="Shape 6"/>
          <p:cNvSpPr/>
          <p:nvPr/>
        </p:nvSpPr>
        <p:spPr>
          <a:xfrm>
            <a:off x="658368" y="2103120"/>
            <a:ext cx="1417320" cy="868680"/>
          </a:xfrm>
          <a:prstGeom prst="roundRect">
            <a:avLst>
              <a:gd name="adj" fmla="val 8421"/>
            </a:avLst>
          </a:prstGeom>
          <a:solidFill>
            <a:srgbClr val="F4F8FB"/>
          </a:solidFill>
          <a:ln w="12700">
            <a:solidFill>
              <a:srgbClr val="D6E7EF"/>
            </a:solidFill>
            <a:prstDash val="solid"/>
          </a:ln>
        </p:spPr>
      </p:sp>
      <p:sp>
        <p:nvSpPr>
          <p:cNvPr id="9" name="Text 7"/>
          <p:cNvSpPr/>
          <p:nvPr/>
        </p:nvSpPr>
        <p:spPr>
          <a:xfrm>
            <a:off x="749808" y="2258568"/>
            <a:ext cx="1234440" cy="228600"/>
          </a:xfrm>
          <a:prstGeom prst="rect">
            <a:avLst/>
          </a:prstGeom>
          <a:noFill/>
          <a:ln/>
        </p:spPr>
        <p:txBody>
          <a:bodyPr wrap="square" lIns="0" tIns="0" rIns="0" bIns="0" rtlCol="0" anchor="ctr">
            <a:normAutofit/>
          </a:bodyPr>
          <a:lstStyle/>
          <a:p>
            <a:pPr algn="ctr" indent="0" marL="0">
              <a:buNone/>
            </a:pPr>
            <a:r>
              <a:rPr lang="en-US" sz="1150" b="1" dirty="0">
                <a:solidFill>
                  <a:srgbClr val="172033"/>
                </a:solidFill>
                <a:latin typeface="Aptos" pitchFamily="34" charset="0"/>
                <a:ea typeface="Aptos" pitchFamily="34" charset="-122"/>
                <a:cs typeface="Aptos" pitchFamily="34" charset="-120"/>
              </a:rPr>
              <a:t>Draft</a:t>
            </a:r>
            <a:endParaRPr lang="en-US" sz="1150" dirty="0"/>
          </a:p>
        </p:txBody>
      </p:sp>
      <p:sp>
        <p:nvSpPr>
          <p:cNvPr id="10" name="Text 8"/>
          <p:cNvSpPr/>
          <p:nvPr/>
        </p:nvSpPr>
        <p:spPr>
          <a:xfrm>
            <a:off x="768096" y="2532888"/>
            <a:ext cx="1197864" cy="256032"/>
          </a:xfrm>
          <a:prstGeom prst="rect">
            <a:avLst/>
          </a:prstGeom>
          <a:noFill/>
          <a:ln/>
        </p:spPr>
        <p:txBody>
          <a:bodyPr wrap="square" lIns="0" tIns="0" rIns="0" bIns="0" rtlCol="0" anchor="ctr">
            <a:normAutofit/>
          </a:bodyPr>
          <a:lstStyle/>
          <a:p>
            <a:pPr algn="ctr" indent="0" marL="0">
              <a:buNone/>
            </a:pPr>
            <a:r>
              <a:rPr lang="en-US" sz="850" dirty="0">
                <a:solidFill>
                  <a:srgbClr val="6B7280"/>
                </a:solidFill>
                <a:latin typeface="Aptos" pitchFamily="34" charset="0"/>
                <a:ea typeface="Aptos" pitchFamily="34" charset="-122"/>
                <a:cs typeface="Aptos" pitchFamily="34" charset="-120"/>
              </a:rPr>
              <a:t>versioned change</a:t>
            </a:r>
            <a:endParaRPr lang="en-US" sz="850" dirty="0"/>
          </a:p>
        </p:txBody>
      </p:sp>
      <p:sp>
        <p:nvSpPr>
          <p:cNvPr id="11" name="Text 9"/>
          <p:cNvSpPr/>
          <p:nvPr/>
        </p:nvSpPr>
        <p:spPr>
          <a:xfrm>
            <a:off x="2121408" y="2340864"/>
            <a:ext cx="164592" cy="228600"/>
          </a:xfrm>
          <a:prstGeom prst="rect">
            <a:avLst/>
          </a:prstGeom>
          <a:noFill/>
          <a:ln/>
        </p:spPr>
        <p:txBody>
          <a:bodyPr wrap="square" lIns="0" tIns="0" rIns="0" bIns="0" rtlCol="0" anchor="ctr"/>
          <a:lstStyle/>
          <a:p>
            <a:pPr indent="0" marL="0">
              <a:buNone/>
            </a:pPr>
            <a:r>
              <a:rPr lang="en-US" sz="1600" b="1" dirty="0">
                <a:solidFill>
                  <a:srgbClr val="06A9C8"/>
                </a:solidFill>
                <a:latin typeface="Aptos" pitchFamily="34" charset="0"/>
                <a:ea typeface="Aptos" pitchFamily="34" charset="-122"/>
                <a:cs typeface="Aptos" pitchFamily="34" charset="-120"/>
              </a:rPr>
              <a:t>→</a:t>
            </a:r>
            <a:endParaRPr lang="en-US" sz="1600" dirty="0"/>
          </a:p>
        </p:txBody>
      </p:sp>
      <p:sp>
        <p:nvSpPr>
          <p:cNvPr id="12" name="Shape 10"/>
          <p:cNvSpPr/>
          <p:nvPr/>
        </p:nvSpPr>
        <p:spPr>
          <a:xfrm>
            <a:off x="2331720" y="2103120"/>
            <a:ext cx="1417320" cy="868680"/>
          </a:xfrm>
          <a:prstGeom prst="roundRect">
            <a:avLst>
              <a:gd name="adj" fmla="val 8421"/>
            </a:avLst>
          </a:prstGeom>
          <a:solidFill>
            <a:srgbClr val="F4F8FB"/>
          </a:solidFill>
          <a:ln w="12700">
            <a:solidFill>
              <a:srgbClr val="D6E7EF"/>
            </a:solidFill>
            <a:prstDash val="solid"/>
          </a:ln>
        </p:spPr>
      </p:sp>
      <p:sp>
        <p:nvSpPr>
          <p:cNvPr id="13" name="Text 11"/>
          <p:cNvSpPr/>
          <p:nvPr/>
        </p:nvSpPr>
        <p:spPr>
          <a:xfrm>
            <a:off x="2423160" y="2258568"/>
            <a:ext cx="1234440" cy="228600"/>
          </a:xfrm>
          <a:prstGeom prst="rect">
            <a:avLst/>
          </a:prstGeom>
          <a:noFill/>
          <a:ln/>
        </p:spPr>
        <p:txBody>
          <a:bodyPr wrap="square" lIns="0" tIns="0" rIns="0" bIns="0" rtlCol="0" anchor="ctr">
            <a:normAutofit/>
          </a:bodyPr>
          <a:lstStyle/>
          <a:p>
            <a:pPr algn="ctr" indent="0" marL="0">
              <a:buNone/>
            </a:pPr>
            <a:r>
              <a:rPr lang="en-US" sz="1150" b="1" dirty="0">
                <a:solidFill>
                  <a:srgbClr val="172033"/>
                </a:solidFill>
                <a:latin typeface="Aptos" pitchFamily="34" charset="0"/>
                <a:ea typeface="Aptos" pitchFamily="34" charset="-122"/>
                <a:cs typeface="Aptos" pitchFamily="34" charset="-120"/>
              </a:rPr>
              <a:t>Evaluate</a:t>
            </a:r>
            <a:endParaRPr lang="en-US" sz="1150" dirty="0"/>
          </a:p>
        </p:txBody>
      </p:sp>
      <p:sp>
        <p:nvSpPr>
          <p:cNvPr id="14" name="Text 12"/>
          <p:cNvSpPr/>
          <p:nvPr/>
        </p:nvSpPr>
        <p:spPr>
          <a:xfrm>
            <a:off x="2441448" y="2532888"/>
            <a:ext cx="1197864" cy="256032"/>
          </a:xfrm>
          <a:prstGeom prst="rect">
            <a:avLst/>
          </a:prstGeom>
          <a:noFill/>
          <a:ln/>
        </p:spPr>
        <p:txBody>
          <a:bodyPr wrap="square" lIns="0" tIns="0" rIns="0" bIns="0" rtlCol="0" anchor="ctr">
            <a:normAutofit/>
          </a:bodyPr>
          <a:lstStyle/>
          <a:p>
            <a:pPr algn="ctr" indent="0" marL="0">
              <a:buNone/>
            </a:pPr>
            <a:r>
              <a:rPr lang="en-US" sz="850" dirty="0">
                <a:solidFill>
                  <a:srgbClr val="6B7280"/>
                </a:solidFill>
                <a:latin typeface="Aptos" pitchFamily="34" charset="0"/>
                <a:ea typeface="Aptos" pitchFamily="34" charset="-122"/>
                <a:cs typeface="Aptos" pitchFamily="34" charset="-120"/>
              </a:rPr>
              <a:t>dataset + metrics</a:t>
            </a:r>
            <a:endParaRPr lang="en-US" sz="850" dirty="0"/>
          </a:p>
        </p:txBody>
      </p:sp>
      <p:sp>
        <p:nvSpPr>
          <p:cNvPr id="15" name="Text 13"/>
          <p:cNvSpPr/>
          <p:nvPr/>
        </p:nvSpPr>
        <p:spPr>
          <a:xfrm>
            <a:off x="3794760" y="2340864"/>
            <a:ext cx="164592" cy="228600"/>
          </a:xfrm>
          <a:prstGeom prst="rect">
            <a:avLst/>
          </a:prstGeom>
          <a:noFill/>
          <a:ln/>
        </p:spPr>
        <p:txBody>
          <a:bodyPr wrap="square" lIns="0" tIns="0" rIns="0" bIns="0" rtlCol="0" anchor="ctr"/>
          <a:lstStyle/>
          <a:p>
            <a:pPr indent="0" marL="0">
              <a:buNone/>
            </a:pPr>
            <a:r>
              <a:rPr lang="en-US" sz="1600" b="1" dirty="0">
                <a:solidFill>
                  <a:srgbClr val="06A9C8"/>
                </a:solidFill>
                <a:latin typeface="Aptos" pitchFamily="34" charset="0"/>
                <a:ea typeface="Aptos" pitchFamily="34" charset="-122"/>
                <a:cs typeface="Aptos" pitchFamily="34" charset="-120"/>
              </a:rPr>
              <a:t>→</a:t>
            </a:r>
            <a:endParaRPr lang="en-US" sz="1600" dirty="0"/>
          </a:p>
        </p:txBody>
      </p:sp>
      <p:sp>
        <p:nvSpPr>
          <p:cNvPr id="16" name="Shape 14"/>
          <p:cNvSpPr/>
          <p:nvPr/>
        </p:nvSpPr>
        <p:spPr>
          <a:xfrm>
            <a:off x="4005072" y="2103120"/>
            <a:ext cx="1417320" cy="868680"/>
          </a:xfrm>
          <a:prstGeom prst="roundRect">
            <a:avLst>
              <a:gd name="adj" fmla="val 8421"/>
            </a:avLst>
          </a:prstGeom>
          <a:solidFill>
            <a:srgbClr val="F4F8FB"/>
          </a:solidFill>
          <a:ln w="12700">
            <a:solidFill>
              <a:srgbClr val="D6E7EF"/>
            </a:solidFill>
            <a:prstDash val="solid"/>
          </a:ln>
        </p:spPr>
      </p:sp>
      <p:sp>
        <p:nvSpPr>
          <p:cNvPr id="17" name="Text 15"/>
          <p:cNvSpPr/>
          <p:nvPr/>
        </p:nvSpPr>
        <p:spPr>
          <a:xfrm>
            <a:off x="4096512" y="2258568"/>
            <a:ext cx="1234440" cy="228600"/>
          </a:xfrm>
          <a:prstGeom prst="rect">
            <a:avLst/>
          </a:prstGeom>
          <a:noFill/>
          <a:ln/>
        </p:spPr>
        <p:txBody>
          <a:bodyPr wrap="square" lIns="0" tIns="0" rIns="0" bIns="0" rtlCol="0" anchor="ctr">
            <a:normAutofit/>
          </a:bodyPr>
          <a:lstStyle/>
          <a:p>
            <a:pPr algn="ctr" indent="0" marL="0">
              <a:buNone/>
            </a:pPr>
            <a:r>
              <a:rPr lang="en-US" sz="1150" b="1" dirty="0">
                <a:solidFill>
                  <a:srgbClr val="172033"/>
                </a:solidFill>
                <a:latin typeface="Aptos" pitchFamily="34" charset="0"/>
                <a:ea typeface="Aptos" pitchFamily="34" charset="-122"/>
                <a:cs typeface="Aptos" pitchFamily="34" charset="-120"/>
              </a:rPr>
              <a:t>Review</a:t>
            </a:r>
            <a:endParaRPr lang="en-US" sz="1150" dirty="0"/>
          </a:p>
        </p:txBody>
      </p:sp>
      <p:sp>
        <p:nvSpPr>
          <p:cNvPr id="18" name="Text 16"/>
          <p:cNvSpPr/>
          <p:nvPr/>
        </p:nvSpPr>
        <p:spPr>
          <a:xfrm>
            <a:off x="4114800" y="2532888"/>
            <a:ext cx="1197864" cy="256032"/>
          </a:xfrm>
          <a:prstGeom prst="rect">
            <a:avLst/>
          </a:prstGeom>
          <a:noFill/>
          <a:ln/>
        </p:spPr>
        <p:txBody>
          <a:bodyPr wrap="square" lIns="0" tIns="0" rIns="0" bIns="0" rtlCol="0" anchor="ctr">
            <a:normAutofit/>
          </a:bodyPr>
          <a:lstStyle/>
          <a:p>
            <a:pPr algn="ctr" indent="0" marL="0">
              <a:buNone/>
            </a:pPr>
            <a:r>
              <a:rPr lang="en-US" sz="850" dirty="0">
                <a:solidFill>
                  <a:srgbClr val="6B7280"/>
                </a:solidFill>
                <a:latin typeface="Aptos" pitchFamily="34" charset="0"/>
                <a:ea typeface="Aptos" pitchFamily="34" charset="-122"/>
                <a:cs typeface="Aptos" pitchFamily="34" charset="-120"/>
              </a:rPr>
              <a:t>risk + access</a:t>
            </a:r>
            <a:endParaRPr lang="en-US" sz="850" dirty="0"/>
          </a:p>
        </p:txBody>
      </p:sp>
      <p:sp>
        <p:nvSpPr>
          <p:cNvPr id="19" name="Text 17"/>
          <p:cNvSpPr/>
          <p:nvPr/>
        </p:nvSpPr>
        <p:spPr>
          <a:xfrm>
            <a:off x="5468112" y="2340864"/>
            <a:ext cx="164592" cy="228600"/>
          </a:xfrm>
          <a:prstGeom prst="rect">
            <a:avLst/>
          </a:prstGeom>
          <a:noFill/>
          <a:ln/>
        </p:spPr>
        <p:txBody>
          <a:bodyPr wrap="square" lIns="0" tIns="0" rIns="0" bIns="0" rtlCol="0" anchor="ctr"/>
          <a:lstStyle/>
          <a:p>
            <a:pPr indent="0" marL="0">
              <a:buNone/>
            </a:pPr>
            <a:r>
              <a:rPr lang="en-US" sz="1600" b="1" dirty="0">
                <a:solidFill>
                  <a:srgbClr val="06A9C8"/>
                </a:solidFill>
                <a:latin typeface="Aptos" pitchFamily="34" charset="0"/>
                <a:ea typeface="Aptos" pitchFamily="34" charset="-122"/>
                <a:cs typeface="Aptos" pitchFamily="34" charset="-120"/>
              </a:rPr>
              <a:t>→</a:t>
            </a:r>
            <a:endParaRPr lang="en-US" sz="1600" dirty="0"/>
          </a:p>
        </p:txBody>
      </p:sp>
      <p:sp>
        <p:nvSpPr>
          <p:cNvPr id="20" name="Shape 18"/>
          <p:cNvSpPr/>
          <p:nvPr/>
        </p:nvSpPr>
        <p:spPr>
          <a:xfrm>
            <a:off x="5678424" y="2103120"/>
            <a:ext cx="1417320" cy="868680"/>
          </a:xfrm>
          <a:prstGeom prst="roundRect">
            <a:avLst>
              <a:gd name="adj" fmla="val 8421"/>
            </a:avLst>
          </a:prstGeom>
          <a:solidFill>
            <a:srgbClr val="F4F8FB"/>
          </a:solidFill>
          <a:ln w="12700">
            <a:solidFill>
              <a:srgbClr val="D6E7EF"/>
            </a:solidFill>
            <a:prstDash val="solid"/>
          </a:ln>
        </p:spPr>
      </p:sp>
      <p:sp>
        <p:nvSpPr>
          <p:cNvPr id="21" name="Text 19"/>
          <p:cNvSpPr/>
          <p:nvPr/>
        </p:nvSpPr>
        <p:spPr>
          <a:xfrm>
            <a:off x="5769864" y="2258568"/>
            <a:ext cx="1234440" cy="228600"/>
          </a:xfrm>
          <a:prstGeom prst="rect">
            <a:avLst/>
          </a:prstGeom>
          <a:noFill/>
          <a:ln/>
        </p:spPr>
        <p:txBody>
          <a:bodyPr wrap="square" lIns="0" tIns="0" rIns="0" bIns="0" rtlCol="0" anchor="ctr">
            <a:normAutofit/>
          </a:bodyPr>
          <a:lstStyle/>
          <a:p>
            <a:pPr algn="ctr" indent="0" marL="0">
              <a:buNone/>
            </a:pPr>
            <a:r>
              <a:rPr lang="en-US" sz="1150" b="1" dirty="0">
                <a:solidFill>
                  <a:srgbClr val="172033"/>
                </a:solidFill>
                <a:latin typeface="Aptos" pitchFamily="34" charset="0"/>
                <a:ea typeface="Aptos" pitchFamily="34" charset="-122"/>
                <a:cs typeface="Aptos" pitchFamily="34" charset="-120"/>
              </a:rPr>
              <a:t>Publish</a:t>
            </a:r>
            <a:endParaRPr lang="en-US" sz="1150" dirty="0"/>
          </a:p>
        </p:txBody>
      </p:sp>
      <p:sp>
        <p:nvSpPr>
          <p:cNvPr id="22" name="Text 20"/>
          <p:cNvSpPr/>
          <p:nvPr/>
        </p:nvSpPr>
        <p:spPr>
          <a:xfrm>
            <a:off x="5788152" y="2532888"/>
            <a:ext cx="1197864" cy="256032"/>
          </a:xfrm>
          <a:prstGeom prst="rect">
            <a:avLst/>
          </a:prstGeom>
          <a:noFill/>
          <a:ln/>
        </p:spPr>
        <p:txBody>
          <a:bodyPr wrap="square" lIns="0" tIns="0" rIns="0" bIns="0" rtlCol="0" anchor="ctr">
            <a:normAutofit/>
          </a:bodyPr>
          <a:lstStyle/>
          <a:p>
            <a:pPr algn="ctr" indent="0" marL="0">
              <a:buNone/>
            </a:pPr>
            <a:r>
              <a:rPr lang="en-US" sz="850" dirty="0">
                <a:solidFill>
                  <a:srgbClr val="6B7280"/>
                </a:solidFill>
                <a:latin typeface="Aptos" pitchFamily="34" charset="0"/>
                <a:ea typeface="Aptos" pitchFamily="34" charset="-122"/>
                <a:cs typeface="Aptos" pitchFamily="34" charset="-120"/>
              </a:rPr>
              <a:t>approved endpoint</a:t>
            </a:r>
            <a:endParaRPr lang="en-US" sz="850" dirty="0"/>
          </a:p>
        </p:txBody>
      </p:sp>
      <p:sp>
        <p:nvSpPr>
          <p:cNvPr id="23" name="Text 21"/>
          <p:cNvSpPr/>
          <p:nvPr/>
        </p:nvSpPr>
        <p:spPr>
          <a:xfrm>
            <a:off x="7141464" y="2340864"/>
            <a:ext cx="164592" cy="228600"/>
          </a:xfrm>
          <a:prstGeom prst="rect">
            <a:avLst/>
          </a:prstGeom>
          <a:noFill/>
          <a:ln/>
        </p:spPr>
        <p:txBody>
          <a:bodyPr wrap="square" lIns="0" tIns="0" rIns="0" bIns="0" rtlCol="0" anchor="ctr"/>
          <a:lstStyle/>
          <a:p>
            <a:pPr indent="0" marL="0">
              <a:buNone/>
            </a:pPr>
            <a:r>
              <a:rPr lang="en-US" sz="1600" b="1" dirty="0">
                <a:solidFill>
                  <a:srgbClr val="06A9C8"/>
                </a:solidFill>
                <a:latin typeface="Aptos" pitchFamily="34" charset="0"/>
                <a:ea typeface="Aptos" pitchFamily="34" charset="-122"/>
                <a:cs typeface="Aptos" pitchFamily="34" charset="-120"/>
              </a:rPr>
              <a:t>→</a:t>
            </a:r>
            <a:endParaRPr lang="en-US" sz="1600" dirty="0"/>
          </a:p>
        </p:txBody>
      </p:sp>
      <p:sp>
        <p:nvSpPr>
          <p:cNvPr id="24" name="Shape 22"/>
          <p:cNvSpPr/>
          <p:nvPr/>
        </p:nvSpPr>
        <p:spPr>
          <a:xfrm>
            <a:off x="7351776" y="2103120"/>
            <a:ext cx="1417320" cy="868680"/>
          </a:xfrm>
          <a:prstGeom prst="roundRect">
            <a:avLst>
              <a:gd name="adj" fmla="val 8421"/>
            </a:avLst>
          </a:prstGeom>
          <a:solidFill>
            <a:srgbClr val="F4F8FB"/>
          </a:solidFill>
          <a:ln w="12700">
            <a:solidFill>
              <a:srgbClr val="D6E7EF"/>
            </a:solidFill>
            <a:prstDash val="solid"/>
          </a:ln>
        </p:spPr>
      </p:sp>
      <p:sp>
        <p:nvSpPr>
          <p:cNvPr id="25" name="Text 23"/>
          <p:cNvSpPr/>
          <p:nvPr/>
        </p:nvSpPr>
        <p:spPr>
          <a:xfrm>
            <a:off x="7443216" y="2258568"/>
            <a:ext cx="1234440" cy="228600"/>
          </a:xfrm>
          <a:prstGeom prst="rect">
            <a:avLst/>
          </a:prstGeom>
          <a:noFill/>
          <a:ln/>
        </p:spPr>
        <p:txBody>
          <a:bodyPr wrap="square" lIns="0" tIns="0" rIns="0" bIns="0" rtlCol="0" anchor="ctr">
            <a:normAutofit/>
          </a:bodyPr>
          <a:lstStyle/>
          <a:p>
            <a:pPr algn="ctr" indent="0" marL="0">
              <a:buNone/>
            </a:pPr>
            <a:r>
              <a:rPr lang="en-US" sz="1150" b="1" dirty="0">
                <a:solidFill>
                  <a:srgbClr val="172033"/>
                </a:solidFill>
                <a:latin typeface="Aptos" pitchFamily="34" charset="0"/>
                <a:ea typeface="Aptos" pitchFamily="34" charset="-122"/>
                <a:cs typeface="Aptos" pitchFamily="34" charset="-120"/>
              </a:rPr>
              <a:t>Monitor</a:t>
            </a:r>
            <a:endParaRPr lang="en-US" sz="1150" dirty="0"/>
          </a:p>
        </p:txBody>
      </p:sp>
      <p:sp>
        <p:nvSpPr>
          <p:cNvPr id="26" name="Text 24"/>
          <p:cNvSpPr/>
          <p:nvPr/>
        </p:nvSpPr>
        <p:spPr>
          <a:xfrm>
            <a:off x="7461504" y="2532888"/>
            <a:ext cx="1197864" cy="256032"/>
          </a:xfrm>
          <a:prstGeom prst="rect">
            <a:avLst/>
          </a:prstGeom>
          <a:noFill/>
          <a:ln/>
        </p:spPr>
        <p:txBody>
          <a:bodyPr wrap="square" lIns="0" tIns="0" rIns="0" bIns="0" rtlCol="0" anchor="ctr">
            <a:normAutofit/>
          </a:bodyPr>
          <a:lstStyle/>
          <a:p>
            <a:pPr algn="ctr" indent="0" marL="0">
              <a:buNone/>
            </a:pPr>
            <a:r>
              <a:rPr lang="en-US" sz="850" dirty="0">
                <a:solidFill>
                  <a:srgbClr val="6B7280"/>
                </a:solidFill>
                <a:latin typeface="Aptos" pitchFamily="34" charset="0"/>
                <a:ea typeface="Aptos" pitchFamily="34" charset="-122"/>
                <a:cs typeface="Aptos" pitchFamily="34" charset="-120"/>
              </a:rPr>
              <a:t>signals</a:t>
            </a:r>
            <a:endParaRPr lang="en-US" sz="850" dirty="0"/>
          </a:p>
        </p:txBody>
      </p:sp>
      <p:sp>
        <p:nvSpPr>
          <p:cNvPr id="27" name="Text 25"/>
          <p:cNvSpPr/>
          <p:nvPr/>
        </p:nvSpPr>
        <p:spPr>
          <a:xfrm>
            <a:off x="8814816" y="2340864"/>
            <a:ext cx="164592" cy="228600"/>
          </a:xfrm>
          <a:prstGeom prst="rect">
            <a:avLst/>
          </a:prstGeom>
          <a:noFill/>
          <a:ln/>
        </p:spPr>
        <p:txBody>
          <a:bodyPr wrap="square" lIns="0" tIns="0" rIns="0" bIns="0" rtlCol="0" anchor="ctr"/>
          <a:lstStyle/>
          <a:p>
            <a:pPr indent="0" marL="0">
              <a:buNone/>
            </a:pPr>
            <a:r>
              <a:rPr lang="en-US" sz="1600" b="1" dirty="0">
                <a:solidFill>
                  <a:srgbClr val="06A9C8"/>
                </a:solidFill>
                <a:latin typeface="Aptos" pitchFamily="34" charset="0"/>
                <a:ea typeface="Aptos" pitchFamily="34" charset="-122"/>
                <a:cs typeface="Aptos" pitchFamily="34" charset="-120"/>
              </a:rPr>
              <a:t>→</a:t>
            </a:r>
            <a:endParaRPr lang="en-US" sz="1600" dirty="0"/>
          </a:p>
        </p:txBody>
      </p:sp>
      <p:sp>
        <p:nvSpPr>
          <p:cNvPr id="28" name="Shape 26"/>
          <p:cNvSpPr/>
          <p:nvPr/>
        </p:nvSpPr>
        <p:spPr>
          <a:xfrm>
            <a:off x="9025128" y="2103120"/>
            <a:ext cx="1417320" cy="868680"/>
          </a:xfrm>
          <a:prstGeom prst="roundRect">
            <a:avLst>
              <a:gd name="adj" fmla="val 8421"/>
            </a:avLst>
          </a:prstGeom>
          <a:solidFill>
            <a:srgbClr val="F4F8FB"/>
          </a:solidFill>
          <a:ln w="12700">
            <a:solidFill>
              <a:srgbClr val="D6E7EF"/>
            </a:solidFill>
            <a:prstDash val="solid"/>
          </a:ln>
        </p:spPr>
      </p:sp>
      <p:sp>
        <p:nvSpPr>
          <p:cNvPr id="29" name="Text 27"/>
          <p:cNvSpPr/>
          <p:nvPr/>
        </p:nvSpPr>
        <p:spPr>
          <a:xfrm>
            <a:off x="9116568" y="2258568"/>
            <a:ext cx="1234440" cy="228600"/>
          </a:xfrm>
          <a:prstGeom prst="rect">
            <a:avLst/>
          </a:prstGeom>
          <a:noFill/>
          <a:ln/>
        </p:spPr>
        <p:txBody>
          <a:bodyPr wrap="square" lIns="0" tIns="0" rIns="0" bIns="0" rtlCol="0" anchor="ctr">
            <a:normAutofit/>
          </a:bodyPr>
          <a:lstStyle/>
          <a:p>
            <a:pPr algn="ctr" indent="0" marL="0">
              <a:buNone/>
            </a:pPr>
            <a:r>
              <a:rPr lang="en-US" sz="1150" b="1" dirty="0">
                <a:solidFill>
                  <a:srgbClr val="172033"/>
                </a:solidFill>
                <a:latin typeface="Aptos" pitchFamily="34" charset="0"/>
                <a:ea typeface="Aptos" pitchFamily="34" charset="-122"/>
                <a:cs typeface="Aptos" pitchFamily="34" charset="-120"/>
              </a:rPr>
              <a:t>Rollback</a:t>
            </a:r>
            <a:endParaRPr lang="en-US" sz="1150" dirty="0"/>
          </a:p>
        </p:txBody>
      </p:sp>
      <p:sp>
        <p:nvSpPr>
          <p:cNvPr id="30" name="Text 28"/>
          <p:cNvSpPr/>
          <p:nvPr/>
        </p:nvSpPr>
        <p:spPr>
          <a:xfrm>
            <a:off x="9134856" y="2532888"/>
            <a:ext cx="1197864" cy="256032"/>
          </a:xfrm>
          <a:prstGeom prst="rect">
            <a:avLst/>
          </a:prstGeom>
          <a:noFill/>
          <a:ln/>
        </p:spPr>
        <p:txBody>
          <a:bodyPr wrap="square" lIns="0" tIns="0" rIns="0" bIns="0" rtlCol="0" anchor="ctr">
            <a:normAutofit/>
          </a:bodyPr>
          <a:lstStyle/>
          <a:p>
            <a:pPr algn="ctr" indent="0" marL="0">
              <a:buNone/>
            </a:pPr>
            <a:r>
              <a:rPr lang="en-US" sz="850" dirty="0">
                <a:solidFill>
                  <a:srgbClr val="6B7280"/>
                </a:solidFill>
                <a:latin typeface="Aptos" pitchFamily="34" charset="0"/>
                <a:ea typeface="Aptos" pitchFamily="34" charset="-122"/>
                <a:cs typeface="Aptos" pitchFamily="34" charset="-120"/>
              </a:rPr>
              <a:t>criteria</a:t>
            </a:r>
            <a:endParaRPr lang="en-US" sz="850" dirty="0"/>
          </a:p>
        </p:txBody>
      </p:sp>
      <p:sp>
        <p:nvSpPr>
          <p:cNvPr id="31" name="Shape 29"/>
          <p:cNvSpPr/>
          <p:nvPr/>
        </p:nvSpPr>
        <p:spPr>
          <a:xfrm>
            <a:off x="9144000" y="3886200"/>
            <a:ext cx="2331720" cy="1051560"/>
          </a:xfrm>
          <a:prstGeom prst="rect">
            <a:avLst/>
          </a:prstGeom>
          <a:solidFill>
            <a:srgbClr val="F4F8FB"/>
          </a:solidFill>
          <a:ln w="12700">
            <a:solidFill>
              <a:srgbClr val="E7EEF4"/>
            </a:solidFill>
            <a:prstDash val="solid"/>
          </a:ln>
        </p:spPr>
      </p:sp>
      <p:sp>
        <p:nvSpPr>
          <p:cNvPr id="32" name="Shape 30"/>
          <p:cNvSpPr/>
          <p:nvPr/>
        </p:nvSpPr>
        <p:spPr>
          <a:xfrm>
            <a:off x="9299448" y="4041648"/>
            <a:ext cx="219456" cy="219456"/>
          </a:xfrm>
          <a:prstGeom prst="ellipse">
            <a:avLst/>
          </a:prstGeom>
          <a:solidFill>
            <a:srgbClr val="06A9C8"/>
          </a:solidFill>
          <a:ln w="12700">
            <a:solidFill>
              <a:srgbClr val="06A9C8"/>
            </a:solidFill>
            <a:prstDash val="solid"/>
          </a:ln>
        </p:spPr>
      </p:sp>
      <p:sp>
        <p:nvSpPr>
          <p:cNvPr id="33" name="Text 31"/>
          <p:cNvSpPr/>
          <p:nvPr/>
        </p:nvSpPr>
        <p:spPr>
          <a:xfrm>
            <a:off x="9354312" y="405993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34" name="Text 32"/>
          <p:cNvSpPr/>
          <p:nvPr/>
        </p:nvSpPr>
        <p:spPr>
          <a:xfrm>
            <a:off x="9582912" y="401421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Lifecycle rule</a:t>
            </a:r>
            <a:endParaRPr lang="en-US" sz="1080" dirty="0"/>
          </a:p>
        </p:txBody>
      </p:sp>
      <p:sp>
        <p:nvSpPr>
          <p:cNvPr id="35" name="Text 33"/>
          <p:cNvSpPr/>
          <p:nvPr/>
        </p:nvSpPr>
        <p:spPr>
          <a:xfrm>
            <a:off x="9354312" y="4343400"/>
            <a:ext cx="1920240" cy="484632"/>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An agent change is a production change when users depend on the outcome.</a:t>
            </a:r>
            <a:endParaRPr lang="en-US" sz="96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8 · Lecture 43</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Evaluate AI Agents with Datasets, Metrics, and Quality Gates</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Evaluation converts vague quality concerns into reviewable evidence.</a:t>
            </a:r>
            <a:endParaRPr lang="en-US" sz="1500" dirty="0"/>
          </a:p>
        </p:txBody>
      </p:sp>
      <p:sp>
        <p:nvSpPr>
          <p:cNvPr id="8" name="Text 6"/>
          <p:cNvSpPr/>
          <p:nvPr/>
        </p:nvSpPr>
        <p:spPr>
          <a:xfrm>
            <a:off x="658368" y="1965960"/>
            <a:ext cx="8001000" cy="3429000"/>
          </a:xfrm>
          <a:prstGeom prst="rect">
            <a:avLst/>
          </a:prstGeom>
          <a:noFill/>
          <a:ln/>
        </p:spPr>
        <p:txBody>
          <a:bodyPr wrap="square" lIns="254" tIns="254" rIns="254" bIns="254" rtlCol="0" anchor="ctr">
            <a:normAutofit/>
          </a:bodyPr>
          <a:lstStyle/>
          <a:p>
            <a:pPr indent="0" marL="0">
              <a:buNone/>
            </a:pPr>
            <a:r>
              <a:rPr lang="en-US" sz="1850" dirty="0">
                <a:solidFill>
                  <a:srgbClr val="303846"/>
                </a:solidFill>
                <a:latin typeface="Aptos" pitchFamily="34" charset="0"/>
                <a:ea typeface="Aptos" pitchFamily="34" charset="-122"/>
                <a:cs typeface="Aptos" pitchFamily="34" charset="-120"/>
              </a:rPr>
              <a:t>▸ Use representative test cases, not only happy-path prompts.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Measure groundedness, relevance, task completion, and safety.</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Track tool-call success and misuse risk.</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Include latency and cost where they affect business viability.</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Define thresholds before promoting the agent version.</a:t>
            </a:r>
            <a:endParaRPr lang="en-US" sz="1850" dirty="0"/>
          </a:p>
        </p:txBody>
      </p:sp>
      <p:sp>
        <p:nvSpPr>
          <p:cNvPr id="9" name="Shape 7"/>
          <p:cNvSpPr/>
          <p:nvPr/>
        </p:nvSpPr>
        <p:spPr>
          <a:xfrm>
            <a:off x="9144000" y="1965960"/>
            <a:ext cx="2331720" cy="1243584"/>
          </a:xfrm>
          <a:prstGeom prst="rect">
            <a:avLst/>
          </a:prstGeom>
          <a:solidFill>
            <a:srgbClr val="F4F8FB"/>
          </a:solidFill>
          <a:ln w="12700">
            <a:solidFill>
              <a:srgbClr val="E7EEF4"/>
            </a:solidFill>
            <a:prstDash val="solid"/>
          </a:ln>
        </p:spPr>
      </p:sp>
      <p:sp>
        <p:nvSpPr>
          <p:cNvPr id="10" name="Shape 8"/>
          <p:cNvSpPr/>
          <p:nvPr/>
        </p:nvSpPr>
        <p:spPr>
          <a:xfrm>
            <a:off x="9299448" y="2121408"/>
            <a:ext cx="219456" cy="219456"/>
          </a:xfrm>
          <a:prstGeom prst="ellipse">
            <a:avLst/>
          </a:prstGeom>
          <a:solidFill>
            <a:srgbClr val="06A9C8"/>
          </a:solidFill>
          <a:ln w="12700">
            <a:solidFill>
              <a:srgbClr val="06A9C8"/>
            </a:solidFill>
            <a:prstDash val="solid"/>
          </a:ln>
        </p:spPr>
      </p:sp>
      <p:sp>
        <p:nvSpPr>
          <p:cNvPr id="11" name="Text 9"/>
          <p:cNvSpPr/>
          <p:nvPr/>
        </p:nvSpPr>
        <p:spPr>
          <a:xfrm>
            <a:off x="9354312" y="213969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82912" y="209397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Outcome</a:t>
            </a:r>
            <a:endParaRPr lang="en-US" sz="1080" dirty="0"/>
          </a:p>
        </p:txBody>
      </p:sp>
      <p:sp>
        <p:nvSpPr>
          <p:cNvPr id="13" name="Text 11"/>
          <p:cNvSpPr/>
          <p:nvPr/>
        </p:nvSpPr>
        <p:spPr>
          <a:xfrm>
            <a:off x="9354312" y="2423160"/>
            <a:ext cx="1920240" cy="676656"/>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You can describe what an evaluation dataset should prove.</a:t>
            </a:r>
            <a:endParaRPr lang="en-US" sz="96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8 · Lecture 43</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Evaluation Dataset Design</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A good dataset reflects the real work users expect from the agent.</a:t>
            </a:r>
            <a:endParaRPr lang="en-US" sz="1500" dirty="0"/>
          </a:p>
        </p:txBody>
      </p:sp>
      <p:sp>
        <p:nvSpPr>
          <p:cNvPr id="8" name="Text 6"/>
          <p:cNvSpPr/>
          <p:nvPr/>
        </p:nvSpPr>
        <p:spPr>
          <a:xfrm>
            <a:off x="658368" y="1965960"/>
            <a:ext cx="8001000" cy="3429000"/>
          </a:xfrm>
          <a:prstGeom prst="rect">
            <a:avLst/>
          </a:prstGeom>
          <a:noFill/>
          <a:ln/>
        </p:spPr>
        <p:txBody>
          <a:bodyPr wrap="square" lIns="254" tIns="254" rIns="254" bIns="254" rtlCol="0" anchor="ctr">
            <a:normAutofit/>
          </a:bodyPr>
          <a:lstStyle/>
          <a:p>
            <a:pPr indent="0" marL="0">
              <a:buNone/>
            </a:pPr>
            <a:r>
              <a:rPr lang="en-US" sz="1850" dirty="0">
                <a:solidFill>
                  <a:srgbClr val="303846"/>
                </a:solidFill>
                <a:latin typeface="Aptos" pitchFamily="34" charset="0"/>
                <a:ea typeface="Aptos" pitchFamily="34" charset="-122"/>
                <a:cs typeface="Aptos" pitchFamily="34" charset="-120"/>
              </a:rPr>
              <a:t>▸ Include common questions users will ask every day.</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Include edge cases and ambiguous requests.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Include prohibited requests that should be refused or escalated.</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Include knowledge-grounded questions with expected citations.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Include tool-use scenarios with expected actions and limits.</a:t>
            </a:r>
            <a:endParaRPr lang="en-US" sz="1850" dirty="0"/>
          </a:p>
        </p:txBody>
      </p:sp>
      <p:sp>
        <p:nvSpPr>
          <p:cNvPr id="9" name="Shape 7"/>
          <p:cNvSpPr/>
          <p:nvPr/>
        </p:nvSpPr>
        <p:spPr>
          <a:xfrm>
            <a:off x="9144000" y="1965960"/>
            <a:ext cx="2331720" cy="1243584"/>
          </a:xfrm>
          <a:prstGeom prst="rect">
            <a:avLst/>
          </a:prstGeom>
          <a:solidFill>
            <a:srgbClr val="F4F8FB"/>
          </a:solidFill>
          <a:ln w="12700">
            <a:solidFill>
              <a:srgbClr val="E7EEF4"/>
            </a:solidFill>
            <a:prstDash val="solid"/>
          </a:ln>
        </p:spPr>
      </p:sp>
      <p:sp>
        <p:nvSpPr>
          <p:cNvPr id="10" name="Shape 8"/>
          <p:cNvSpPr/>
          <p:nvPr/>
        </p:nvSpPr>
        <p:spPr>
          <a:xfrm>
            <a:off x="9299448" y="2121408"/>
            <a:ext cx="219456" cy="219456"/>
          </a:xfrm>
          <a:prstGeom prst="ellipse">
            <a:avLst/>
          </a:prstGeom>
          <a:solidFill>
            <a:srgbClr val="06A9C8"/>
          </a:solidFill>
          <a:ln w="12700">
            <a:solidFill>
              <a:srgbClr val="06A9C8"/>
            </a:solidFill>
            <a:prstDash val="solid"/>
          </a:ln>
        </p:spPr>
      </p:sp>
      <p:sp>
        <p:nvSpPr>
          <p:cNvPr id="11" name="Text 9"/>
          <p:cNvSpPr/>
          <p:nvPr/>
        </p:nvSpPr>
        <p:spPr>
          <a:xfrm>
            <a:off x="9354312" y="213969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82912" y="209397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Quality gate</a:t>
            </a:r>
            <a:endParaRPr lang="en-US" sz="1080" dirty="0"/>
          </a:p>
        </p:txBody>
      </p:sp>
      <p:sp>
        <p:nvSpPr>
          <p:cNvPr id="13" name="Text 11"/>
          <p:cNvSpPr/>
          <p:nvPr/>
        </p:nvSpPr>
        <p:spPr>
          <a:xfrm>
            <a:off x="9354312" y="2423160"/>
            <a:ext cx="1920240" cy="676656"/>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Evaluation is meaningful only when failure has a consequence.</a:t>
            </a:r>
            <a:endParaRPr lang="en-US" sz="96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8 · Lecture 44</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Monitor Agent Quality, Performance, and Cost</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Monitoring shows how the agent behaves after users begin relying on it.</a:t>
            </a:r>
            <a:endParaRPr lang="en-US" sz="1500" dirty="0"/>
          </a:p>
        </p:txBody>
      </p:sp>
      <p:sp>
        <p:nvSpPr>
          <p:cNvPr id="8" name="Text 6"/>
          <p:cNvSpPr/>
          <p:nvPr/>
        </p:nvSpPr>
        <p:spPr>
          <a:xfrm>
            <a:off x="658368" y="1965960"/>
            <a:ext cx="8001000" cy="3429000"/>
          </a:xfrm>
          <a:prstGeom prst="rect">
            <a:avLst/>
          </a:prstGeom>
          <a:noFill/>
          <a:ln/>
        </p:spPr>
        <p:txBody>
          <a:bodyPr wrap="square" lIns="254" tIns="254" rIns="254" bIns="254" rtlCol="0" anchor="ctr">
            <a:normAutofit/>
          </a:bodyPr>
          <a:lstStyle/>
          <a:p>
            <a:pPr indent="0" marL="0">
              <a:buNone/>
            </a:pPr>
            <a:r>
              <a:rPr lang="en-US" sz="1850" dirty="0">
                <a:solidFill>
                  <a:srgbClr val="303846"/>
                </a:solidFill>
                <a:latin typeface="Aptos" pitchFamily="34" charset="0"/>
                <a:ea typeface="Aptos" pitchFamily="34" charset="-122"/>
                <a:cs typeface="Aptos" pitchFamily="34" charset="-120"/>
              </a:rPr>
              <a:t>▸ Track token usage, latency, failures, and success rates.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Review evaluation trends and production-quality signals.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Inspect tool activity and unexpected tool-call patterns.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Use telemetry to diagnose quality and cost changes.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Escalate incidents when behavior crosses defined thresholds.</a:t>
            </a:r>
            <a:endParaRPr lang="en-US" sz="1850" dirty="0"/>
          </a:p>
        </p:txBody>
      </p:sp>
      <p:sp>
        <p:nvSpPr>
          <p:cNvPr id="9" name="Shape 7"/>
          <p:cNvSpPr/>
          <p:nvPr/>
        </p:nvSpPr>
        <p:spPr>
          <a:xfrm>
            <a:off x="9144000" y="1965960"/>
            <a:ext cx="2331720" cy="1243584"/>
          </a:xfrm>
          <a:prstGeom prst="rect">
            <a:avLst/>
          </a:prstGeom>
          <a:solidFill>
            <a:srgbClr val="F4F8FB"/>
          </a:solidFill>
          <a:ln w="12700">
            <a:solidFill>
              <a:srgbClr val="E7EEF4"/>
            </a:solidFill>
            <a:prstDash val="solid"/>
          </a:ln>
        </p:spPr>
      </p:sp>
      <p:sp>
        <p:nvSpPr>
          <p:cNvPr id="10" name="Shape 8"/>
          <p:cNvSpPr/>
          <p:nvPr/>
        </p:nvSpPr>
        <p:spPr>
          <a:xfrm>
            <a:off x="9299448" y="2121408"/>
            <a:ext cx="219456" cy="219456"/>
          </a:xfrm>
          <a:prstGeom prst="ellipse">
            <a:avLst/>
          </a:prstGeom>
          <a:solidFill>
            <a:srgbClr val="06A9C8"/>
          </a:solidFill>
          <a:ln w="12700">
            <a:solidFill>
              <a:srgbClr val="06A9C8"/>
            </a:solidFill>
            <a:prstDash val="solid"/>
          </a:ln>
        </p:spPr>
      </p:sp>
      <p:sp>
        <p:nvSpPr>
          <p:cNvPr id="11" name="Text 9"/>
          <p:cNvSpPr/>
          <p:nvPr/>
        </p:nvSpPr>
        <p:spPr>
          <a:xfrm>
            <a:off x="9354312" y="213969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82912" y="209397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Demonstration</a:t>
            </a:r>
            <a:endParaRPr lang="en-US" sz="1080" dirty="0"/>
          </a:p>
        </p:txBody>
      </p:sp>
      <p:sp>
        <p:nvSpPr>
          <p:cNvPr id="13" name="Text 11"/>
          <p:cNvSpPr/>
          <p:nvPr/>
        </p:nvSpPr>
        <p:spPr>
          <a:xfrm>
            <a:off x="9354312" y="2423160"/>
            <a:ext cx="1920240" cy="676656"/>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Walk through Foundry monitoring concepts and the Agent Monitoring Dashboard.</a:t>
            </a:r>
            <a:endParaRPr lang="en-US" sz="96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8 · Lecture 44</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Operational Signals to Watch</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Monitoring should connect signals to decisions.</a:t>
            </a:r>
            <a:endParaRPr lang="en-US" sz="1500" dirty="0"/>
          </a:p>
        </p:txBody>
      </p:sp>
      <p:sp>
        <p:nvSpPr>
          <p:cNvPr id="8" name="Text 6"/>
          <p:cNvSpPr/>
          <p:nvPr/>
        </p:nvSpPr>
        <p:spPr>
          <a:xfrm>
            <a:off x="658368" y="1965960"/>
            <a:ext cx="8001000" cy="3429000"/>
          </a:xfrm>
          <a:prstGeom prst="rect">
            <a:avLst/>
          </a:prstGeom>
          <a:noFill/>
          <a:ln/>
        </p:spPr>
        <p:txBody>
          <a:bodyPr wrap="square" lIns="254" tIns="254" rIns="254" bIns="254" rtlCol="0" anchor="ctr">
            <a:normAutofit/>
          </a:bodyPr>
          <a:lstStyle/>
          <a:p>
            <a:pPr indent="0" marL="0">
              <a:buNone/>
            </a:pPr>
            <a:r>
              <a:rPr lang="en-US" sz="1850" dirty="0">
                <a:solidFill>
                  <a:srgbClr val="303846"/>
                </a:solidFill>
                <a:latin typeface="Aptos" pitchFamily="34" charset="0"/>
                <a:ea typeface="Aptos" pitchFamily="34" charset="-122"/>
                <a:cs typeface="Aptos" pitchFamily="34" charset="-120"/>
              </a:rPr>
              <a:t>▸ Token spikes may signal prompt bloat, tool loops, or abuse.</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Latency increases may signal retrieval, tool, or model throughput issues.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Failure rates may signal configuration or dependency problems.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Evaluation drift may signal instruction, knowledge, or model regression.</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Tool anomalies may signal misuse or unintended capability exposure.</a:t>
            </a:r>
            <a:endParaRPr lang="en-US" sz="1850" dirty="0"/>
          </a:p>
        </p:txBody>
      </p:sp>
      <p:sp>
        <p:nvSpPr>
          <p:cNvPr id="9" name="Shape 7"/>
          <p:cNvSpPr/>
          <p:nvPr/>
        </p:nvSpPr>
        <p:spPr>
          <a:xfrm>
            <a:off x="9144000" y="1965960"/>
            <a:ext cx="2331720" cy="1243584"/>
          </a:xfrm>
          <a:prstGeom prst="rect">
            <a:avLst/>
          </a:prstGeom>
          <a:solidFill>
            <a:srgbClr val="F4F8FB"/>
          </a:solidFill>
          <a:ln w="12700">
            <a:solidFill>
              <a:srgbClr val="E7EEF4"/>
            </a:solidFill>
            <a:prstDash val="solid"/>
          </a:ln>
        </p:spPr>
      </p:sp>
      <p:sp>
        <p:nvSpPr>
          <p:cNvPr id="10" name="Shape 8"/>
          <p:cNvSpPr/>
          <p:nvPr/>
        </p:nvSpPr>
        <p:spPr>
          <a:xfrm>
            <a:off x="9299448" y="2121408"/>
            <a:ext cx="219456" cy="219456"/>
          </a:xfrm>
          <a:prstGeom prst="ellipse">
            <a:avLst/>
          </a:prstGeom>
          <a:solidFill>
            <a:srgbClr val="06A9C8"/>
          </a:solidFill>
          <a:ln w="12700">
            <a:solidFill>
              <a:srgbClr val="06A9C8"/>
            </a:solidFill>
            <a:prstDash val="solid"/>
          </a:ln>
        </p:spPr>
      </p:sp>
      <p:sp>
        <p:nvSpPr>
          <p:cNvPr id="11" name="Text 9"/>
          <p:cNvSpPr/>
          <p:nvPr/>
        </p:nvSpPr>
        <p:spPr>
          <a:xfrm>
            <a:off x="9354312" y="213969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82912" y="209397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Operations habit</a:t>
            </a:r>
            <a:endParaRPr lang="en-US" sz="1080" dirty="0"/>
          </a:p>
        </p:txBody>
      </p:sp>
      <p:sp>
        <p:nvSpPr>
          <p:cNvPr id="13" name="Text 11"/>
          <p:cNvSpPr/>
          <p:nvPr/>
        </p:nvSpPr>
        <p:spPr>
          <a:xfrm>
            <a:off x="9354312" y="2423160"/>
            <a:ext cx="1920240" cy="676656"/>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A dashboard is useful only when teams know what action each signal triggers.</a:t>
            </a:r>
            <a:endParaRPr lang="en-US" sz="96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8 · Lecture 45</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AI Red Teaming, Safety Testing, and Incident Response</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Safety testing looks for harmful behavior before real users find it.</a:t>
            </a:r>
            <a:endParaRPr lang="en-US" sz="1500" dirty="0"/>
          </a:p>
        </p:txBody>
      </p:sp>
      <p:sp>
        <p:nvSpPr>
          <p:cNvPr id="8" name="Text 6"/>
          <p:cNvSpPr/>
          <p:nvPr/>
        </p:nvSpPr>
        <p:spPr>
          <a:xfrm>
            <a:off x="658368" y="1965960"/>
            <a:ext cx="8001000" cy="3429000"/>
          </a:xfrm>
          <a:prstGeom prst="rect">
            <a:avLst/>
          </a:prstGeom>
          <a:noFill/>
          <a:ln/>
        </p:spPr>
        <p:txBody>
          <a:bodyPr wrap="square" lIns="254" tIns="254" rIns="254" bIns="254" rtlCol="0" anchor="ctr">
            <a:normAutofit/>
          </a:bodyPr>
          <a:lstStyle/>
          <a:p>
            <a:pPr indent="0" marL="0">
              <a:buNone/>
            </a:pPr>
            <a:r>
              <a:rPr lang="en-US" sz="1850" dirty="0">
                <a:solidFill>
                  <a:srgbClr val="303846"/>
                </a:solidFill>
                <a:latin typeface="Aptos" pitchFamily="34" charset="0"/>
                <a:ea typeface="Aptos" pitchFamily="34" charset="-122"/>
                <a:cs typeface="Aptos" pitchFamily="34" charset="-120"/>
              </a:rPr>
              <a:t>▸ Test prompt injection, data leakage, and unsafe completion behavior.</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Test excessive agency and tool misuse.</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Test denial-of-service style inputs and runaway behavior.</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Define escalation and shutdown procedures before production release.</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Use human review for high-impact safety findings.</a:t>
            </a:r>
            <a:endParaRPr lang="en-US" sz="1850" dirty="0"/>
          </a:p>
        </p:txBody>
      </p:sp>
      <p:sp>
        <p:nvSpPr>
          <p:cNvPr id="9" name="Shape 7"/>
          <p:cNvSpPr/>
          <p:nvPr/>
        </p:nvSpPr>
        <p:spPr>
          <a:xfrm>
            <a:off x="9144000" y="1965960"/>
            <a:ext cx="2331720" cy="1243584"/>
          </a:xfrm>
          <a:prstGeom prst="rect">
            <a:avLst/>
          </a:prstGeom>
          <a:solidFill>
            <a:srgbClr val="F4F8FB"/>
          </a:solidFill>
          <a:ln w="12700">
            <a:solidFill>
              <a:srgbClr val="E7EEF4"/>
            </a:solidFill>
            <a:prstDash val="solid"/>
          </a:ln>
        </p:spPr>
      </p:sp>
      <p:sp>
        <p:nvSpPr>
          <p:cNvPr id="10" name="Shape 8"/>
          <p:cNvSpPr/>
          <p:nvPr/>
        </p:nvSpPr>
        <p:spPr>
          <a:xfrm>
            <a:off x="9299448" y="2121408"/>
            <a:ext cx="219456" cy="219456"/>
          </a:xfrm>
          <a:prstGeom prst="ellipse">
            <a:avLst/>
          </a:prstGeom>
          <a:solidFill>
            <a:srgbClr val="06A9C8"/>
          </a:solidFill>
          <a:ln w="12700">
            <a:solidFill>
              <a:srgbClr val="06A9C8"/>
            </a:solidFill>
            <a:prstDash val="solid"/>
          </a:ln>
        </p:spPr>
      </p:sp>
      <p:sp>
        <p:nvSpPr>
          <p:cNvPr id="11" name="Text 9"/>
          <p:cNvSpPr/>
          <p:nvPr/>
        </p:nvSpPr>
        <p:spPr>
          <a:xfrm>
            <a:off x="9354312" y="213969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82912" y="209397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Outcome</a:t>
            </a:r>
            <a:endParaRPr lang="en-US" sz="1080" dirty="0"/>
          </a:p>
        </p:txBody>
      </p:sp>
      <p:sp>
        <p:nvSpPr>
          <p:cNvPr id="13" name="Text 11"/>
          <p:cNvSpPr/>
          <p:nvPr/>
        </p:nvSpPr>
        <p:spPr>
          <a:xfrm>
            <a:off x="9354312" y="2423160"/>
            <a:ext cx="1920240" cy="676656"/>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You can explain how safety testing fits into the agent release lifecycle.</a:t>
            </a:r>
            <a:endParaRPr lang="en-US" sz="96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8 · Lecture 45</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Incident Response for Agents</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An AI incident response plan must handle quality, safety, security, and cost.</a:t>
            </a:r>
            <a:endParaRPr lang="en-US" sz="1500" dirty="0"/>
          </a:p>
        </p:txBody>
      </p:sp>
      <p:sp>
        <p:nvSpPr>
          <p:cNvPr id="8" name="Text 6"/>
          <p:cNvSpPr/>
          <p:nvPr/>
        </p:nvSpPr>
        <p:spPr>
          <a:xfrm>
            <a:off x="658368" y="1965960"/>
            <a:ext cx="8001000" cy="3429000"/>
          </a:xfrm>
          <a:prstGeom prst="rect">
            <a:avLst/>
          </a:prstGeom>
          <a:noFill/>
          <a:ln/>
        </p:spPr>
        <p:txBody>
          <a:bodyPr wrap="square" lIns="254" tIns="254" rIns="254" bIns="254" rtlCol="0" anchor="ctr">
            <a:normAutofit/>
          </a:bodyPr>
          <a:lstStyle/>
          <a:p>
            <a:pPr indent="0" marL="0">
              <a:buNone/>
            </a:pPr>
            <a:r>
              <a:rPr lang="en-US" sz="1850" dirty="0">
                <a:solidFill>
                  <a:srgbClr val="303846"/>
                </a:solidFill>
                <a:latin typeface="Aptos" pitchFamily="34" charset="0"/>
                <a:ea typeface="Aptos" pitchFamily="34" charset="-122"/>
                <a:cs typeface="Aptos" pitchFamily="34" charset="-120"/>
              </a:rPr>
              <a:t>▸ Identify the affected agent, version, model, knowledge base, or tool.</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Preserve logs, traces, prompts, citations, and tool-call evidence.</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Disable or roll back unsafe versions when needed.</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Update evaluations so the issue does not return silently.</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Communicate user impact and remediation clearly.</a:t>
            </a:r>
            <a:endParaRPr lang="en-US" sz="1850" dirty="0"/>
          </a:p>
        </p:txBody>
      </p:sp>
      <p:sp>
        <p:nvSpPr>
          <p:cNvPr id="9" name="Shape 7"/>
          <p:cNvSpPr/>
          <p:nvPr/>
        </p:nvSpPr>
        <p:spPr>
          <a:xfrm>
            <a:off x="9144000" y="1965960"/>
            <a:ext cx="2331720" cy="1243584"/>
          </a:xfrm>
          <a:prstGeom prst="rect">
            <a:avLst/>
          </a:prstGeom>
          <a:solidFill>
            <a:srgbClr val="F4F8FB"/>
          </a:solidFill>
          <a:ln w="12700">
            <a:solidFill>
              <a:srgbClr val="E7EEF4"/>
            </a:solidFill>
            <a:prstDash val="solid"/>
          </a:ln>
        </p:spPr>
      </p:sp>
      <p:sp>
        <p:nvSpPr>
          <p:cNvPr id="10" name="Shape 8"/>
          <p:cNvSpPr/>
          <p:nvPr/>
        </p:nvSpPr>
        <p:spPr>
          <a:xfrm>
            <a:off x="9299448" y="2121408"/>
            <a:ext cx="219456" cy="219456"/>
          </a:xfrm>
          <a:prstGeom prst="ellipse">
            <a:avLst/>
          </a:prstGeom>
          <a:solidFill>
            <a:srgbClr val="06A9C8"/>
          </a:solidFill>
          <a:ln w="12700">
            <a:solidFill>
              <a:srgbClr val="06A9C8"/>
            </a:solidFill>
            <a:prstDash val="solid"/>
          </a:ln>
        </p:spPr>
      </p:sp>
      <p:sp>
        <p:nvSpPr>
          <p:cNvPr id="11" name="Text 9"/>
          <p:cNvSpPr/>
          <p:nvPr/>
        </p:nvSpPr>
        <p:spPr>
          <a:xfrm>
            <a:off x="9354312" y="213969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82912" y="209397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Incident rule</a:t>
            </a:r>
            <a:endParaRPr lang="en-US" sz="1080" dirty="0"/>
          </a:p>
        </p:txBody>
      </p:sp>
      <p:sp>
        <p:nvSpPr>
          <p:cNvPr id="13" name="Text 11"/>
          <p:cNvSpPr/>
          <p:nvPr/>
        </p:nvSpPr>
        <p:spPr>
          <a:xfrm>
            <a:off x="9354312" y="2423160"/>
            <a:ext cx="1920240" cy="676656"/>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Treat agent failures as operational events, not just bad answers.</a:t>
            </a:r>
            <a:endParaRPr lang="en-US" sz="96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8 · Lecture 46</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Lab: Evaluate and Monitor an Enterprise Agent</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This lab uses supplied data to test and inspect agent behavior.</a:t>
            </a:r>
            <a:endParaRPr lang="en-US" sz="1500" dirty="0"/>
          </a:p>
        </p:txBody>
      </p:sp>
      <p:sp>
        <p:nvSpPr>
          <p:cNvPr id="8" name="Text 6"/>
          <p:cNvSpPr/>
          <p:nvPr/>
        </p:nvSpPr>
        <p:spPr>
          <a:xfrm>
            <a:off x="658368" y="1874520"/>
            <a:ext cx="8138160" cy="3291840"/>
          </a:xfrm>
          <a:prstGeom prst="rect">
            <a:avLst/>
          </a:prstGeom>
          <a:noFill/>
          <a:ln/>
        </p:spPr>
        <p:txBody>
          <a:bodyPr wrap="square" lIns="254" tIns="254" rIns="254" bIns="254" rtlCol="0" anchor="ctr">
            <a:normAutofit/>
          </a:bodyPr>
          <a:lstStyle/>
          <a:p>
            <a:pPr indent="0" marL="0">
              <a:buNone/>
            </a:pPr>
            <a:r>
              <a:rPr lang="en-US" sz="1800" dirty="0">
                <a:solidFill>
                  <a:srgbClr val="303846"/>
                </a:solidFill>
                <a:latin typeface="Aptos" pitchFamily="34" charset="0"/>
                <a:ea typeface="Aptos" pitchFamily="34" charset="-122"/>
                <a:cs typeface="Aptos" pitchFamily="34" charset="-120"/>
              </a:rPr>
              <a:t>▸ Run the supplied evaluation dataset.</a:t>
            </a:r>
            <a:endParaRPr lang="en-US" sz="1800" dirty="0"/>
          </a:p>
          <a:p>
            <a:pPr indent="0" marL="0">
              <a:buNone/>
            </a:pPr>
            <a:r>
              <a:rPr lang="en-US" sz="1800" dirty="0">
                <a:solidFill>
                  <a:srgbClr val="303846"/>
                </a:solidFill>
                <a:latin typeface="Aptos" pitchFamily="34" charset="0"/>
                <a:ea typeface="Aptos" pitchFamily="34" charset="-122"/>
                <a:cs typeface="Aptos" pitchFamily="34" charset="-120"/>
              </a:rPr>
              <a:t>▸ Review groundedness, relevance, task completion, and safety results.</a:t>
            </a:r>
            <a:endParaRPr lang="en-US" sz="1800" dirty="0"/>
          </a:p>
          <a:p>
            <a:pPr indent="0" marL="0">
              <a:buNone/>
            </a:pPr>
            <a:r>
              <a:rPr lang="en-US" sz="1800" dirty="0">
                <a:solidFill>
                  <a:srgbClr val="303846"/>
                </a:solidFill>
                <a:latin typeface="Aptos" pitchFamily="34" charset="0"/>
                <a:ea typeface="Aptos" pitchFamily="34" charset="-122"/>
                <a:cs typeface="Aptos" pitchFamily="34" charset="-120"/>
              </a:rPr>
              <a:t>▸ Inspect token usage, latency, failures, and tool activity.</a:t>
            </a:r>
            <a:endParaRPr lang="en-US" sz="1800" dirty="0"/>
          </a:p>
          <a:p>
            <a:pPr indent="0" marL="0">
              <a:buNone/>
            </a:pPr>
            <a:r>
              <a:rPr lang="en-US" sz="1800" dirty="0">
                <a:solidFill>
                  <a:srgbClr val="303846"/>
                </a:solidFill>
                <a:latin typeface="Aptos" pitchFamily="34" charset="0"/>
                <a:ea typeface="Aptos" pitchFamily="34" charset="-122"/>
                <a:cs typeface="Aptos" pitchFamily="34" charset="-120"/>
              </a:rPr>
              <a:t>▸ Identify a failing behavior or weak configuration.</a:t>
            </a:r>
            <a:endParaRPr lang="en-US" sz="1800" dirty="0"/>
          </a:p>
          <a:p>
            <a:pPr indent="0" marL="0">
              <a:buNone/>
            </a:pPr>
            <a:r>
              <a:rPr lang="en-US" sz="1800" dirty="0">
                <a:solidFill>
                  <a:srgbClr val="303846"/>
                </a:solidFill>
                <a:latin typeface="Aptos" pitchFamily="34" charset="0"/>
                <a:ea typeface="Aptos" pitchFamily="34" charset="-122"/>
                <a:cs typeface="Aptos" pitchFamily="34" charset="-120"/>
              </a:rPr>
              <a:t>▸ Verify the corrected version meets the threshold.</a:t>
            </a:r>
            <a:endParaRPr lang="en-US" sz="1800" dirty="0"/>
          </a:p>
        </p:txBody>
      </p:sp>
      <p:sp>
        <p:nvSpPr>
          <p:cNvPr id="9" name="Shape 7"/>
          <p:cNvSpPr/>
          <p:nvPr/>
        </p:nvSpPr>
        <p:spPr>
          <a:xfrm>
            <a:off x="9098280" y="2148840"/>
            <a:ext cx="2331720" cy="1371600"/>
          </a:xfrm>
          <a:prstGeom prst="rect">
            <a:avLst/>
          </a:prstGeom>
          <a:solidFill>
            <a:srgbClr val="F4F8FB"/>
          </a:solidFill>
          <a:ln w="12700">
            <a:solidFill>
              <a:srgbClr val="E7EEF4"/>
            </a:solidFill>
            <a:prstDash val="solid"/>
          </a:ln>
        </p:spPr>
      </p:sp>
      <p:sp>
        <p:nvSpPr>
          <p:cNvPr id="10" name="Shape 8"/>
          <p:cNvSpPr/>
          <p:nvPr/>
        </p:nvSpPr>
        <p:spPr>
          <a:xfrm>
            <a:off x="9253728" y="2304288"/>
            <a:ext cx="219456" cy="219456"/>
          </a:xfrm>
          <a:prstGeom prst="ellipse">
            <a:avLst/>
          </a:prstGeom>
          <a:solidFill>
            <a:srgbClr val="06A9C8"/>
          </a:solidFill>
          <a:ln w="12700">
            <a:solidFill>
              <a:srgbClr val="06A9C8"/>
            </a:solidFill>
            <a:prstDash val="solid"/>
          </a:ln>
        </p:spPr>
      </p:sp>
      <p:sp>
        <p:nvSpPr>
          <p:cNvPr id="11" name="Text 9"/>
          <p:cNvSpPr/>
          <p:nvPr/>
        </p:nvSpPr>
        <p:spPr>
          <a:xfrm>
            <a:off x="9308592" y="232257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37192" y="227685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Lab outcome</a:t>
            </a:r>
            <a:endParaRPr lang="en-US" sz="1080" dirty="0"/>
          </a:p>
        </p:txBody>
      </p:sp>
      <p:sp>
        <p:nvSpPr>
          <p:cNvPr id="13" name="Text 11"/>
          <p:cNvSpPr/>
          <p:nvPr/>
        </p:nvSpPr>
        <p:spPr>
          <a:xfrm>
            <a:off x="9308592" y="2606040"/>
            <a:ext cx="1920240" cy="804672"/>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An evaluated and monitored agent with evidence for release or remediation.</a:t>
            </a:r>
            <a:endParaRPr lang="en-US" sz="96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8 · Lecture 46</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Lab Validation Checklist</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Evaluation and monitoring evidence should support a release decision.</a:t>
            </a:r>
            <a:endParaRPr lang="en-US" sz="1500" dirty="0"/>
          </a:p>
        </p:txBody>
      </p:sp>
      <p:sp>
        <p:nvSpPr>
          <p:cNvPr id="8" name="Text 6"/>
          <p:cNvSpPr/>
          <p:nvPr/>
        </p:nvSpPr>
        <p:spPr>
          <a:xfrm>
            <a:off x="658368" y="1874520"/>
            <a:ext cx="8138160" cy="3291840"/>
          </a:xfrm>
          <a:prstGeom prst="rect">
            <a:avLst/>
          </a:prstGeom>
          <a:noFill/>
          <a:ln/>
        </p:spPr>
        <p:txBody>
          <a:bodyPr wrap="square" lIns="254" tIns="254" rIns="254" bIns="254" rtlCol="0" anchor="ctr">
            <a:normAutofit/>
          </a:bodyPr>
          <a:lstStyle/>
          <a:p>
            <a:pPr indent="0" marL="0">
              <a:buNone/>
            </a:pPr>
            <a:r>
              <a:rPr lang="en-US" sz="1800" dirty="0">
                <a:solidFill>
                  <a:srgbClr val="303846"/>
                </a:solidFill>
                <a:latin typeface="Aptos" pitchFamily="34" charset="0"/>
                <a:ea typeface="Aptos" pitchFamily="34" charset="-122"/>
                <a:cs typeface="Aptos" pitchFamily="34" charset="-120"/>
              </a:rPr>
              <a:t>▸ The dataset runs successfully against the selected agent.</a:t>
            </a:r>
            <a:endParaRPr lang="en-US" sz="1800" dirty="0"/>
          </a:p>
          <a:p>
            <a:pPr indent="0" marL="0">
              <a:buNone/>
            </a:pPr>
            <a:r>
              <a:rPr lang="en-US" sz="1800" dirty="0">
                <a:solidFill>
                  <a:srgbClr val="303846"/>
                </a:solidFill>
                <a:latin typeface="Aptos" pitchFamily="34" charset="0"/>
                <a:ea typeface="Aptos" pitchFamily="34" charset="-122"/>
                <a:cs typeface="Aptos" pitchFamily="34" charset="-120"/>
              </a:rPr>
              <a:t>▸ The quality metrics are visible and understandable.</a:t>
            </a:r>
            <a:endParaRPr lang="en-US" sz="1800" dirty="0"/>
          </a:p>
          <a:p>
            <a:pPr indent="0" marL="0">
              <a:buNone/>
            </a:pPr>
            <a:r>
              <a:rPr lang="en-US" sz="1800" dirty="0">
                <a:solidFill>
                  <a:srgbClr val="303846"/>
                </a:solidFill>
                <a:latin typeface="Aptos" pitchFamily="34" charset="0"/>
                <a:ea typeface="Aptos" pitchFamily="34" charset="-122"/>
                <a:cs typeface="Aptos" pitchFamily="34" charset="-120"/>
              </a:rPr>
              <a:t>▸ At least one weak behavior is diagnosed.</a:t>
            </a:r>
            <a:endParaRPr lang="en-US" sz="1800" dirty="0"/>
          </a:p>
          <a:p>
            <a:pPr indent="0" marL="0">
              <a:buNone/>
            </a:pPr>
            <a:r>
              <a:rPr lang="en-US" sz="1800" dirty="0">
                <a:solidFill>
                  <a:srgbClr val="303846"/>
                </a:solidFill>
                <a:latin typeface="Aptos" pitchFamily="34" charset="0"/>
                <a:ea typeface="Aptos" pitchFamily="34" charset="-122"/>
                <a:cs typeface="Aptos" pitchFamily="34" charset="-120"/>
              </a:rPr>
              <a:t>▸ The corrected configuration improves the result.</a:t>
            </a:r>
            <a:endParaRPr lang="en-US" sz="1800" dirty="0"/>
          </a:p>
          <a:p>
            <a:pPr indent="0" marL="0">
              <a:buNone/>
            </a:pPr>
            <a:r>
              <a:rPr lang="en-US" sz="1800" dirty="0">
                <a:solidFill>
                  <a:srgbClr val="303846"/>
                </a:solidFill>
                <a:latin typeface="Aptos" pitchFamily="34" charset="0"/>
                <a:ea typeface="Aptos" pitchFamily="34" charset="-122"/>
                <a:cs typeface="Aptos" pitchFamily="34" charset="-120"/>
              </a:rPr>
              <a:t>▸ The learner can explain whether the agent should be promoted.</a:t>
            </a:r>
            <a:endParaRPr lang="en-US" sz="1800" dirty="0"/>
          </a:p>
        </p:txBody>
      </p:sp>
      <p:sp>
        <p:nvSpPr>
          <p:cNvPr id="9" name="Shape 7"/>
          <p:cNvSpPr/>
          <p:nvPr/>
        </p:nvSpPr>
        <p:spPr>
          <a:xfrm>
            <a:off x="9098280" y="2148840"/>
            <a:ext cx="2331720" cy="1371600"/>
          </a:xfrm>
          <a:prstGeom prst="rect">
            <a:avLst/>
          </a:prstGeom>
          <a:solidFill>
            <a:srgbClr val="F4F8FB"/>
          </a:solidFill>
          <a:ln w="12700">
            <a:solidFill>
              <a:srgbClr val="E7EEF4"/>
            </a:solidFill>
            <a:prstDash val="solid"/>
          </a:ln>
        </p:spPr>
      </p:sp>
      <p:sp>
        <p:nvSpPr>
          <p:cNvPr id="10" name="Shape 8"/>
          <p:cNvSpPr/>
          <p:nvPr/>
        </p:nvSpPr>
        <p:spPr>
          <a:xfrm>
            <a:off x="9253728" y="2304288"/>
            <a:ext cx="219456" cy="219456"/>
          </a:xfrm>
          <a:prstGeom prst="ellipse">
            <a:avLst/>
          </a:prstGeom>
          <a:solidFill>
            <a:srgbClr val="06A9C8"/>
          </a:solidFill>
          <a:ln w="12700">
            <a:solidFill>
              <a:srgbClr val="06A9C8"/>
            </a:solidFill>
            <a:prstDash val="solid"/>
          </a:ln>
        </p:spPr>
      </p:sp>
      <p:sp>
        <p:nvSpPr>
          <p:cNvPr id="11" name="Text 9"/>
          <p:cNvSpPr/>
          <p:nvPr/>
        </p:nvSpPr>
        <p:spPr>
          <a:xfrm>
            <a:off x="9308592" y="232257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37192" y="227685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Lab outcome</a:t>
            </a:r>
            <a:endParaRPr lang="en-US" sz="1080" dirty="0"/>
          </a:p>
        </p:txBody>
      </p:sp>
      <p:sp>
        <p:nvSpPr>
          <p:cNvPr id="13" name="Text 11"/>
          <p:cNvSpPr/>
          <p:nvPr/>
        </p:nvSpPr>
        <p:spPr>
          <a:xfrm>
            <a:off x="9308592" y="2606040"/>
            <a:ext cx="1920240" cy="804672"/>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Capture the evaluation result and one monitoring observation.</a:t>
            </a:r>
            <a:endParaRPr lang="en-US" sz="96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8 Review</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Section 8 — Section Review</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Key takeaways and transition to the next section.</a:t>
            </a:r>
            <a:endParaRPr lang="en-US" sz="1500" dirty="0"/>
          </a:p>
        </p:txBody>
      </p:sp>
      <p:sp>
        <p:nvSpPr>
          <p:cNvPr id="8" name="Shape 6"/>
          <p:cNvSpPr/>
          <p:nvPr/>
        </p:nvSpPr>
        <p:spPr>
          <a:xfrm>
            <a:off x="658368" y="1938528"/>
            <a:ext cx="2423160" cy="1234440"/>
          </a:xfrm>
          <a:prstGeom prst="rect">
            <a:avLst/>
          </a:prstGeom>
          <a:solidFill>
            <a:srgbClr val="F4F8FB"/>
          </a:solidFill>
          <a:ln w="12700">
            <a:solidFill>
              <a:srgbClr val="E4EEF4"/>
            </a:solidFill>
            <a:prstDash val="solid"/>
          </a:ln>
        </p:spPr>
      </p:sp>
      <p:sp>
        <p:nvSpPr>
          <p:cNvPr id="9" name="Text 7"/>
          <p:cNvSpPr/>
          <p:nvPr/>
        </p:nvSpPr>
        <p:spPr>
          <a:xfrm>
            <a:off x="822960" y="2075688"/>
            <a:ext cx="2093976" cy="182880"/>
          </a:xfrm>
          <a:prstGeom prst="rect">
            <a:avLst/>
          </a:prstGeom>
          <a:noFill/>
          <a:ln/>
        </p:spPr>
        <p:txBody>
          <a:bodyPr wrap="square" lIns="0" tIns="0" rIns="0" bIns="0" rtlCol="0" anchor="ctr"/>
          <a:lstStyle/>
          <a:p>
            <a:pPr indent="0" marL="0">
              <a:buNone/>
            </a:pPr>
            <a:r>
              <a:rPr lang="en-US" sz="1050" b="1" dirty="0">
                <a:solidFill>
                  <a:srgbClr val="06A9C8"/>
                </a:solidFill>
                <a:latin typeface="Aptos" pitchFamily="34" charset="0"/>
                <a:ea typeface="Aptos" pitchFamily="34" charset="-122"/>
                <a:cs typeface="Aptos" pitchFamily="34" charset="-120"/>
              </a:rPr>
              <a:t>Takeaway 1</a:t>
            </a:r>
            <a:endParaRPr lang="en-US" sz="1050" dirty="0"/>
          </a:p>
        </p:txBody>
      </p:sp>
      <p:sp>
        <p:nvSpPr>
          <p:cNvPr id="10" name="Text 8"/>
          <p:cNvSpPr/>
          <p:nvPr/>
        </p:nvSpPr>
        <p:spPr>
          <a:xfrm>
            <a:off x="822960" y="2368296"/>
            <a:ext cx="2093976" cy="621792"/>
          </a:xfrm>
          <a:prstGeom prst="rect">
            <a:avLst/>
          </a:prstGeom>
          <a:noFill/>
          <a:ln/>
        </p:spPr>
        <p:txBody>
          <a:bodyPr wrap="square" lIns="254" tIns="254" rIns="254" bIns="254" rtlCol="0" anchor="ctr">
            <a:normAutofit/>
          </a:bodyPr>
          <a:lstStyle/>
          <a:p>
            <a:pPr indent="0" marL="0">
              <a:buNone/>
            </a:pPr>
            <a:r>
              <a:rPr lang="en-US" sz="1150" dirty="0">
                <a:solidFill>
                  <a:srgbClr val="303846"/>
                </a:solidFill>
                <a:latin typeface="Aptos" pitchFamily="34" charset="0"/>
                <a:ea typeface="Aptos" pitchFamily="34" charset="-122"/>
                <a:cs typeface="Aptos" pitchFamily="34" charset="-120"/>
              </a:rPr>
              <a:t>LLMOps treats agent behavior as a managed lifecycle.</a:t>
            </a:r>
            <a:endParaRPr lang="en-US" sz="1150" dirty="0"/>
          </a:p>
        </p:txBody>
      </p:sp>
      <p:sp>
        <p:nvSpPr>
          <p:cNvPr id="11" name="Shape 9"/>
          <p:cNvSpPr/>
          <p:nvPr/>
        </p:nvSpPr>
        <p:spPr>
          <a:xfrm>
            <a:off x="3310128" y="1938528"/>
            <a:ext cx="2423160" cy="1234440"/>
          </a:xfrm>
          <a:prstGeom prst="rect">
            <a:avLst/>
          </a:prstGeom>
          <a:solidFill>
            <a:srgbClr val="EDF6FA"/>
          </a:solidFill>
          <a:ln w="12700">
            <a:solidFill>
              <a:srgbClr val="E4EEF4"/>
            </a:solidFill>
            <a:prstDash val="solid"/>
          </a:ln>
        </p:spPr>
      </p:sp>
      <p:sp>
        <p:nvSpPr>
          <p:cNvPr id="12" name="Text 10"/>
          <p:cNvSpPr/>
          <p:nvPr/>
        </p:nvSpPr>
        <p:spPr>
          <a:xfrm>
            <a:off x="3474720" y="2075688"/>
            <a:ext cx="2093976" cy="182880"/>
          </a:xfrm>
          <a:prstGeom prst="rect">
            <a:avLst/>
          </a:prstGeom>
          <a:noFill/>
          <a:ln/>
        </p:spPr>
        <p:txBody>
          <a:bodyPr wrap="square" lIns="0" tIns="0" rIns="0" bIns="0" rtlCol="0" anchor="ctr"/>
          <a:lstStyle/>
          <a:p>
            <a:pPr indent="0" marL="0">
              <a:buNone/>
            </a:pPr>
            <a:r>
              <a:rPr lang="en-US" sz="1050" b="1" dirty="0">
                <a:solidFill>
                  <a:srgbClr val="06A9C8"/>
                </a:solidFill>
                <a:latin typeface="Aptos" pitchFamily="34" charset="0"/>
                <a:ea typeface="Aptos" pitchFamily="34" charset="-122"/>
                <a:cs typeface="Aptos" pitchFamily="34" charset="-120"/>
              </a:rPr>
              <a:t>Takeaway 2</a:t>
            </a:r>
            <a:endParaRPr lang="en-US" sz="1050" dirty="0"/>
          </a:p>
        </p:txBody>
      </p:sp>
      <p:sp>
        <p:nvSpPr>
          <p:cNvPr id="13" name="Text 11"/>
          <p:cNvSpPr/>
          <p:nvPr/>
        </p:nvSpPr>
        <p:spPr>
          <a:xfrm>
            <a:off x="3474720" y="2368296"/>
            <a:ext cx="2093976" cy="621792"/>
          </a:xfrm>
          <a:prstGeom prst="rect">
            <a:avLst/>
          </a:prstGeom>
          <a:noFill/>
          <a:ln/>
        </p:spPr>
        <p:txBody>
          <a:bodyPr wrap="square" lIns="254" tIns="254" rIns="254" bIns="254" rtlCol="0" anchor="ctr">
            <a:normAutofit/>
          </a:bodyPr>
          <a:lstStyle/>
          <a:p>
            <a:pPr indent="0" marL="0">
              <a:buNone/>
            </a:pPr>
            <a:r>
              <a:rPr lang="en-US" sz="1150" dirty="0">
                <a:solidFill>
                  <a:srgbClr val="303846"/>
                </a:solidFill>
                <a:latin typeface="Aptos" pitchFamily="34" charset="0"/>
                <a:ea typeface="Aptos" pitchFamily="34" charset="-122"/>
                <a:cs typeface="Aptos" pitchFamily="34" charset="-120"/>
              </a:rPr>
              <a:t>Evaluations create evidence for quality, safety, and task success.</a:t>
            </a:r>
            <a:endParaRPr lang="en-US" sz="1150" dirty="0"/>
          </a:p>
        </p:txBody>
      </p:sp>
      <p:sp>
        <p:nvSpPr>
          <p:cNvPr id="14" name="Shape 12"/>
          <p:cNvSpPr/>
          <p:nvPr/>
        </p:nvSpPr>
        <p:spPr>
          <a:xfrm>
            <a:off x="5961888" y="1938528"/>
            <a:ext cx="2423160" cy="1234440"/>
          </a:xfrm>
          <a:prstGeom prst="rect">
            <a:avLst/>
          </a:prstGeom>
          <a:solidFill>
            <a:srgbClr val="F4F8FB"/>
          </a:solidFill>
          <a:ln w="12700">
            <a:solidFill>
              <a:srgbClr val="E4EEF4"/>
            </a:solidFill>
            <a:prstDash val="solid"/>
          </a:ln>
        </p:spPr>
      </p:sp>
      <p:sp>
        <p:nvSpPr>
          <p:cNvPr id="15" name="Text 13"/>
          <p:cNvSpPr/>
          <p:nvPr/>
        </p:nvSpPr>
        <p:spPr>
          <a:xfrm>
            <a:off x="6126480" y="2075688"/>
            <a:ext cx="2093976" cy="182880"/>
          </a:xfrm>
          <a:prstGeom prst="rect">
            <a:avLst/>
          </a:prstGeom>
          <a:noFill/>
          <a:ln/>
        </p:spPr>
        <p:txBody>
          <a:bodyPr wrap="square" lIns="0" tIns="0" rIns="0" bIns="0" rtlCol="0" anchor="ctr"/>
          <a:lstStyle/>
          <a:p>
            <a:pPr indent="0" marL="0">
              <a:buNone/>
            </a:pPr>
            <a:r>
              <a:rPr lang="en-US" sz="1050" b="1" dirty="0">
                <a:solidFill>
                  <a:srgbClr val="06A9C8"/>
                </a:solidFill>
                <a:latin typeface="Aptos" pitchFamily="34" charset="0"/>
                <a:ea typeface="Aptos" pitchFamily="34" charset="-122"/>
                <a:cs typeface="Aptos" pitchFamily="34" charset="-120"/>
              </a:rPr>
              <a:t>Takeaway 3</a:t>
            </a:r>
            <a:endParaRPr lang="en-US" sz="1050" dirty="0"/>
          </a:p>
        </p:txBody>
      </p:sp>
      <p:sp>
        <p:nvSpPr>
          <p:cNvPr id="16" name="Text 14"/>
          <p:cNvSpPr/>
          <p:nvPr/>
        </p:nvSpPr>
        <p:spPr>
          <a:xfrm>
            <a:off x="6126480" y="2368296"/>
            <a:ext cx="2093976" cy="621792"/>
          </a:xfrm>
          <a:prstGeom prst="rect">
            <a:avLst/>
          </a:prstGeom>
          <a:noFill/>
          <a:ln/>
        </p:spPr>
        <p:txBody>
          <a:bodyPr wrap="square" lIns="254" tIns="254" rIns="254" bIns="254" rtlCol="0" anchor="ctr">
            <a:normAutofit/>
          </a:bodyPr>
          <a:lstStyle/>
          <a:p>
            <a:pPr indent="0" marL="0">
              <a:buNone/>
            </a:pPr>
            <a:r>
              <a:rPr lang="en-US" sz="1150" dirty="0">
                <a:solidFill>
                  <a:srgbClr val="303846"/>
                </a:solidFill>
                <a:latin typeface="Aptos" pitchFamily="34" charset="0"/>
                <a:ea typeface="Aptos" pitchFamily="34" charset="-122"/>
                <a:cs typeface="Aptos" pitchFamily="34" charset="-120"/>
              </a:rPr>
              <a:t>Monitoring connects runtime signals to operational decisions.</a:t>
            </a:r>
            <a:endParaRPr lang="en-US" sz="1150" dirty="0"/>
          </a:p>
        </p:txBody>
      </p:sp>
      <p:sp>
        <p:nvSpPr>
          <p:cNvPr id="17" name="Shape 15"/>
          <p:cNvSpPr/>
          <p:nvPr/>
        </p:nvSpPr>
        <p:spPr>
          <a:xfrm>
            <a:off x="8613648" y="1938528"/>
            <a:ext cx="2423160" cy="1234440"/>
          </a:xfrm>
          <a:prstGeom prst="rect">
            <a:avLst/>
          </a:prstGeom>
          <a:solidFill>
            <a:srgbClr val="EDF6FA"/>
          </a:solidFill>
          <a:ln w="12700">
            <a:solidFill>
              <a:srgbClr val="E4EEF4"/>
            </a:solidFill>
            <a:prstDash val="solid"/>
          </a:ln>
        </p:spPr>
      </p:sp>
      <p:sp>
        <p:nvSpPr>
          <p:cNvPr id="18" name="Text 16"/>
          <p:cNvSpPr/>
          <p:nvPr/>
        </p:nvSpPr>
        <p:spPr>
          <a:xfrm>
            <a:off x="8778240" y="2075688"/>
            <a:ext cx="2093976" cy="182880"/>
          </a:xfrm>
          <a:prstGeom prst="rect">
            <a:avLst/>
          </a:prstGeom>
          <a:noFill/>
          <a:ln/>
        </p:spPr>
        <p:txBody>
          <a:bodyPr wrap="square" lIns="0" tIns="0" rIns="0" bIns="0" rtlCol="0" anchor="ctr"/>
          <a:lstStyle/>
          <a:p>
            <a:pPr indent="0" marL="0">
              <a:buNone/>
            </a:pPr>
            <a:r>
              <a:rPr lang="en-US" sz="1050" b="1" dirty="0">
                <a:solidFill>
                  <a:srgbClr val="06A9C8"/>
                </a:solidFill>
                <a:latin typeface="Aptos" pitchFamily="34" charset="0"/>
                <a:ea typeface="Aptos" pitchFamily="34" charset="-122"/>
                <a:cs typeface="Aptos" pitchFamily="34" charset="-120"/>
              </a:rPr>
              <a:t>Takeaway 4</a:t>
            </a:r>
            <a:endParaRPr lang="en-US" sz="1050" dirty="0"/>
          </a:p>
        </p:txBody>
      </p:sp>
      <p:sp>
        <p:nvSpPr>
          <p:cNvPr id="19" name="Text 17"/>
          <p:cNvSpPr/>
          <p:nvPr/>
        </p:nvSpPr>
        <p:spPr>
          <a:xfrm>
            <a:off x="8778240" y="2368296"/>
            <a:ext cx="2093976" cy="621792"/>
          </a:xfrm>
          <a:prstGeom prst="rect">
            <a:avLst/>
          </a:prstGeom>
          <a:noFill/>
          <a:ln/>
        </p:spPr>
        <p:txBody>
          <a:bodyPr wrap="square" lIns="254" tIns="254" rIns="254" bIns="254" rtlCol="0" anchor="ctr">
            <a:normAutofit/>
          </a:bodyPr>
          <a:lstStyle/>
          <a:p>
            <a:pPr indent="0" marL="0">
              <a:buNone/>
            </a:pPr>
            <a:r>
              <a:rPr lang="en-US" sz="1150" dirty="0">
                <a:solidFill>
                  <a:srgbClr val="303846"/>
                </a:solidFill>
                <a:latin typeface="Aptos" pitchFamily="34" charset="0"/>
                <a:ea typeface="Aptos" pitchFamily="34" charset="-122"/>
                <a:cs typeface="Aptos" pitchFamily="34" charset="-120"/>
              </a:rPr>
              <a:t>Safety testing and incident response must exist before production dependence.</a:t>
            </a:r>
            <a:endParaRPr lang="en-US" sz="1150" dirty="0"/>
          </a:p>
        </p:txBody>
      </p:sp>
      <p:sp>
        <p:nvSpPr>
          <p:cNvPr id="20" name="Shape 18"/>
          <p:cNvSpPr/>
          <p:nvPr/>
        </p:nvSpPr>
        <p:spPr>
          <a:xfrm>
            <a:off x="9966960" y="4206240"/>
            <a:ext cx="1280160" cy="530352"/>
          </a:xfrm>
          <a:prstGeom prst="chevron">
            <a:avLst/>
          </a:prstGeom>
          <a:solidFill>
            <a:srgbClr val="06A9C8"/>
          </a:solidFill>
          <a:ln w="12700">
            <a:solidFill>
              <a:srgbClr val="06A9C8"/>
            </a:solidFill>
            <a:prstDash val="solid"/>
          </a:ln>
        </p:spPr>
      </p:sp>
      <p:sp>
        <p:nvSpPr>
          <p:cNvPr id="21" name="Text 19"/>
          <p:cNvSpPr/>
          <p:nvPr/>
        </p:nvSpPr>
        <p:spPr>
          <a:xfrm>
            <a:off x="10040112" y="4370832"/>
            <a:ext cx="1024128" cy="201168"/>
          </a:xfrm>
          <a:prstGeom prst="rect">
            <a:avLst/>
          </a:prstGeom>
          <a:noFill/>
          <a:ln/>
        </p:spPr>
        <p:txBody>
          <a:bodyPr wrap="square" lIns="0" tIns="0" rIns="0" bIns="0" rtlCol="0" anchor="ctr">
            <a:normAutofit/>
          </a:bodyPr>
          <a:lstStyle/>
          <a:p>
            <a:pPr algn="ctr" indent="0" marL="0">
              <a:buNone/>
            </a:pPr>
            <a:r>
              <a:rPr lang="en-US" sz="950" b="1" dirty="0">
                <a:solidFill>
                  <a:srgbClr val="FFFFFF"/>
                </a:solidFill>
                <a:latin typeface="Aptos" pitchFamily="34" charset="0"/>
                <a:ea typeface="Aptos" pitchFamily="34" charset="-122"/>
                <a:cs typeface="Aptos" pitchFamily="34" charset="-120"/>
              </a:rPr>
              <a:t>Next: enterprise governance and production readiness.</a:t>
            </a:r>
            <a:endParaRPr lang="en-US" sz="95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658368" y="1024128"/>
            <a:ext cx="2194560" cy="329184"/>
          </a:xfrm>
          <a:prstGeom prst="rect">
            <a:avLst/>
          </a:prstGeom>
          <a:noFill/>
          <a:ln/>
        </p:spPr>
        <p:txBody>
          <a:bodyPr wrap="square" lIns="0" tIns="0" rIns="0" bIns="0" rtlCol="0" anchor="ctr"/>
          <a:lstStyle/>
          <a:p>
            <a:pPr indent="0" marL="0">
              <a:buNone/>
            </a:pPr>
            <a:r>
              <a:rPr lang="en-US" sz="1600" dirty="0">
                <a:solidFill>
                  <a:srgbClr val="06A9C8"/>
                </a:solidFill>
                <a:latin typeface="Aptos" pitchFamily="34" charset="0"/>
                <a:ea typeface="Aptos" pitchFamily="34" charset="-122"/>
                <a:cs typeface="Aptos" pitchFamily="34" charset="-120"/>
              </a:rPr>
              <a:t>Section 9</a:t>
            </a:r>
            <a:endParaRPr lang="en-US" sz="1600" dirty="0"/>
          </a:p>
        </p:txBody>
      </p:sp>
      <p:sp>
        <p:nvSpPr>
          <p:cNvPr id="6" name="Text 4"/>
          <p:cNvSpPr/>
          <p:nvPr/>
        </p:nvSpPr>
        <p:spPr>
          <a:xfrm>
            <a:off x="658368" y="1554480"/>
            <a:ext cx="7040880" cy="841248"/>
          </a:xfrm>
          <a:prstGeom prst="rect">
            <a:avLst/>
          </a:prstGeom>
          <a:noFill/>
          <a:ln/>
        </p:spPr>
        <p:txBody>
          <a:bodyPr wrap="square" lIns="0" tIns="0" rIns="0" bIns="0" rtlCol="0" anchor="ctr">
            <a:normAutofit/>
          </a:bodyPr>
          <a:lstStyle/>
          <a:p>
            <a:pPr indent="0" marL="0">
              <a:buNone/>
            </a:pPr>
            <a:r>
              <a:rPr lang="en-US" sz="3100" dirty="0">
                <a:solidFill>
                  <a:srgbClr val="172033"/>
                </a:solidFill>
                <a:latin typeface="Aptos Display" pitchFamily="34" charset="0"/>
                <a:ea typeface="Aptos Display" pitchFamily="34" charset="-122"/>
                <a:cs typeface="Aptos Display" pitchFamily="34" charset="-120"/>
              </a:rPr>
              <a:t>Enterprise Governance and Production Readiness</a:t>
            </a:r>
            <a:endParaRPr lang="en-US" sz="3100" dirty="0"/>
          </a:p>
        </p:txBody>
      </p:sp>
      <p:sp>
        <p:nvSpPr>
          <p:cNvPr id="7" name="Text 5"/>
          <p:cNvSpPr/>
          <p:nvPr/>
        </p:nvSpPr>
        <p:spPr>
          <a:xfrm>
            <a:off x="658368" y="2578608"/>
            <a:ext cx="7132320" cy="640080"/>
          </a:xfrm>
          <a:prstGeom prst="rect">
            <a:avLst/>
          </a:prstGeom>
          <a:noFill/>
          <a:ln/>
        </p:spPr>
        <p:txBody>
          <a:bodyPr wrap="square" lIns="0" tIns="0" rIns="0" bIns="0" rtlCol="0" anchor="ctr">
            <a:normAutofit/>
          </a:bodyPr>
          <a:lstStyle/>
          <a:p>
            <a:pPr indent="0" marL="0">
              <a:buNone/>
            </a:pPr>
            <a:r>
              <a:rPr lang="en-US" sz="1550" dirty="0">
                <a:solidFill>
                  <a:srgbClr val="6B7280"/>
                </a:solidFill>
                <a:latin typeface="Aptos" pitchFamily="34" charset="0"/>
                <a:ea typeface="Aptos" pitchFamily="34" charset="-122"/>
                <a:cs typeface="Aptos" pitchFamily="34" charset="-120"/>
              </a:rPr>
              <a:t>Move from project-level configuration to enterprise-level visibility, policy, compliance, and release readiness.</a:t>
            </a:r>
            <a:endParaRPr lang="en-US" sz="1550" dirty="0"/>
          </a:p>
        </p:txBody>
      </p:sp>
      <p:pic>
        <p:nvPicPr>
          <p:cNvPr id="8" name="Image 0" descr="/mnt/data/ref_pptx/ppt/media/image1.png">    </p:cNvPr>
          <p:cNvPicPr>
            <a:picLocks noChangeAspect="1"/>
          </p:cNvPicPr>
          <p:nvPr/>
        </p:nvPicPr>
        <p:blipFill>
          <a:blip r:embed="rId1"/>
          <a:stretch>
            <a:fillRect/>
          </a:stretch>
        </p:blipFill>
        <p:spPr>
          <a:xfrm>
            <a:off x="8092440" y="1097280"/>
            <a:ext cx="2468880" cy="2468880"/>
          </a:xfrm>
          <a:prstGeom prst="rect">
            <a:avLst/>
          </a:prstGeom>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9</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Section Overview</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Enterprise Governance and Production Readiness</a:t>
            </a:r>
            <a:endParaRPr lang="en-US" sz="1500" dirty="0"/>
          </a:p>
        </p:txBody>
      </p:sp>
      <p:sp>
        <p:nvSpPr>
          <p:cNvPr id="8" name="Text 6"/>
          <p:cNvSpPr/>
          <p:nvPr/>
        </p:nvSpPr>
        <p:spPr>
          <a:xfrm>
            <a:off x="658368" y="1965960"/>
            <a:ext cx="8001000" cy="3429000"/>
          </a:xfrm>
          <a:prstGeom prst="rect">
            <a:avLst/>
          </a:prstGeom>
          <a:noFill/>
          <a:ln/>
        </p:spPr>
        <p:txBody>
          <a:bodyPr wrap="square" lIns="254" tIns="254" rIns="254" bIns="254" rtlCol="0" anchor="ctr">
            <a:normAutofit/>
          </a:bodyPr>
          <a:lstStyle/>
          <a:p>
            <a:pPr indent="0" marL="0">
              <a:buNone/>
            </a:pPr>
            <a:r>
              <a:rPr lang="en-US" sz="1850" dirty="0">
                <a:solidFill>
                  <a:srgbClr val="303846"/>
                </a:solidFill>
                <a:latin typeface="Aptos" pitchFamily="34" charset="0"/>
                <a:ea typeface="Aptos" pitchFamily="34" charset="-122"/>
                <a:cs typeface="Aptos" pitchFamily="34" charset="-120"/>
              </a:rPr>
              <a:t>▸ Use Foundry Control Plane to reason about fleet-level visibility.</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Connect policy, guardrails, gateway, Defender, and Purview concepts.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Review a complete governed-agent capstone architecture.</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Apply a production-readiness checklist.</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Plan ongoing maintenance for a fast-moving platform.</a:t>
            </a:r>
            <a:endParaRPr lang="en-US" sz="1850" dirty="0"/>
          </a:p>
        </p:txBody>
      </p:sp>
      <p:sp>
        <p:nvSpPr>
          <p:cNvPr id="9" name="Shape 7"/>
          <p:cNvSpPr/>
          <p:nvPr/>
        </p:nvSpPr>
        <p:spPr>
          <a:xfrm>
            <a:off x="9144000" y="1965960"/>
            <a:ext cx="2331720" cy="1243584"/>
          </a:xfrm>
          <a:prstGeom prst="rect">
            <a:avLst/>
          </a:prstGeom>
          <a:solidFill>
            <a:srgbClr val="F4F8FB"/>
          </a:solidFill>
          <a:ln w="12700">
            <a:solidFill>
              <a:srgbClr val="E7EEF4"/>
            </a:solidFill>
            <a:prstDash val="solid"/>
          </a:ln>
        </p:spPr>
      </p:sp>
      <p:sp>
        <p:nvSpPr>
          <p:cNvPr id="10" name="Shape 8"/>
          <p:cNvSpPr/>
          <p:nvPr/>
        </p:nvSpPr>
        <p:spPr>
          <a:xfrm>
            <a:off x="9299448" y="2121408"/>
            <a:ext cx="219456" cy="219456"/>
          </a:xfrm>
          <a:prstGeom prst="ellipse">
            <a:avLst/>
          </a:prstGeom>
          <a:solidFill>
            <a:srgbClr val="06A9C8"/>
          </a:solidFill>
          <a:ln w="12700">
            <a:solidFill>
              <a:srgbClr val="06A9C8"/>
            </a:solidFill>
            <a:prstDash val="solid"/>
          </a:ln>
        </p:spPr>
      </p:sp>
      <p:sp>
        <p:nvSpPr>
          <p:cNvPr id="11" name="Text 9"/>
          <p:cNvSpPr/>
          <p:nvPr/>
        </p:nvSpPr>
        <p:spPr>
          <a:xfrm>
            <a:off x="9354312" y="213969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82912" y="209397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Section outcome</a:t>
            </a:r>
            <a:endParaRPr lang="en-US" sz="1080" dirty="0"/>
          </a:p>
        </p:txBody>
      </p:sp>
      <p:sp>
        <p:nvSpPr>
          <p:cNvPr id="13" name="Text 11"/>
          <p:cNvSpPr/>
          <p:nvPr/>
        </p:nvSpPr>
        <p:spPr>
          <a:xfrm>
            <a:off x="9354312" y="2423160"/>
            <a:ext cx="1920240" cy="676656"/>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review whether an agent architecture is ready for enterprise operation.</a:t>
            </a:r>
            <a:endParaRPr lang="en-US" sz="96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9 · Lecture 49</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Foundry Control Plane: Govern Enterprise AI at Scale</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Control Plane gives enterprise teams visibility and control across AI assets.</a:t>
            </a:r>
            <a:endParaRPr lang="en-US" sz="1500" dirty="0"/>
          </a:p>
        </p:txBody>
      </p:sp>
      <p:sp>
        <p:nvSpPr>
          <p:cNvPr id="8" name="Text 6"/>
          <p:cNvSpPr/>
          <p:nvPr/>
        </p:nvSpPr>
        <p:spPr>
          <a:xfrm>
            <a:off x="658368" y="1965960"/>
            <a:ext cx="8001000" cy="3429000"/>
          </a:xfrm>
          <a:prstGeom prst="rect">
            <a:avLst/>
          </a:prstGeom>
          <a:noFill/>
          <a:ln/>
        </p:spPr>
        <p:txBody>
          <a:bodyPr wrap="square" lIns="254" tIns="254" rIns="254" bIns="254" rtlCol="0" anchor="ctr">
            <a:normAutofit/>
          </a:bodyPr>
          <a:lstStyle/>
          <a:p>
            <a:pPr indent="0" marL="0">
              <a:buNone/>
            </a:pPr>
            <a:r>
              <a:rPr lang="en-US" sz="1850" dirty="0">
                <a:solidFill>
                  <a:srgbClr val="303846"/>
                </a:solidFill>
                <a:latin typeface="Aptos" pitchFamily="34" charset="0"/>
                <a:ea typeface="Aptos" pitchFamily="34" charset="-122"/>
                <a:cs typeface="Aptos" pitchFamily="34" charset="-120"/>
              </a:rPr>
              <a:t>▸ View agents, models, and tools across the enterprise estate.</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Track health, compliance, cost, token usage, and lifecycle status.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Register and govern agents built outside the immediate project boundary.</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Support governance as agent adoption scales across teams.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Use the operating model without depending on one fragile UI path.</a:t>
            </a:r>
            <a:endParaRPr lang="en-US" sz="1850" dirty="0"/>
          </a:p>
        </p:txBody>
      </p:sp>
      <p:sp>
        <p:nvSpPr>
          <p:cNvPr id="9" name="Shape 7"/>
          <p:cNvSpPr/>
          <p:nvPr/>
        </p:nvSpPr>
        <p:spPr>
          <a:xfrm>
            <a:off x="9144000" y="1965960"/>
            <a:ext cx="2331720" cy="1243584"/>
          </a:xfrm>
          <a:prstGeom prst="rect">
            <a:avLst/>
          </a:prstGeom>
          <a:solidFill>
            <a:srgbClr val="F4F8FB"/>
          </a:solidFill>
          <a:ln w="12700">
            <a:solidFill>
              <a:srgbClr val="E7EEF4"/>
            </a:solidFill>
            <a:prstDash val="solid"/>
          </a:ln>
        </p:spPr>
      </p:sp>
      <p:sp>
        <p:nvSpPr>
          <p:cNvPr id="10" name="Shape 8"/>
          <p:cNvSpPr/>
          <p:nvPr/>
        </p:nvSpPr>
        <p:spPr>
          <a:xfrm>
            <a:off x="9299448" y="2121408"/>
            <a:ext cx="219456" cy="219456"/>
          </a:xfrm>
          <a:prstGeom prst="ellipse">
            <a:avLst/>
          </a:prstGeom>
          <a:solidFill>
            <a:srgbClr val="06A9C8"/>
          </a:solidFill>
          <a:ln w="12700">
            <a:solidFill>
              <a:srgbClr val="06A9C8"/>
            </a:solidFill>
            <a:prstDash val="solid"/>
          </a:ln>
        </p:spPr>
      </p:sp>
      <p:sp>
        <p:nvSpPr>
          <p:cNvPr id="11" name="Text 9"/>
          <p:cNvSpPr/>
          <p:nvPr/>
        </p:nvSpPr>
        <p:spPr>
          <a:xfrm>
            <a:off x="9354312" y="213969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82912" y="209397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Demonstration</a:t>
            </a:r>
            <a:endParaRPr lang="en-US" sz="1080" dirty="0"/>
          </a:p>
        </p:txBody>
      </p:sp>
      <p:sp>
        <p:nvSpPr>
          <p:cNvPr id="13" name="Text 11"/>
          <p:cNvSpPr/>
          <p:nvPr/>
        </p:nvSpPr>
        <p:spPr>
          <a:xfrm>
            <a:off x="9354312" y="2423160"/>
            <a:ext cx="1920240" cy="676656"/>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Review Control Plane concepts and the areas learners should watch in the portal.</a:t>
            </a:r>
            <a:endParaRPr lang="en-US" sz="96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9 · Lecture 49</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Control Plane Operating Model</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Governance requires clear roles and repeatable routines.</a:t>
            </a:r>
            <a:endParaRPr lang="en-US" sz="1500" dirty="0"/>
          </a:p>
        </p:txBody>
      </p:sp>
      <p:sp>
        <p:nvSpPr>
          <p:cNvPr id="8" name="Text 6"/>
          <p:cNvSpPr/>
          <p:nvPr/>
        </p:nvSpPr>
        <p:spPr>
          <a:xfrm>
            <a:off x="658368" y="1965960"/>
            <a:ext cx="8001000" cy="3429000"/>
          </a:xfrm>
          <a:prstGeom prst="rect">
            <a:avLst/>
          </a:prstGeom>
          <a:noFill/>
          <a:ln/>
        </p:spPr>
        <p:txBody>
          <a:bodyPr wrap="square" lIns="254" tIns="254" rIns="254" bIns="254" rtlCol="0" anchor="ctr">
            <a:normAutofit/>
          </a:bodyPr>
          <a:lstStyle/>
          <a:p>
            <a:pPr indent="0" marL="0">
              <a:buNone/>
            </a:pPr>
            <a:r>
              <a:rPr lang="en-US" sz="1850" dirty="0">
                <a:solidFill>
                  <a:srgbClr val="303846"/>
                </a:solidFill>
                <a:latin typeface="Aptos" pitchFamily="34" charset="0"/>
                <a:ea typeface="Aptos" pitchFamily="34" charset="-122"/>
                <a:cs typeface="Aptos" pitchFamily="34" charset="-120"/>
              </a:rPr>
              <a:t>▸ Platform owners define standards and guardrails.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Project owners manage agent configuration and release readiness.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Security teams review identity, tools, data access, and policy posture.</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Operations teams monitor health, cost, and incident signals.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Business owners define acceptable quality and escalation expectations.</a:t>
            </a:r>
            <a:endParaRPr lang="en-US" sz="1850" dirty="0"/>
          </a:p>
        </p:txBody>
      </p:sp>
      <p:sp>
        <p:nvSpPr>
          <p:cNvPr id="9" name="Shape 7"/>
          <p:cNvSpPr/>
          <p:nvPr/>
        </p:nvSpPr>
        <p:spPr>
          <a:xfrm>
            <a:off x="9144000" y="1965960"/>
            <a:ext cx="2331720" cy="1243584"/>
          </a:xfrm>
          <a:prstGeom prst="rect">
            <a:avLst/>
          </a:prstGeom>
          <a:solidFill>
            <a:srgbClr val="F4F8FB"/>
          </a:solidFill>
          <a:ln w="12700">
            <a:solidFill>
              <a:srgbClr val="E7EEF4"/>
            </a:solidFill>
            <a:prstDash val="solid"/>
          </a:ln>
        </p:spPr>
      </p:sp>
      <p:sp>
        <p:nvSpPr>
          <p:cNvPr id="10" name="Shape 8"/>
          <p:cNvSpPr/>
          <p:nvPr/>
        </p:nvSpPr>
        <p:spPr>
          <a:xfrm>
            <a:off x="9299448" y="2121408"/>
            <a:ext cx="219456" cy="219456"/>
          </a:xfrm>
          <a:prstGeom prst="ellipse">
            <a:avLst/>
          </a:prstGeom>
          <a:solidFill>
            <a:srgbClr val="06A9C8"/>
          </a:solidFill>
          <a:ln w="12700">
            <a:solidFill>
              <a:srgbClr val="06A9C8"/>
            </a:solidFill>
            <a:prstDash val="solid"/>
          </a:ln>
        </p:spPr>
      </p:sp>
      <p:sp>
        <p:nvSpPr>
          <p:cNvPr id="11" name="Text 9"/>
          <p:cNvSpPr/>
          <p:nvPr/>
        </p:nvSpPr>
        <p:spPr>
          <a:xfrm>
            <a:off x="9354312" y="213969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82912" y="209397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Governance habit</a:t>
            </a:r>
            <a:endParaRPr lang="en-US" sz="1080" dirty="0"/>
          </a:p>
        </p:txBody>
      </p:sp>
      <p:sp>
        <p:nvSpPr>
          <p:cNvPr id="13" name="Text 11"/>
          <p:cNvSpPr/>
          <p:nvPr/>
        </p:nvSpPr>
        <p:spPr>
          <a:xfrm>
            <a:off x="9354312" y="2423160"/>
            <a:ext cx="1920240" cy="676656"/>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Enterprise oversight must be assigned, not assumed.</a:t>
            </a:r>
            <a:endParaRPr lang="en-US" sz="96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9 · Lecture 50</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Azure Policy, Guardrails, AI Gateway, Defender, and Purview</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Governance is a layered control system around agents, data, models, and tools.</a:t>
            </a:r>
            <a:endParaRPr lang="en-US" sz="1500" dirty="0"/>
          </a:p>
        </p:txBody>
      </p:sp>
      <p:sp>
        <p:nvSpPr>
          <p:cNvPr id="8" name="Text 6"/>
          <p:cNvSpPr/>
          <p:nvPr/>
        </p:nvSpPr>
        <p:spPr>
          <a:xfrm>
            <a:off x="658368" y="1965960"/>
            <a:ext cx="8001000" cy="3429000"/>
          </a:xfrm>
          <a:prstGeom prst="rect">
            <a:avLst/>
          </a:prstGeom>
          <a:noFill/>
          <a:ln/>
        </p:spPr>
        <p:txBody>
          <a:bodyPr wrap="square" lIns="254" tIns="254" rIns="254" bIns="254" rtlCol="0" anchor="ctr">
            <a:normAutofit/>
          </a:bodyPr>
          <a:lstStyle/>
          <a:p>
            <a:pPr indent="0" marL="0">
              <a:buNone/>
            </a:pPr>
            <a:r>
              <a:rPr lang="en-US" sz="1850" dirty="0">
                <a:solidFill>
                  <a:srgbClr val="303846"/>
                </a:solidFill>
                <a:latin typeface="Aptos" pitchFamily="34" charset="0"/>
                <a:ea typeface="Aptos" pitchFamily="34" charset="-122"/>
                <a:cs typeface="Aptos" pitchFamily="34" charset="-120"/>
              </a:rPr>
              <a:t>▸ Azure Policy helps enforce allowed configurations at scale.</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Guardrails and content safety controls reduce unsafe inputs and outputs.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AI Gateway centralizes access, routing, and control patterns.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Defender contributes threat detection and security posture visibility.</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Purview supports sensitive-data and compliance governance.</a:t>
            </a:r>
            <a:endParaRPr lang="en-US" sz="1850" dirty="0"/>
          </a:p>
        </p:txBody>
      </p:sp>
      <p:sp>
        <p:nvSpPr>
          <p:cNvPr id="9" name="Shape 7"/>
          <p:cNvSpPr/>
          <p:nvPr/>
        </p:nvSpPr>
        <p:spPr>
          <a:xfrm>
            <a:off x="9144000" y="1965960"/>
            <a:ext cx="2331720" cy="1243584"/>
          </a:xfrm>
          <a:prstGeom prst="rect">
            <a:avLst/>
          </a:prstGeom>
          <a:solidFill>
            <a:srgbClr val="F4F8FB"/>
          </a:solidFill>
          <a:ln w="12700">
            <a:solidFill>
              <a:srgbClr val="E7EEF4"/>
            </a:solidFill>
            <a:prstDash val="solid"/>
          </a:ln>
        </p:spPr>
      </p:sp>
      <p:sp>
        <p:nvSpPr>
          <p:cNvPr id="10" name="Shape 8"/>
          <p:cNvSpPr/>
          <p:nvPr/>
        </p:nvSpPr>
        <p:spPr>
          <a:xfrm>
            <a:off x="9299448" y="2121408"/>
            <a:ext cx="219456" cy="219456"/>
          </a:xfrm>
          <a:prstGeom prst="ellipse">
            <a:avLst/>
          </a:prstGeom>
          <a:solidFill>
            <a:srgbClr val="06A9C8"/>
          </a:solidFill>
          <a:ln w="12700">
            <a:solidFill>
              <a:srgbClr val="06A9C8"/>
            </a:solidFill>
            <a:prstDash val="solid"/>
          </a:ln>
        </p:spPr>
      </p:sp>
      <p:sp>
        <p:nvSpPr>
          <p:cNvPr id="11" name="Text 9"/>
          <p:cNvSpPr/>
          <p:nvPr/>
        </p:nvSpPr>
        <p:spPr>
          <a:xfrm>
            <a:off x="9354312" y="213969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82912" y="209397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Outcome</a:t>
            </a:r>
            <a:endParaRPr lang="en-US" sz="1080" dirty="0"/>
          </a:p>
        </p:txBody>
      </p:sp>
      <p:sp>
        <p:nvSpPr>
          <p:cNvPr id="13" name="Text 11"/>
          <p:cNvSpPr/>
          <p:nvPr/>
        </p:nvSpPr>
        <p:spPr>
          <a:xfrm>
            <a:off x="9354312" y="2423160"/>
            <a:ext cx="1920240" cy="676656"/>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You can explain where each governance layer fits.</a:t>
            </a:r>
            <a:endParaRPr lang="en-US" sz="96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9 · Lecture 50</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Governance Control Map</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Map controls to the risks they reduce.</a:t>
            </a:r>
            <a:endParaRPr lang="en-US" sz="1500" dirty="0"/>
          </a:p>
        </p:txBody>
      </p:sp>
      <p:sp>
        <p:nvSpPr>
          <p:cNvPr id="8" name="Text 6"/>
          <p:cNvSpPr/>
          <p:nvPr/>
        </p:nvSpPr>
        <p:spPr>
          <a:xfrm>
            <a:off x="658368" y="1965960"/>
            <a:ext cx="8001000" cy="3429000"/>
          </a:xfrm>
          <a:prstGeom prst="rect">
            <a:avLst/>
          </a:prstGeom>
          <a:noFill/>
          <a:ln/>
        </p:spPr>
        <p:txBody>
          <a:bodyPr wrap="square" lIns="254" tIns="254" rIns="254" bIns="254" rtlCol="0" anchor="ctr">
            <a:normAutofit/>
          </a:bodyPr>
          <a:lstStyle/>
          <a:p>
            <a:pPr indent="0" marL="0">
              <a:buNone/>
            </a:pPr>
            <a:r>
              <a:rPr lang="en-US" sz="1850" dirty="0">
                <a:solidFill>
                  <a:srgbClr val="303846"/>
                </a:solidFill>
                <a:latin typeface="Aptos" pitchFamily="34" charset="0"/>
                <a:ea typeface="Aptos" pitchFamily="34" charset="-122"/>
                <a:cs typeface="Aptos" pitchFamily="34" charset="-120"/>
              </a:rPr>
              <a:t>▸ Identity controls reduce unauthorized access.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Policy controls reduce configuration drift.</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Gateway controls reduce unmanaged endpoint usage.</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Defender controls reduce security blind spots.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Purview controls reduce sensitive-data exposure.</a:t>
            </a:r>
            <a:endParaRPr lang="en-US" sz="1850" dirty="0"/>
          </a:p>
        </p:txBody>
      </p:sp>
      <p:sp>
        <p:nvSpPr>
          <p:cNvPr id="9" name="Shape 7"/>
          <p:cNvSpPr/>
          <p:nvPr/>
        </p:nvSpPr>
        <p:spPr>
          <a:xfrm>
            <a:off x="9144000" y="1965960"/>
            <a:ext cx="2331720" cy="1243584"/>
          </a:xfrm>
          <a:prstGeom prst="rect">
            <a:avLst/>
          </a:prstGeom>
          <a:solidFill>
            <a:srgbClr val="F4F8FB"/>
          </a:solidFill>
          <a:ln w="12700">
            <a:solidFill>
              <a:srgbClr val="E7EEF4"/>
            </a:solidFill>
            <a:prstDash val="solid"/>
          </a:ln>
        </p:spPr>
      </p:sp>
      <p:sp>
        <p:nvSpPr>
          <p:cNvPr id="10" name="Shape 8"/>
          <p:cNvSpPr/>
          <p:nvPr/>
        </p:nvSpPr>
        <p:spPr>
          <a:xfrm>
            <a:off x="9299448" y="2121408"/>
            <a:ext cx="219456" cy="219456"/>
          </a:xfrm>
          <a:prstGeom prst="ellipse">
            <a:avLst/>
          </a:prstGeom>
          <a:solidFill>
            <a:srgbClr val="06A9C8"/>
          </a:solidFill>
          <a:ln w="12700">
            <a:solidFill>
              <a:srgbClr val="06A9C8"/>
            </a:solidFill>
            <a:prstDash val="solid"/>
          </a:ln>
        </p:spPr>
      </p:sp>
      <p:sp>
        <p:nvSpPr>
          <p:cNvPr id="11" name="Text 9"/>
          <p:cNvSpPr/>
          <p:nvPr/>
        </p:nvSpPr>
        <p:spPr>
          <a:xfrm>
            <a:off x="9354312" y="213969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82912" y="209397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Review frame</a:t>
            </a:r>
            <a:endParaRPr lang="en-US" sz="1080" dirty="0"/>
          </a:p>
        </p:txBody>
      </p:sp>
      <p:sp>
        <p:nvSpPr>
          <p:cNvPr id="13" name="Text 11"/>
          <p:cNvSpPr/>
          <p:nvPr/>
        </p:nvSpPr>
        <p:spPr>
          <a:xfrm>
            <a:off x="9354312" y="2423160"/>
            <a:ext cx="1920240" cy="676656"/>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A mature design uses multiple controls because no single feature governs everything.</a:t>
            </a:r>
            <a:endParaRPr lang="en-US" sz="96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9 · Lecture 51</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Capstone: Design a Governed Enterprise Agent Architecture</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The capstone ties together the course into one reviewable architecture.</a:t>
            </a:r>
            <a:endParaRPr lang="en-US" sz="1500" dirty="0"/>
          </a:p>
        </p:txBody>
      </p:sp>
      <p:sp>
        <p:nvSpPr>
          <p:cNvPr id="8" name="Text 6"/>
          <p:cNvSpPr/>
          <p:nvPr/>
        </p:nvSpPr>
        <p:spPr>
          <a:xfrm>
            <a:off x="658368" y="1965960"/>
            <a:ext cx="8001000" cy="3429000"/>
          </a:xfrm>
          <a:prstGeom prst="rect">
            <a:avLst/>
          </a:prstGeom>
          <a:noFill/>
          <a:ln/>
        </p:spPr>
        <p:txBody>
          <a:bodyPr wrap="square" lIns="254" tIns="254" rIns="254" bIns="254" rtlCol="0" anchor="ctr">
            <a:normAutofit/>
          </a:bodyPr>
          <a:lstStyle/>
          <a:p>
            <a:pPr indent="0" marL="0">
              <a:buNone/>
            </a:pPr>
            <a:r>
              <a:rPr lang="en-US" sz="1850" dirty="0">
                <a:solidFill>
                  <a:srgbClr val="303846"/>
                </a:solidFill>
                <a:latin typeface="Aptos" pitchFamily="34" charset="0"/>
                <a:ea typeface="Aptos" pitchFamily="34" charset="-122"/>
                <a:cs typeface="Aptos" pitchFamily="34" charset="-120"/>
              </a:rPr>
              <a:t>▸ Start with a Foundry resource and project boundary.</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Deploy an appropriate model and secure access.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Create a prompt agent with reliable instructions and publishing controls.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Ground the agent with Foundry IQ and citations.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Connect approved tools, evaluate behavior, monitor operations, and govern the fleet.</a:t>
            </a:r>
            <a:endParaRPr lang="en-US" sz="1850" dirty="0"/>
          </a:p>
        </p:txBody>
      </p:sp>
      <p:sp>
        <p:nvSpPr>
          <p:cNvPr id="9" name="Shape 7"/>
          <p:cNvSpPr/>
          <p:nvPr/>
        </p:nvSpPr>
        <p:spPr>
          <a:xfrm>
            <a:off x="9144000" y="1965960"/>
            <a:ext cx="2331720" cy="1243584"/>
          </a:xfrm>
          <a:prstGeom prst="rect">
            <a:avLst/>
          </a:prstGeom>
          <a:solidFill>
            <a:srgbClr val="F4F8FB"/>
          </a:solidFill>
          <a:ln w="12700">
            <a:solidFill>
              <a:srgbClr val="E7EEF4"/>
            </a:solidFill>
            <a:prstDash val="solid"/>
          </a:ln>
        </p:spPr>
      </p:sp>
      <p:sp>
        <p:nvSpPr>
          <p:cNvPr id="10" name="Shape 8"/>
          <p:cNvSpPr/>
          <p:nvPr/>
        </p:nvSpPr>
        <p:spPr>
          <a:xfrm>
            <a:off x="9299448" y="2121408"/>
            <a:ext cx="219456" cy="219456"/>
          </a:xfrm>
          <a:prstGeom prst="ellipse">
            <a:avLst/>
          </a:prstGeom>
          <a:solidFill>
            <a:srgbClr val="06A9C8"/>
          </a:solidFill>
          <a:ln w="12700">
            <a:solidFill>
              <a:srgbClr val="06A9C8"/>
            </a:solidFill>
            <a:prstDash val="solid"/>
          </a:ln>
        </p:spPr>
      </p:sp>
      <p:sp>
        <p:nvSpPr>
          <p:cNvPr id="11" name="Text 9"/>
          <p:cNvSpPr/>
          <p:nvPr/>
        </p:nvSpPr>
        <p:spPr>
          <a:xfrm>
            <a:off x="9354312" y="213969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82912" y="209397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Capstone outcome</a:t>
            </a:r>
            <a:endParaRPr lang="en-US" sz="1080" dirty="0"/>
          </a:p>
        </p:txBody>
      </p:sp>
      <p:sp>
        <p:nvSpPr>
          <p:cNvPr id="13" name="Text 11"/>
          <p:cNvSpPr/>
          <p:nvPr/>
        </p:nvSpPr>
        <p:spPr>
          <a:xfrm>
            <a:off x="9354312" y="2423160"/>
            <a:ext cx="1920240" cy="676656"/>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A complete architecture that can be explained to platform, security, and business stakeholders.</a:t>
            </a:r>
            <a:endParaRPr lang="en-US" sz="96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9 · Lecture 51</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Capstone Review Questions</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Use these questions to test the architecture before calling it production-ready.</a:t>
            </a:r>
            <a:endParaRPr lang="en-US" sz="1500" dirty="0"/>
          </a:p>
        </p:txBody>
      </p:sp>
      <p:sp>
        <p:nvSpPr>
          <p:cNvPr id="8" name="Text 6"/>
          <p:cNvSpPr/>
          <p:nvPr/>
        </p:nvSpPr>
        <p:spPr>
          <a:xfrm>
            <a:off x="658368" y="1965960"/>
            <a:ext cx="8001000" cy="3429000"/>
          </a:xfrm>
          <a:prstGeom prst="rect">
            <a:avLst/>
          </a:prstGeom>
          <a:noFill/>
          <a:ln/>
        </p:spPr>
        <p:txBody>
          <a:bodyPr wrap="square" lIns="254" tIns="254" rIns="254" bIns="254" rtlCol="0" anchor="ctr">
            <a:normAutofit/>
          </a:bodyPr>
          <a:lstStyle/>
          <a:p>
            <a:pPr indent="0" marL="0">
              <a:buNone/>
            </a:pPr>
            <a:r>
              <a:rPr lang="en-US" sz="1850" dirty="0">
                <a:solidFill>
                  <a:srgbClr val="303846"/>
                </a:solidFill>
                <a:latin typeface="Aptos" pitchFamily="34" charset="0"/>
                <a:ea typeface="Aptos" pitchFamily="34" charset="-122"/>
                <a:cs typeface="Aptos" pitchFamily="34" charset="-120"/>
              </a:rPr>
              <a:t>▸ Which identity can create, configure, publish, and invoke the agent?</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Which knowledge sources and tools can the agent access?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Which actions require approval or human escalation?</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Which evaluations prove the agent is reliable enough?</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Which monitoring and governance controls detect problems after release?</a:t>
            </a:r>
            <a:endParaRPr lang="en-US" sz="1850" dirty="0"/>
          </a:p>
        </p:txBody>
      </p:sp>
      <p:sp>
        <p:nvSpPr>
          <p:cNvPr id="9" name="Shape 7"/>
          <p:cNvSpPr/>
          <p:nvPr/>
        </p:nvSpPr>
        <p:spPr>
          <a:xfrm>
            <a:off x="9144000" y="1965960"/>
            <a:ext cx="2331720" cy="1243584"/>
          </a:xfrm>
          <a:prstGeom prst="rect">
            <a:avLst/>
          </a:prstGeom>
          <a:solidFill>
            <a:srgbClr val="F4F8FB"/>
          </a:solidFill>
          <a:ln w="12700">
            <a:solidFill>
              <a:srgbClr val="E7EEF4"/>
            </a:solidFill>
            <a:prstDash val="solid"/>
          </a:ln>
        </p:spPr>
      </p:sp>
      <p:sp>
        <p:nvSpPr>
          <p:cNvPr id="10" name="Shape 8"/>
          <p:cNvSpPr/>
          <p:nvPr/>
        </p:nvSpPr>
        <p:spPr>
          <a:xfrm>
            <a:off x="9299448" y="2121408"/>
            <a:ext cx="219456" cy="219456"/>
          </a:xfrm>
          <a:prstGeom prst="ellipse">
            <a:avLst/>
          </a:prstGeom>
          <a:solidFill>
            <a:srgbClr val="06A9C8"/>
          </a:solidFill>
          <a:ln w="12700">
            <a:solidFill>
              <a:srgbClr val="06A9C8"/>
            </a:solidFill>
            <a:prstDash val="solid"/>
          </a:ln>
        </p:spPr>
      </p:sp>
      <p:sp>
        <p:nvSpPr>
          <p:cNvPr id="11" name="Text 9"/>
          <p:cNvSpPr/>
          <p:nvPr/>
        </p:nvSpPr>
        <p:spPr>
          <a:xfrm>
            <a:off x="9354312" y="213969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82912" y="209397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Architecture test</a:t>
            </a:r>
            <a:endParaRPr lang="en-US" sz="1080" dirty="0"/>
          </a:p>
        </p:txBody>
      </p:sp>
      <p:sp>
        <p:nvSpPr>
          <p:cNvPr id="13" name="Text 11"/>
          <p:cNvSpPr/>
          <p:nvPr/>
        </p:nvSpPr>
        <p:spPr>
          <a:xfrm>
            <a:off x="9354312" y="2423160"/>
            <a:ext cx="1920240" cy="676656"/>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If the design cannot answer these questions, it is not ready yet.</a:t>
            </a:r>
            <a:endParaRPr lang="en-US" sz="96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9 · Lecture 52</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Production Readiness and Microsoft Foundry Maintenance Roadmap</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Production readiness is a repeatable operating discipline.</a:t>
            </a:r>
            <a:endParaRPr lang="en-US" sz="1500" dirty="0"/>
          </a:p>
        </p:txBody>
      </p:sp>
      <p:sp>
        <p:nvSpPr>
          <p:cNvPr id="8" name="Text 6"/>
          <p:cNvSpPr/>
          <p:nvPr/>
        </p:nvSpPr>
        <p:spPr>
          <a:xfrm>
            <a:off x="658368" y="1965960"/>
            <a:ext cx="8001000" cy="3429000"/>
          </a:xfrm>
          <a:prstGeom prst="rect">
            <a:avLst/>
          </a:prstGeom>
          <a:noFill/>
          <a:ln/>
        </p:spPr>
        <p:txBody>
          <a:bodyPr wrap="square" lIns="254" tIns="254" rIns="254" bIns="254" rtlCol="0" anchor="ctr">
            <a:normAutofit/>
          </a:bodyPr>
          <a:lstStyle/>
          <a:p>
            <a:pPr indent="0" marL="0">
              <a:buNone/>
            </a:pPr>
            <a:r>
              <a:rPr lang="en-US" sz="1850" dirty="0">
                <a:solidFill>
                  <a:srgbClr val="303846"/>
                </a:solidFill>
                <a:latin typeface="Aptos" pitchFamily="34" charset="0"/>
                <a:ea typeface="Aptos" pitchFamily="34" charset="-122"/>
                <a:cs typeface="Aptos" pitchFamily="34" charset="-120"/>
              </a:rPr>
              <a:t>▸ Document owners for models, agents, knowledge, tools, and evaluations.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Identify preview dependencies and review them before release.</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Define update cadence for Microsoft Learn, SDKs, portal changes, and labs.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Plan monitoring, incident response, and rollback routines.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Review cost, quota, and governance posture regularly.</a:t>
            </a:r>
            <a:endParaRPr lang="en-US" sz="1850" dirty="0"/>
          </a:p>
        </p:txBody>
      </p:sp>
      <p:sp>
        <p:nvSpPr>
          <p:cNvPr id="9" name="Shape 7"/>
          <p:cNvSpPr/>
          <p:nvPr/>
        </p:nvSpPr>
        <p:spPr>
          <a:xfrm>
            <a:off x="9144000" y="1965960"/>
            <a:ext cx="2331720" cy="1243584"/>
          </a:xfrm>
          <a:prstGeom prst="rect">
            <a:avLst/>
          </a:prstGeom>
          <a:solidFill>
            <a:srgbClr val="F4F8FB"/>
          </a:solidFill>
          <a:ln w="12700">
            <a:solidFill>
              <a:srgbClr val="E7EEF4"/>
            </a:solidFill>
            <a:prstDash val="solid"/>
          </a:ln>
        </p:spPr>
      </p:sp>
      <p:sp>
        <p:nvSpPr>
          <p:cNvPr id="10" name="Shape 8"/>
          <p:cNvSpPr/>
          <p:nvPr/>
        </p:nvSpPr>
        <p:spPr>
          <a:xfrm>
            <a:off x="9299448" y="2121408"/>
            <a:ext cx="219456" cy="219456"/>
          </a:xfrm>
          <a:prstGeom prst="ellipse">
            <a:avLst/>
          </a:prstGeom>
          <a:solidFill>
            <a:srgbClr val="06A9C8"/>
          </a:solidFill>
          <a:ln w="12700">
            <a:solidFill>
              <a:srgbClr val="06A9C8"/>
            </a:solidFill>
            <a:prstDash val="solid"/>
          </a:ln>
        </p:spPr>
      </p:sp>
      <p:sp>
        <p:nvSpPr>
          <p:cNvPr id="11" name="Text 9"/>
          <p:cNvSpPr/>
          <p:nvPr/>
        </p:nvSpPr>
        <p:spPr>
          <a:xfrm>
            <a:off x="9354312" y="213969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82912" y="209397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Outcome</a:t>
            </a:r>
            <a:endParaRPr lang="en-US" sz="1080" dirty="0"/>
          </a:p>
        </p:txBody>
      </p:sp>
      <p:sp>
        <p:nvSpPr>
          <p:cNvPr id="13" name="Text 11"/>
          <p:cNvSpPr/>
          <p:nvPr/>
        </p:nvSpPr>
        <p:spPr>
          <a:xfrm>
            <a:off x="9354312" y="2423160"/>
            <a:ext cx="1920240" cy="676656"/>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You can maintain the course architecture as Foundry evolves.</a:t>
            </a:r>
            <a:endParaRPr lang="en-US" sz="96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9 · Lecture 52</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Preview Dependency Review</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Do not hide preview status from learners or production reviewers.</a:t>
            </a:r>
            <a:endParaRPr lang="en-US" sz="1500" dirty="0"/>
          </a:p>
        </p:txBody>
      </p:sp>
      <p:sp>
        <p:nvSpPr>
          <p:cNvPr id="8" name="Text 6"/>
          <p:cNvSpPr/>
          <p:nvPr/>
        </p:nvSpPr>
        <p:spPr>
          <a:xfrm>
            <a:off x="658368" y="1965960"/>
            <a:ext cx="8001000" cy="3429000"/>
          </a:xfrm>
          <a:prstGeom prst="rect">
            <a:avLst/>
          </a:prstGeom>
          <a:noFill/>
          <a:ln/>
        </p:spPr>
        <p:txBody>
          <a:bodyPr wrap="square" lIns="254" tIns="254" rIns="254" bIns="254" rtlCol="0" anchor="ctr">
            <a:normAutofit/>
          </a:bodyPr>
          <a:lstStyle/>
          <a:p>
            <a:pPr indent="0" marL="0">
              <a:buNone/>
            </a:pPr>
            <a:r>
              <a:rPr lang="en-US" sz="1850" dirty="0">
                <a:solidFill>
                  <a:srgbClr val="303846"/>
                </a:solidFill>
                <a:latin typeface="Aptos" pitchFamily="34" charset="0"/>
                <a:ea typeface="Aptos" pitchFamily="34" charset="-122"/>
                <a:cs typeface="Aptos" pitchFamily="34" charset="-120"/>
              </a:rPr>
              <a:t>▸ Identify which capabilities are preview at recording time.</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Explain why the capability is included despite its status.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Avoid making preview features the only path through a required lab.</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Provide a fallback explanation when the portal experience changes.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Recheck Microsoft Learn before recording or updating the lesson.</a:t>
            </a:r>
            <a:endParaRPr lang="en-US" sz="1850" dirty="0"/>
          </a:p>
        </p:txBody>
      </p:sp>
      <p:sp>
        <p:nvSpPr>
          <p:cNvPr id="9" name="Shape 7"/>
          <p:cNvSpPr/>
          <p:nvPr/>
        </p:nvSpPr>
        <p:spPr>
          <a:xfrm>
            <a:off x="9144000" y="1965960"/>
            <a:ext cx="2331720" cy="1243584"/>
          </a:xfrm>
          <a:prstGeom prst="rect">
            <a:avLst/>
          </a:prstGeom>
          <a:solidFill>
            <a:srgbClr val="F4F8FB"/>
          </a:solidFill>
          <a:ln w="12700">
            <a:solidFill>
              <a:srgbClr val="E7EEF4"/>
            </a:solidFill>
            <a:prstDash val="solid"/>
          </a:ln>
        </p:spPr>
      </p:sp>
      <p:sp>
        <p:nvSpPr>
          <p:cNvPr id="10" name="Shape 8"/>
          <p:cNvSpPr/>
          <p:nvPr/>
        </p:nvSpPr>
        <p:spPr>
          <a:xfrm>
            <a:off x="9299448" y="2121408"/>
            <a:ext cx="219456" cy="219456"/>
          </a:xfrm>
          <a:prstGeom prst="ellipse">
            <a:avLst/>
          </a:prstGeom>
          <a:solidFill>
            <a:srgbClr val="06A9C8"/>
          </a:solidFill>
          <a:ln w="12700">
            <a:solidFill>
              <a:srgbClr val="06A9C8"/>
            </a:solidFill>
            <a:prstDash val="solid"/>
          </a:ln>
        </p:spPr>
      </p:sp>
      <p:sp>
        <p:nvSpPr>
          <p:cNvPr id="11" name="Text 9"/>
          <p:cNvSpPr/>
          <p:nvPr/>
        </p:nvSpPr>
        <p:spPr>
          <a:xfrm>
            <a:off x="9354312" y="213969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82912" y="209397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Maintenance rule</a:t>
            </a:r>
            <a:endParaRPr lang="en-US" sz="1080" dirty="0"/>
          </a:p>
        </p:txBody>
      </p:sp>
      <p:sp>
        <p:nvSpPr>
          <p:cNvPr id="13" name="Text 11"/>
          <p:cNvSpPr/>
          <p:nvPr/>
        </p:nvSpPr>
        <p:spPr>
          <a:xfrm>
            <a:off x="9354312" y="2423160"/>
            <a:ext cx="1920240" cy="676656"/>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Fast-moving AI platform content must be maintained intentionally.</a:t>
            </a:r>
            <a:endParaRPr lang="en-US" sz="96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9 Review</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Section 9 — Section Review</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Key takeaways and transition to the next section.</a:t>
            </a:r>
            <a:endParaRPr lang="en-US" sz="1500" dirty="0"/>
          </a:p>
        </p:txBody>
      </p:sp>
      <p:sp>
        <p:nvSpPr>
          <p:cNvPr id="8" name="Shape 6"/>
          <p:cNvSpPr/>
          <p:nvPr/>
        </p:nvSpPr>
        <p:spPr>
          <a:xfrm>
            <a:off x="658368" y="1938528"/>
            <a:ext cx="2423160" cy="1234440"/>
          </a:xfrm>
          <a:prstGeom prst="rect">
            <a:avLst/>
          </a:prstGeom>
          <a:solidFill>
            <a:srgbClr val="F4F8FB"/>
          </a:solidFill>
          <a:ln w="12700">
            <a:solidFill>
              <a:srgbClr val="E4EEF4"/>
            </a:solidFill>
            <a:prstDash val="solid"/>
          </a:ln>
        </p:spPr>
      </p:sp>
      <p:sp>
        <p:nvSpPr>
          <p:cNvPr id="9" name="Text 7"/>
          <p:cNvSpPr/>
          <p:nvPr/>
        </p:nvSpPr>
        <p:spPr>
          <a:xfrm>
            <a:off x="822960" y="2075688"/>
            <a:ext cx="2093976" cy="182880"/>
          </a:xfrm>
          <a:prstGeom prst="rect">
            <a:avLst/>
          </a:prstGeom>
          <a:noFill/>
          <a:ln/>
        </p:spPr>
        <p:txBody>
          <a:bodyPr wrap="square" lIns="0" tIns="0" rIns="0" bIns="0" rtlCol="0" anchor="ctr"/>
          <a:lstStyle/>
          <a:p>
            <a:pPr indent="0" marL="0">
              <a:buNone/>
            </a:pPr>
            <a:r>
              <a:rPr lang="en-US" sz="1050" b="1" dirty="0">
                <a:solidFill>
                  <a:srgbClr val="06A9C8"/>
                </a:solidFill>
                <a:latin typeface="Aptos" pitchFamily="34" charset="0"/>
                <a:ea typeface="Aptos" pitchFamily="34" charset="-122"/>
                <a:cs typeface="Aptos" pitchFamily="34" charset="-120"/>
              </a:rPr>
              <a:t>Takeaway 1</a:t>
            </a:r>
            <a:endParaRPr lang="en-US" sz="1050" dirty="0"/>
          </a:p>
        </p:txBody>
      </p:sp>
      <p:sp>
        <p:nvSpPr>
          <p:cNvPr id="10" name="Text 8"/>
          <p:cNvSpPr/>
          <p:nvPr/>
        </p:nvSpPr>
        <p:spPr>
          <a:xfrm>
            <a:off x="822960" y="2368296"/>
            <a:ext cx="2093976" cy="621792"/>
          </a:xfrm>
          <a:prstGeom prst="rect">
            <a:avLst/>
          </a:prstGeom>
          <a:noFill/>
          <a:ln/>
        </p:spPr>
        <p:txBody>
          <a:bodyPr wrap="square" lIns="254" tIns="254" rIns="254" bIns="254" rtlCol="0" anchor="ctr">
            <a:normAutofit/>
          </a:bodyPr>
          <a:lstStyle/>
          <a:p>
            <a:pPr indent="0" marL="0">
              <a:buNone/>
            </a:pPr>
            <a:r>
              <a:rPr lang="en-US" sz="1150" dirty="0">
                <a:solidFill>
                  <a:srgbClr val="303846"/>
                </a:solidFill>
                <a:latin typeface="Aptos" pitchFamily="34" charset="0"/>
                <a:ea typeface="Aptos" pitchFamily="34" charset="-122"/>
                <a:cs typeface="Aptos" pitchFamily="34" charset="-120"/>
              </a:rPr>
              <a:t>Control Plane provides enterprise-scale visibility and governance.</a:t>
            </a:r>
            <a:endParaRPr lang="en-US" sz="1150" dirty="0"/>
          </a:p>
        </p:txBody>
      </p:sp>
      <p:sp>
        <p:nvSpPr>
          <p:cNvPr id="11" name="Shape 9"/>
          <p:cNvSpPr/>
          <p:nvPr/>
        </p:nvSpPr>
        <p:spPr>
          <a:xfrm>
            <a:off x="3310128" y="1938528"/>
            <a:ext cx="2423160" cy="1234440"/>
          </a:xfrm>
          <a:prstGeom prst="rect">
            <a:avLst/>
          </a:prstGeom>
          <a:solidFill>
            <a:srgbClr val="EDF6FA"/>
          </a:solidFill>
          <a:ln w="12700">
            <a:solidFill>
              <a:srgbClr val="E4EEF4"/>
            </a:solidFill>
            <a:prstDash val="solid"/>
          </a:ln>
        </p:spPr>
      </p:sp>
      <p:sp>
        <p:nvSpPr>
          <p:cNvPr id="12" name="Text 10"/>
          <p:cNvSpPr/>
          <p:nvPr/>
        </p:nvSpPr>
        <p:spPr>
          <a:xfrm>
            <a:off x="3474720" y="2075688"/>
            <a:ext cx="2093976" cy="182880"/>
          </a:xfrm>
          <a:prstGeom prst="rect">
            <a:avLst/>
          </a:prstGeom>
          <a:noFill/>
          <a:ln/>
        </p:spPr>
        <p:txBody>
          <a:bodyPr wrap="square" lIns="0" tIns="0" rIns="0" bIns="0" rtlCol="0" anchor="ctr"/>
          <a:lstStyle/>
          <a:p>
            <a:pPr indent="0" marL="0">
              <a:buNone/>
            </a:pPr>
            <a:r>
              <a:rPr lang="en-US" sz="1050" b="1" dirty="0">
                <a:solidFill>
                  <a:srgbClr val="06A9C8"/>
                </a:solidFill>
                <a:latin typeface="Aptos" pitchFamily="34" charset="0"/>
                <a:ea typeface="Aptos" pitchFamily="34" charset="-122"/>
                <a:cs typeface="Aptos" pitchFamily="34" charset="-120"/>
              </a:rPr>
              <a:t>Takeaway 2</a:t>
            </a:r>
            <a:endParaRPr lang="en-US" sz="1050" dirty="0"/>
          </a:p>
        </p:txBody>
      </p:sp>
      <p:sp>
        <p:nvSpPr>
          <p:cNvPr id="13" name="Text 11"/>
          <p:cNvSpPr/>
          <p:nvPr/>
        </p:nvSpPr>
        <p:spPr>
          <a:xfrm>
            <a:off x="3474720" y="2368296"/>
            <a:ext cx="2093976" cy="621792"/>
          </a:xfrm>
          <a:prstGeom prst="rect">
            <a:avLst/>
          </a:prstGeom>
          <a:noFill/>
          <a:ln/>
        </p:spPr>
        <p:txBody>
          <a:bodyPr wrap="square" lIns="254" tIns="254" rIns="254" bIns="254" rtlCol="0" anchor="ctr">
            <a:normAutofit/>
          </a:bodyPr>
          <a:lstStyle/>
          <a:p>
            <a:pPr indent="0" marL="0">
              <a:buNone/>
            </a:pPr>
            <a:r>
              <a:rPr lang="en-US" sz="1150" dirty="0">
                <a:solidFill>
                  <a:srgbClr val="303846"/>
                </a:solidFill>
                <a:latin typeface="Aptos" pitchFamily="34" charset="0"/>
                <a:ea typeface="Aptos" pitchFamily="34" charset="-122"/>
                <a:cs typeface="Aptos" pitchFamily="34" charset="-120"/>
              </a:rPr>
              <a:t>Policy, guardrails, gateway, Defender, and Purview address different risk layers.</a:t>
            </a:r>
            <a:endParaRPr lang="en-US" sz="1150" dirty="0"/>
          </a:p>
        </p:txBody>
      </p:sp>
      <p:sp>
        <p:nvSpPr>
          <p:cNvPr id="14" name="Shape 12"/>
          <p:cNvSpPr/>
          <p:nvPr/>
        </p:nvSpPr>
        <p:spPr>
          <a:xfrm>
            <a:off x="5961888" y="1938528"/>
            <a:ext cx="2423160" cy="1234440"/>
          </a:xfrm>
          <a:prstGeom prst="rect">
            <a:avLst/>
          </a:prstGeom>
          <a:solidFill>
            <a:srgbClr val="F4F8FB"/>
          </a:solidFill>
          <a:ln w="12700">
            <a:solidFill>
              <a:srgbClr val="E4EEF4"/>
            </a:solidFill>
            <a:prstDash val="solid"/>
          </a:ln>
        </p:spPr>
      </p:sp>
      <p:sp>
        <p:nvSpPr>
          <p:cNvPr id="15" name="Text 13"/>
          <p:cNvSpPr/>
          <p:nvPr/>
        </p:nvSpPr>
        <p:spPr>
          <a:xfrm>
            <a:off x="6126480" y="2075688"/>
            <a:ext cx="2093976" cy="182880"/>
          </a:xfrm>
          <a:prstGeom prst="rect">
            <a:avLst/>
          </a:prstGeom>
          <a:noFill/>
          <a:ln/>
        </p:spPr>
        <p:txBody>
          <a:bodyPr wrap="square" lIns="0" tIns="0" rIns="0" bIns="0" rtlCol="0" anchor="ctr"/>
          <a:lstStyle/>
          <a:p>
            <a:pPr indent="0" marL="0">
              <a:buNone/>
            </a:pPr>
            <a:r>
              <a:rPr lang="en-US" sz="1050" b="1" dirty="0">
                <a:solidFill>
                  <a:srgbClr val="06A9C8"/>
                </a:solidFill>
                <a:latin typeface="Aptos" pitchFamily="34" charset="0"/>
                <a:ea typeface="Aptos" pitchFamily="34" charset="-122"/>
                <a:cs typeface="Aptos" pitchFamily="34" charset="-120"/>
              </a:rPr>
              <a:t>Takeaway 3</a:t>
            </a:r>
            <a:endParaRPr lang="en-US" sz="1050" dirty="0"/>
          </a:p>
        </p:txBody>
      </p:sp>
      <p:sp>
        <p:nvSpPr>
          <p:cNvPr id="16" name="Text 14"/>
          <p:cNvSpPr/>
          <p:nvPr/>
        </p:nvSpPr>
        <p:spPr>
          <a:xfrm>
            <a:off x="6126480" y="2368296"/>
            <a:ext cx="2093976" cy="621792"/>
          </a:xfrm>
          <a:prstGeom prst="rect">
            <a:avLst/>
          </a:prstGeom>
          <a:noFill/>
          <a:ln/>
        </p:spPr>
        <p:txBody>
          <a:bodyPr wrap="square" lIns="254" tIns="254" rIns="254" bIns="254" rtlCol="0" anchor="ctr">
            <a:normAutofit/>
          </a:bodyPr>
          <a:lstStyle/>
          <a:p>
            <a:pPr indent="0" marL="0">
              <a:buNone/>
            </a:pPr>
            <a:r>
              <a:rPr lang="en-US" sz="1150" dirty="0">
                <a:solidFill>
                  <a:srgbClr val="303846"/>
                </a:solidFill>
                <a:latin typeface="Aptos" pitchFamily="34" charset="0"/>
                <a:ea typeface="Aptos" pitchFamily="34" charset="-122"/>
                <a:cs typeface="Aptos" pitchFamily="34" charset="-120"/>
              </a:rPr>
              <a:t>The capstone architecture must explain identity, knowledge, tools, evaluation, and monitoring.</a:t>
            </a:r>
            <a:endParaRPr lang="en-US" sz="1150" dirty="0"/>
          </a:p>
        </p:txBody>
      </p:sp>
      <p:sp>
        <p:nvSpPr>
          <p:cNvPr id="17" name="Shape 15"/>
          <p:cNvSpPr/>
          <p:nvPr/>
        </p:nvSpPr>
        <p:spPr>
          <a:xfrm>
            <a:off x="8613648" y="1938528"/>
            <a:ext cx="2423160" cy="1234440"/>
          </a:xfrm>
          <a:prstGeom prst="rect">
            <a:avLst/>
          </a:prstGeom>
          <a:solidFill>
            <a:srgbClr val="EDF6FA"/>
          </a:solidFill>
          <a:ln w="12700">
            <a:solidFill>
              <a:srgbClr val="E4EEF4"/>
            </a:solidFill>
            <a:prstDash val="solid"/>
          </a:ln>
        </p:spPr>
      </p:sp>
      <p:sp>
        <p:nvSpPr>
          <p:cNvPr id="18" name="Text 16"/>
          <p:cNvSpPr/>
          <p:nvPr/>
        </p:nvSpPr>
        <p:spPr>
          <a:xfrm>
            <a:off x="8778240" y="2075688"/>
            <a:ext cx="2093976" cy="182880"/>
          </a:xfrm>
          <a:prstGeom prst="rect">
            <a:avLst/>
          </a:prstGeom>
          <a:noFill/>
          <a:ln/>
        </p:spPr>
        <p:txBody>
          <a:bodyPr wrap="square" lIns="0" tIns="0" rIns="0" bIns="0" rtlCol="0" anchor="ctr"/>
          <a:lstStyle/>
          <a:p>
            <a:pPr indent="0" marL="0">
              <a:buNone/>
            </a:pPr>
            <a:r>
              <a:rPr lang="en-US" sz="1050" b="1" dirty="0">
                <a:solidFill>
                  <a:srgbClr val="06A9C8"/>
                </a:solidFill>
                <a:latin typeface="Aptos" pitchFamily="34" charset="0"/>
                <a:ea typeface="Aptos" pitchFamily="34" charset="-122"/>
                <a:cs typeface="Aptos" pitchFamily="34" charset="-120"/>
              </a:rPr>
              <a:t>Takeaway 4</a:t>
            </a:r>
            <a:endParaRPr lang="en-US" sz="1050" dirty="0"/>
          </a:p>
        </p:txBody>
      </p:sp>
      <p:sp>
        <p:nvSpPr>
          <p:cNvPr id="19" name="Text 17"/>
          <p:cNvSpPr/>
          <p:nvPr/>
        </p:nvSpPr>
        <p:spPr>
          <a:xfrm>
            <a:off x="8778240" y="2368296"/>
            <a:ext cx="2093976" cy="621792"/>
          </a:xfrm>
          <a:prstGeom prst="rect">
            <a:avLst/>
          </a:prstGeom>
          <a:noFill/>
          <a:ln/>
        </p:spPr>
        <p:txBody>
          <a:bodyPr wrap="square" lIns="254" tIns="254" rIns="254" bIns="254" rtlCol="0" anchor="ctr">
            <a:normAutofit/>
          </a:bodyPr>
          <a:lstStyle/>
          <a:p>
            <a:pPr indent="0" marL="0">
              <a:buNone/>
            </a:pPr>
            <a:r>
              <a:rPr lang="en-US" sz="1150" dirty="0">
                <a:solidFill>
                  <a:srgbClr val="303846"/>
                </a:solidFill>
                <a:latin typeface="Aptos" pitchFamily="34" charset="0"/>
                <a:ea typeface="Aptos" pitchFamily="34" charset="-122"/>
                <a:cs typeface="Aptos" pitchFamily="34" charset="-120"/>
              </a:rPr>
              <a:t>Production readiness includes ownership, preview status, cost, rollback, and maintenance.</a:t>
            </a:r>
            <a:endParaRPr lang="en-US" sz="1150" dirty="0"/>
          </a:p>
        </p:txBody>
      </p:sp>
      <p:sp>
        <p:nvSpPr>
          <p:cNvPr id="20" name="Shape 18"/>
          <p:cNvSpPr/>
          <p:nvPr/>
        </p:nvSpPr>
        <p:spPr>
          <a:xfrm>
            <a:off x="9966960" y="4206240"/>
            <a:ext cx="1280160" cy="530352"/>
          </a:xfrm>
          <a:prstGeom prst="chevron">
            <a:avLst/>
          </a:prstGeom>
          <a:solidFill>
            <a:srgbClr val="06A9C8"/>
          </a:solidFill>
          <a:ln w="12700">
            <a:solidFill>
              <a:srgbClr val="06A9C8"/>
            </a:solidFill>
            <a:prstDash val="solid"/>
          </a:ln>
        </p:spPr>
      </p:sp>
      <p:sp>
        <p:nvSpPr>
          <p:cNvPr id="21" name="Text 19"/>
          <p:cNvSpPr/>
          <p:nvPr/>
        </p:nvSpPr>
        <p:spPr>
          <a:xfrm>
            <a:off x="10040112" y="4370832"/>
            <a:ext cx="1024128" cy="201168"/>
          </a:xfrm>
          <a:prstGeom prst="rect">
            <a:avLst/>
          </a:prstGeom>
          <a:noFill/>
          <a:ln/>
        </p:spPr>
        <p:txBody>
          <a:bodyPr wrap="square" lIns="0" tIns="0" rIns="0" bIns="0" rtlCol="0" anchor="ctr">
            <a:normAutofit/>
          </a:bodyPr>
          <a:lstStyle/>
          <a:p>
            <a:pPr algn="ctr" indent="0" marL="0">
              <a:buNone/>
            </a:pPr>
            <a:r>
              <a:rPr lang="en-US" sz="950" b="1" dirty="0">
                <a:solidFill>
                  <a:srgbClr val="FFFFFF"/>
                </a:solidFill>
                <a:latin typeface="Aptos" pitchFamily="34" charset="0"/>
                <a:ea typeface="Aptos" pitchFamily="34" charset="-122"/>
                <a:cs typeface="Aptos" pitchFamily="34" charset="-120"/>
              </a:rPr>
              <a:t>Next: course wrap-up.</a:t>
            </a:r>
            <a:endParaRPr lang="en-US" sz="95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658368" y="1024128"/>
            <a:ext cx="2194560" cy="329184"/>
          </a:xfrm>
          <a:prstGeom prst="rect">
            <a:avLst/>
          </a:prstGeom>
          <a:noFill/>
          <a:ln/>
        </p:spPr>
        <p:txBody>
          <a:bodyPr wrap="square" lIns="0" tIns="0" rIns="0" bIns="0" rtlCol="0" anchor="ctr"/>
          <a:lstStyle/>
          <a:p>
            <a:pPr indent="0" marL="0">
              <a:buNone/>
            </a:pPr>
            <a:r>
              <a:rPr lang="en-US" sz="1600" dirty="0">
                <a:solidFill>
                  <a:srgbClr val="06A9C8"/>
                </a:solidFill>
                <a:latin typeface="Aptos" pitchFamily="34" charset="0"/>
                <a:ea typeface="Aptos" pitchFamily="34" charset="-122"/>
                <a:cs typeface="Aptos" pitchFamily="34" charset="-120"/>
              </a:rPr>
              <a:t>Section 10</a:t>
            </a:r>
            <a:endParaRPr lang="en-US" sz="1600" dirty="0"/>
          </a:p>
        </p:txBody>
      </p:sp>
      <p:sp>
        <p:nvSpPr>
          <p:cNvPr id="6" name="Text 4"/>
          <p:cNvSpPr/>
          <p:nvPr/>
        </p:nvSpPr>
        <p:spPr>
          <a:xfrm>
            <a:off x="658368" y="1554480"/>
            <a:ext cx="7040880" cy="841248"/>
          </a:xfrm>
          <a:prstGeom prst="rect">
            <a:avLst/>
          </a:prstGeom>
          <a:noFill/>
          <a:ln/>
        </p:spPr>
        <p:txBody>
          <a:bodyPr wrap="square" lIns="0" tIns="0" rIns="0" bIns="0" rtlCol="0" anchor="ctr">
            <a:normAutofit/>
          </a:bodyPr>
          <a:lstStyle/>
          <a:p>
            <a:pPr indent="0" marL="0">
              <a:buNone/>
            </a:pPr>
            <a:r>
              <a:rPr lang="en-US" sz="3100" dirty="0">
                <a:solidFill>
                  <a:srgbClr val="172033"/>
                </a:solidFill>
                <a:latin typeface="Aptos Display" pitchFamily="34" charset="0"/>
                <a:ea typeface="Aptos Display" pitchFamily="34" charset="-122"/>
                <a:cs typeface="Aptos Display" pitchFamily="34" charset="-120"/>
              </a:rPr>
              <a:t>Course Wrap Up and Conclusion</a:t>
            </a:r>
            <a:endParaRPr lang="en-US" sz="3100" dirty="0"/>
          </a:p>
        </p:txBody>
      </p:sp>
      <p:sp>
        <p:nvSpPr>
          <p:cNvPr id="7" name="Text 5"/>
          <p:cNvSpPr/>
          <p:nvPr/>
        </p:nvSpPr>
        <p:spPr>
          <a:xfrm>
            <a:off x="658368" y="2578608"/>
            <a:ext cx="7132320" cy="640080"/>
          </a:xfrm>
          <a:prstGeom prst="rect">
            <a:avLst/>
          </a:prstGeom>
          <a:noFill/>
          <a:ln/>
        </p:spPr>
        <p:txBody>
          <a:bodyPr wrap="square" lIns="0" tIns="0" rIns="0" bIns="0" rtlCol="0" anchor="ctr">
            <a:normAutofit/>
          </a:bodyPr>
          <a:lstStyle/>
          <a:p>
            <a:pPr indent="0" marL="0">
              <a:buNone/>
            </a:pPr>
            <a:r>
              <a:rPr lang="en-US" sz="1550" dirty="0">
                <a:solidFill>
                  <a:srgbClr val="6B7280"/>
                </a:solidFill>
                <a:latin typeface="Aptos" pitchFamily="34" charset="0"/>
                <a:ea typeface="Aptos" pitchFamily="34" charset="-122"/>
                <a:cs typeface="Aptos" pitchFamily="34" charset="-120"/>
              </a:rPr>
              <a:t>Reinforce the final architecture model and point learners toward safe continued practice.</a:t>
            </a:r>
            <a:endParaRPr lang="en-US" sz="1550" dirty="0"/>
          </a:p>
        </p:txBody>
      </p:sp>
      <p:pic>
        <p:nvPicPr>
          <p:cNvPr id="8" name="Image 0" descr="/mnt/data/ref_pptx/ppt/media/image1.png">    </p:cNvPr>
          <p:cNvPicPr>
            <a:picLocks noChangeAspect="1"/>
          </p:cNvPicPr>
          <p:nvPr/>
        </p:nvPicPr>
        <p:blipFill>
          <a:blip r:embed="rId1"/>
          <a:stretch>
            <a:fillRect/>
          </a:stretch>
        </p:blipFill>
        <p:spPr>
          <a:xfrm>
            <a:off x="8092440" y="1097280"/>
            <a:ext cx="2468880" cy="2468880"/>
          </a:xfrm>
          <a:prstGeom prst="rect">
            <a:avLst/>
          </a:prstGeom>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10 · Lecture 54</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Course Conclusion</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The course outcome is a practical mental model for governed enterprise agents.</a:t>
            </a:r>
            <a:endParaRPr lang="en-US" sz="1500" dirty="0"/>
          </a:p>
        </p:txBody>
      </p:sp>
      <p:sp>
        <p:nvSpPr>
          <p:cNvPr id="8" name="Text 6"/>
          <p:cNvSpPr/>
          <p:nvPr/>
        </p:nvSpPr>
        <p:spPr>
          <a:xfrm>
            <a:off x="658368" y="1965960"/>
            <a:ext cx="8001000" cy="3429000"/>
          </a:xfrm>
          <a:prstGeom prst="rect">
            <a:avLst/>
          </a:prstGeom>
          <a:noFill/>
          <a:ln/>
        </p:spPr>
        <p:txBody>
          <a:bodyPr wrap="square" lIns="254" tIns="254" rIns="254" bIns="254" rtlCol="0" anchor="ctr">
            <a:normAutofit/>
          </a:bodyPr>
          <a:lstStyle/>
          <a:p>
            <a:pPr indent="0" marL="0">
              <a:buNone/>
            </a:pPr>
            <a:r>
              <a:rPr lang="en-US" sz="1850" dirty="0">
                <a:solidFill>
                  <a:srgbClr val="303846"/>
                </a:solidFill>
                <a:latin typeface="Aptos" pitchFamily="34" charset="0"/>
                <a:ea typeface="Aptos" pitchFamily="34" charset="-122"/>
                <a:cs typeface="Aptos" pitchFamily="34" charset="-120"/>
              </a:rPr>
              <a:t>▸ Foundry provides the platform boundary for enterprise AI assets.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Agents become useful when they are grounded, tooled, evaluated, and governed.</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Identity, data access, and tool permissions shape what an agent can safely do.</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Monitoring and evaluations turn agent behavior into operational evidence.</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The architecture must be maintained as Microsoft Foundry evolves.</a:t>
            </a:r>
            <a:endParaRPr lang="en-US" sz="1850" dirty="0"/>
          </a:p>
        </p:txBody>
      </p:sp>
      <p:sp>
        <p:nvSpPr>
          <p:cNvPr id="9" name="Shape 7"/>
          <p:cNvSpPr/>
          <p:nvPr/>
        </p:nvSpPr>
        <p:spPr>
          <a:xfrm>
            <a:off x="9144000" y="1965960"/>
            <a:ext cx="2331720" cy="1243584"/>
          </a:xfrm>
          <a:prstGeom prst="rect">
            <a:avLst/>
          </a:prstGeom>
          <a:solidFill>
            <a:srgbClr val="F4F8FB"/>
          </a:solidFill>
          <a:ln w="12700">
            <a:solidFill>
              <a:srgbClr val="E7EEF4"/>
            </a:solidFill>
            <a:prstDash val="solid"/>
          </a:ln>
        </p:spPr>
      </p:sp>
      <p:sp>
        <p:nvSpPr>
          <p:cNvPr id="10" name="Shape 8"/>
          <p:cNvSpPr/>
          <p:nvPr/>
        </p:nvSpPr>
        <p:spPr>
          <a:xfrm>
            <a:off x="9299448" y="2121408"/>
            <a:ext cx="219456" cy="219456"/>
          </a:xfrm>
          <a:prstGeom prst="ellipse">
            <a:avLst/>
          </a:prstGeom>
          <a:solidFill>
            <a:srgbClr val="06A9C8"/>
          </a:solidFill>
          <a:ln w="12700">
            <a:solidFill>
              <a:srgbClr val="06A9C8"/>
            </a:solidFill>
            <a:prstDash val="solid"/>
          </a:ln>
        </p:spPr>
      </p:sp>
      <p:sp>
        <p:nvSpPr>
          <p:cNvPr id="11" name="Text 9"/>
          <p:cNvSpPr/>
          <p:nvPr/>
        </p:nvSpPr>
        <p:spPr>
          <a:xfrm>
            <a:off x="9354312" y="213969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82912" y="209397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Final takeaway</a:t>
            </a:r>
            <a:endParaRPr lang="en-US" sz="1080" dirty="0"/>
          </a:p>
        </p:txBody>
      </p:sp>
      <p:sp>
        <p:nvSpPr>
          <p:cNvPr id="13" name="Text 11"/>
          <p:cNvSpPr/>
          <p:nvPr/>
        </p:nvSpPr>
        <p:spPr>
          <a:xfrm>
            <a:off x="9354312" y="2423160"/>
            <a:ext cx="1920240" cy="676656"/>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A production agent is a governed system, not a single prompt.</a:t>
            </a:r>
            <a:endParaRPr lang="en-US" sz="96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10 · Lecture 55</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Next Steps</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Continue learning with focused practice and current Microsoft Learn documentation.</a:t>
            </a:r>
            <a:endParaRPr lang="en-US" sz="1500" dirty="0"/>
          </a:p>
        </p:txBody>
      </p:sp>
      <p:sp>
        <p:nvSpPr>
          <p:cNvPr id="8" name="Text 6"/>
          <p:cNvSpPr/>
          <p:nvPr/>
        </p:nvSpPr>
        <p:spPr>
          <a:xfrm>
            <a:off x="658368" y="1965960"/>
            <a:ext cx="8001000" cy="3429000"/>
          </a:xfrm>
          <a:prstGeom prst="rect">
            <a:avLst/>
          </a:prstGeom>
          <a:noFill/>
          <a:ln/>
        </p:spPr>
        <p:txBody>
          <a:bodyPr wrap="square" lIns="254" tIns="254" rIns="254" bIns="254" rtlCol="0" anchor="ctr">
            <a:normAutofit/>
          </a:bodyPr>
          <a:lstStyle/>
          <a:p>
            <a:pPr indent="0" marL="0">
              <a:buNone/>
            </a:pPr>
            <a:r>
              <a:rPr lang="en-US" sz="1850" dirty="0">
                <a:solidFill>
                  <a:srgbClr val="303846"/>
                </a:solidFill>
                <a:latin typeface="Aptos" pitchFamily="34" charset="0"/>
                <a:ea typeface="Aptos" pitchFamily="34" charset="-122"/>
                <a:cs typeface="Aptos" pitchFamily="34" charset="-120"/>
              </a:rPr>
              <a:t>▸ Repeat the labs in a personal or enterprise-safe Azure environment.</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Track Microsoft Learn updates for Foundry, Agent Service, IQ, tools, and Control Plane.</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Review your organization’s identity, policy, data, and security requirements.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Build a small internal proof of governance before scaling agent usage.</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Use the capstone checklist to review future projects.</a:t>
            </a:r>
            <a:endParaRPr lang="en-US" sz="1850" dirty="0"/>
          </a:p>
        </p:txBody>
      </p:sp>
      <p:sp>
        <p:nvSpPr>
          <p:cNvPr id="9" name="Shape 7"/>
          <p:cNvSpPr/>
          <p:nvPr/>
        </p:nvSpPr>
        <p:spPr>
          <a:xfrm>
            <a:off x="9144000" y="1965960"/>
            <a:ext cx="2331720" cy="1243584"/>
          </a:xfrm>
          <a:prstGeom prst="rect">
            <a:avLst/>
          </a:prstGeom>
          <a:solidFill>
            <a:srgbClr val="F4F8FB"/>
          </a:solidFill>
          <a:ln w="12700">
            <a:solidFill>
              <a:srgbClr val="E7EEF4"/>
            </a:solidFill>
            <a:prstDash val="solid"/>
          </a:ln>
        </p:spPr>
      </p:sp>
      <p:sp>
        <p:nvSpPr>
          <p:cNvPr id="10" name="Shape 8"/>
          <p:cNvSpPr/>
          <p:nvPr/>
        </p:nvSpPr>
        <p:spPr>
          <a:xfrm>
            <a:off x="9299448" y="2121408"/>
            <a:ext cx="219456" cy="219456"/>
          </a:xfrm>
          <a:prstGeom prst="ellipse">
            <a:avLst/>
          </a:prstGeom>
          <a:solidFill>
            <a:srgbClr val="06A9C8"/>
          </a:solidFill>
          <a:ln w="12700">
            <a:solidFill>
              <a:srgbClr val="06A9C8"/>
            </a:solidFill>
            <a:prstDash val="solid"/>
          </a:ln>
        </p:spPr>
      </p:sp>
      <p:sp>
        <p:nvSpPr>
          <p:cNvPr id="11" name="Text 9"/>
          <p:cNvSpPr/>
          <p:nvPr/>
        </p:nvSpPr>
        <p:spPr>
          <a:xfrm>
            <a:off x="9354312" y="213969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82912" y="209397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Continuing path</a:t>
            </a:r>
            <a:endParaRPr lang="en-US" sz="1080" dirty="0"/>
          </a:p>
        </p:txBody>
      </p:sp>
      <p:sp>
        <p:nvSpPr>
          <p:cNvPr id="13" name="Text 11"/>
          <p:cNvSpPr/>
          <p:nvPr/>
        </p:nvSpPr>
        <p:spPr>
          <a:xfrm>
            <a:off x="9354312" y="2423160"/>
            <a:ext cx="1920240" cy="676656"/>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Keep the architecture current by revisiting documentation and operational evidence.</a:t>
            </a:r>
            <a:endParaRPr lang="en-US" sz="96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658368" y="1024128"/>
            <a:ext cx="2194560" cy="329184"/>
          </a:xfrm>
          <a:prstGeom prst="rect">
            <a:avLst/>
          </a:prstGeom>
          <a:noFill/>
          <a:ln/>
        </p:spPr>
        <p:txBody>
          <a:bodyPr wrap="square" lIns="0" tIns="0" rIns="0" bIns="0" rtlCol="0" anchor="ctr"/>
          <a:lstStyle/>
          <a:p>
            <a:pPr indent="0" marL="0">
              <a:buNone/>
            </a:pPr>
            <a:r>
              <a:rPr lang="en-US" sz="1600" dirty="0">
                <a:solidFill>
                  <a:srgbClr val="06A9C8"/>
                </a:solidFill>
                <a:latin typeface="Aptos" pitchFamily="34" charset="0"/>
                <a:ea typeface="Aptos" pitchFamily="34" charset="-122"/>
                <a:cs typeface="Aptos" pitchFamily="34" charset="-120"/>
              </a:rPr>
              <a:t>Section 11</a:t>
            </a:r>
            <a:endParaRPr lang="en-US" sz="1600" dirty="0"/>
          </a:p>
        </p:txBody>
      </p:sp>
      <p:sp>
        <p:nvSpPr>
          <p:cNvPr id="6" name="Text 4"/>
          <p:cNvSpPr/>
          <p:nvPr/>
        </p:nvSpPr>
        <p:spPr>
          <a:xfrm>
            <a:off x="658368" y="1554480"/>
            <a:ext cx="7040880" cy="841248"/>
          </a:xfrm>
          <a:prstGeom prst="rect">
            <a:avLst/>
          </a:prstGeom>
          <a:noFill/>
          <a:ln/>
        </p:spPr>
        <p:txBody>
          <a:bodyPr wrap="square" lIns="0" tIns="0" rIns="0" bIns="0" rtlCol="0" anchor="ctr">
            <a:normAutofit/>
          </a:bodyPr>
          <a:lstStyle/>
          <a:p>
            <a:pPr indent="0" marL="0">
              <a:buNone/>
            </a:pPr>
            <a:r>
              <a:rPr lang="en-US" sz="3100" dirty="0">
                <a:solidFill>
                  <a:srgbClr val="172033"/>
                </a:solidFill>
                <a:latin typeface="Aptos Display" pitchFamily="34" charset="0"/>
                <a:ea typeface="Aptos Display" pitchFamily="34" charset="-122"/>
                <a:cs typeface="Aptos Display" pitchFamily="34" charset="-120"/>
              </a:rPr>
              <a:t>Bonus Lecture</a:t>
            </a:r>
            <a:endParaRPr lang="en-US" sz="3100" dirty="0"/>
          </a:p>
        </p:txBody>
      </p:sp>
      <p:sp>
        <p:nvSpPr>
          <p:cNvPr id="7" name="Text 5"/>
          <p:cNvSpPr/>
          <p:nvPr/>
        </p:nvSpPr>
        <p:spPr>
          <a:xfrm>
            <a:off x="658368" y="2578608"/>
            <a:ext cx="7132320" cy="640080"/>
          </a:xfrm>
          <a:prstGeom prst="rect">
            <a:avLst/>
          </a:prstGeom>
          <a:noFill/>
          <a:ln/>
        </p:spPr>
        <p:txBody>
          <a:bodyPr wrap="square" lIns="0" tIns="0" rIns="0" bIns="0" rtlCol="0" anchor="ctr">
            <a:normAutofit/>
          </a:bodyPr>
          <a:lstStyle/>
          <a:p>
            <a:pPr indent="0" marL="0">
              <a:buNone/>
            </a:pPr>
            <a:r>
              <a:rPr lang="en-US" sz="1550" dirty="0">
                <a:solidFill>
                  <a:srgbClr val="6B7280"/>
                </a:solidFill>
                <a:latin typeface="Aptos" pitchFamily="34" charset="0"/>
                <a:ea typeface="Aptos" pitchFamily="34" charset="-122"/>
                <a:cs typeface="Aptos" pitchFamily="34" charset="-120"/>
              </a:rPr>
              <a:t>Use the bonus lecture for maintained resources, related learning paths, and appropriate next-course direction.</a:t>
            </a:r>
            <a:endParaRPr lang="en-US" sz="1550" dirty="0"/>
          </a:p>
        </p:txBody>
      </p:sp>
      <p:pic>
        <p:nvPicPr>
          <p:cNvPr id="8" name="Image 0" descr="/mnt/data/ref_pptx/ppt/media/image1.png">    </p:cNvPr>
          <p:cNvPicPr>
            <a:picLocks noChangeAspect="1"/>
          </p:cNvPicPr>
          <p:nvPr/>
        </p:nvPicPr>
        <p:blipFill>
          <a:blip r:embed="rId1"/>
          <a:stretch>
            <a:fillRect/>
          </a:stretch>
        </p:blipFill>
        <p:spPr>
          <a:xfrm>
            <a:off x="8092440" y="1097280"/>
            <a:ext cx="2468880" cy="2468880"/>
          </a:xfrm>
          <a:prstGeom prst="rect">
            <a:avLst/>
          </a:prstGeom>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6A9C8"/>
          </a:solidFill>
          <a:ln w="12700">
            <a:solidFill>
              <a:srgbClr val="06A9C8"/>
            </a:solidFill>
            <a:prstDash val="solid"/>
          </a:ln>
        </p:spPr>
      </p:sp>
      <p:sp>
        <p:nvSpPr>
          <p:cNvPr id="3" name="Shape 1"/>
          <p:cNvSpPr/>
          <p:nvPr/>
        </p:nvSpPr>
        <p:spPr>
          <a:xfrm>
            <a:off x="11832336" y="6519672"/>
            <a:ext cx="356616" cy="338328"/>
          </a:xfrm>
          <a:prstGeom prst="rtTriangle">
            <a:avLst/>
          </a:prstGeom>
          <a:solidFill>
            <a:srgbClr val="06A9C8"/>
          </a:solidFill>
          <a:ln w="12700">
            <a:solidFill>
              <a:srgbClr val="06A9C8"/>
            </a:solidFill>
            <a:prstDash val="solid"/>
          </a:ln>
        </p:spPr>
      </p:sp>
      <p:sp>
        <p:nvSpPr>
          <p:cNvPr id="4" name="Text 2"/>
          <p:cNvSpPr/>
          <p:nvPr/>
        </p:nvSpPr>
        <p:spPr>
          <a:xfrm>
            <a:off x="320040" y="6510528"/>
            <a:ext cx="3657600" cy="164592"/>
          </a:xfrm>
          <a:prstGeom prst="rect">
            <a:avLst/>
          </a:prstGeom>
          <a:noFill/>
          <a:ln/>
        </p:spPr>
        <p:txBody>
          <a:bodyPr wrap="square" lIns="0" tIns="0" rIns="0" bIns="0" rtlCol="0" anchor="ctr"/>
          <a:lstStyle/>
          <a:p>
            <a:pPr indent="0" marL="0">
              <a:buNone/>
            </a:pPr>
            <a:r>
              <a:rPr lang="en-US" sz="580" dirty="0">
                <a:solidFill>
                  <a:srgbClr val="9AA3AF"/>
                </a:solidFill>
                <a:latin typeface="Aptos" pitchFamily="34" charset="0"/>
                <a:ea typeface="Aptos" pitchFamily="34" charset="-122"/>
                <a:cs typeface="Aptos" pitchFamily="34" charset="-120"/>
              </a:rPr>
              <a:t>Microsoft Foundry for Enterprise AI Agents</a:t>
            </a:r>
            <a:endParaRPr lang="en-US" sz="580" dirty="0"/>
          </a:p>
        </p:txBody>
      </p:sp>
      <p:sp>
        <p:nvSpPr>
          <p:cNvPr id="5" name="Text 3"/>
          <p:cNvSpPr/>
          <p:nvPr/>
        </p:nvSpPr>
        <p:spPr>
          <a:xfrm>
            <a:off x="530352" y="256032"/>
            <a:ext cx="4754880" cy="256032"/>
          </a:xfrm>
          <a:prstGeom prst="rect">
            <a:avLst/>
          </a:prstGeom>
          <a:noFill/>
          <a:ln/>
        </p:spPr>
        <p:txBody>
          <a:bodyPr wrap="square" lIns="0" tIns="0" rIns="0" bIns="0" rtlCol="0" anchor="ctr"/>
          <a:lstStyle/>
          <a:p>
            <a:pPr indent="0" marL="0">
              <a:buNone/>
            </a:pPr>
            <a:r>
              <a:rPr lang="en-US" sz="1350" dirty="0">
                <a:solidFill>
                  <a:srgbClr val="172033"/>
                </a:solidFill>
                <a:latin typeface="Aptos" pitchFamily="34" charset="0"/>
                <a:ea typeface="Aptos" pitchFamily="34" charset="-122"/>
                <a:cs typeface="Aptos" pitchFamily="34" charset="-120"/>
              </a:rPr>
              <a:t>Section 11 · Lecture 56</a:t>
            </a:r>
            <a:endParaRPr lang="en-US" sz="1350" dirty="0"/>
          </a:p>
        </p:txBody>
      </p:sp>
      <p:sp>
        <p:nvSpPr>
          <p:cNvPr id="6" name="Text 4"/>
          <p:cNvSpPr/>
          <p:nvPr/>
        </p:nvSpPr>
        <p:spPr>
          <a:xfrm>
            <a:off x="658368" y="749808"/>
            <a:ext cx="8275320" cy="438912"/>
          </a:xfrm>
          <a:prstGeom prst="rect">
            <a:avLst/>
          </a:prstGeom>
          <a:noFill/>
          <a:ln/>
        </p:spPr>
        <p:txBody>
          <a:bodyPr wrap="square" lIns="0" tIns="0" rIns="0" bIns="0" rtlCol="0" anchor="ctr">
            <a:normAutofit/>
          </a:bodyPr>
          <a:lstStyle/>
          <a:p>
            <a:pPr indent="0" marL="0">
              <a:buNone/>
            </a:pPr>
            <a:r>
              <a:rPr lang="en-US" sz="2850" dirty="0">
                <a:solidFill>
                  <a:srgbClr val="172033"/>
                </a:solidFill>
                <a:latin typeface="Aptos Display" pitchFamily="34" charset="0"/>
                <a:ea typeface="Aptos Display" pitchFamily="34" charset="-122"/>
                <a:cs typeface="Aptos Display" pitchFamily="34" charset="-120"/>
              </a:rPr>
              <a:t>Bonus Lecture</a:t>
            </a:r>
            <a:endParaRPr lang="en-US" sz="2850" dirty="0"/>
          </a:p>
        </p:txBody>
      </p:sp>
      <p:sp>
        <p:nvSpPr>
          <p:cNvPr id="7" name="Text 5"/>
          <p:cNvSpPr/>
          <p:nvPr/>
        </p:nvSpPr>
        <p:spPr>
          <a:xfrm>
            <a:off x="658368" y="1280160"/>
            <a:ext cx="8183880" cy="411480"/>
          </a:xfrm>
          <a:prstGeom prst="rect">
            <a:avLst/>
          </a:prstGeom>
          <a:noFill/>
          <a:ln/>
        </p:spPr>
        <p:txBody>
          <a:bodyPr wrap="square" lIns="0" tIns="0" rIns="0" bIns="0" rtlCol="0" anchor="ctr">
            <a:normAutofit/>
          </a:bodyPr>
          <a:lstStyle/>
          <a:p>
            <a:pPr indent="0" marL="0">
              <a:buNone/>
            </a:pPr>
            <a:r>
              <a:rPr lang="en-US" sz="1500" dirty="0">
                <a:solidFill>
                  <a:srgbClr val="6B7280"/>
                </a:solidFill>
                <a:latin typeface="Aptos" pitchFamily="34" charset="0"/>
                <a:ea typeface="Aptos" pitchFamily="34" charset="-122"/>
                <a:cs typeface="Aptos" pitchFamily="34" charset="-120"/>
              </a:rPr>
              <a:t>Use this lecture only for appropriate bonus resources and next-course direction.</a:t>
            </a:r>
            <a:endParaRPr lang="en-US" sz="1500" dirty="0"/>
          </a:p>
        </p:txBody>
      </p:sp>
      <p:sp>
        <p:nvSpPr>
          <p:cNvPr id="8" name="Text 6"/>
          <p:cNvSpPr/>
          <p:nvPr/>
        </p:nvSpPr>
        <p:spPr>
          <a:xfrm>
            <a:off x="658368" y="1965960"/>
            <a:ext cx="8001000" cy="3429000"/>
          </a:xfrm>
          <a:prstGeom prst="rect">
            <a:avLst/>
          </a:prstGeom>
          <a:noFill/>
          <a:ln/>
        </p:spPr>
        <p:txBody>
          <a:bodyPr wrap="square" lIns="254" tIns="254" rIns="254" bIns="254" rtlCol="0" anchor="ctr">
            <a:normAutofit/>
          </a:bodyPr>
          <a:lstStyle/>
          <a:p>
            <a:pPr indent="0" marL="0">
              <a:buNone/>
            </a:pPr>
            <a:r>
              <a:rPr lang="en-US" sz="1850" dirty="0">
                <a:solidFill>
                  <a:srgbClr val="303846"/>
                </a:solidFill>
                <a:latin typeface="Aptos" pitchFamily="34" charset="0"/>
                <a:ea typeface="Aptos" pitchFamily="34" charset="-122"/>
                <a:cs typeface="Aptos" pitchFamily="34" charset="-120"/>
              </a:rPr>
              <a:t>▸ Point learners to maintained resources rather than stale download links.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Explain how to find current Microsoft Learn modules.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Recommend responsible experimentation in non-production environments.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Connect this course to deeper development, security, or DevOps learning paths.</a:t>
            </a:r>
            <a:endParaRPr lang="en-US" sz="1850" dirty="0"/>
          </a:p>
          <a:p>
            <a:pPr indent="0" marL="0">
              <a:buNone/>
            </a:pPr>
            <a:r>
              <a:rPr lang="en-US" sz="1850" dirty="0">
                <a:solidFill>
                  <a:srgbClr val="303846"/>
                </a:solidFill>
                <a:latin typeface="Aptos" pitchFamily="34" charset="0"/>
                <a:ea typeface="Aptos" pitchFamily="34" charset="-122"/>
                <a:cs typeface="Aptos" pitchFamily="34" charset="-120"/>
              </a:rPr>
              <a:t>▸ Keep promotional content brief and learner-centered.</a:t>
            </a:r>
            <a:endParaRPr lang="en-US" sz="1850" dirty="0"/>
          </a:p>
        </p:txBody>
      </p:sp>
      <p:sp>
        <p:nvSpPr>
          <p:cNvPr id="9" name="Shape 7"/>
          <p:cNvSpPr/>
          <p:nvPr/>
        </p:nvSpPr>
        <p:spPr>
          <a:xfrm>
            <a:off x="9144000" y="1965960"/>
            <a:ext cx="2331720" cy="1243584"/>
          </a:xfrm>
          <a:prstGeom prst="rect">
            <a:avLst/>
          </a:prstGeom>
          <a:solidFill>
            <a:srgbClr val="F4F8FB"/>
          </a:solidFill>
          <a:ln w="12700">
            <a:solidFill>
              <a:srgbClr val="E7EEF4"/>
            </a:solidFill>
            <a:prstDash val="solid"/>
          </a:ln>
        </p:spPr>
      </p:sp>
      <p:sp>
        <p:nvSpPr>
          <p:cNvPr id="10" name="Shape 8"/>
          <p:cNvSpPr/>
          <p:nvPr/>
        </p:nvSpPr>
        <p:spPr>
          <a:xfrm>
            <a:off x="9299448" y="2121408"/>
            <a:ext cx="219456" cy="219456"/>
          </a:xfrm>
          <a:prstGeom prst="ellipse">
            <a:avLst/>
          </a:prstGeom>
          <a:solidFill>
            <a:srgbClr val="06A9C8"/>
          </a:solidFill>
          <a:ln w="12700">
            <a:solidFill>
              <a:srgbClr val="06A9C8"/>
            </a:solidFill>
            <a:prstDash val="solid"/>
          </a:ln>
        </p:spPr>
      </p:sp>
      <p:sp>
        <p:nvSpPr>
          <p:cNvPr id="11" name="Text 9"/>
          <p:cNvSpPr/>
          <p:nvPr/>
        </p:nvSpPr>
        <p:spPr>
          <a:xfrm>
            <a:off x="9354312" y="2139696"/>
            <a:ext cx="73152" cy="118872"/>
          </a:xfrm>
          <a:prstGeom prst="rect">
            <a:avLst/>
          </a:prstGeom>
          <a:noFill/>
          <a:ln/>
        </p:spPr>
        <p:txBody>
          <a:bodyPr wrap="square" lIns="0" tIns="0" rIns="0" bIns="0" rtlCol="0" anchor="ctr"/>
          <a:lstStyle/>
          <a:p>
            <a:pPr indent="0" marL="0">
              <a:buNone/>
            </a:pPr>
            <a:r>
              <a:rPr lang="en-US" sz="900" b="1" dirty="0">
                <a:solidFill>
                  <a:srgbClr val="FFFFFF"/>
                </a:solidFill>
                <a:latin typeface="Aptos" pitchFamily="34" charset="0"/>
                <a:ea typeface="Aptos" pitchFamily="34" charset="-122"/>
                <a:cs typeface="Aptos" pitchFamily="34" charset="-120"/>
              </a:rPr>
              <a:t>i</a:t>
            </a:r>
            <a:endParaRPr lang="en-US" sz="900" dirty="0"/>
          </a:p>
        </p:txBody>
      </p:sp>
      <p:sp>
        <p:nvSpPr>
          <p:cNvPr id="12" name="Text 10"/>
          <p:cNvSpPr/>
          <p:nvPr/>
        </p:nvSpPr>
        <p:spPr>
          <a:xfrm>
            <a:off x="9582912" y="2093976"/>
            <a:ext cx="1783080" cy="228600"/>
          </a:xfrm>
          <a:prstGeom prst="rect">
            <a:avLst/>
          </a:prstGeom>
          <a:noFill/>
          <a:ln/>
        </p:spPr>
        <p:txBody>
          <a:bodyPr wrap="square" lIns="0" tIns="0" rIns="0" bIns="0" rtlCol="0" anchor="ctr"/>
          <a:lstStyle/>
          <a:p>
            <a:pPr indent="0" marL="0">
              <a:buNone/>
            </a:pPr>
            <a:r>
              <a:rPr lang="en-US" sz="1080" b="1" dirty="0">
                <a:solidFill>
                  <a:srgbClr val="172033"/>
                </a:solidFill>
                <a:latin typeface="Aptos" pitchFamily="34" charset="0"/>
                <a:ea typeface="Aptos" pitchFamily="34" charset="-122"/>
                <a:cs typeface="Aptos" pitchFamily="34" charset="-120"/>
              </a:rPr>
              <a:t>Bonus rule</a:t>
            </a:r>
            <a:endParaRPr lang="en-US" sz="1080" dirty="0"/>
          </a:p>
        </p:txBody>
      </p:sp>
      <p:sp>
        <p:nvSpPr>
          <p:cNvPr id="13" name="Text 11"/>
          <p:cNvSpPr/>
          <p:nvPr/>
        </p:nvSpPr>
        <p:spPr>
          <a:xfrm>
            <a:off x="9354312" y="2423160"/>
            <a:ext cx="1920240" cy="676656"/>
          </a:xfrm>
          <a:prstGeom prst="rect">
            <a:avLst/>
          </a:prstGeom>
          <a:noFill/>
          <a:ln/>
        </p:spPr>
        <p:txBody>
          <a:bodyPr wrap="square" lIns="254" tIns="254" rIns="254" bIns="254" rtlCol="0" anchor="ctr">
            <a:normAutofit/>
          </a:bodyPr>
          <a:lstStyle/>
          <a:p>
            <a:pPr indent="0" marL="0">
              <a:buNone/>
            </a:pPr>
            <a:r>
              <a:rPr lang="en-US" sz="960" dirty="0">
                <a:solidFill>
                  <a:srgbClr val="303846"/>
                </a:solidFill>
                <a:latin typeface="Aptos" pitchFamily="34" charset="0"/>
                <a:ea typeface="Aptos" pitchFamily="34" charset="-122"/>
                <a:cs typeface="Aptos" pitchFamily="34" charset="-120"/>
              </a:rPr>
              <a:t>The bonus should help learners continue, not distract from the course outcome.</a:t>
            </a:r>
            <a:endParaRPr lang="en-US" sz="96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111</Slides>
  <Notes>111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111</vt:i4>
      </vt:variant>
    </vt:vector>
  </HeadingPairs>
  <TitlesOfParts>
    <vt:vector size="1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vector>
  </TitlesOfParts>
  <Company>Code With Trev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Foundry for Enterprise AI Agents</dc:title>
  <dc:subject>Microsoft Foundry for Enterprise AI Agents</dc:subject>
  <dc:creator>Trevoir Williams</dc:creator>
  <cp:lastModifiedBy>Trevoir Williams</cp:lastModifiedBy>
  <cp:revision>1</cp:revision>
  <dcterms:created xsi:type="dcterms:W3CDTF">2026-07-11T16:28:29Z</dcterms:created>
  <dcterms:modified xsi:type="dcterms:W3CDTF">2026-07-11T16:28:29Z</dcterms:modified>
</cp:coreProperties>
</file>