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final section by making the purpose clear: this is not a new technical module. It is where learners consolidate the course into a usable mental model. Emphasize that the course has treated Microsoft Foundry as an enterprise platform for agents, not as a collection of isolated screens. The final section should help learners explain what they can now do, how the architecture holds together, and how they should continue after the course. Microsoft Learn source hooks: What is Microsoft Foundry; What is Microsoft Foundry Agent Service; What is Foundry IQ; What is Microsoft Foundry Control Plane; Observability in Generative AI; Agentic Retrieval overview; Manage compliance and security in Microsoft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the high-level course conclusion. Microsoft Foundry unifies agents, models, and tools under a single management grouping with enterprise-ready capabilities such as tracing, monitoring, evaluations, RBAC, networking, and policies. Connect that platform idea to the learner's practical journey: they created the platform foundation, configured agents, grounded them, connected tools, evaluated behavior, monitored signals, and reviewed governance. The final statement should be direct: a production agent is a governed system, not a prompt that happens to work in a playground. Source hook: What is Microsoft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final architecture recap. Walk left to right. Users reach agents through approved channels and identities. Foundry projects create the boundary for related assets. The agent depends on a model deployment, knowledge, and tools. Evaluation and monitoring create evidence. Governance closes the loop with roles, policies, inventory, and fleet-level control. Reinforce that the learner should now be able to look at this diagram and explain each layer in plain language. Source hooks: What is Microsoft Foundry; Foundry Agent Service overview; Foundry IQ overview; Foundry Control Plane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course into learner-facing outcomes. Avoid framing the closeout as only a summary. It should make learners aware of the capabilities they have built: explain the platform, configure core assets, evaluate behavior, secure boundaries, and govern the operating estate. In narration, remind learners that portal navigation will evolve, but this skill set remains useful because it is organized around enterprise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reinforces the operating posture. The learner may have seen demos where an agent answered well or used a tool correctly. The production mindset is different: who owns the agent, what evidence proves its behavior, what can it reach, what can it do, what is logged, and what happens when it fails? Connect this to Foundry observability guidance, which emphasizes evaluations, traces, token usage, latency, errors, and quality scores for generative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can be delivered as a final knowledge check. Pause on each question and encourage learners to mentally answer it using the capstone architecture. The questions deliberately span platform, cost, knowledge, tools, evaluation, monitoring, and governance. A real approval meeting should be able to answer all of them without hunting through chat transcripts or undocumented portal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learner's practical next-step plan. The course should not end with vague encouragement. Give learners a safe sequence: repeat labs, keep Microsoft Learn close, check their own organization's requirements, build a small proof of governance, and use the capstone review questions as a reusable project checklist. Because Microsoft Foundry is moving quickly, emphasize that Microsoft Learn is the authoritative source for portal paths, availability, preview status, supported regions, and changing terminology. Sources: Microsoft Foundry documentation hub; AI-901 training guidance that encourages Microsoft Learn for reinforcement and self-study.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helps different learner roles leave with a relevant next step. It also reinforces the enterprise nature of the course. Microsoft Foundry agents are not solely developer assets. Platform, AI, development, security, operations, and business roles all affect whether an agent can be trusted. Use this slide to invite learners to identify their own role and the next depth area that matters most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especially important for an instructor and for enterprise teams. Microsoft Foundry, Agent Service, Foundry IQ, Control Plane, and related tooling are active product areas. Learners should expect names, UI details, supported regions, preview status, and model availability to change. The professional response is not to memorize a screenshot. It is to maintain documentation, recheck Microsoft Learn, and keep lab instructions flexible enough to survive normal platform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warmly and directly. Thank learners for completing the program, then reinforce the central idea one last time: an enterprise agent is a managed system. It needs ownership, identity, data boundaries, tool controls, evaluation, monitoring, and governance. Point learners to the next steps from the prior slide and invite them to revisit the labs whenever Microsoft Foundry updates. Keep the closing concise and learner-centered.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WT_MASTER">
    <p:bg>
      <p:bgPr>
        <a:solidFill>
          <a:srgbClr val="F4F7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621792"/>
            <a:ext cx="2103120" cy="201168"/>
          </a:xfrm>
          <a:prstGeom prst="rect">
            <a:avLst/>
          </a:prstGeom>
          <a:noFill/>
          <a:ln/>
        </p:spPr>
        <p:txBody>
          <a:bodyPr wrap="square" lIns="0" tIns="0" rIns="0" bIns="0" rtlCol="0" anchor="ctr"/>
          <a:lstStyle/>
          <a:p>
            <a:pPr indent="0" marL="0">
              <a:buNone/>
            </a:pPr>
            <a:r>
              <a:rPr lang="en-US" sz="820" dirty="0">
                <a:solidFill>
                  <a:srgbClr val="087F9B"/>
                </a:solidFill>
                <a:latin typeface="Aptos" pitchFamily="34" charset="0"/>
                <a:ea typeface="Aptos" pitchFamily="34" charset="-122"/>
                <a:cs typeface="Aptos" pitchFamily="34" charset="-120"/>
              </a:rPr>
              <a:t>Section 10</a:t>
            </a:r>
            <a:endParaRPr lang="en-US" sz="820" dirty="0"/>
          </a:p>
        </p:txBody>
      </p:sp>
      <p:sp>
        <p:nvSpPr>
          <p:cNvPr id="6" name="Text 4"/>
          <p:cNvSpPr/>
          <p:nvPr/>
        </p:nvSpPr>
        <p:spPr>
          <a:xfrm>
            <a:off x="502920" y="969264"/>
            <a:ext cx="5669280" cy="960120"/>
          </a:xfrm>
          <a:prstGeom prst="rect">
            <a:avLst/>
          </a:prstGeom>
          <a:noFill/>
          <a:ln/>
        </p:spPr>
        <p:txBody>
          <a:bodyPr wrap="square" lIns="0" tIns="0" rIns="0" bIns="0" rtlCol="0" anchor="ctr">
            <a:normAutofit/>
          </a:bodyPr>
          <a:lstStyle/>
          <a:p>
            <a:pPr indent="0" marL="0">
              <a:buNone/>
            </a:pPr>
            <a:r>
              <a:rPr lang="en-US" sz="2500" dirty="0">
                <a:solidFill>
                  <a:srgbClr val="1F2937"/>
                </a:solidFill>
                <a:latin typeface="Aptos Display" pitchFamily="34" charset="0"/>
                <a:ea typeface="Aptos Display" pitchFamily="34" charset="-122"/>
                <a:cs typeface="Aptos Display" pitchFamily="34" charset="-120"/>
              </a:rPr>
              <a:t>Course Wrap Up</a:t>
            </a:r>
            <a:endParaRPr lang="en-US" sz="2500" dirty="0"/>
          </a:p>
          <a:p>
            <a:pPr indent="0" marL="0">
              <a:buNone/>
            </a:pPr>
            <a:r>
              <a:rPr lang="en-US" sz="2500" dirty="0">
                <a:solidFill>
                  <a:srgbClr val="1F2937"/>
                </a:solidFill>
                <a:latin typeface="Aptos Display" pitchFamily="34" charset="0"/>
                <a:ea typeface="Aptos Display" pitchFamily="34" charset="-122"/>
                <a:cs typeface="Aptos Display" pitchFamily="34" charset="-120"/>
              </a:rPr>
              <a:t>and Conclusion</a:t>
            </a:r>
            <a:endParaRPr lang="en-US" sz="2500" dirty="0"/>
          </a:p>
        </p:txBody>
      </p:sp>
      <p:sp>
        <p:nvSpPr>
          <p:cNvPr id="7" name="Text 5"/>
          <p:cNvSpPr/>
          <p:nvPr/>
        </p:nvSpPr>
        <p:spPr>
          <a:xfrm>
            <a:off x="502920" y="2057400"/>
            <a:ext cx="5532120" cy="347472"/>
          </a:xfrm>
          <a:prstGeom prst="rect">
            <a:avLst/>
          </a:prstGeom>
          <a:noFill/>
          <a:ln/>
        </p:spPr>
        <p:txBody>
          <a:bodyPr wrap="square" lIns="0" tIns="0" rIns="0" bIns="0" rtlCol="0" anchor="ctr">
            <a:normAutofit/>
          </a:bodyPr>
          <a:lstStyle/>
          <a:p>
            <a:pPr indent="0" marL="0">
              <a:buNone/>
            </a:pPr>
            <a:r>
              <a:rPr lang="en-US" sz="1000" dirty="0">
                <a:solidFill>
                  <a:srgbClr val="64748B"/>
                </a:solidFill>
                <a:latin typeface="Aptos" pitchFamily="34" charset="0"/>
                <a:ea typeface="Aptos" pitchFamily="34" charset="-122"/>
                <a:cs typeface="Aptos" pitchFamily="34" charset="-120"/>
              </a:rPr>
              <a:t>Close the course by reviewing the enterprise agent architecture, production mindset, and next learning path.</a:t>
            </a:r>
            <a:endParaRPr lang="en-US" sz="1000" dirty="0"/>
          </a:p>
        </p:txBody>
      </p:sp>
      <p:sp>
        <p:nvSpPr>
          <p:cNvPr id="8" name="Shape 6"/>
          <p:cNvSpPr/>
          <p:nvPr/>
        </p:nvSpPr>
        <p:spPr>
          <a:xfrm>
            <a:off x="7178040" y="932688"/>
            <a:ext cx="1234440" cy="713232"/>
          </a:xfrm>
          <a:prstGeom prst="rect">
            <a:avLst/>
          </a:prstGeom>
          <a:solidFill>
            <a:srgbClr val="FFFFFF"/>
          </a:solidFill>
          <a:ln w="11430">
            <a:solidFill>
              <a:srgbClr val="07A9C7"/>
            </a:solidFill>
            <a:prstDash val="solid"/>
          </a:ln>
        </p:spPr>
      </p:sp>
      <p:sp>
        <p:nvSpPr>
          <p:cNvPr id="9" name="Text 7"/>
          <p:cNvSpPr/>
          <p:nvPr/>
        </p:nvSpPr>
        <p:spPr>
          <a:xfrm>
            <a:off x="7287768" y="1051560"/>
            <a:ext cx="10149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Review</a:t>
            </a:r>
            <a:endParaRPr lang="en-US" sz="740" dirty="0"/>
          </a:p>
        </p:txBody>
      </p:sp>
      <p:sp>
        <p:nvSpPr>
          <p:cNvPr id="10" name="Text 8"/>
          <p:cNvSpPr/>
          <p:nvPr/>
        </p:nvSpPr>
        <p:spPr>
          <a:xfrm>
            <a:off x="7287768" y="1307592"/>
            <a:ext cx="1014984" cy="25603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Architecture and outcomes</a:t>
            </a:r>
            <a:endParaRPr lang="en-US" sz="650" dirty="0"/>
          </a:p>
        </p:txBody>
      </p:sp>
      <p:sp>
        <p:nvSpPr>
          <p:cNvPr id="11" name="Shape 9"/>
          <p:cNvSpPr/>
          <p:nvPr/>
        </p:nvSpPr>
        <p:spPr>
          <a:xfrm>
            <a:off x="9372600" y="932688"/>
            <a:ext cx="1234440" cy="713232"/>
          </a:xfrm>
          <a:prstGeom prst="rect">
            <a:avLst/>
          </a:prstGeom>
          <a:solidFill>
            <a:srgbClr val="FFFFFF"/>
          </a:solidFill>
          <a:ln w="11430">
            <a:solidFill>
              <a:srgbClr val="07A9C7"/>
            </a:solidFill>
            <a:prstDash val="solid"/>
          </a:ln>
        </p:spPr>
      </p:sp>
      <p:sp>
        <p:nvSpPr>
          <p:cNvPr id="12" name="Text 10"/>
          <p:cNvSpPr/>
          <p:nvPr/>
        </p:nvSpPr>
        <p:spPr>
          <a:xfrm>
            <a:off x="9482328" y="1051560"/>
            <a:ext cx="10149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Readiness</a:t>
            </a:r>
            <a:endParaRPr lang="en-US" sz="740" dirty="0"/>
          </a:p>
        </p:txBody>
      </p:sp>
      <p:sp>
        <p:nvSpPr>
          <p:cNvPr id="13" name="Text 11"/>
          <p:cNvSpPr/>
          <p:nvPr/>
        </p:nvSpPr>
        <p:spPr>
          <a:xfrm>
            <a:off x="9482328" y="1307592"/>
            <a:ext cx="1014984" cy="25603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Controls and evidence</a:t>
            </a:r>
            <a:endParaRPr lang="en-US" sz="650" dirty="0"/>
          </a:p>
        </p:txBody>
      </p:sp>
      <p:sp>
        <p:nvSpPr>
          <p:cNvPr id="14" name="Shape 12"/>
          <p:cNvSpPr/>
          <p:nvPr/>
        </p:nvSpPr>
        <p:spPr>
          <a:xfrm>
            <a:off x="9372600" y="2331720"/>
            <a:ext cx="1234440" cy="713232"/>
          </a:xfrm>
          <a:prstGeom prst="rect">
            <a:avLst/>
          </a:prstGeom>
          <a:solidFill>
            <a:srgbClr val="FFFFFF"/>
          </a:solidFill>
          <a:ln w="11430">
            <a:solidFill>
              <a:srgbClr val="07A9C7"/>
            </a:solidFill>
            <a:prstDash val="solid"/>
          </a:ln>
        </p:spPr>
      </p:sp>
      <p:sp>
        <p:nvSpPr>
          <p:cNvPr id="15" name="Text 13"/>
          <p:cNvSpPr/>
          <p:nvPr/>
        </p:nvSpPr>
        <p:spPr>
          <a:xfrm>
            <a:off x="9482328" y="2450592"/>
            <a:ext cx="10149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Continue</a:t>
            </a:r>
            <a:endParaRPr lang="en-US" sz="740" dirty="0"/>
          </a:p>
        </p:txBody>
      </p:sp>
      <p:sp>
        <p:nvSpPr>
          <p:cNvPr id="16" name="Text 14"/>
          <p:cNvSpPr/>
          <p:nvPr/>
        </p:nvSpPr>
        <p:spPr>
          <a:xfrm>
            <a:off x="9482328" y="2706624"/>
            <a:ext cx="1014984" cy="25603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Practice and updates</a:t>
            </a:r>
            <a:endParaRPr lang="en-US" sz="650" dirty="0"/>
          </a:p>
        </p:txBody>
      </p:sp>
      <p:sp>
        <p:nvSpPr>
          <p:cNvPr id="17" name="Shape 15"/>
          <p:cNvSpPr/>
          <p:nvPr/>
        </p:nvSpPr>
        <p:spPr>
          <a:xfrm>
            <a:off x="7178040" y="2331720"/>
            <a:ext cx="1234440" cy="713232"/>
          </a:xfrm>
          <a:prstGeom prst="rect">
            <a:avLst/>
          </a:prstGeom>
          <a:solidFill>
            <a:srgbClr val="E4F8FC"/>
          </a:solidFill>
          <a:ln w="11430">
            <a:solidFill>
              <a:srgbClr val="07A9C7"/>
            </a:solidFill>
            <a:prstDash val="solid"/>
          </a:ln>
        </p:spPr>
      </p:sp>
      <p:sp>
        <p:nvSpPr>
          <p:cNvPr id="18" name="Text 16"/>
          <p:cNvSpPr/>
          <p:nvPr/>
        </p:nvSpPr>
        <p:spPr>
          <a:xfrm>
            <a:off x="7287768" y="2450592"/>
            <a:ext cx="10149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Maintain</a:t>
            </a:r>
            <a:endParaRPr lang="en-US" sz="740" dirty="0"/>
          </a:p>
        </p:txBody>
      </p:sp>
      <p:sp>
        <p:nvSpPr>
          <p:cNvPr id="19" name="Text 17"/>
          <p:cNvSpPr/>
          <p:nvPr/>
        </p:nvSpPr>
        <p:spPr>
          <a:xfrm>
            <a:off x="7287768" y="2706624"/>
            <a:ext cx="1014984" cy="25603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Platform changes</a:t>
            </a:r>
            <a:endParaRPr lang="en-US" sz="650" dirty="0"/>
          </a:p>
        </p:txBody>
      </p:sp>
      <p:sp>
        <p:nvSpPr>
          <p:cNvPr id="20" name="Shape 18"/>
          <p:cNvSpPr/>
          <p:nvPr/>
        </p:nvSpPr>
        <p:spPr>
          <a:xfrm>
            <a:off x="8458200" y="1289304"/>
            <a:ext cx="868680" cy="0"/>
          </a:xfrm>
          <a:prstGeom prst="line">
            <a:avLst/>
          </a:prstGeom>
          <a:noFill/>
          <a:ln w="15240">
            <a:solidFill>
              <a:srgbClr val="087F9B"/>
            </a:solidFill>
            <a:prstDash val="solid"/>
            <a:headEnd type="none"/>
            <a:tailEnd type="triangle"/>
          </a:ln>
        </p:spPr>
      </p:sp>
      <p:sp>
        <p:nvSpPr>
          <p:cNvPr id="21" name="Shape 19"/>
          <p:cNvSpPr/>
          <p:nvPr/>
        </p:nvSpPr>
        <p:spPr>
          <a:xfrm>
            <a:off x="9985248" y="1673352"/>
            <a:ext cx="0" cy="630936"/>
          </a:xfrm>
          <a:prstGeom prst="line">
            <a:avLst/>
          </a:prstGeom>
          <a:noFill/>
          <a:ln w="15240">
            <a:solidFill>
              <a:srgbClr val="087F9B"/>
            </a:solidFill>
            <a:prstDash val="solid"/>
            <a:headEnd type="none"/>
            <a:tailEnd type="triangle"/>
          </a:ln>
        </p:spPr>
      </p:sp>
      <p:sp>
        <p:nvSpPr>
          <p:cNvPr id="22" name="Shape 20"/>
          <p:cNvSpPr/>
          <p:nvPr/>
        </p:nvSpPr>
        <p:spPr>
          <a:xfrm>
            <a:off x="9326880" y="2688336"/>
            <a:ext cx="-877824" cy="0"/>
          </a:xfrm>
          <a:prstGeom prst="line">
            <a:avLst/>
          </a:prstGeom>
          <a:noFill/>
          <a:ln w="15240">
            <a:solidFill>
              <a:srgbClr val="087F9B"/>
            </a:solidFill>
            <a:prstDash val="solid"/>
            <a:headEnd type="none"/>
            <a:tailEnd type="triangle"/>
          </a:ln>
        </p:spPr>
      </p:sp>
      <p:sp>
        <p:nvSpPr>
          <p:cNvPr id="23" name="Shape 21"/>
          <p:cNvSpPr/>
          <p:nvPr/>
        </p:nvSpPr>
        <p:spPr>
          <a:xfrm>
            <a:off x="7790688" y="2304288"/>
            <a:ext cx="0" cy="-621792"/>
          </a:xfrm>
          <a:prstGeom prst="line">
            <a:avLst/>
          </a:prstGeom>
          <a:noFill/>
          <a:ln w="15240">
            <a:solidFill>
              <a:srgbClr val="087F9B"/>
            </a:solidFill>
            <a:prstDash val="solid"/>
            <a:headEnd type="none"/>
            <a:tailEnd type="triangle"/>
          </a:ln>
        </p:spPr>
      </p:sp>
      <p:sp>
        <p:nvSpPr>
          <p:cNvPr id="24" name="Shape 22"/>
          <p:cNvSpPr/>
          <p:nvPr/>
        </p:nvSpPr>
        <p:spPr>
          <a:xfrm>
            <a:off x="3063240" y="5897880"/>
            <a:ext cx="6080760" cy="210312"/>
          </a:xfrm>
          <a:prstGeom prst="rect">
            <a:avLst/>
          </a:prstGeom>
          <a:solidFill>
            <a:srgbClr val="EAFBFE"/>
          </a:solidFill>
          <a:ln w="10160">
            <a:solidFill>
              <a:srgbClr val="07A9C7"/>
            </a:solidFill>
            <a:prstDash val="solid"/>
          </a:ln>
        </p:spPr>
      </p:sp>
      <p:sp>
        <p:nvSpPr>
          <p:cNvPr id="25" name="Text 23"/>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The closeout connects the course skills to a maintainable enterprise operating model.</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54</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Course Conclusion</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The course outcome is a practical mental model for governed enterprise agents.</a:t>
            </a:r>
            <a:endParaRPr lang="en-US" sz="970" dirty="0"/>
          </a:p>
        </p:txBody>
      </p:sp>
      <p:sp>
        <p:nvSpPr>
          <p:cNvPr id="8" name="Text 6"/>
          <p:cNvSpPr/>
          <p:nvPr/>
        </p:nvSpPr>
        <p:spPr>
          <a:xfrm>
            <a:off x="685800" y="1874520"/>
            <a:ext cx="6355080" cy="2148840"/>
          </a:xfrm>
          <a:prstGeom prst="rect">
            <a:avLst/>
          </a:prstGeom>
          <a:noFill/>
          <a:ln/>
        </p:spPr>
        <p:txBody>
          <a:bodyPr wrap="square" lIns="381" tIns="381" rIns="381" bIns="381" rtlCol="0" anchor="t">
            <a:normAutofit/>
          </a:bodyPr>
          <a:lstStyle/>
          <a:p>
            <a:pPr indent="0" marL="0">
              <a:buNone/>
            </a:pPr>
            <a:r>
              <a:rPr lang="en-US" sz="1320" dirty="0">
                <a:solidFill>
                  <a:srgbClr val="1F2937"/>
                </a:solidFill>
                <a:latin typeface="Aptos" pitchFamily="34" charset="0"/>
                <a:ea typeface="Aptos" pitchFamily="34" charset="-122"/>
                <a:cs typeface="Aptos" pitchFamily="34" charset="-120"/>
              </a:rPr>
              <a:t>▸ Foundry provides the platform boundary for enterprise AI assets.</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Agents become useful when they are grounded, tooled, evaluated, and governed.</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Identity, data access, and tool permissions shape what an agent can safely do.</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Monitoring and evaluations turn agent behavior into operational evidence.</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The architecture must be maintained as Microsoft Foundry evolves.</a:t>
            </a:r>
            <a:endParaRPr lang="en-US" sz="1320" dirty="0"/>
          </a:p>
        </p:txBody>
      </p:sp>
      <p:sp>
        <p:nvSpPr>
          <p:cNvPr id="9" name="Shape 7"/>
          <p:cNvSpPr/>
          <p:nvPr/>
        </p:nvSpPr>
        <p:spPr>
          <a:xfrm>
            <a:off x="8732520" y="1417320"/>
            <a:ext cx="2423160" cy="914400"/>
          </a:xfrm>
          <a:prstGeom prst="rect">
            <a:avLst/>
          </a:prstGeom>
          <a:solidFill>
            <a:srgbClr val="FFFFFF"/>
          </a:solidFill>
          <a:ln w="8890">
            <a:solidFill>
              <a:srgbClr val="E5E7EB"/>
            </a:solidFill>
            <a:prstDash val="solid"/>
          </a:ln>
        </p:spPr>
      </p:sp>
      <p:sp>
        <p:nvSpPr>
          <p:cNvPr id="10" name="Shape 8"/>
          <p:cNvSpPr/>
          <p:nvPr/>
        </p:nvSpPr>
        <p:spPr>
          <a:xfrm>
            <a:off x="8732520" y="1417320"/>
            <a:ext cx="73152" cy="914400"/>
          </a:xfrm>
          <a:prstGeom prst="rect">
            <a:avLst/>
          </a:prstGeom>
          <a:solidFill>
            <a:srgbClr val="07A9C7"/>
          </a:solidFill>
          <a:ln w="12700">
            <a:solidFill>
              <a:srgbClr val="07A9C7"/>
            </a:solidFill>
            <a:prstDash val="solid"/>
          </a:ln>
        </p:spPr>
      </p:sp>
      <p:sp>
        <p:nvSpPr>
          <p:cNvPr id="11" name="Text 9"/>
          <p:cNvSpPr/>
          <p:nvPr/>
        </p:nvSpPr>
        <p:spPr>
          <a:xfrm>
            <a:off x="8897112" y="1536192"/>
            <a:ext cx="214884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Final takeaway</a:t>
            </a:r>
            <a:endParaRPr lang="en-US" sz="800" dirty="0"/>
          </a:p>
        </p:txBody>
      </p:sp>
      <p:sp>
        <p:nvSpPr>
          <p:cNvPr id="12" name="Text 10"/>
          <p:cNvSpPr/>
          <p:nvPr/>
        </p:nvSpPr>
        <p:spPr>
          <a:xfrm>
            <a:off x="8897112" y="1783080"/>
            <a:ext cx="2148840" cy="48463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A production agent is a governed system, not a single prompt.</a:t>
            </a:r>
            <a:endParaRPr lang="en-US" sz="700" dirty="0"/>
          </a:p>
        </p:txBody>
      </p:sp>
      <p:sp>
        <p:nvSpPr>
          <p:cNvPr id="13" name="Shape 11"/>
          <p:cNvSpPr/>
          <p:nvPr/>
        </p:nvSpPr>
        <p:spPr>
          <a:xfrm>
            <a:off x="3063240" y="5897880"/>
            <a:ext cx="6080760" cy="210312"/>
          </a:xfrm>
          <a:prstGeom prst="rect">
            <a:avLst/>
          </a:prstGeom>
          <a:solidFill>
            <a:srgbClr val="EAFBFE"/>
          </a:solidFill>
          <a:ln w="10160">
            <a:solidFill>
              <a:srgbClr val="07A9C7"/>
            </a:solidFill>
            <a:prstDash val="solid"/>
          </a:ln>
        </p:spPr>
      </p:sp>
      <p:sp>
        <p:nvSpPr>
          <p:cNvPr id="14" name="Text 12"/>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The final standard is trustable operation, not just successful experimentation.</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54</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Enterprise Agent Architecture Review</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The same architecture should now feel familiar from every section.</a:t>
            </a:r>
            <a:endParaRPr lang="en-US" sz="970" dirty="0"/>
          </a:p>
        </p:txBody>
      </p:sp>
      <p:sp>
        <p:nvSpPr>
          <p:cNvPr id="8" name="Shape 6"/>
          <p:cNvSpPr/>
          <p:nvPr/>
        </p:nvSpPr>
        <p:spPr>
          <a:xfrm>
            <a:off x="594360" y="2606040"/>
            <a:ext cx="1417320" cy="713232"/>
          </a:xfrm>
          <a:prstGeom prst="rect">
            <a:avLst/>
          </a:prstGeom>
          <a:solidFill>
            <a:srgbClr val="FFFFFF"/>
          </a:solidFill>
          <a:ln w="11430">
            <a:solidFill>
              <a:srgbClr val="07A9C7"/>
            </a:solidFill>
            <a:prstDash val="solid"/>
          </a:ln>
        </p:spPr>
      </p:sp>
      <p:sp>
        <p:nvSpPr>
          <p:cNvPr id="9" name="Text 7"/>
          <p:cNvSpPr/>
          <p:nvPr/>
        </p:nvSpPr>
        <p:spPr>
          <a:xfrm>
            <a:off x="704088" y="2724912"/>
            <a:ext cx="119786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Users</a:t>
            </a:r>
            <a:endParaRPr lang="en-US" sz="740" dirty="0"/>
          </a:p>
        </p:txBody>
      </p:sp>
      <p:sp>
        <p:nvSpPr>
          <p:cNvPr id="10" name="Text 8"/>
          <p:cNvSpPr/>
          <p:nvPr/>
        </p:nvSpPr>
        <p:spPr>
          <a:xfrm>
            <a:off x="704088" y="2980944"/>
            <a:ext cx="1197864" cy="25603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Approved channels and identities</a:t>
            </a:r>
            <a:endParaRPr lang="en-US" sz="650" dirty="0"/>
          </a:p>
        </p:txBody>
      </p:sp>
      <p:sp>
        <p:nvSpPr>
          <p:cNvPr id="11" name="Shape 9"/>
          <p:cNvSpPr/>
          <p:nvPr/>
        </p:nvSpPr>
        <p:spPr>
          <a:xfrm>
            <a:off x="2011680" y="2962656"/>
            <a:ext cx="457200" cy="0"/>
          </a:xfrm>
          <a:prstGeom prst="line">
            <a:avLst/>
          </a:prstGeom>
          <a:noFill/>
          <a:ln w="15240">
            <a:solidFill>
              <a:srgbClr val="087F9B"/>
            </a:solidFill>
            <a:prstDash val="solid"/>
            <a:headEnd type="none"/>
            <a:tailEnd type="triangle"/>
          </a:ln>
        </p:spPr>
      </p:sp>
      <p:sp>
        <p:nvSpPr>
          <p:cNvPr id="12" name="Shape 10"/>
          <p:cNvSpPr/>
          <p:nvPr/>
        </p:nvSpPr>
        <p:spPr>
          <a:xfrm>
            <a:off x="2514600" y="2606040"/>
            <a:ext cx="1600200" cy="713232"/>
          </a:xfrm>
          <a:prstGeom prst="rect">
            <a:avLst/>
          </a:prstGeom>
          <a:solidFill>
            <a:srgbClr val="E4F8FC"/>
          </a:solidFill>
          <a:ln w="11430">
            <a:solidFill>
              <a:srgbClr val="07A9C7"/>
            </a:solidFill>
            <a:prstDash val="solid"/>
          </a:ln>
        </p:spPr>
      </p:sp>
      <p:sp>
        <p:nvSpPr>
          <p:cNvPr id="13" name="Text 11"/>
          <p:cNvSpPr/>
          <p:nvPr/>
        </p:nvSpPr>
        <p:spPr>
          <a:xfrm>
            <a:off x="2624328" y="2724912"/>
            <a:ext cx="138074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Foundry project</a:t>
            </a:r>
            <a:endParaRPr lang="en-US" sz="740" dirty="0"/>
          </a:p>
        </p:txBody>
      </p:sp>
      <p:sp>
        <p:nvSpPr>
          <p:cNvPr id="14" name="Text 12"/>
          <p:cNvSpPr/>
          <p:nvPr/>
        </p:nvSpPr>
        <p:spPr>
          <a:xfrm>
            <a:off x="2624328" y="2980944"/>
            <a:ext cx="1380744" cy="25603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Boundary, roles, connections</a:t>
            </a:r>
            <a:endParaRPr lang="en-US" sz="650" dirty="0"/>
          </a:p>
        </p:txBody>
      </p:sp>
      <p:sp>
        <p:nvSpPr>
          <p:cNvPr id="15" name="Shape 13"/>
          <p:cNvSpPr/>
          <p:nvPr/>
        </p:nvSpPr>
        <p:spPr>
          <a:xfrm>
            <a:off x="4114800" y="2962656"/>
            <a:ext cx="457200" cy="0"/>
          </a:xfrm>
          <a:prstGeom prst="line">
            <a:avLst/>
          </a:prstGeom>
          <a:noFill/>
          <a:ln w="15240">
            <a:solidFill>
              <a:srgbClr val="087F9B"/>
            </a:solidFill>
            <a:prstDash val="solid"/>
            <a:headEnd type="none"/>
            <a:tailEnd type="triangle"/>
          </a:ln>
        </p:spPr>
      </p:sp>
      <p:sp>
        <p:nvSpPr>
          <p:cNvPr id="16" name="Shape 14"/>
          <p:cNvSpPr/>
          <p:nvPr/>
        </p:nvSpPr>
        <p:spPr>
          <a:xfrm>
            <a:off x="4617720" y="2606040"/>
            <a:ext cx="1600200" cy="713232"/>
          </a:xfrm>
          <a:prstGeom prst="rect">
            <a:avLst/>
          </a:prstGeom>
          <a:solidFill>
            <a:srgbClr val="FFFFFF"/>
          </a:solidFill>
          <a:ln w="11430">
            <a:solidFill>
              <a:srgbClr val="07A9C7"/>
            </a:solidFill>
            <a:prstDash val="solid"/>
          </a:ln>
        </p:spPr>
      </p:sp>
      <p:sp>
        <p:nvSpPr>
          <p:cNvPr id="17" name="Text 15"/>
          <p:cNvSpPr/>
          <p:nvPr/>
        </p:nvSpPr>
        <p:spPr>
          <a:xfrm>
            <a:off x="4727448" y="2724912"/>
            <a:ext cx="138074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Agent</a:t>
            </a:r>
            <a:endParaRPr lang="en-US" sz="740" dirty="0"/>
          </a:p>
        </p:txBody>
      </p:sp>
      <p:sp>
        <p:nvSpPr>
          <p:cNvPr id="18" name="Text 16"/>
          <p:cNvSpPr/>
          <p:nvPr/>
        </p:nvSpPr>
        <p:spPr>
          <a:xfrm>
            <a:off x="4727448" y="2980944"/>
            <a:ext cx="1380744" cy="25603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Instructions, version, endpoint</a:t>
            </a:r>
            <a:endParaRPr lang="en-US" sz="650" dirty="0"/>
          </a:p>
        </p:txBody>
      </p:sp>
      <p:sp>
        <p:nvSpPr>
          <p:cNvPr id="19" name="Shape 17"/>
          <p:cNvSpPr/>
          <p:nvPr/>
        </p:nvSpPr>
        <p:spPr>
          <a:xfrm>
            <a:off x="6766560" y="1874520"/>
            <a:ext cx="1463040" cy="621792"/>
          </a:xfrm>
          <a:prstGeom prst="rect">
            <a:avLst/>
          </a:prstGeom>
          <a:solidFill>
            <a:srgbClr val="FFFFFF"/>
          </a:solidFill>
          <a:ln w="11430">
            <a:solidFill>
              <a:srgbClr val="07A9C7"/>
            </a:solidFill>
            <a:prstDash val="solid"/>
          </a:ln>
        </p:spPr>
      </p:sp>
      <p:sp>
        <p:nvSpPr>
          <p:cNvPr id="20" name="Text 18"/>
          <p:cNvSpPr/>
          <p:nvPr/>
        </p:nvSpPr>
        <p:spPr>
          <a:xfrm>
            <a:off x="6876288" y="1993392"/>
            <a:ext cx="12435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Model</a:t>
            </a:r>
            <a:endParaRPr lang="en-US" sz="740" dirty="0"/>
          </a:p>
        </p:txBody>
      </p:sp>
      <p:sp>
        <p:nvSpPr>
          <p:cNvPr id="21" name="Text 19"/>
          <p:cNvSpPr/>
          <p:nvPr/>
        </p:nvSpPr>
        <p:spPr>
          <a:xfrm>
            <a:off x="6876288" y="2249424"/>
            <a:ext cx="1243584" cy="16459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Deployment, quota, cost</a:t>
            </a:r>
            <a:endParaRPr lang="en-US" sz="650" dirty="0"/>
          </a:p>
        </p:txBody>
      </p:sp>
      <p:sp>
        <p:nvSpPr>
          <p:cNvPr id="22" name="Shape 20"/>
          <p:cNvSpPr/>
          <p:nvPr/>
        </p:nvSpPr>
        <p:spPr>
          <a:xfrm>
            <a:off x="6766560" y="2880360"/>
            <a:ext cx="1463040" cy="621792"/>
          </a:xfrm>
          <a:prstGeom prst="rect">
            <a:avLst/>
          </a:prstGeom>
          <a:solidFill>
            <a:srgbClr val="FFFFFF"/>
          </a:solidFill>
          <a:ln w="11430">
            <a:solidFill>
              <a:srgbClr val="07A9C7"/>
            </a:solidFill>
            <a:prstDash val="solid"/>
          </a:ln>
        </p:spPr>
      </p:sp>
      <p:sp>
        <p:nvSpPr>
          <p:cNvPr id="23" name="Text 21"/>
          <p:cNvSpPr/>
          <p:nvPr/>
        </p:nvSpPr>
        <p:spPr>
          <a:xfrm>
            <a:off x="6876288" y="2999232"/>
            <a:ext cx="12435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Knowledge</a:t>
            </a:r>
            <a:endParaRPr lang="en-US" sz="740" dirty="0"/>
          </a:p>
        </p:txBody>
      </p:sp>
      <p:sp>
        <p:nvSpPr>
          <p:cNvPr id="24" name="Text 22"/>
          <p:cNvSpPr/>
          <p:nvPr/>
        </p:nvSpPr>
        <p:spPr>
          <a:xfrm>
            <a:off x="6876288" y="3255264"/>
            <a:ext cx="1243584" cy="16459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Foundry IQ + citations</a:t>
            </a:r>
            <a:endParaRPr lang="en-US" sz="650" dirty="0"/>
          </a:p>
        </p:txBody>
      </p:sp>
      <p:sp>
        <p:nvSpPr>
          <p:cNvPr id="25" name="Shape 23"/>
          <p:cNvSpPr/>
          <p:nvPr/>
        </p:nvSpPr>
        <p:spPr>
          <a:xfrm>
            <a:off x="6766560" y="3886200"/>
            <a:ext cx="1463040" cy="621792"/>
          </a:xfrm>
          <a:prstGeom prst="rect">
            <a:avLst/>
          </a:prstGeom>
          <a:solidFill>
            <a:srgbClr val="FFFFFF"/>
          </a:solidFill>
          <a:ln w="11430">
            <a:solidFill>
              <a:srgbClr val="07A9C7"/>
            </a:solidFill>
            <a:prstDash val="solid"/>
          </a:ln>
        </p:spPr>
      </p:sp>
      <p:sp>
        <p:nvSpPr>
          <p:cNvPr id="26" name="Text 24"/>
          <p:cNvSpPr/>
          <p:nvPr/>
        </p:nvSpPr>
        <p:spPr>
          <a:xfrm>
            <a:off x="6876288" y="4005072"/>
            <a:ext cx="12435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Tools</a:t>
            </a:r>
            <a:endParaRPr lang="en-US" sz="740" dirty="0"/>
          </a:p>
        </p:txBody>
      </p:sp>
      <p:sp>
        <p:nvSpPr>
          <p:cNvPr id="27" name="Text 25"/>
          <p:cNvSpPr/>
          <p:nvPr/>
        </p:nvSpPr>
        <p:spPr>
          <a:xfrm>
            <a:off x="6876288" y="4261104"/>
            <a:ext cx="1243584" cy="164592"/>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Catalog, MCP, approval</a:t>
            </a:r>
            <a:endParaRPr lang="en-US" sz="650" dirty="0"/>
          </a:p>
        </p:txBody>
      </p:sp>
      <p:sp>
        <p:nvSpPr>
          <p:cNvPr id="28" name="Shape 26"/>
          <p:cNvSpPr/>
          <p:nvPr/>
        </p:nvSpPr>
        <p:spPr>
          <a:xfrm>
            <a:off x="8915400" y="2148840"/>
            <a:ext cx="1463040" cy="658368"/>
          </a:xfrm>
          <a:prstGeom prst="rect">
            <a:avLst/>
          </a:prstGeom>
          <a:solidFill>
            <a:srgbClr val="FFFFFF"/>
          </a:solidFill>
          <a:ln w="11430">
            <a:solidFill>
              <a:srgbClr val="07A9C7"/>
            </a:solidFill>
            <a:prstDash val="solid"/>
          </a:ln>
        </p:spPr>
      </p:sp>
      <p:sp>
        <p:nvSpPr>
          <p:cNvPr id="29" name="Text 27"/>
          <p:cNvSpPr/>
          <p:nvPr/>
        </p:nvSpPr>
        <p:spPr>
          <a:xfrm>
            <a:off x="9025128" y="2267712"/>
            <a:ext cx="12435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Evaluate</a:t>
            </a:r>
            <a:endParaRPr lang="en-US" sz="740" dirty="0"/>
          </a:p>
        </p:txBody>
      </p:sp>
      <p:sp>
        <p:nvSpPr>
          <p:cNvPr id="30" name="Text 28"/>
          <p:cNvSpPr/>
          <p:nvPr/>
        </p:nvSpPr>
        <p:spPr>
          <a:xfrm>
            <a:off x="9025128" y="2523744"/>
            <a:ext cx="1243584" cy="201168"/>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Quality, safety, task success</a:t>
            </a:r>
            <a:endParaRPr lang="en-US" sz="650" dirty="0"/>
          </a:p>
        </p:txBody>
      </p:sp>
      <p:sp>
        <p:nvSpPr>
          <p:cNvPr id="31" name="Shape 29"/>
          <p:cNvSpPr/>
          <p:nvPr/>
        </p:nvSpPr>
        <p:spPr>
          <a:xfrm>
            <a:off x="8915400" y="3154680"/>
            <a:ext cx="1463040" cy="658368"/>
          </a:xfrm>
          <a:prstGeom prst="rect">
            <a:avLst/>
          </a:prstGeom>
          <a:solidFill>
            <a:srgbClr val="FFFFFF"/>
          </a:solidFill>
          <a:ln w="11430">
            <a:solidFill>
              <a:srgbClr val="07A9C7"/>
            </a:solidFill>
            <a:prstDash val="solid"/>
          </a:ln>
        </p:spPr>
      </p:sp>
      <p:sp>
        <p:nvSpPr>
          <p:cNvPr id="32" name="Text 30"/>
          <p:cNvSpPr/>
          <p:nvPr/>
        </p:nvSpPr>
        <p:spPr>
          <a:xfrm>
            <a:off x="9025128" y="3273552"/>
            <a:ext cx="12435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Monitor</a:t>
            </a:r>
            <a:endParaRPr lang="en-US" sz="740" dirty="0"/>
          </a:p>
        </p:txBody>
      </p:sp>
      <p:sp>
        <p:nvSpPr>
          <p:cNvPr id="33" name="Text 31"/>
          <p:cNvSpPr/>
          <p:nvPr/>
        </p:nvSpPr>
        <p:spPr>
          <a:xfrm>
            <a:off x="9025128" y="3529584"/>
            <a:ext cx="1243584" cy="201168"/>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Latency, tokens, failures</a:t>
            </a:r>
            <a:endParaRPr lang="en-US" sz="650" dirty="0"/>
          </a:p>
        </p:txBody>
      </p:sp>
      <p:sp>
        <p:nvSpPr>
          <p:cNvPr id="34" name="Shape 32"/>
          <p:cNvSpPr/>
          <p:nvPr/>
        </p:nvSpPr>
        <p:spPr>
          <a:xfrm>
            <a:off x="8915400" y="4160520"/>
            <a:ext cx="1463040" cy="658368"/>
          </a:xfrm>
          <a:prstGeom prst="rect">
            <a:avLst/>
          </a:prstGeom>
          <a:solidFill>
            <a:srgbClr val="E4F8FC"/>
          </a:solidFill>
          <a:ln w="11430">
            <a:solidFill>
              <a:srgbClr val="07A9C7"/>
            </a:solidFill>
            <a:prstDash val="solid"/>
          </a:ln>
        </p:spPr>
      </p:sp>
      <p:sp>
        <p:nvSpPr>
          <p:cNvPr id="35" name="Text 33"/>
          <p:cNvSpPr/>
          <p:nvPr/>
        </p:nvSpPr>
        <p:spPr>
          <a:xfrm>
            <a:off x="9025128" y="4279392"/>
            <a:ext cx="1243584" cy="182880"/>
          </a:xfrm>
          <a:prstGeom prst="rect">
            <a:avLst/>
          </a:prstGeom>
          <a:noFill/>
          <a:ln/>
        </p:spPr>
        <p:txBody>
          <a:bodyPr wrap="square" lIns="0" tIns="0" rIns="0" bIns="0" rtlCol="0" anchor="ctr">
            <a:normAutofit/>
          </a:bodyPr>
          <a:lstStyle/>
          <a:p>
            <a:pPr algn="ctr" indent="0" marL="0">
              <a:buNone/>
            </a:pPr>
            <a:r>
              <a:rPr lang="en-US" sz="740" b="1" dirty="0">
                <a:solidFill>
                  <a:srgbClr val="1F2937"/>
                </a:solidFill>
                <a:latin typeface="Aptos" pitchFamily="34" charset="0"/>
                <a:ea typeface="Aptos" pitchFamily="34" charset="-122"/>
                <a:cs typeface="Aptos" pitchFamily="34" charset="-120"/>
              </a:rPr>
              <a:t>Govern</a:t>
            </a:r>
            <a:endParaRPr lang="en-US" sz="740" dirty="0"/>
          </a:p>
        </p:txBody>
      </p:sp>
      <p:sp>
        <p:nvSpPr>
          <p:cNvPr id="36" name="Text 34"/>
          <p:cNvSpPr/>
          <p:nvPr/>
        </p:nvSpPr>
        <p:spPr>
          <a:xfrm>
            <a:off x="9025128" y="4535424"/>
            <a:ext cx="1243584" cy="201168"/>
          </a:xfrm>
          <a:prstGeom prst="rect">
            <a:avLst/>
          </a:prstGeom>
          <a:noFill/>
          <a:ln/>
        </p:spPr>
        <p:txBody>
          <a:bodyPr wrap="square" lIns="254" tIns="254" rIns="254" bIns="254" rtlCol="0" anchor="ctr">
            <a:normAutofit/>
          </a:bodyPr>
          <a:lstStyle/>
          <a:p>
            <a:pPr algn="ctr" indent="0" marL="0">
              <a:buNone/>
            </a:pPr>
            <a:r>
              <a:rPr lang="en-US" sz="650" dirty="0">
                <a:solidFill>
                  <a:srgbClr val="64748B"/>
                </a:solidFill>
                <a:latin typeface="Aptos" pitchFamily="34" charset="0"/>
                <a:ea typeface="Aptos" pitchFamily="34" charset="-122"/>
                <a:cs typeface="Aptos" pitchFamily="34" charset="-120"/>
              </a:rPr>
              <a:t>Policy, roles, fleet view</a:t>
            </a:r>
            <a:endParaRPr lang="en-US" sz="650" dirty="0"/>
          </a:p>
        </p:txBody>
      </p:sp>
      <p:sp>
        <p:nvSpPr>
          <p:cNvPr id="37" name="Shape 35"/>
          <p:cNvSpPr/>
          <p:nvPr/>
        </p:nvSpPr>
        <p:spPr>
          <a:xfrm>
            <a:off x="777240" y="5074920"/>
            <a:ext cx="2971800" cy="685800"/>
          </a:xfrm>
          <a:prstGeom prst="rect">
            <a:avLst/>
          </a:prstGeom>
          <a:solidFill>
            <a:srgbClr val="FFFFFF"/>
          </a:solidFill>
          <a:ln w="8890">
            <a:solidFill>
              <a:srgbClr val="E5E7EB"/>
            </a:solidFill>
            <a:prstDash val="solid"/>
          </a:ln>
        </p:spPr>
      </p:sp>
      <p:sp>
        <p:nvSpPr>
          <p:cNvPr id="38" name="Shape 36"/>
          <p:cNvSpPr/>
          <p:nvPr/>
        </p:nvSpPr>
        <p:spPr>
          <a:xfrm>
            <a:off x="777240" y="5074920"/>
            <a:ext cx="73152" cy="685800"/>
          </a:xfrm>
          <a:prstGeom prst="rect">
            <a:avLst/>
          </a:prstGeom>
          <a:solidFill>
            <a:srgbClr val="07A9C7"/>
          </a:solidFill>
          <a:ln w="12700">
            <a:solidFill>
              <a:srgbClr val="07A9C7"/>
            </a:solidFill>
            <a:prstDash val="solid"/>
          </a:ln>
        </p:spPr>
      </p:sp>
      <p:sp>
        <p:nvSpPr>
          <p:cNvPr id="39" name="Text 37"/>
          <p:cNvSpPr/>
          <p:nvPr/>
        </p:nvSpPr>
        <p:spPr>
          <a:xfrm>
            <a:off x="941832" y="5193792"/>
            <a:ext cx="269748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Architecture test</a:t>
            </a:r>
            <a:endParaRPr lang="en-US" sz="800" dirty="0"/>
          </a:p>
        </p:txBody>
      </p:sp>
      <p:sp>
        <p:nvSpPr>
          <p:cNvPr id="40" name="Text 38"/>
          <p:cNvSpPr/>
          <p:nvPr/>
        </p:nvSpPr>
        <p:spPr>
          <a:xfrm>
            <a:off x="941832" y="5440680"/>
            <a:ext cx="2697480" cy="25603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Every box needs an owner, a control, and a validation signal.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54</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What You Can Now Do</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Use the course outcomes as a practical readiness checklist.</a:t>
            </a:r>
            <a:endParaRPr lang="en-US" sz="970" dirty="0"/>
          </a:p>
        </p:txBody>
      </p:sp>
      <p:sp>
        <p:nvSpPr>
          <p:cNvPr id="8" name="Shape 6"/>
          <p:cNvSpPr/>
          <p:nvPr/>
        </p:nvSpPr>
        <p:spPr>
          <a:xfrm>
            <a:off x="685800" y="1737360"/>
            <a:ext cx="1965960" cy="960120"/>
          </a:xfrm>
          <a:prstGeom prst="rect">
            <a:avLst/>
          </a:prstGeom>
          <a:solidFill>
            <a:srgbClr val="FFFFFF"/>
          </a:solidFill>
          <a:ln w="8890">
            <a:solidFill>
              <a:srgbClr val="E5E7EB"/>
            </a:solidFill>
            <a:prstDash val="solid"/>
          </a:ln>
        </p:spPr>
      </p:sp>
      <p:sp>
        <p:nvSpPr>
          <p:cNvPr id="9" name="Shape 7"/>
          <p:cNvSpPr/>
          <p:nvPr/>
        </p:nvSpPr>
        <p:spPr>
          <a:xfrm>
            <a:off x="685800" y="1737360"/>
            <a:ext cx="50292" cy="960120"/>
          </a:xfrm>
          <a:prstGeom prst="rect">
            <a:avLst/>
          </a:prstGeom>
          <a:solidFill>
            <a:srgbClr val="07A9C7"/>
          </a:solidFill>
          <a:ln w="12700">
            <a:solidFill>
              <a:srgbClr val="07A9C7"/>
            </a:solidFill>
            <a:prstDash val="solid"/>
          </a:ln>
        </p:spPr>
      </p:sp>
      <p:sp>
        <p:nvSpPr>
          <p:cNvPr id="10" name="Text 8"/>
          <p:cNvSpPr/>
          <p:nvPr/>
        </p:nvSpPr>
        <p:spPr>
          <a:xfrm>
            <a:off x="850392" y="1847088"/>
            <a:ext cx="169164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Explain</a:t>
            </a:r>
            <a:endParaRPr lang="en-US" sz="810" dirty="0"/>
          </a:p>
        </p:txBody>
      </p:sp>
      <p:sp>
        <p:nvSpPr>
          <p:cNvPr id="11" name="Text 9"/>
          <p:cNvSpPr/>
          <p:nvPr/>
        </p:nvSpPr>
        <p:spPr>
          <a:xfrm>
            <a:off x="850392" y="2103120"/>
            <a:ext cx="1691640" cy="52120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Describe the Foundry resource model, current portal, agents, knowledge, tools, and governance.</a:t>
            </a:r>
            <a:endParaRPr lang="en-US" sz="700" dirty="0"/>
          </a:p>
        </p:txBody>
      </p:sp>
      <p:sp>
        <p:nvSpPr>
          <p:cNvPr id="12" name="Shape 10"/>
          <p:cNvSpPr/>
          <p:nvPr/>
        </p:nvSpPr>
        <p:spPr>
          <a:xfrm>
            <a:off x="2971800" y="1737360"/>
            <a:ext cx="1965960" cy="960120"/>
          </a:xfrm>
          <a:prstGeom prst="rect">
            <a:avLst/>
          </a:prstGeom>
          <a:solidFill>
            <a:srgbClr val="FFFFFF"/>
          </a:solidFill>
          <a:ln w="8890">
            <a:solidFill>
              <a:srgbClr val="E5E7EB"/>
            </a:solidFill>
            <a:prstDash val="solid"/>
          </a:ln>
        </p:spPr>
      </p:sp>
      <p:sp>
        <p:nvSpPr>
          <p:cNvPr id="13" name="Shape 11"/>
          <p:cNvSpPr/>
          <p:nvPr/>
        </p:nvSpPr>
        <p:spPr>
          <a:xfrm>
            <a:off x="2971800" y="1737360"/>
            <a:ext cx="50292" cy="960120"/>
          </a:xfrm>
          <a:prstGeom prst="rect">
            <a:avLst/>
          </a:prstGeom>
          <a:solidFill>
            <a:srgbClr val="07A9C7"/>
          </a:solidFill>
          <a:ln w="12700">
            <a:solidFill>
              <a:srgbClr val="07A9C7"/>
            </a:solidFill>
            <a:prstDash val="solid"/>
          </a:ln>
        </p:spPr>
      </p:sp>
      <p:sp>
        <p:nvSpPr>
          <p:cNvPr id="14" name="Text 12"/>
          <p:cNvSpPr/>
          <p:nvPr/>
        </p:nvSpPr>
        <p:spPr>
          <a:xfrm>
            <a:off x="3136392" y="1847088"/>
            <a:ext cx="169164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Configure</a:t>
            </a:r>
            <a:endParaRPr lang="en-US" sz="810" dirty="0"/>
          </a:p>
        </p:txBody>
      </p:sp>
      <p:sp>
        <p:nvSpPr>
          <p:cNvPr id="15" name="Text 13"/>
          <p:cNvSpPr/>
          <p:nvPr/>
        </p:nvSpPr>
        <p:spPr>
          <a:xfrm>
            <a:off x="3136392" y="2103120"/>
            <a:ext cx="1691640" cy="52120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Provision projects, deploy models, create prompt agents, attach knowledge, and connect tools.</a:t>
            </a:r>
            <a:endParaRPr lang="en-US" sz="700" dirty="0"/>
          </a:p>
        </p:txBody>
      </p:sp>
      <p:sp>
        <p:nvSpPr>
          <p:cNvPr id="16" name="Shape 14"/>
          <p:cNvSpPr/>
          <p:nvPr/>
        </p:nvSpPr>
        <p:spPr>
          <a:xfrm>
            <a:off x="5257800" y="1737360"/>
            <a:ext cx="1965960" cy="960120"/>
          </a:xfrm>
          <a:prstGeom prst="rect">
            <a:avLst/>
          </a:prstGeom>
          <a:solidFill>
            <a:srgbClr val="FFFFFF"/>
          </a:solidFill>
          <a:ln w="8890">
            <a:solidFill>
              <a:srgbClr val="E5E7EB"/>
            </a:solidFill>
            <a:prstDash val="solid"/>
          </a:ln>
        </p:spPr>
      </p:sp>
      <p:sp>
        <p:nvSpPr>
          <p:cNvPr id="17" name="Shape 15"/>
          <p:cNvSpPr/>
          <p:nvPr/>
        </p:nvSpPr>
        <p:spPr>
          <a:xfrm>
            <a:off x="5257800" y="1737360"/>
            <a:ext cx="50292" cy="960120"/>
          </a:xfrm>
          <a:prstGeom prst="rect">
            <a:avLst/>
          </a:prstGeom>
          <a:solidFill>
            <a:srgbClr val="07A9C7"/>
          </a:solidFill>
          <a:ln w="12700">
            <a:solidFill>
              <a:srgbClr val="07A9C7"/>
            </a:solidFill>
            <a:prstDash val="solid"/>
          </a:ln>
        </p:spPr>
      </p:sp>
      <p:sp>
        <p:nvSpPr>
          <p:cNvPr id="18" name="Text 16"/>
          <p:cNvSpPr/>
          <p:nvPr/>
        </p:nvSpPr>
        <p:spPr>
          <a:xfrm>
            <a:off x="5422392" y="1847088"/>
            <a:ext cx="169164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Evaluate</a:t>
            </a:r>
            <a:endParaRPr lang="en-US" sz="810" dirty="0"/>
          </a:p>
        </p:txBody>
      </p:sp>
      <p:sp>
        <p:nvSpPr>
          <p:cNvPr id="19" name="Text 17"/>
          <p:cNvSpPr/>
          <p:nvPr/>
        </p:nvSpPr>
        <p:spPr>
          <a:xfrm>
            <a:off x="5422392" y="2103120"/>
            <a:ext cx="1691640" cy="52120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Use datasets, quality metrics, safety tests, and monitoring signals before promotion.</a:t>
            </a:r>
            <a:endParaRPr lang="en-US" sz="700" dirty="0"/>
          </a:p>
        </p:txBody>
      </p:sp>
      <p:sp>
        <p:nvSpPr>
          <p:cNvPr id="20" name="Shape 18"/>
          <p:cNvSpPr/>
          <p:nvPr/>
        </p:nvSpPr>
        <p:spPr>
          <a:xfrm>
            <a:off x="1828800" y="3154680"/>
            <a:ext cx="1965960" cy="960120"/>
          </a:xfrm>
          <a:prstGeom prst="rect">
            <a:avLst/>
          </a:prstGeom>
          <a:solidFill>
            <a:srgbClr val="FFFFFF"/>
          </a:solidFill>
          <a:ln w="8890">
            <a:solidFill>
              <a:srgbClr val="E5E7EB"/>
            </a:solidFill>
            <a:prstDash val="solid"/>
          </a:ln>
        </p:spPr>
      </p:sp>
      <p:sp>
        <p:nvSpPr>
          <p:cNvPr id="21" name="Shape 19"/>
          <p:cNvSpPr/>
          <p:nvPr/>
        </p:nvSpPr>
        <p:spPr>
          <a:xfrm>
            <a:off x="1828800" y="3154680"/>
            <a:ext cx="50292" cy="960120"/>
          </a:xfrm>
          <a:prstGeom prst="rect">
            <a:avLst/>
          </a:prstGeom>
          <a:solidFill>
            <a:srgbClr val="07A9C7"/>
          </a:solidFill>
          <a:ln w="12700">
            <a:solidFill>
              <a:srgbClr val="07A9C7"/>
            </a:solidFill>
            <a:prstDash val="solid"/>
          </a:ln>
        </p:spPr>
      </p:sp>
      <p:sp>
        <p:nvSpPr>
          <p:cNvPr id="22" name="Text 20"/>
          <p:cNvSpPr/>
          <p:nvPr/>
        </p:nvSpPr>
        <p:spPr>
          <a:xfrm>
            <a:off x="1993392" y="3264408"/>
            <a:ext cx="169164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Secure</a:t>
            </a:r>
            <a:endParaRPr lang="en-US" sz="810" dirty="0"/>
          </a:p>
        </p:txBody>
      </p:sp>
      <p:sp>
        <p:nvSpPr>
          <p:cNvPr id="23" name="Text 21"/>
          <p:cNvSpPr/>
          <p:nvPr/>
        </p:nvSpPr>
        <p:spPr>
          <a:xfrm>
            <a:off x="1993392" y="3520440"/>
            <a:ext cx="1691640" cy="52120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Apply identity, permissions, private access patterns, tool limits, and approval boundaries.</a:t>
            </a:r>
            <a:endParaRPr lang="en-US" sz="700" dirty="0"/>
          </a:p>
        </p:txBody>
      </p:sp>
      <p:sp>
        <p:nvSpPr>
          <p:cNvPr id="24" name="Shape 22"/>
          <p:cNvSpPr/>
          <p:nvPr/>
        </p:nvSpPr>
        <p:spPr>
          <a:xfrm>
            <a:off x="4526280" y="3154680"/>
            <a:ext cx="1965960" cy="960120"/>
          </a:xfrm>
          <a:prstGeom prst="rect">
            <a:avLst/>
          </a:prstGeom>
          <a:solidFill>
            <a:srgbClr val="E4F8FC"/>
          </a:solidFill>
          <a:ln w="8890">
            <a:solidFill>
              <a:srgbClr val="E5E7EB"/>
            </a:solidFill>
            <a:prstDash val="solid"/>
          </a:ln>
        </p:spPr>
      </p:sp>
      <p:sp>
        <p:nvSpPr>
          <p:cNvPr id="25" name="Shape 23"/>
          <p:cNvSpPr/>
          <p:nvPr/>
        </p:nvSpPr>
        <p:spPr>
          <a:xfrm>
            <a:off x="4526280" y="3154680"/>
            <a:ext cx="50292" cy="960120"/>
          </a:xfrm>
          <a:prstGeom prst="rect">
            <a:avLst/>
          </a:prstGeom>
          <a:solidFill>
            <a:srgbClr val="07A9C7"/>
          </a:solidFill>
          <a:ln w="12700">
            <a:solidFill>
              <a:srgbClr val="07A9C7"/>
            </a:solidFill>
            <a:prstDash val="solid"/>
          </a:ln>
        </p:spPr>
      </p:sp>
      <p:sp>
        <p:nvSpPr>
          <p:cNvPr id="26" name="Text 24"/>
          <p:cNvSpPr/>
          <p:nvPr/>
        </p:nvSpPr>
        <p:spPr>
          <a:xfrm>
            <a:off x="4690872" y="3264408"/>
            <a:ext cx="169164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Govern</a:t>
            </a:r>
            <a:endParaRPr lang="en-US" sz="810" dirty="0"/>
          </a:p>
        </p:txBody>
      </p:sp>
      <p:sp>
        <p:nvSpPr>
          <p:cNvPr id="27" name="Text 25"/>
          <p:cNvSpPr/>
          <p:nvPr/>
        </p:nvSpPr>
        <p:spPr>
          <a:xfrm>
            <a:off x="4690872" y="3520440"/>
            <a:ext cx="1691640" cy="52120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Review inventory, policy, cost, health, ownership, and production-readiness evidence.</a:t>
            </a:r>
            <a:endParaRPr lang="en-US" sz="700" dirty="0"/>
          </a:p>
        </p:txBody>
      </p:sp>
      <p:sp>
        <p:nvSpPr>
          <p:cNvPr id="28" name="Shape 26"/>
          <p:cNvSpPr/>
          <p:nvPr/>
        </p:nvSpPr>
        <p:spPr>
          <a:xfrm>
            <a:off x="8732520" y="1417320"/>
            <a:ext cx="2423160" cy="914400"/>
          </a:xfrm>
          <a:prstGeom prst="rect">
            <a:avLst/>
          </a:prstGeom>
          <a:solidFill>
            <a:srgbClr val="FFFFFF"/>
          </a:solidFill>
          <a:ln w="8890">
            <a:solidFill>
              <a:srgbClr val="E5E7EB"/>
            </a:solidFill>
            <a:prstDash val="solid"/>
          </a:ln>
        </p:spPr>
      </p:sp>
      <p:sp>
        <p:nvSpPr>
          <p:cNvPr id="29" name="Shape 27"/>
          <p:cNvSpPr/>
          <p:nvPr/>
        </p:nvSpPr>
        <p:spPr>
          <a:xfrm>
            <a:off x="8732520" y="1417320"/>
            <a:ext cx="73152" cy="914400"/>
          </a:xfrm>
          <a:prstGeom prst="rect">
            <a:avLst/>
          </a:prstGeom>
          <a:solidFill>
            <a:srgbClr val="07A9C7"/>
          </a:solidFill>
          <a:ln w="12700">
            <a:solidFill>
              <a:srgbClr val="07A9C7"/>
            </a:solidFill>
            <a:prstDash val="solid"/>
          </a:ln>
        </p:spPr>
      </p:sp>
      <p:sp>
        <p:nvSpPr>
          <p:cNvPr id="30" name="Text 28"/>
          <p:cNvSpPr/>
          <p:nvPr/>
        </p:nvSpPr>
        <p:spPr>
          <a:xfrm>
            <a:off x="8897112" y="1536192"/>
            <a:ext cx="214884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Student focus</a:t>
            </a:r>
            <a:endParaRPr lang="en-US" sz="800" dirty="0"/>
          </a:p>
        </p:txBody>
      </p:sp>
      <p:sp>
        <p:nvSpPr>
          <p:cNvPr id="31" name="Text 29"/>
          <p:cNvSpPr/>
          <p:nvPr/>
        </p:nvSpPr>
        <p:spPr>
          <a:xfrm>
            <a:off x="8897112" y="1783080"/>
            <a:ext cx="2148840" cy="48463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These are the skills to practice again after the course.</a:t>
            </a:r>
            <a:endParaRPr lang="en-US" sz="700" dirty="0"/>
          </a:p>
        </p:txBody>
      </p:sp>
      <p:sp>
        <p:nvSpPr>
          <p:cNvPr id="32" name="Shape 30"/>
          <p:cNvSpPr/>
          <p:nvPr/>
        </p:nvSpPr>
        <p:spPr>
          <a:xfrm>
            <a:off x="3063240" y="5897880"/>
            <a:ext cx="6080760" cy="210312"/>
          </a:xfrm>
          <a:prstGeom prst="rect">
            <a:avLst/>
          </a:prstGeom>
          <a:solidFill>
            <a:srgbClr val="EAFBFE"/>
          </a:solidFill>
          <a:ln w="10160">
            <a:solidFill>
              <a:srgbClr val="07A9C7"/>
            </a:solidFill>
            <a:prstDash val="solid"/>
          </a:ln>
        </p:spPr>
      </p:sp>
      <p:sp>
        <p:nvSpPr>
          <p:cNvPr id="33" name="Text 31"/>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The goal is not memorized navigation; the goal is repeatable enterprise decision-making.</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54</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Production Agent Mindset</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A reliable enterprise agent needs evidence before trust.</a:t>
            </a:r>
            <a:endParaRPr lang="en-US" sz="970" dirty="0"/>
          </a:p>
        </p:txBody>
      </p:sp>
      <p:sp>
        <p:nvSpPr>
          <p:cNvPr id="8" name="Text 6"/>
          <p:cNvSpPr/>
          <p:nvPr/>
        </p:nvSpPr>
        <p:spPr>
          <a:xfrm>
            <a:off x="685800" y="1874520"/>
            <a:ext cx="6355080" cy="2148840"/>
          </a:xfrm>
          <a:prstGeom prst="rect">
            <a:avLst/>
          </a:prstGeom>
          <a:noFill/>
          <a:ln/>
        </p:spPr>
        <p:txBody>
          <a:bodyPr wrap="square" lIns="381" tIns="381" rIns="381" bIns="381" rtlCol="0" anchor="t">
            <a:normAutofit/>
          </a:bodyPr>
          <a:lstStyle/>
          <a:p>
            <a:pPr indent="0" marL="0">
              <a:buNone/>
            </a:pPr>
            <a:r>
              <a:rPr lang="en-US" sz="1320" dirty="0">
                <a:solidFill>
                  <a:srgbClr val="1F2937"/>
                </a:solidFill>
                <a:latin typeface="Aptos" pitchFamily="34" charset="0"/>
                <a:ea typeface="Aptos" pitchFamily="34" charset="-122"/>
                <a:cs typeface="Aptos" pitchFamily="34" charset="-120"/>
              </a:rPr>
              <a:t>▸ Start with a clear business purpose and owner.</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Keep model, knowledge, and tool choices reviewable.</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Require citations or evidence when answers depend on enterprise data.</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Test expected, edge-case, prohibited, and unsafe scenarios.</a:t>
            </a:r>
            <a:endParaRPr lang="en-US" sz="1320" dirty="0"/>
          </a:p>
          <a:p>
            <a:pPr indent="0" marL="0">
              <a:buNone/>
            </a:pPr>
            <a:r>
              <a:rPr lang="en-US" sz="1320" dirty="0">
                <a:solidFill>
                  <a:srgbClr val="1F2937"/>
                </a:solidFill>
                <a:latin typeface="Aptos" pitchFamily="34" charset="0"/>
                <a:ea typeface="Aptos" pitchFamily="34" charset="-122"/>
                <a:cs typeface="Aptos" pitchFamily="34" charset="-120"/>
              </a:rPr>
              <a:t>▸ Monitor behavior after release and prepare rollback or disablement steps.</a:t>
            </a:r>
            <a:endParaRPr lang="en-US" sz="1320" dirty="0"/>
          </a:p>
        </p:txBody>
      </p:sp>
      <p:sp>
        <p:nvSpPr>
          <p:cNvPr id="9" name="Shape 7"/>
          <p:cNvSpPr/>
          <p:nvPr/>
        </p:nvSpPr>
        <p:spPr>
          <a:xfrm>
            <a:off x="8732520" y="1417320"/>
            <a:ext cx="2423160" cy="960120"/>
          </a:xfrm>
          <a:prstGeom prst="rect">
            <a:avLst/>
          </a:prstGeom>
          <a:solidFill>
            <a:srgbClr val="FFFFFF"/>
          </a:solidFill>
          <a:ln w="8890">
            <a:solidFill>
              <a:srgbClr val="E5E7EB"/>
            </a:solidFill>
            <a:prstDash val="solid"/>
          </a:ln>
        </p:spPr>
      </p:sp>
      <p:sp>
        <p:nvSpPr>
          <p:cNvPr id="10" name="Shape 8"/>
          <p:cNvSpPr/>
          <p:nvPr/>
        </p:nvSpPr>
        <p:spPr>
          <a:xfrm>
            <a:off x="8732520" y="1417320"/>
            <a:ext cx="73152" cy="960120"/>
          </a:xfrm>
          <a:prstGeom prst="rect">
            <a:avLst/>
          </a:prstGeom>
          <a:solidFill>
            <a:srgbClr val="07A9C7"/>
          </a:solidFill>
          <a:ln w="12700">
            <a:solidFill>
              <a:srgbClr val="07A9C7"/>
            </a:solidFill>
            <a:prstDash val="solid"/>
          </a:ln>
        </p:spPr>
      </p:sp>
      <p:sp>
        <p:nvSpPr>
          <p:cNvPr id="11" name="Text 9"/>
          <p:cNvSpPr/>
          <p:nvPr/>
        </p:nvSpPr>
        <p:spPr>
          <a:xfrm>
            <a:off x="8897112" y="1536192"/>
            <a:ext cx="214884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Operating rule</a:t>
            </a:r>
            <a:endParaRPr lang="en-US" sz="800" dirty="0"/>
          </a:p>
        </p:txBody>
      </p:sp>
      <p:sp>
        <p:nvSpPr>
          <p:cNvPr id="12" name="Text 10"/>
          <p:cNvSpPr/>
          <p:nvPr/>
        </p:nvSpPr>
        <p:spPr>
          <a:xfrm>
            <a:off x="8897112" y="1783080"/>
            <a:ext cx="2148840" cy="53035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Trust is earned through controls, evaluation, monitoring, and ownership.</a:t>
            </a:r>
            <a:endParaRPr lang="en-US" sz="700" dirty="0"/>
          </a:p>
        </p:txBody>
      </p:sp>
      <p:sp>
        <p:nvSpPr>
          <p:cNvPr id="13" name="Shape 11"/>
          <p:cNvSpPr/>
          <p:nvPr/>
        </p:nvSpPr>
        <p:spPr>
          <a:xfrm>
            <a:off x="3063240" y="5897880"/>
            <a:ext cx="6080760" cy="210312"/>
          </a:xfrm>
          <a:prstGeom prst="rect">
            <a:avLst/>
          </a:prstGeom>
          <a:solidFill>
            <a:srgbClr val="EAFBFE"/>
          </a:solidFill>
          <a:ln w="10160">
            <a:solidFill>
              <a:srgbClr val="07A9C7"/>
            </a:solidFill>
            <a:prstDash val="solid"/>
          </a:ln>
        </p:spPr>
      </p:sp>
      <p:sp>
        <p:nvSpPr>
          <p:cNvPr id="14" name="Text 12"/>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A good demo shows possibility; production readiness proves responsibility.</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54</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Final Architecture Review Questions</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Use these questions before approving a real enterprise agent.</a:t>
            </a:r>
            <a:endParaRPr lang="en-US" sz="970" dirty="0"/>
          </a:p>
        </p:txBody>
      </p:sp>
      <p:sp>
        <p:nvSpPr>
          <p:cNvPr id="8" name="Text 6"/>
          <p:cNvSpPr/>
          <p:nvPr/>
        </p:nvSpPr>
        <p:spPr>
          <a:xfrm>
            <a:off x="685800" y="1874520"/>
            <a:ext cx="6492240" cy="2148840"/>
          </a:xfrm>
          <a:prstGeom prst="rect">
            <a:avLst/>
          </a:prstGeom>
          <a:noFill/>
          <a:ln/>
        </p:spPr>
        <p:txBody>
          <a:bodyPr wrap="square" lIns="381" tIns="381" rIns="381" bIns="381" rtlCol="0" anchor="t">
            <a:normAutofit/>
          </a:bodyPr>
          <a:lstStyle/>
          <a:p>
            <a:pPr indent="0" marL="0">
              <a:buNone/>
            </a:pPr>
            <a:r>
              <a:rPr lang="en-US" sz="1310" dirty="0">
                <a:solidFill>
                  <a:srgbClr val="1F2937"/>
                </a:solidFill>
                <a:latin typeface="Aptos" pitchFamily="34" charset="0"/>
                <a:ea typeface="Aptos" pitchFamily="34" charset="-122"/>
                <a:cs typeface="Aptos" pitchFamily="34" charset="-120"/>
              </a:rPr>
              <a:t>▸ Which project, owner, and environment does the agent belong to?</a:t>
            </a:r>
            <a:endParaRPr lang="en-US" sz="1310" dirty="0"/>
          </a:p>
          <a:p>
            <a:pPr indent="0" marL="0">
              <a:buNone/>
            </a:pPr>
            <a:r>
              <a:rPr lang="en-US" sz="1310" dirty="0">
                <a:solidFill>
                  <a:srgbClr val="1F2937"/>
                </a:solidFill>
                <a:latin typeface="Aptos" pitchFamily="34" charset="0"/>
                <a:ea typeface="Aptos" pitchFamily="34" charset="-122"/>
                <a:cs typeface="Aptos" pitchFamily="34" charset="-120"/>
              </a:rPr>
              <a:t>▸ Which model deployment, quota, and cost boundary does it use?</a:t>
            </a:r>
            <a:endParaRPr lang="en-US" sz="1310" dirty="0"/>
          </a:p>
          <a:p>
            <a:pPr indent="0" marL="0">
              <a:buNone/>
            </a:pPr>
            <a:r>
              <a:rPr lang="en-US" sz="1310" dirty="0">
                <a:solidFill>
                  <a:srgbClr val="1F2937"/>
                </a:solidFill>
                <a:latin typeface="Aptos" pitchFamily="34" charset="0"/>
                <a:ea typeface="Aptos" pitchFamily="34" charset="-122"/>
                <a:cs typeface="Aptos" pitchFamily="34" charset="-120"/>
              </a:rPr>
              <a:t>▸ Which knowledge sources and citations support its answers?</a:t>
            </a:r>
            <a:endParaRPr lang="en-US" sz="1310" dirty="0"/>
          </a:p>
          <a:p>
            <a:pPr indent="0" marL="0">
              <a:buNone/>
            </a:pPr>
            <a:r>
              <a:rPr lang="en-US" sz="1310" dirty="0">
                <a:solidFill>
                  <a:srgbClr val="1F2937"/>
                </a:solidFill>
                <a:latin typeface="Aptos" pitchFamily="34" charset="0"/>
                <a:ea typeface="Aptos" pitchFamily="34" charset="-122"/>
                <a:cs typeface="Aptos" pitchFamily="34" charset="-120"/>
              </a:rPr>
              <a:t>▸ Which tools can it call, and which actions require approval?</a:t>
            </a:r>
            <a:endParaRPr lang="en-US" sz="1310" dirty="0"/>
          </a:p>
          <a:p>
            <a:pPr indent="0" marL="0">
              <a:buNone/>
            </a:pPr>
            <a:r>
              <a:rPr lang="en-US" sz="1310" dirty="0">
                <a:solidFill>
                  <a:srgbClr val="1F2937"/>
                </a:solidFill>
                <a:latin typeface="Aptos" pitchFamily="34" charset="0"/>
                <a:ea typeface="Aptos" pitchFamily="34" charset="-122"/>
                <a:cs typeface="Aptos" pitchFamily="34" charset="-120"/>
              </a:rPr>
              <a:t>▸ Which evaluations, monitoring signals, and governance reviews prove readiness?</a:t>
            </a:r>
            <a:endParaRPr lang="en-US" sz="1310" dirty="0"/>
          </a:p>
        </p:txBody>
      </p:sp>
      <p:sp>
        <p:nvSpPr>
          <p:cNvPr id="9" name="Shape 7"/>
          <p:cNvSpPr/>
          <p:nvPr/>
        </p:nvSpPr>
        <p:spPr>
          <a:xfrm>
            <a:off x="8732520" y="1417320"/>
            <a:ext cx="2423160" cy="914400"/>
          </a:xfrm>
          <a:prstGeom prst="rect">
            <a:avLst/>
          </a:prstGeom>
          <a:solidFill>
            <a:srgbClr val="FFFFFF"/>
          </a:solidFill>
          <a:ln w="8890">
            <a:solidFill>
              <a:srgbClr val="E5E7EB"/>
            </a:solidFill>
            <a:prstDash val="solid"/>
          </a:ln>
        </p:spPr>
      </p:sp>
      <p:sp>
        <p:nvSpPr>
          <p:cNvPr id="10" name="Shape 8"/>
          <p:cNvSpPr/>
          <p:nvPr/>
        </p:nvSpPr>
        <p:spPr>
          <a:xfrm>
            <a:off x="8732520" y="1417320"/>
            <a:ext cx="73152" cy="914400"/>
          </a:xfrm>
          <a:prstGeom prst="rect">
            <a:avLst/>
          </a:prstGeom>
          <a:solidFill>
            <a:srgbClr val="07A9C7"/>
          </a:solidFill>
          <a:ln w="12700">
            <a:solidFill>
              <a:srgbClr val="07A9C7"/>
            </a:solidFill>
            <a:prstDash val="solid"/>
          </a:ln>
        </p:spPr>
      </p:sp>
      <p:sp>
        <p:nvSpPr>
          <p:cNvPr id="11" name="Text 9"/>
          <p:cNvSpPr/>
          <p:nvPr/>
        </p:nvSpPr>
        <p:spPr>
          <a:xfrm>
            <a:off x="8897112" y="1536192"/>
            <a:ext cx="214884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Review habit</a:t>
            </a:r>
            <a:endParaRPr lang="en-US" sz="800" dirty="0"/>
          </a:p>
        </p:txBody>
      </p:sp>
      <p:sp>
        <p:nvSpPr>
          <p:cNvPr id="12" name="Text 10"/>
          <p:cNvSpPr/>
          <p:nvPr/>
        </p:nvSpPr>
        <p:spPr>
          <a:xfrm>
            <a:off x="8897112" y="1783080"/>
            <a:ext cx="2148840" cy="48463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If the design cannot answer these questions, it is not ready yet.</a:t>
            </a:r>
            <a:endParaRPr lang="en-US" sz="700" dirty="0"/>
          </a:p>
        </p:txBody>
      </p:sp>
      <p:sp>
        <p:nvSpPr>
          <p:cNvPr id="13" name="Shape 11"/>
          <p:cNvSpPr/>
          <p:nvPr/>
        </p:nvSpPr>
        <p:spPr>
          <a:xfrm>
            <a:off x="3063240" y="5897880"/>
            <a:ext cx="6080760" cy="210312"/>
          </a:xfrm>
          <a:prstGeom prst="rect">
            <a:avLst/>
          </a:prstGeom>
          <a:solidFill>
            <a:srgbClr val="EAFBFE"/>
          </a:solidFill>
          <a:ln w="10160">
            <a:solidFill>
              <a:srgbClr val="07A9C7"/>
            </a:solidFill>
            <a:prstDash val="solid"/>
          </a:ln>
        </p:spPr>
      </p:sp>
      <p:sp>
        <p:nvSpPr>
          <p:cNvPr id="14" name="Text 12"/>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Good architecture is easier to explain because the boundaries are explicit.</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55</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Next Steps</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Continue learning with focused practice and current Microsoft Learn documentation.</a:t>
            </a:r>
            <a:endParaRPr lang="en-US" sz="970" dirty="0"/>
          </a:p>
        </p:txBody>
      </p:sp>
      <p:sp>
        <p:nvSpPr>
          <p:cNvPr id="8" name="Text 6"/>
          <p:cNvSpPr/>
          <p:nvPr/>
        </p:nvSpPr>
        <p:spPr>
          <a:xfrm>
            <a:off x="685800" y="1874520"/>
            <a:ext cx="6355080" cy="2148840"/>
          </a:xfrm>
          <a:prstGeom prst="rect">
            <a:avLst/>
          </a:prstGeom>
          <a:noFill/>
          <a:ln/>
        </p:spPr>
        <p:txBody>
          <a:bodyPr wrap="square" lIns="381" tIns="381" rIns="381" bIns="381" rtlCol="0" anchor="t">
            <a:normAutofit/>
          </a:bodyPr>
          <a:lstStyle/>
          <a:p>
            <a:pPr indent="0" marL="0">
              <a:buNone/>
            </a:pPr>
            <a:r>
              <a:rPr lang="en-US" sz="1300" dirty="0">
                <a:solidFill>
                  <a:srgbClr val="1F2937"/>
                </a:solidFill>
                <a:latin typeface="Aptos" pitchFamily="34" charset="0"/>
                <a:ea typeface="Aptos" pitchFamily="34" charset="-122"/>
                <a:cs typeface="Aptos" pitchFamily="34" charset="-120"/>
              </a:rPr>
              <a:t>▸ Repeat the labs in a personal or enterprise-safe Azure environment.</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Track Microsoft Learn updates for Foundry, Agent Service, IQ, tools, and Control Plane.</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Review your organization’s identity, policy, data, and security requirements.</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Build a small internal proof of governance before scaling agent usage.</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Use the capstone checklist to review future projects.</a:t>
            </a:r>
            <a:endParaRPr lang="en-US" sz="1300" dirty="0"/>
          </a:p>
        </p:txBody>
      </p:sp>
      <p:sp>
        <p:nvSpPr>
          <p:cNvPr id="9" name="Shape 7"/>
          <p:cNvSpPr/>
          <p:nvPr/>
        </p:nvSpPr>
        <p:spPr>
          <a:xfrm>
            <a:off x="8732520" y="1417320"/>
            <a:ext cx="2423160" cy="914400"/>
          </a:xfrm>
          <a:prstGeom prst="rect">
            <a:avLst/>
          </a:prstGeom>
          <a:solidFill>
            <a:srgbClr val="FFFFFF"/>
          </a:solidFill>
          <a:ln w="8890">
            <a:solidFill>
              <a:srgbClr val="E5E7EB"/>
            </a:solidFill>
            <a:prstDash val="solid"/>
          </a:ln>
        </p:spPr>
      </p:sp>
      <p:sp>
        <p:nvSpPr>
          <p:cNvPr id="10" name="Shape 8"/>
          <p:cNvSpPr/>
          <p:nvPr/>
        </p:nvSpPr>
        <p:spPr>
          <a:xfrm>
            <a:off x="8732520" y="1417320"/>
            <a:ext cx="73152" cy="914400"/>
          </a:xfrm>
          <a:prstGeom prst="rect">
            <a:avLst/>
          </a:prstGeom>
          <a:solidFill>
            <a:srgbClr val="07A9C7"/>
          </a:solidFill>
          <a:ln w="12700">
            <a:solidFill>
              <a:srgbClr val="07A9C7"/>
            </a:solidFill>
            <a:prstDash val="solid"/>
          </a:ln>
        </p:spPr>
      </p:sp>
      <p:sp>
        <p:nvSpPr>
          <p:cNvPr id="11" name="Text 9"/>
          <p:cNvSpPr/>
          <p:nvPr/>
        </p:nvSpPr>
        <p:spPr>
          <a:xfrm>
            <a:off x="8897112" y="1536192"/>
            <a:ext cx="214884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Continuing path</a:t>
            </a:r>
            <a:endParaRPr lang="en-US" sz="800" dirty="0"/>
          </a:p>
        </p:txBody>
      </p:sp>
      <p:sp>
        <p:nvSpPr>
          <p:cNvPr id="12" name="Text 10"/>
          <p:cNvSpPr/>
          <p:nvPr/>
        </p:nvSpPr>
        <p:spPr>
          <a:xfrm>
            <a:off x="8897112" y="1783080"/>
            <a:ext cx="2148840" cy="48463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Keep the architecture current by revisiting documentation and operational evidence.</a:t>
            </a:r>
            <a:endParaRPr lang="en-US" sz="700" dirty="0"/>
          </a:p>
        </p:txBody>
      </p:sp>
      <p:sp>
        <p:nvSpPr>
          <p:cNvPr id="13" name="Shape 11"/>
          <p:cNvSpPr/>
          <p:nvPr/>
        </p:nvSpPr>
        <p:spPr>
          <a:xfrm>
            <a:off x="3063240" y="5897880"/>
            <a:ext cx="6080760" cy="210312"/>
          </a:xfrm>
          <a:prstGeom prst="rect">
            <a:avLst/>
          </a:prstGeom>
          <a:solidFill>
            <a:srgbClr val="EAFBFE"/>
          </a:solidFill>
          <a:ln w="10160">
            <a:solidFill>
              <a:srgbClr val="07A9C7"/>
            </a:solidFill>
            <a:prstDash val="solid"/>
          </a:ln>
        </p:spPr>
      </p:sp>
      <p:sp>
        <p:nvSpPr>
          <p:cNvPr id="14" name="Text 12"/>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Practice should happen in non-production environments before organizational rollout.</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55</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Choose Your Deeper Learning Path</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The next step depends on your role in the enterprise agent lifecycle.</a:t>
            </a:r>
            <a:endParaRPr lang="en-US" sz="970" dirty="0"/>
          </a:p>
        </p:txBody>
      </p:sp>
      <p:sp>
        <p:nvSpPr>
          <p:cNvPr id="8" name="Shape 6"/>
          <p:cNvSpPr/>
          <p:nvPr/>
        </p:nvSpPr>
        <p:spPr>
          <a:xfrm>
            <a:off x="685800" y="1737360"/>
            <a:ext cx="2468880" cy="1005840"/>
          </a:xfrm>
          <a:prstGeom prst="rect">
            <a:avLst/>
          </a:prstGeom>
          <a:solidFill>
            <a:srgbClr val="FFFFFF"/>
          </a:solidFill>
          <a:ln w="8890">
            <a:solidFill>
              <a:srgbClr val="E5E7EB"/>
            </a:solidFill>
            <a:prstDash val="solid"/>
          </a:ln>
        </p:spPr>
      </p:sp>
      <p:sp>
        <p:nvSpPr>
          <p:cNvPr id="9" name="Shape 7"/>
          <p:cNvSpPr/>
          <p:nvPr/>
        </p:nvSpPr>
        <p:spPr>
          <a:xfrm>
            <a:off x="685800" y="1737360"/>
            <a:ext cx="50292" cy="1005840"/>
          </a:xfrm>
          <a:prstGeom prst="rect">
            <a:avLst/>
          </a:prstGeom>
          <a:solidFill>
            <a:srgbClr val="07A9C7"/>
          </a:solidFill>
          <a:ln w="12700">
            <a:solidFill>
              <a:srgbClr val="07A9C7"/>
            </a:solidFill>
            <a:prstDash val="solid"/>
          </a:ln>
        </p:spPr>
      </p:sp>
      <p:sp>
        <p:nvSpPr>
          <p:cNvPr id="10" name="Text 8"/>
          <p:cNvSpPr/>
          <p:nvPr/>
        </p:nvSpPr>
        <p:spPr>
          <a:xfrm>
            <a:off x="850392" y="1847088"/>
            <a:ext cx="219456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Platform and cloud teams</a:t>
            </a:r>
            <a:endParaRPr lang="en-US" sz="810" dirty="0"/>
          </a:p>
        </p:txBody>
      </p:sp>
      <p:sp>
        <p:nvSpPr>
          <p:cNvPr id="11" name="Text 9"/>
          <p:cNvSpPr/>
          <p:nvPr/>
        </p:nvSpPr>
        <p:spPr>
          <a:xfrm>
            <a:off x="850392" y="2103120"/>
            <a:ext cx="219456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Go deeper into Foundry resources, networking, RBAC, deployment patterns, quota, and governance.</a:t>
            </a:r>
            <a:endParaRPr lang="en-US" sz="700" dirty="0"/>
          </a:p>
        </p:txBody>
      </p:sp>
      <p:sp>
        <p:nvSpPr>
          <p:cNvPr id="12" name="Shape 10"/>
          <p:cNvSpPr/>
          <p:nvPr/>
        </p:nvSpPr>
        <p:spPr>
          <a:xfrm>
            <a:off x="3429000" y="1737360"/>
            <a:ext cx="2468880" cy="1005840"/>
          </a:xfrm>
          <a:prstGeom prst="rect">
            <a:avLst/>
          </a:prstGeom>
          <a:solidFill>
            <a:srgbClr val="FFFFFF"/>
          </a:solidFill>
          <a:ln w="8890">
            <a:solidFill>
              <a:srgbClr val="E5E7EB"/>
            </a:solidFill>
            <a:prstDash val="solid"/>
          </a:ln>
        </p:spPr>
      </p:sp>
      <p:sp>
        <p:nvSpPr>
          <p:cNvPr id="13" name="Shape 11"/>
          <p:cNvSpPr/>
          <p:nvPr/>
        </p:nvSpPr>
        <p:spPr>
          <a:xfrm>
            <a:off x="3429000" y="1737360"/>
            <a:ext cx="50292" cy="1005840"/>
          </a:xfrm>
          <a:prstGeom prst="rect">
            <a:avLst/>
          </a:prstGeom>
          <a:solidFill>
            <a:srgbClr val="07A9C7"/>
          </a:solidFill>
          <a:ln w="12700">
            <a:solidFill>
              <a:srgbClr val="07A9C7"/>
            </a:solidFill>
            <a:prstDash val="solid"/>
          </a:ln>
        </p:spPr>
      </p:sp>
      <p:sp>
        <p:nvSpPr>
          <p:cNvPr id="14" name="Text 12"/>
          <p:cNvSpPr/>
          <p:nvPr/>
        </p:nvSpPr>
        <p:spPr>
          <a:xfrm>
            <a:off x="3593592" y="1847088"/>
            <a:ext cx="219456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AI engineers</a:t>
            </a:r>
            <a:endParaRPr lang="en-US" sz="810" dirty="0"/>
          </a:p>
        </p:txBody>
      </p:sp>
      <p:sp>
        <p:nvSpPr>
          <p:cNvPr id="15" name="Text 13"/>
          <p:cNvSpPr/>
          <p:nvPr/>
        </p:nvSpPr>
        <p:spPr>
          <a:xfrm>
            <a:off x="3593592" y="2103120"/>
            <a:ext cx="219456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Go deeper into agent design, evaluation datasets, tool strategy, retrieval quality, and safety testing.</a:t>
            </a:r>
            <a:endParaRPr lang="en-US" sz="700" dirty="0"/>
          </a:p>
        </p:txBody>
      </p:sp>
      <p:sp>
        <p:nvSpPr>
          <p:cNvPr id="16" name="Shape 14"/>
          <p:cNvSpPr/>
          <p:nvPr/>
        </p:nvSpPr>
        <p:spPr>
          <a:xfrm>
            <a:off x="6172200" y="1737360"/>
            <a:ext cx="2468880" cy="1005840"/>
          </a:xfrm>
          <a:prstGeom prst="rect">
            <a:avLst/>
          </a:prstGeom>
          <a:solidFill>
            <a:srgbClr val="FFFFFF"/>
          </a:solidFill>
          <a:ln w="8890">
            <a:solidFill>
              <a:srgbClr val="E5E7EB"/>
            </a:solidFill>
            <a:prstDash val="solid"/>
          </a:ln>
        </p:spPr>
      </p:sp>
      <p:sp>
        <p:nvSpPr>
          <p:cNvPr id="17" name="Shape 15"/>
          <p:cNvSpPr/>
          <p:nvPr/>
        </p:nvSpPr>
        <p:spPr>
          <a:xfrm>
            <a:off x="6172200" y="1737360"/>
            <a:ext cx="50292" cy="1005840"/>
          </a:xfrm>
          <a:prstGeom prst="rect">
            <a:avLst/>
          </a:prstGeom>
          <a:solidFill>
            <a:srgbClr val="07A9C7"/>
          </a:solidFill>
          <a:ln w="12700">
            <a:solidFill>
              <a:srgbClr val="07A9C7"/>
            </a:solidFill>
            <a:prstDash val="solid"/>
          </a:ln>
        </p:spPr>
      </p:sp>
      <p:sp>
        <p:nvSpPr>
          <p:cNvPr id="18" name="Text 16"/>
          <p:cNvSpPr/>
          <p:nvPr/>
        </p:nvSpPr>
        <p:spPr>
          <a:xfrm>
            <a:off x="6336792" y="1847088"/>
            <a:ext cx="219456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Developers</a:t>
            </a:r>
            <a:endParaRPr lang="en-US" sz="810" dirty="0"/>
          </a:p>
        </p:txBody>
      </p:sp>
      <p:sp>
        <p:nvSpPr>
          <p:cNvPr id="19" name="Text 17"/>
          <p:cNvSpPr/>
          <p:nvPr/>
        </p:nvSpPr>
        <p:spPr>
          <a:xfrm>
            <a:off x="6336792" y="2103120"/>
            <a:ext cx="219456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Go deeper into Microsoft.Extensions.AI, Agent Framework, MCP services, APIs, and application integration.</a:t>
            </a:r>
            <a:endParaRPr lang="en-US" sz="700" dirty="0"/>
          </a:p>
        </p:txBody>
      </p:sp>
      <p:sp>
        <p:nvSpPr>
          <p:cNvPr id="20" name="Shape 18"/>
          <p:cNvSpPr/>
          <p:nvPr/>
        </p:nvSpPr>
        <p:spPr>
          <a:xfrm>
            <a:off x="685800" y="3154680"/>
            <a:ext cx="2468880" cy="1005840"/>
          </a:xfrm>
          <a:prstGeom prst="rect">
            <a:avLst/>
          </a:prstGeom>
          <a:solidFill>
            <a:srgbClr val="FFFFFF"/>
          </a:solidFill>
          <a:ln w="8890">
            <a:solidFill>
              <a:srgbClr val="E5E7EB"/>
            </a:solidFill>
            <a:prstDash val="solid"/>
          </a:ln>
        </p:spPr>
      </p:sp>
      <p:sp>
        <p:nvSpPr>
          <p:cNvPr id="21" name="Shape 19"/>
          <p:cNvSpPr/>
          <p:nvPr/>
        </p:nvSpPr>
        <p:spPr>
          <a:xfrm>
            <a:off x="685800" y="3154680"/>
            <a:ext cx="50292" cy="1005840"/>
          </a:xfrm>
          <a:prstGeom prst="rect">
            <a:avLst/>
          </a:prstGeom>
          <a:solidFill>
            <a:srgbClr val="07A9C7"/>
          </a:solidFill>
          <a:ln w="12700">
            <a:solidFill>
              <a:srgbClr val="07A9C7"/>
            </a:solidFill>
            <a:prstDash val="solid"/>
          </a:ln>
        </p:spPr>
      </p:sp>
      <p:sp>
        <p:nvSpPr>
          <p:cNvPr id="22" name="Text 20"/>
          <p:cNvSpPr/>
          <p:nvPr/>
        </p:nvSpPr>
        <p:spPr>
          <a:xfrm>
            <a:off x="850392" y="3264408"/>
            <a:ext cx="219456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Security teams</a:t>
            </a:r>
            <a:endParaRPr lang="en-US" sz="810" dirty="0"/>
          </a:p>
        </p:txBody>
      </p:sp>
      <p:sp>
        <p:nvSpPr>
          <p:cNvPr id="23" name="Text 21"/>
          <p:cNvSpPr/>
          <p:nvPr/>
        </p:nvSpPr>
        <p:spPr>
          <a:xfrm>
            <a:off x="850392" y="3520440"/>
            <a:ext cx="219456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Go deeper into identity, data access, guardrails, gateway controls, Defender, Purview, and red teaming.</a:t>
            </a:r>
            <a:endParaRPr lang="en-US" sz="700" dirty="0"/>
          </a:p>
        </p:txBody>
      </p:sp>
      <p:sp>
        <p:nvSpPr>
          <p:cNvPr id="24" name="Shape 22"/>
          <p:cNvSpPr/>
          <p:nvPr/>
        </p:nvSpPr>
        <p:spPr>
          <a:xfrm>
            <a:off x="3429000" y="3154680"/>
            <a:ext cx="2468880" cy="1005840"/>
          </a:xfrm>
          <a:prstGeom prst="rect">
            <a:avLst/>
          </a:prstGeom>
          <a:solidFill>
            <a:srgbClr val="FFFFFF"/>
          </a:solidFill>
          <a:ln w="8890">
            <a:solidFill>
              <a:srgbClr val="E5E7EB"/>
            </a:solidFill>
            <a:prstDash val="solid"/>
          </a:ln>
        </p:spPr>
      </p:sp>
      <p:sp>
        <p:nvSpPr>
          <p:cNvPr id="25" name="Shape 23"/>
          <p:cNvSpPr/>
          <p:nvPr/>
        </p:nvSpPr>
        <p:spPr>
          <a:xfrm>
            <a:off x="3429000" y="3154680"/>
            <a:ext cx="50292" cy="1005840"/>
          </a:xfrm>
          <a:prstGeom prst="rect">
            <a:avLst/>
          </a:prstGeom>
          <a:solidFill>
            <a:srgbClr val="07A9C7"/>
          </a:solidFill>
          <a:ln w="12700">
            <a:solidFill>
              <a:srgbClr val="07A9C7"/>
            </a:solidFill>
            <a:prstDash val="solid"/>
          </a:ln>
        </p:spPr>
      </p:sp>
      <p:sp>
        <p:nvSpPr>
          <p:cNvPr id="26" name="Text 24"/>
          <p:cNvSpPr/>
          <p:nvPr/>
        </p:nvSpPr>
        <p:spPr>
          <a:xfrm>
            <a:off x="3593592" y="3264408"/>
            <a:ext cx="219456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Operations teams</a:t>
            </a:r>
            <a:endParaRPr lang="en-US" sz="810" dirty="0"/>
          </a:p>
        </p:txBody>
      </p:sp>
      <p:sp>
        <p:nvSpPr>
          <p:cNvPr id="27" name="Text 25"/>
          <p:cNvSpPr/>
          <p:nvPr/>
        </p:nvSpPr>
        <p:spPr>
          <a:xfrm>
            <a:off x="3593592" y="3520440"/>
            <a:ext cx="219456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Go deeper into monitoring, incident response, cost visibility, evaluation drift, and lifecycle operations.</a:t>
            </a:r>
            <a:endParaRPr lang="en-US" sz="700" dirty="0"/>
          </a:p>
        </p:txBody>
      </p:sp>
      <p:sp>
        <p:nvSpPr>
          <p:cNvPr id="28" name="Shape 26"/>
          <p:cNvSpPr/>
          <p:nvPr/>
        </p:nvSpPr>
        <p:spPr>
          <a:xfrm>
            <a:off x="6172200" y="3154680"/>
            <a:ext cx="2468880" cy="1005840"/>
          </a:xfrm>
          <a:prstGeom prst="rect">
            <a:avLst/>
          </a:prstGeom>
          <a:solidFill>
            <a:srgbClr val="E4F8FC"/>
          </a:solidFill>
          <a:ln w="8890">
            <a:solidFill>
              <a:srgbClr val="E5E7EB"/>
            </a:solidFill>
            <a:prstDash val="solid"/>
          </a:ln>
        </p:spPr>
      </p:sp>
      <p:sp>
        <p:nvSpPr>
          <p:cNvPr id="29" name="Shape 27"/>
          <p:cNvSpPr/>
          <p:nvPr/>
        </p:nvSpPr>
        <p:spPr>
          <a:xfrm>
            <a:off x="6172200" y="3154680"/>
            <a:ext cx="50292" cy="1005840"/>
          </a:xfrm>
          <a:prstGeom prst="rect">
            <a:avLst/>
          </a:prstGeom>
          <a:solidFill>
            <a:srgbClr val="07A9C7"/>
          </a:solidFill>
          <a:ln w="12700">
            <a:solidFill>
              <a:srgbClr val="07A9C7"/>
            </a:solidFill>
            <a:prstDash val="solid"/>
          </a:ln>
        </p:spPr>
      </p:sp>
      <p:sp>
        <p:nvSpPr>
          <p:cNvPr id="30" name="Text 28"/>
          <p:cNvSpPr/>
          <p:nvPr/>
        </p:nvSpPr>
        <p:spPr>
          <a:xfrm>
            <a:off x="6336792" y="3264408"/>
            <a:ext cx="219456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Business owners</a:t>
            </a:r>
            <a:endParaRPr lang="en-US" sz="810" dirty="0"/>
          </a:p>
        </p:txBody>
      </p:sp>
      <p:sp>
        <p:nvSpPr>
          <p:cNvPr id="31" name="Text 29"/>
          <p:cNvSpPr/>
          <p:nvPr/>
        </p:nvSpPr>
        <p:spPr>
          <a:xfrm>
            <a:off x="6336792" y="3520440"/>
            <a:ext cx="219456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Go deeper into quality expectations, acceptable risk, escalation, approvals, and user-facing operating rules.</a:t>
            </a:r>
            <a:endParaRPr lang="en-US" sz="700" dirty="0"/>
          </a:p>
        </p:txBody>
      </p:sp>
      <p:sp>
        <p:nvSpPr>
          <p:cNvPr id="32" name="Shape 30"/>
          <p:cNvSpPr/>
          <p:nvPr/>
        </p:nvSpPr>
        <p:spPr>
          <a:xfrm>
            <a:off x="9098280" y="2377440"/>
            <a:ext cx="1920240" cy="914400"/>
          </a:xfrm>
          <a:prstGeom prst="rect">
            <a:avLst/>
          </a:prstGeom>
          <a:solidFill>
            <a:srgbClr val="FFFFFF"/>
          </a:solidFill>
          <a:ln w="8890">
            <a:solidFill>
              <a:srgbClr val="E5E7EB"/>
            </a:solidFill>
            <a:prstDash val="solid"/>
          </a:ln>
        </p:spPr>
      </p:sp>
      <p:sp>
        <p:nvSpPr>
          <p:cNvPr id="33" name="Shape 31"/>
          <p:cNvSpPr/>
          <p:nvPr/>
        </p:nvSpPr>
        <p:spPr>
          <a:xfrm>
            <a:off x="9098280" y="2377440"/>
            <a:ext cx="73152" cy="914400"/>
          </a:xfrm>
          <a:prstGeom prst="rect">
            <a:avLst/>
          </a:prstGeom>
          <a:solidFill>
            <a:srgbClr val="07A9C7"/>
          </a:solidFill>
          <a:ln w="12700">
            <a:solidFill>
              <a:srgbClr val="07A9C7"/>
            </a:solidFill>
            <a:prstDash val="solid"/>
          </a:ln>
        </p:spPr>
      </p:sp>
      <p:sp>
        <p:nvSpPr>
          <p:cNvPr id="34" name="Text 32"/>
          <p:cNvSpPr/>
          <p:nvPr/>
        </p:nvSpPr>
        <p:spPr>
          <a:xfrm>
            <a:off x="9262872" y="2496312"/>
            <a:ext cx="164592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Role lens</a:t>
            </a:r>
            <a:endParaRPr lang="en-US" sz="800" dirty="0"/>
          </a:p>
        </p:txBody>
      </p:sp>
      <p:sp>
        <p:nvSpPr>
          <p:cNvPr id="35" name="Text 33"/>
          <p:cNvSpPr/>
          <p:nvPr/>
        </p:nvSpPr>
        <p:spPr>
          <a:xfrm>
            <a:off x="9262872" y="2743200"/>
            <a:ext cx="1645920" cy="48463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A healthy agent program needs all of these perspectives.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Section 10</a:t>
            </a:r>
            <a:endParaRPr lang="en-US" sz="560" dirty="0"/>
          </a:p>
        </p:txBody>
      </p:sp>
      <p:sp>
        <p:nvSpPr>
          <p:cNvPr id="5" name="Text 3"/>
          <p:cNvSpPr/>
          <p:nvPr/>
        </p:nvSpPr>
        <p:spPr>
          <a:xfrm>
            <a:off x="502920" y="502920"/>
            <a:ext cx="5852160" cy="201168"/>
          </a:xfrm>
          <a:prstGeom prst="rect">
            <a:avLst/>
          </a:prstGeom>
          <a:noFill/>
          <a:ln/>
        </p:spPr>
        <p:txBody>
          <a:bodyPr wrap="square" lIns="0" tIns="0" rIns="0" bIns="0" rtlCol="0" anchor="ctr">
            <a:normAutofit/>
          </a:bodyPr>
          <a:lstStyle/>
          <a:p>
            <a:pPr indent="0" marL="0">
              <a:buNone/>
            </a:pPr>
            <a:r>
              <a:rPr lang="en-US" sz="780" dirty="0">
                <a:solidFill>
                  <a:srgbClr val="087F9B"/>
                </a:solidFill>
                <a:latin typeface="Aptos" pitchFamily="34" charset="0"/>
                <a:ea typeface="Aptos" pitchFamily="34" charset="-122"/>
                <a:cs typeface="Aptos" pitchFamily="34" charset="-120"/>
              </a:rPr>
              <a:t>Section 10 · Lecture 55</a:t>
            </a:r>
            <a:endParaRPr lang="en-US" sz="780" dirty="0"/>
          </a:p>
        </p:txBody>
      </p:sp>
      <p:sp>
        <p:nvSpPr>
          <p:cNvPr id="6" name="Text 4"/>
          <p:cNvSpPr/>
          <p:nvPr/>
        </p:nvSpPr>
        <p:spPr>
          <a:xfrm>
            <a:off x="502920" y="786384"/>
            <a:ext cx="6949440" cy="438912"/>
          </a:xfrm>
          <a:prstGeom prst="rect">
            <a:avLst/>
          </a:prstGeom>
          <a:noFill/>
          <a:ln/>
        </p:spPr>
        <p:txBody>
          <a:bodyPr wrap="square" lIns="0" tIns="0" rIns="0" bIns="0" rtlCol="0" anchor="ctr">
            <a:normAutofit/>
          </a:bodyPr>
          <a:lstStyle/>
          <a:p>
            <a:pPr indent="0" marL="0">
              <a:buNone/>
            </a:pPr>
            <a:r>
              <a:rPr lang="en-US" sz="2200" dirty="0">
                <a:solidFill>
                  <a:srgbClr val="087F9B"/>
                </a:solidFill>
                <a:latin typeface="Aptos Display" pitchFamily="34" charset="0"/>
                <a:ea typeface="Aptos Display" pitchFamily="34" charset="-122"/>
                <a:cs typeface="Aptos Display" pitchFamily="34" charset="-120"/>
              </a:rPr>
              <a:t>Maintenance Roadmap for Fast-Moving AI Platforms</a:t>
            </a:r>
            <a:endParaRPr lang="en-US" sz="2200" dirty="0"/>
          </a:p>
        </p:txBody>
      </p:sp>
      <p:sp>
        <p:nvSpPr>
          <p:cNvPr id="7" name="Text 5"/>
          <p:cNvSpPr/>
          <p:nvPr/>
        </p:nvSpPr>
        <p:spPr>
          <a:xfrm>
            <a:off x="502920" y="1243584"/>
            <a:ext cx="6995160" cy="320040"/>
          </a:xfrm>
          <a:prstGeom prst="rect">
            <a:avLst/>
          </a:prstGeom>
          <a:noFill/>
          <a:ln/>
        </p:spPr>
        <p:txBody>
          <a:bodyPr wrap="square" lIns="0" tIns="0" rIns="0" bIns="0" rtlCol="0" anchor="ctr">
            <a:normAutofit/>
          </a:bodyPr>
          <a:lstStyle/>
          <a:p>
            <a:pPr indent="0" marL="0">
              <a:buNone/>
            </a:pPr>
            <a:r>
              <a:rPr lang="en-US" sz="970" dirty="0">
                <a:solidFill>
                  <a:srgbClr val="64748B"/>
                </a:solidFill>
                <a:latin typeface="Aptos" pitchFamily="34" charset="0"/>
                <a:ea typeface="Aptos" pitchFamily="34" charset="-122"/>
                <a:cs typeface="Aptos" pitchFamily="34" charset="-120"/>
              </a:rPr>
              <a:t>Keep your architecture useful as Microsoft Foundry evolves.</a:t>
            </a:r>
            <a:endParaRPr lang="en-US" sz="970" dirty="0"/>
          </a:p>
        </p:txBody>
      </p:sp>
      <p:sp>
        <p:nvSpPr>
          <p:cNvPr id="8" name="Text 6"/>
          <p:cNvSpPr/>
          <p:nvPr/>
        </p:nvSpPr>
        <p:spPr>
          <a:xfrm>
            <a:off x="685800" y="1874520"/>
            <a:ext cx="6355080" cy="2148840"/>
          </a:xfrm>
          <a:prstGeom prst="rect">
            <a:avLst/>
          </a:prstGeom>
          <a:noFill/>
          <a:ln/>
        </p:spPr>
        <p:txBody>
          <a:bodyPr wrap="square" lIns="381" tIns="381" rIns="381" bIns="381" rtlCol="0" anchor="t">
            <a:normAutofit/>
          </a:bodyPr>
          <a:lstStyle/>
          <a:p>
            <a:pPr indent="0" marL="0">
              <a:buNone/>
            </a:pPr>
            <a:r>
              <a:rPr lang="en-US" sz="1300" dirty="0">
                <a:solidFill>
                  <a:srgbClr val="1F2937"/>
                </a:solidFill>
                <a:latin typeface="Aptos" pitchFamily="34" charset="0"/>
                <a:ea typeface="Aptos" pitchFamily="34" charset="-122"/>
                <a:cs typeface="Aptos" pitchFamily="34" charset="-120"/>
              </a:rPr>
              <a:t>▸ Recheck Microsoft Learn before recording, updating, or operationalizing a workflow.</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Record feature status when a capability is preview, region-limited, or changing quickly.</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Keep model examples flexible and avoid hard-coding availability assumptions.</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Review labs when portal navigation, service names, or role names change.</a:t>
            </a:r>
            <a:endParaRPr lang="en-US" sz="1300" dirty="0"/>
          </a:p>
          <a:p>
            <a:pPr indent="0" marL="0">
              <a:buNone/>
            </a:pPr>
            <a:r>
              <a:rPr lang="en-US" sz="1300" dirty="0">
                <a:solidFill>
                  <a:srgbClr val="1F2937"/>
                </a:solidFill>
                <a:latin typeface="Aptos" pitchFamily="34" charset="0"/>
                <a:ea typeface="Aptos" pitchFamily="34" charset="-122"/>
                <a:cs typeface="Aptos" pitchFamily="34" charset="-120"/>
              </a:rPr>
              <a:t>▸ Update governance checklists when organizational policy or Microsoft guidance changes.</a:t>
            </a:r>
            <a:endParaRPr lang="en-US" sz="1300" dirty="0"/>
          </a:p>
        </p:txBody>
      </p:sp>
      <p:sp>
        <p:nvSpPr>
          <p:cNvPr id="9" name="Shape 7"/>
          <p:cNvSpPr/>
          <p:nvPr/>
        </p:nvSpPr>
        <p:spPr>
          <a:xfrm>
            <a:off x="8732520" y="1417320"/>
            <a:ext cx="2423160" cy="960120"/>
          </a:xfrm>
          <a:prstGeom prst="rect">
            <a:avLst/>
          </a:prstGeom>
          <a:solidFill>
            <a:srgbClr val="FFFFFF"/>
          </a:solidFill>
          <a:ln w="8890">
            <a:solidFill>
              <a:srgbClr val="E5E7EB"/>
            </a:solidFill>
            <a:prstDash val="solid"/>
          </a:ln>
        </p:spPr>
      </p:sp>
      <p:sp>
        <p:nvSpPr>
          <p:cNvPr id="10" name="Shape 8"/>
          <p:cNvSpPr/>
          <p:nvPr/>
        </p:nvSpPr>
        <p:spPr>
          <a:xfrm>
            <a:off x="8732520" y="1417320"/>
            <a:ext cx="73152" cy="960120"/>
          </a:xfrm>
          <a:prstGeom prst="rect">
            <a:avLst/>
          </a:prstGeom>
          <a:solidFill>
            <a:srgbClr val="07A9C7"/>
          </a:solidFill>
          <a:ln w="12700">
            <a:solidFill>
              <a:srgbClr val="07A9C7"/>
            </a:solidFill>
            <a:prstDash val="solid"/>
          </a:ln>
        </p:spPr>
      </p:sp>
      <p:sp>
        <p:nvSpPr>
          <p:cNvPr id="11" name="Text 9"/>
          <p:cNvSpPr/>
          <p:nvPr/>
        </p:nvSpPr>
        <p:spPr>
          <a:xfrm>
            <a:off x="8897112" y="1536192"/>
            <a:ext cx="2148840" cy="182880"/>
          </a:xfrm>
          <a:prstGeom prst="rect">
            <a:avLst/>
          </a:prstGeom>
          <a:noFill/>
          <a:ln/>
        </p:spPr>
        <p:txBody>
          <a:bodyPr wrap="square" lIns="0" tIns="0" rIns="0" bIns="0" rtlCol="0" anchor="ctr">
            <a:normAutofit/>
          </a:bodyPr>
          <a:lstStyle/>
          <a:p>
            <a:pPr indent="0" marL="0">
              <a:buNone/>
            </a:pPr>
            <a:r>
              <a:rPr lang="en-US" sz="800" b="1" dirty="0">
                <a:solidFill>
                  <a:srgbClr val="1F2937"/>
                </a:solidFill>
                <a:latin typeface="Aptos" pitchFamily="34" charset="0"/>
                <a:ea typeface="Aptos" pitchFamily="34" charset="-122"/>
                <a:cs typeface="Aptos" pitchFamily="34" charset="-120"/>
              </a:rPr>
              <a:t>Maintenance rule</a:t>
            </a:r>
            <a:endParaRPr lang="en-US" sz="800" dirty="0"/>
          </a:p>
        </p:txBody>
      </p:sp>
      <p:sp>
        <p:nvSpPr>
          <p:cNvPr id="12" name="Text 10"/>
          <p:cNvSpPr/>
          <p:nvPr/>
        </p:nvSpPr>
        <p:spPr>
          <a:xfrm>
            <a:off x="8897112" y="1783080"/>
            <a:ext cx="2148840" cy="530352"/>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AI platform courses and agent programs both need an update cadence.</a:t>
            </a:r>
            <a:endParaRPr lang="en-US" sz="700" dirty="0"/>
          </a:p>
        </p:txBody>
      </p:sp>
      <p:sp>
        <p:nvSpPr>
          <p:cNvPr id="13" name="Shape 11"/>
          <p:cNvSpPr/>
          <p:nvPr/>
        </p:nvSpPr>
        <p:spPr>
          <a:xfrm>
            <a:off x="3063240" y="5897880"/>
            <a:ext cx="6080760" cy="210312"/>
          </a:xfrm>
          <a:prstGeom prst="rect">
            <a:avLst/>
          </a:prstGeom>
          <a:solidFill>
            <a:srgbClr val="EAFBFE"/>
          </a:solidFill>
          <a:ln w="10160">
            <a:solidFill>
              <a:srgbClr val="07A9C7"/>
            </a:solidFill>
            <a:prstDash val="solid"/>
          </a:ln>
        </p:spPr>
      </p:sp>
      <p:sp>
        <p:nvSpPr>
          <p:cNvPr id="14" name="Text 12"/>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Current knowledge is a maintenance activity, not a one-time recording task.</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7A9C7"/>
          </a:solidFill>
          <a:ln w="12700">
            <a:solidFill>
              <a:srgbClr val="07A9C7"/>
            </a:solidFill>
            <a:prstDash val="solid"/>
          </a:ln>
        </p:spPr>
      </p:sp>
      <p:sp>
        <p:nvSpPr>
          <p:cNvPr id="3" name="Shape 1"/>
          <p:cNvSpPr/>
          <p:nvPr/>
        </p:nvSpPr>
        <p:spPr>
          <a:xfrm>
            <a:off x="11850624" y="6519672"/>
            <a:ext cx="292608" cy="292608"/>
          </a:xfrm>
          <a:prstGeom prst="rtTriangle">
            <a:avLst/>
          </a:prstGeom>
          <a:solidFill>
            <a:srgbClr val="07A9C7"/>
          </a:solidFill>
          <a:ln w="12700">
            <a:solidFill>
              <a:srgbClr val="07A9C7"/>
            </a:solidFill>
            <a:prstDash val="solid"/>
          </a:ln>
        </p:spPr>
      </p:sp>
      <p:sp>
        <p:nvSpPr>
          <p:cNvPr id="4" name="Text 2"/>
          <p:cNvSpPr/>
          <p:nvPr/>
        </p:nvSpPr>
        <p:spPr>
          <a:xfrm>
            <a:off x="438912" y="6473952"/>
            <a:ext cx="4023360" cy="128016"/>
          </a:xfrm>
          <a:prstGeom prst="rect">
            <a:avLst/>
          </a:prstGeom>
          <a:noFill/>
          <a:ln/>
        </p:spPr>
        <p:txBody>
          <a:bodyPr wrap="square" lIns="0" tIns="0" rIns="0" bIns="0" rtlCol="0" anchor="ctr"/>
          <a:lstStyle/>
          <a:p>
            <a:pPr indent="0" marL="0">
              <a:buNone/>
            </a:pPr>
            <a:r>
              <a:rPr lang="en-US" sz="560" dirty="0">
                <a:solidFill>
                  <a:srgbClr val="6B7280"/>
                </a:solidFill>
                <a:latin typeface="Aptos" pitchFamily="34" charset="0"/>
                <a:ea typeface="Aptos" pitchFamily="34" charset="-122"/>
                <a:cs typeface="Aptos" pitchFamily="34" charset="-120"/>
              </a:rPr>
              <a:t>Course Conclusion</a:t>
            </a:r>
            <a:endParaRPr lang="en-US" sz="560" dirty="0"/>
          </a:p>
        </p:txBody>
      </p:sp>
      <p:sp>
        <p:nvSpPr>
          <p:cNvPr id="5" name="Text 3"/>
          <p:cNvSpPr/>
          <p:nvPr/>
        </p:nvSpPr>
        <p:spPr>
          <a:xfrm>
            <a:off x="685800" y="1051560"/>
            <a:ext cx="4206240" cy="594360"/>
          </a:xfrm>
          <a:prstGeom prst="rect">
            <a:avLst/>
          </a:prstGeom>
          <a:noFill/>
          <a:ln/>
        </p:spPr>
        <p:txBody>
          <a:bodyPr wrap="square" lIns="0" tIns="0" rIns="0" bIns="0" rtlCol="0" anchor="ctr"/>
          <a:lstStyle/>
          <a:p>
            <a:pPr indent="0" marL="0">
              <a:buNone/>
            </a:pPr>
            <a:r>
              <a:rPr lang="en-US" sz="3200" b="1" dirty="0">
                <a:solidFill>
                  <a:srgbClr val="087F9B"/>
                </a:solidFill>
                <a:latin typeface="Aptos Display" pitchFamily="34" charset="0"/>
                <a:ea typeface="Aptos Display" pitchFamily="34" charset="-122"/>
                <a:cs typeface="Aptos Display" pitchFamily="34" charset="-120"/>
              </a:rPr>
              <a:t>THANKS!</a:t>
            </a:r>
            <a:endParaRPr lang="en-US" sz="3200" dirty="0"/>
          </a:p>
        </p:txBody>
      </p:sp>
      <p:sp>
        <p:nvSpPr>
          <p:cNvPr id="6" name="Text 4"/>
          <p:cNvSpPr/>
          <p:nvPr/>
        </p:nvSpPr>
        <p:spPr>
          <a:xfrm>
            <a:off x="713232" y="1783080"/>
            <a:ext cx="5120640" cy="310896"/>
          </a:xfrm>
          <a:prstGeom prst="rect">
            <a:avLst/>
          </a:prstGeom>
          <a:noFill/>
          <a:ln/>
        </p:spPr>
        <p:txBody>
          <a:bodyPr wrap="square" lIns="0" tIns="0" rIns="0" bIns="0" rtlCol="0" anchor="ctr">
            <a:normAutofit/>
          </a:bodyPr>
          <a:lstStyle/>
          <a:p>
            <a:pPr indent="0" marL="0">
              <a:buNone/>
            </a:pPr>
            <a:r>
              <a:rPr lang="en-US" sz="1320" dirty="0">
                <a:solidFill>
                  <a:srgbClr val="1F2937"/>
                </a:solidFill>
                <a:latin typeface="Aptos" pitchFamily="34" charset="0"/>
                <a:ea typeface="Aptos" pitchFamily="34" charset="-122"/>
                <a:cs typeface="Aptos" pitchFamily="34" charset="-120"/>
              </a:rPr>
              <a:t>Microsoft Foundry for Enterprise AI Agents</a:t>
            </a:r>
            <a:endParaRPr lang="en-US" sz="1320" dirty="0"/>
          </a:p>
        </p:txBody>
      </p:sp>
      <p:sp>
        <p:nvSpPr>
          <p:cNvPr id="7" name="Text 5"/>
          <p:cNvSpPr/>
          <p:nvPr/>
        </p:nvSpPr>
        <p:spPr>
          <a:xfrm>
            <a:off x="713232" y="2212848"/>
            <a:ext cx="5394960" cy="365760"/>
          </a:xfrm>
          <a:prstGeom prst="rect">
            <a:avLst/>
          </a:prstGeom>
          <a:noFill/>
          <a:ln/>
        </p:spPr>
        <p:txBody>
          <a:bodyPr wrap="square" lIns="0" tIns="0" rIns="0" bIns="0" rtlCol="0" anchor="ctr">
            <a:normAutofit/>
          </a:bodyPr>
          <a:lstStyle/>
          <a:p>
            <a:pPr indent="0" marL="0">
              <a:buNone/>
            </a:pPr>
            <a:r>
              <a:rPr lang="en-US" sz="1050" dirty="0">
                <a:solidFill>
                  <a:srgbClr val="64748B"/>
                </a:solidFill>
                <a:latin typeface="Aptos" pitchFamily="34" charset="0"/>
                <a:ea typeface="Aptos" pitchFamily="34" charset="-122"/>
                <a:cs typeface="Aptos" pitchFamily="34" charset="-120"/>
              </a:rPr>
              <a:t>Build, ground, connect, monitor, and govern enterprise AI agents with Microsoft Foundry.</a:t>
            </a:r>
            <a:endParaRPr lang="en-US" sz="1050" dirty="0"/>
          </a:p>
        </p:txBody>
      </p:sp>
      <p:sp>
        <p:nvSpPr>
          <p:cNvPr id="8" name="Shape 6"/>
          <p:cNvSpPr/>
          <p:nvPr/>
        </p:nvSpPr>
        <p:spPr>
          <a:xfrm>
            <a:off x="6949440" y="1261872"/>
            <a:ext cx="3337560" cy="1005840"/>
          </a:xfrm>
          <a:prstGeom prst="rect">
            <a:avLst/>
          </a:prstGeom>
          <a:solidFill>
            <a:srgbClr val="E4F8FC"/>
          </a:solidFill>
          <a:ln w="8890">
            <a:solidFill>
              <a:srgbClr val="E5E7EB"/>
            </a:solidFill>
            <a:prstDash val="solid"/>
          </a:ln>
        </p:spPr>
      </p:sp>
      <p:sp>
        <p:nvSpPr>
          <p:cNvPr id="9" name="Shape 7"/>
          <p:cNvSpPr/>
          <p:nvPr/>
        </p:nvSpPr>
        <p:spPr>
          <a:xfrm>
            <a:off x="6949440" y="1261872"/>
            <a:ext cx="50292" cy="1005840"/>
          </a:xfrm>
          <a:prstGeom prst="rect">
            <a:avLst/>
          </a:prstGeom>
          <a:solidFill>
            <a:srgbClr val="07A9C7"/>
          </a:solidFill>
          <a:ln w="12700">
            <a:solidFill>
              <a:srgbClr val="07A9C7"/>
            </a:solidFill>
            <a:prstDash val="solid"/>
          </a:ln>
        </p:spPr>
      </p:sp>
      <p:sp>
        <p:nvSpPr>
          <p:cNvPr id="10" name="Text 8"/>
          <p:cNvSpPr/>
          <p:nvPr/>
        </p:nvSpPr>
        <p:spPr>
          <a:xfrm>
            <a:off x="7114032" y="1371600"/>
            <a:ext cx="306324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Final reminder</a:t>
            </a:r>
            <a:endParaRPr lang="en-US" sz="810" dirty="0"/>
          </a:p>
        </p:txBody>
      </p:sp>
      <p:sp>
        <p:nvSpPr>
          <p:cNvPr id="11" name="Text 9"/>
          <p:cNvSpPr/>
          <p:nvPr/>
        </p:nvSpPr>
        <p:spPr>
          <a:xfrm>
            <a:off x="7114032" y="1627632"/>
            <a:ext cx="306324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Treat every enterprise agent as a managed system: owned, secured, evaluated, monitored, and governed.</a:t>
            </a:r>
            <a:endParaRPr lang="en-US" sz="700" dirty="0"/>
          </a:p>
        </p:txBody>
      </p:sp>
      <p:sp>
        <p:nvSpPr>
          <p:cNvPr id="12" name="Shape 10"/>
          <p:cNvSpPr/>
          <p:nvPr/>
        </p:nvSpPr>
        <p:spPr>
          <a:xfrm>
            <a:off x="6949440" y="2606040"/>
            <a:ext cx="3337560" cy="1005840"/>
          </a:xfrm>
          <a:prstGeom prst="rect">
            <a:avLst/>
          </a:prstGeom>
          <a:solidFill>
            <a:srgbClr val="FFFFFF"/>
          </a:solidFill>
          <a:ln w="8890">
            <a:solidFill>
              <a:srgbClr val="E5E7EB"/>
            </a:solidFill>
            <a:prstDash val="solid"/>
          </a:ln>
        </p:spPr>
      </p:sp>
      <p:sp>
        <p:nvSpPr>
          <p:cNvPr id="13" name="Shape 11"/>
          <p:cNvSpPr/>
          <p:nvPr/>
        </p:nvSpPr>
        <p:spPr>
          <a:xfrm>
            <a:off x="6949440" y="2606040"/>
            <a:ext cx="50292" cy="1005840"/>
          </a:xfrm>
          <a:prstGeom prst="rect">
            <a:avLst/>
          </a:prstGeom>
          <a:solidFill>
            <a:srgbClr val="07A9C7"/>
          </a:solidFill>
          <a:ln w="12700">
            <a:solidFill>
              <a:srgbClr val="07A9C7"/>
            </a:solidFill>
            <a:prstDash val="solid"/>
          </a:ln>
        </p:spPr>
      </p:sp>
      <p:sp>
        <p:nvSpPr>
          <p:cNvPr id="14" name="Text 12"/>
          <p:cNvSpPr/>
          <p:nvPr/>
        </p:nvSpPr>
        <p:spPr>
          <a:xfrm>
            <a:off x="7114032" y="2715768"/>
            <a:ext cx="3063240" cy="201168"/>
          </a:xfrm>
          <a:prstGeom prst="rect">
            <a:avLst/>
          </a:prstGeom>
          <a:noFill/>
          <a:ln/>
        </p:spPr>
        <p:txBody>
          <a:bodyPr wrap="square" lIns="0" tIns="0" rIns="0" bIns="0" rtlCol="0" anchor="ctr">
            <a:normAutofit/>
          </a:bodyPr>
          <a:lstStyle/>
          <a:p>
            <a:pPr indent="0" marL="0">
              <a:buNone/>
            </a:pPr>
            <a:r>
              <a:rPr lang="en-US" sz="810" b="1" dirty="0">
                <a:solidFill>
                  <a:srgbClr val="1F2937"/>
                </a:solidFill>
                <a:latin typeface="Aptos" pitchFamily="34" charset="0"/>
                <a:ea typeface="Aptos" pitchFamily="34" charset="-122"/>
                <a:cs typeface="Aptos" pitchFamily="34" charset="-120"/>
              </a:rPr>
              <a:t>Continue with confidence</a:t>
            </a:r>
            <a:endParaRPr lang="en-US" sz="810" dirty="0"/>
          </a:p>
        </p:txBody>
      </p:sp>
      <p:sp>
        <p:nvSpPr>
          <p:cNvPr id="15" name="Text 13"/>
          <p:cNvSpPr/>
          <p:nvPr/>
        </p:nvSpPr>
        <p:spPr>
          <a:xfrm>
            <a:off x="7114032" y="2971800"/>
            <a:ext cx="3063240" cy="566928"/>
          </a:xfrm>
          <a:prstGeom prst="rect">
            <a:avLst/>
          </a:prstGeom>
          <a:noFill/>
          <a:ln/>
        </p:spPr>
        <p:txBody>
          <a:bodyPr wrap="square" lIns="254" tIns="254" rIns="254" bIns="254" rtlCol="0" anchor="ctr">
            <a:normAutofit/>
          </a:bodyPr>
          <a:lstStyle/>
          <a:p>
            <a:pPr indent="0" marL="0">
              <a:buNone/>
            </a:pPr>
            <a:r>
              <a:rPr lang="en-US" sz="700" dirty="0">
                <a:solidFill>
                  <a:srgbClr val="64748B"/>
                </a:solidFill>
                <a:latin typeface="Aptos" pitchFamily="34" charset="0"/>
                <a:ea typeface="Aptos" pitchFamily="34" charset="-122"/>
                <a:cs typeface="Aptos" pitchFamily="34" charset="-120"/>
              </a:rPr>
              <a:t>Use Microsoft Learn and your own governance checklists to keep the architecture current.</a:t>
            </a:r>
            <a:endParaRPr lang="en-US" sz="700" dirty="0"/>
          </a:p>
        </p:txBody>
      </p:sp>
      <p:sp>
        <p:nvSpPr>
          <p:cNvPr id="16" name="Text 14"/>
          <p:cNvSpPr/>
          <p:nvPr/>
        </p:nvSpPr>
        <p:spPr>
          <a:xfrm>
            <a:off x="749808" y="5074920"/>
            <a:ext cx="4023360" cy="438912"/>
          </a:xfrm>
          <a:prstGeom prst="rect">
            <a:avLst/>
          </a:prstGeom>
          <a:noFill/>
          <a:ln/>
        </p:spPr>
        <p:txBody>
          <a:bodyPr wrap="square" lIns="0" tIns="0" rIns="0" bIns="0" rtlCol="0" anchor="ctr">
            <a:normAutofit/>
          </a:bodyPr>
          <a:lstStyle/>
          <a:p>
            <a:pPr indent="0" marL="0">
              <a:buNone/>
            </a:pPr>
            <a:r>
              <a:rPr lang="en-US" sz="1020" dirty="0">
                <a:solidFill>
                  <a:srgbClr val="1F2937"/>
                </a:solidFill>
                <a:latin typeface="Aptos" pitchFamily="34" charset="0"/>
                <a:ea typeface="Aptos" pitchFamily="34" charset="-122"/>
                <a:cs typeface="Aptos" pitchFamily="34" charset="-120"/>
              </a:rPr>
              <a:t>Trevoir Williams</a:t>
            </a:r>
            <a:endParaRPr lang="en-US" sz="1020" dirty="0"/>
          </a:p>
          <a:p>
            <a:pPr indent="0" marL="0">
              <a:buNone/>
            </a:pPr>
            <a:r>
              <a:rPr lang="en-US" sz="1020" dirty="0">
                <a:solidFill>
                  <a:srgbClr val="1F2937"/>
                </a:solidFill>
                <a:latin typeface="Aptos" pitchFamily="34" charset="0"/>
                <a:ea typeface="Aptos" pitchFamily="34" charset="-122"/>
                <a:cs typeface="Aptos" pitchFamily="34" charset="-120"/>
              </a:rPr>
              <a:t>Software Engineer | Microsoft Certified Trainer | Author</a:t>
            </a:r>
            <a:endParaRPr lang="en-US" sz="1020" dirty="0"/>
          </a:p>
        </p:txBody>
      </p:sp>
      <p:sp>
        <p:nvSpPr>
          <p:cNvPr id="17" name="Shape 15"/>
          <p:cNvSpPr/>
          <p:nvPr/>
        </p:nvSpPr>
        <p:spPr>
          <a:xfrm>
            <a:off x="3063240" y="5897880"/>
            <a:ext cx="6080760" cy="210312"/>
          </a:xfrm>
          <a:prstGeom prst="rect">
            <a:avLst/>
          </a:prstGeom>
          <a:solidFill>
            <a:srgbClr val="EAFBFE"/>
          </a:solidFill>
          <a:ln w="10160">
            <a:solidFill>
              <a:srgbClr val="07A9C7"/>
            </a:solidFill>
            <a:prstDash val="solid"/>
          </a:ln>
        </p:spPr>
      </p:sp>
      <p:sp>
        <p:nvSpPr>
          <p:cNvPr id="18" name="Text 16"/>
          <p:cNvSpPr/>
          <p:nvPr/>
        </p:nvSpPr>
        <p:spPr>
          <a:xfrm>
            <a:off x="3182112" y="5934456"/>
            <a:ext cx="5843016" cy="109728"/>
          </a:xfrm>
          <a:prstGeom prst="rect">
            <a:avLst/>
          </a:prstGeom>
          <a:noFill/>
          <a:ln/>
        </p:spPr>
        <p:txBody>
          <a:bodyPr wrap="square" lIns="0" tIns="0" rIns="0" bIns="0" rtlCol="0" anchor="ctr">
            <a:normAutofit/>
          </a:bodyPr>
          <a:lstStyle/>
          <a:p>
            <a:pPr algn="ctr" indent="0" marL="0">
              <a:buNone/>
            </a:pPr>
            <a:r>
              <a:rPr lang="en-US" sz="550" dirty="0">
                <a:solidFill>
                  <a:srgbClr val="087F9B"/>
                </a:solidFill>
                <a:latin typeface="Aptos" pitchFamily="34" charset="0"/>
                <a:ea typeface="Aptos" pitchFamily="34" charset="-122"/>
                <a:cs typeface="Aptos" pitchFamily="34" charset="-120"/>
              </a:rPr>
              <a:t>A production agent is a governed system, not a single prompt.</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10 - Course Wrap Up and Conclusion</dc:title>
  <dc:subject>Microsoft Foundry for Enterprise AI Agents - Section 10</dc:subject>
  <dc:creator>Trevoir Williams</dc:creator>
  <cp:lastModifiedBy>Trevoir Williams</cp:lastModifiedBy>
  <cp:revision>1</cp:revision>
  <dcterms:created xsi:type="dcterms:W3CDTF">2026-07-11T19:36:34Z</dcterms:created>
  <dcterms:modified xsi:type="dcterms:W3CDTF">2026-07-11T19:36:34Z</dcterms:modified>
</cp:coreProperties>
</file>